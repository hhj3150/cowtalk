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30초가 전부다. 회사 소개로 시작하지 않는다. 문제로 시작한다.</a:t>
            </a:r>
          </a:p>
          <a:p>
            <a:r>
              <a:t>"오늘 기술 설명을 하러 온 게 아닙니다. 소가 아프다고 말하지 않는다는 것,</a:t>
            </a:r>
          </a:p>
          <a:p>
            <a:r>
              <a:t>그리고 그걸 아무도 제때 알 수 없다는 것 — 이 문제를 어떻게 풀었는지 말씀드리러 왔습니다."</a:t>
            </a:r>
          </a:p>
          <a:p>
            <a:r>
              <a:t>규모 수치는 발표 당일 /api/public/stats로 확인하고 말한다. 반올림해서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장이 전체 발표의 출발점이다. 제품 이야기를 하기 전에 이걸 먼저 세운다.</a:t>
            </a:r>
          </a:p>
          <a:p>
            <a:r>
              <a:t>"올해 1월 1일에 미국산 쇠고기 관세가 0이 됐습니다. 우유도 마찬가지입니다.</a:t>
            </a:r>
          </a:p>
          <a:p>
            <a:r>
              <a:t>호주는 2028년, 뉴질랜드는 2029년입니다. 한국 축산을 지켜온 벽이 사라진 첫 해가 올해입니다."</a:t>
            </a:r>
          </a:p>
          <a:p>
            <a:r>
              <a:t>여기서 잠깐 멈춘다. 청중이 이 사실의 무게를 느낄 시간을 준다.</a:t>
            </a:r>
          </a:p>
          <a:p>
            <a:r>
              <a:t>주의: "관세 철폐 = 즉시 가격 폭락"은 아니다. 환율·물류·수요가 함께 작용한다. 다만 방향은 명확하다고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오른쪽 마지막 줄(1,252 &gt; 1,249)에서 반드시 멈춘다. 이 장의 전부다.</a:t>
            </a:r>
          </a:p>
          <a:p>
            <a:r>
              <a:t>"낙농은 지금 역마진입니다. 짤수록 손해입니다.</a:t>
            </a:r>
          </a:p>
          <a:p>
            <a:r>
              <a:t>그런데 소비는 1인당 22.9kg으로 40년 만에 최저입니다.</a:t>
            </a:r>
          </a:p>
          <a:p>
            <a:r>
              <a:t>가격을 올려서 풀 수 있는 문제가 아닙니다. 올리면 수입산으로 갑니다."</a:t>
            </a:r>
          </a:p>
          <a:p>
            <a:r>
              <a:t>지자체 발표라면 여기에 관내 농가 수치를 얹는다. 남의 이야기가 아니라 관내 이야기가 되어야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장에서 제품 이야기로 넘어가는 다리가 놓인다. 여기까지 오면 청중은 "그래서 뭘 하면 되나"를 묻는 상태가 된다.</a:t>
            </a:r>
          </a:p>
          <a:p>
            <a:r>
              <a:t>"'싸게'는 이제 우리 선택지가 아닙니다. '정확하게'가 우리 선택지입니다.</a:t>
            </a:r>
          </a:p>
          <a:p>
            <a:r>
              <a:t>그리고 정확하려면 재야 합니다."</a:t>
            </a:r>
          </a:p>
          <a:p>
            <a:r>
              <a:t>대상별 강조점: 지자체는 ②, 중앙정부는 ①③, 수의계는 ②, 해외정부는 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공감을 사는 장이다. 우리 제품 얘기를 아직 하지 않는다.</a:t>
            </a:r>
          </a:p>
          <a:p>
            <a:r>
              <a:t>청중이 지자체·국가면 벽 2(질병)에 무게를 싣고, 수의계면 벽 1(사람)에 싣는다. 농가면 벽 3(데이터)이다.</a:t>
            </a:r>
          </a:p>
          <a:p>
            <a:r>
              <a:t>"이 세 가지 중 여러분이 가장 아프신 게 뭡니까?" — 이렇게 물으면 나머지 발표의 방향이 잡힌다.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전체 덱의 심장이다. 다른 걸 다 잊어도 이 다섯 칸은 기억하게 만든다.</a:t>
            </a:r>
          </a:p>
          <a:p>
            <a:r>
              <a:t>"발정 알람이 왔습니다. 그래서요? 지금까지는 목장주가 혼자 판단했습니다.</a:t>
            </a:r>
          </a:p>
          <a:p>
            <a:r>
              <a:t>언제 수정할지, 어떤 정액을 쓸지, 이 소가 지난달 유방염 치료했는데 괜찮은지 — 아무도 알려주지 않았습니다."</a:t>
            </a:r>
          </a:p>
          <a:p>
            <a:r>
              <a:t>05(학습) 칸을 손가락으로 짚으면서 말한다: "그리고 결과가 돌아와야 다음이 정확해집니다. 이게 순환 구조입니다."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아래에서 위로 설명한다. 1층부터. 위로 갈수록 가치가 커진다는 감각을 준다.</a:t>
            </a:r>
          </a:p>
          <a:p>
            <a:r>
              <a:t>2층에서 반드시 짚을 것: "센서 제조사가 검증한 이벤트는 재판단하지 않습니다.</a:t>
            </a:r>
          </a:p>
          <a:p>
            <a:r>
              <a:t>우리가 다시 뒤집으면 정확도만 떨어집니다. 우리가 하는 건 맥락을 붙이는 것입니다."</a:t>
            </a:r>
          </a:p>
          <a:p>
            <a:r>
              <a:t>4층이 나오면 대부분 "정말 학습됩니까?"를 묻는다. → 전문가 레이블 슬라이드로 넘길 준비를 해둔다.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"체온을 하루 한 번 재는 것과 10분마다 평생 재는 것은 다른 의학입니다."</a:t>
            </a:r>
          </a:p>
          <a:p>
            <a:r>
              <a:t>foot의 12~136시간이 이 장의 핵심 근거다. 반나절에서 닷새 먼저 안다는 뜻이고,</a:t>
            </a:r>
          </a:p>
          <a:p>
            <a:r>
              <a:t>그래서 '조기감지 리드타임'이 파일럿 핵심 지표가 된다.</a:t>
            </a:r>
          </a:p>
          <a:p>
            <a:r>
              <a:t>양성예측도 73%도 함께 말한다 — 숨기면 나중에 공격당한다.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기술 신뢰를 만든다. "우리 게 다 좋다"고 하면 전문가는 즉시 등을 돌린다.</a:t>
            </a:r>
          </a:p>
          <a:p>
            <a:r>
              <a:t>문헌 근거: 목걸이형 가속도계 발정 탐지 민감도 90.9% · 특이도 100% · 정확도 93.6%.</a:t>
            </a:r>
          </a:p>
          <a:p>
            <a:r>
              <a:t>이표 귀 온도는 발정기/비발정기 차이가 통계적으로 유의하지 않았다.</a:t>
            </a:r>
          </a:p>
          <a:p>
            <a:r>
              <a:t>볼루스 온도 정확도는 ±0.1~0.3°C로 발열엔 충분하나 발정의 0.3~0.8°C 변화엔 빠듯하다.</a:t>
            </a:r>
          </a:p>
          <a:p>
            <a:r>
              <a:t>"완벽한 센서는 없습니다. 저희는 왜 이걸 골랐는지를 말씀드리는 겁니다 —</a:t>
            </a:r>
          </a:p>
          <a:p>
            <a:r>
              <a:t>심부체온과 탈락률, 이 두 가지가 대체 불가능하기 때문입니다."</a:t>
            </a:r>
          </a:p>
          <a:p>
            <a:r>
              <a:t>물으면 답할 것: 커넥터 패턴이라 착유로봇·활동량 목걸이·환경센서를 함께 받는다. 배타적이지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축산 관계자에게는 설명이 필요 없는 장이다. 네 개 번호가 따로 논다는 걸 그들이 더 잘 안다.</a:t>
            </a:r>
          </a:p>
          <a:p>
            <a:r>
              <a:t>해외 발표에서는 이 장을 "identifier fragmentation"으로 일반화해서 말한다. 나라마다 번호 체계는 다르지만 파편화는 어디나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청중이 속한 역할 칸을 손으로 짚으면서 시작한다. "여러분은 여기 계십니다."</a:t>
            </a:r>
          </a:p>
          <a:p>
            <a:r>
              <a:t>foot의 권한 문장이 이 장의 진짜 메시지다. 특히 국가·해외 청중은 여기서 안심한다.</a:t>
            </a:r>
          </a:p>
          <a:p>
            <a:r>
              <a:t>"역할을 나눴다"가 아니라 "구조적으로 못 넘어간다"고 말해야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빠르게 넘긴다. 읽어주지 않는다. 한 문장만 말하고 다음 장으로 간다.</a:t>
            </a:r>
          </a:p>
          <a:p>
            <a:r>
              <a:t>"이건 제가 주장하는 게 아니라, 코드를 파일 단위로 감사한 기록입니다. 그 문서도 드릴 수 있습니다."</a:t>
            </a:r>
          </a:p>
          <a:p>
            <a:r>
              <a:t>질문이 나오면 그때 해당 줄을 짚는다. 미리 다 설명하면 지루해지고 오히려 안 믿는다.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슬라이드를 빼자는 제안이 반드시 나온다. 절대 빼지 마라.</a:t>
            </a:r>
          </a:p>
          <a:p>
            <a:r>
              <a:t>실제 심의·계약에서 가장 자주 나오는 질문이 "안 되는 건 뭡니까?"다.</a:t>
            </a:r>
          </a:p>
          <a:p>
            <a:r>
              <a:t>그때 준비된 답이 있으면 신뢰가 완성되고, 없으면 그때까지 말한 전부가 흔들린다.</a:t>
            </a:r>
          </a:p>
          <a:p>
            <a:r>
              <a:t>"저희가 이걸 먼저 말씀드리는 이유는, 파일럿에서 드러나면 그때는 회복이 안 되기 때문입니다."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실제 시연을 한다. 슬라이드보다 화면이 강하다.</a:t>
            </a:r>
          </a:p>
          <a:p>
            <a:r>
              <a:t>반드시 참가 지자체의 실제 데이터로 연다. 빈 화면이면 설득력이 0이 된다. D-7 체크리스트 항목이다.</a:t>
            </a:r>
          </a:p>
          <a:p>
            <a:r>
              <a:t>"지금 이 화면은 데모가 아닙니다. 실제 DB에서 방금 집계한 숫자입니다.</a:t>
            </a:r>
          </a:p>
          <a:p>
            <a:r>
              <a:t>이 농장들이 지금 이 순간 소 몸속 센서로 연결되어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03(SEIR) 카드에서 멈춘다. 여기가 이 장의 무게중심이다.</a:t>
            </a:r>
          </a:p>
          <a:p>
            <a:r>
              <a:t>"이건 그림이 아니라 미분방정식 계산 결과입니다. 이동제한을 걸었을 때와 안 걸었을 때</a:t>
            </a:r>
          </a:p>
          <a:p>
            <a:r>
              <a:t>며칠 뒤에 몇 농가 차이가 나는지를 숫자로 냅니다. 행정 결정에 근거가 생기는 겁니다."</a:t>
            </a:r>
          </a:p>
          <a:p>
            <a:r>
              <a:t>주의: 시뮬레이션 파라미터(R0 등)는 질병별 문헌값이다. "우리가 예측한다"가 아니라 "표준 모형으로 계산한다"고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예산 심의의 승부처다. 여기서 등급을 구분해 발음하지 않으면 뒤의 모든 숫자가 한 덩어리로 의심받는다.</a:t>
            </a:r>
          </a:p>
          <a:p>
            <a:r>
              <a:t>"저희 숫자는 세 종류입니다. 공표 통계, 문헌 하한, 그리고 저희 가정입니다.</a:t>
            </a:r>
          </a:p>
          <a:p>
            <a:r>
              <a:t>어느 것이 어느 것인지 표시해서 드리겠습니다."</a:t>
            </a:r>
          </a:p>
          <a:p>
            <a:r>
              <a:t>B등급에서 "하한을 썼다"는 점을 반드시 짚는다. 문헌이 5~15일인데 5일을 썼다는 사실이</a:t>
            </a:r>
          </a:p>
          <a:p>
            <a:r>
              <a:t>나머지 전부의 신뢰를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슬라이드를 빼자는 제안이 반드시 나온다. 절대 빼지 마라.</a:t>
            </a:r>
          </a:p>
          <a:p>
            <a:r>
              <a:t>심의위원은 "이 사람들이 자기 숫자를 검증하는가"를 본다. 4건을 스스로 고쳐 왔다는 것은</a:t>
            </a:r>
          </a:p>
          <a:p>
            <a:r>
              <a:t>나머지 숫자도 같은 방식으로 검증됐다는 증거가 된다.</a:t>
            </a:r>
          </a:p>
          <a:p>
            <a:r>
              <a:t>"발표 준비하면서 저희 숫자를 공개 통계와 다시 대조했습니다. 4건이 틀렸습니다. 먼저 정정하고 시작하겠습니다."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1.24를 먼저 말한다. 4.28을 먼저 말하면 나머지가 다 의심받는다. 순서가 전부다.</a:t>
            </a:r>
          </a:p>
          <a:p>
            <a:r>
              <a:t>현행 실단가 12,000원을 쓴다는 점을 밝힌다 — 손익분기 요금이 14,800원이므로 2,800원의 여유가 있다.</a:t>
            </a:r>
          </a:p>
          <a:p>
            <a:r>
              <a:t>"가장 보수적으로 잡아도 1.1입니다. 저희는 이 숫자로 말씀드리겠습니다. 나머지는 파일럿이 증명할 몫입니다."</a:t>
            </a:r>
          </a:p>
          <a:p>
            <a:r>
              <a:t>반드시 함께 밝힐 것: 개체 편익만 보면 보수 시나리오는 BCR 0.45로 미달한다.</a:t>
            </a:r>
          </a:p>
          <a:p>
            <a:r>
              <a:t>이 사업의 정당성은 농가 수익이 아니라 자원효율에 있다. 이걸 먼저 말하면 공격이 들어올 자리가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우리가 우리 모델의 약점을 안다는 증명이다. 심의위원이 가장 좋아하는 슬라이드다.</a:t>
            </a:r>
          </a:p>
          <a:p>
            <a:r>
              <a:t>5위(탄소 단가)를 짚으며 한 마디: "탄소 단가는 논쟁이 가장 뜨거운데 BCR 영향은 가장 작습니다.</a:t>
            </a:r>
          </a:p>
          <a:p>
            <a:r>
              <a:t>그 논쟁에 시간을 쓰지 않으셔도 됩니다."</a:t>
            </a:r>
          </a:p>
          <a:p>
            <a:r>
              <a:t>1위가 파일럿 1번 측정 항목이 되는 이유를 여기서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 담당자에게 규모감을 주는 비교: 젖소 한 마리는 연 약 4.2톤 CO₂eq를 배출한다.</a:t>
            </a:r>
          </a:p>
          <a:p>
            <a:r>
              <a:t>승용차 1대가 약 2톤이다. 젖소 한 마리 = 승용차 두 대.</a:t>
            </a:r>
          </a:p>
          <a:p>
            <a:r>
              <a:t>4.2톤은 공표된 두당 계수가 아니라 총량과 축종별 기여율에서 역산한 유도값이다.</a:t>
            </a:r>
          </a:p>
          <a:p>
            <a:r>
              <a:t>유도 과정을 공개했다고 반드시 밝힌다 (등급 C).</a:t>
            </a:r>
          </a:p>
          <a:p>
            <a:r>
              <a:t>"축산에 30% 감축 목표를 주셨는데, 쓸 수 있는 수단이 많지 않습니다. 하나 더 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순서를 바꿔 말한다. 지자체 담당자에게는 탄소보다 악취가 급하다.</a:t>
            </a:r>
          </a:p>
          <a:p>
            <a:r>
              <a:t>"분뇨가 연 10.6만톤 줄어듭니다. 그 87%가 농경지에 뿌려지던 것이고,</a:t>
            </a:r>
          </a:p>
          <a:p>
            <a:r>
              <a:t>악취 민원의 절반이 거기서 나옵니다. 탄소는 그 다음 이야기입니다."</a:t>
            </a:r>
          </a:p>
          <a:p>
            <a:r>
              <a:t>로드맵으로 덧붙일 것 (물으면): 휴머스(HUMUS)를 활용한 HBP 시스템 —</a:t>
            </a:r>
          </a:p>
          <a:p>
            <a:r>
              <a:t>축사 깔짚을 휴머스 기반으로 운용해 분뇨를 축사 내에서 발효시키고, 퇴비·토양 순환으로 경축순환을 완성하는 모듈.</a:t>
            </a:r>
          </a:p>
          <a:p>
            <a:r>
              <a:t>낙농·비육우·육계·양돈에 적용 가능하며 축산환경관리 및 경축순환모델 확립이 프레이밍이다.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마무리는 요청 세 개로 짧게. 여기서 새 정보를 넣지 않는다.</a:t>
            </a:r>
          </a:p>
          <a:p>
            <a:r>
              <a:t>성과지표를 우리가 먼저 제안하는 것이 핵심이다. 평가받을 기준을 스스로 내미는 벤더는 드물고, 그게 신뢰가 된다.</a:t>
            </a:r>
          </a:p>
          <a:p>
            <a:r>
              <a:t>"평가 기준을 저희가 먼저 제안드리겠습니다. 이 지표가 안 움직이면 확산하지 마십시오."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중앙부처 발표에서 가장 중요한 한 장. 여기서 "대체하러 왔다"로 읽히면 그 순간 끝난다.</a:t>
            </a:r>
          </a:p>
          <a:p>
            <a:r>
              <a:t>"KAHIS는 완결된 시스템입니다. 저희가 손댈 이유가 없습니다.</a:t>
            </a:r>
          </a:p>
          <a:p>
            <a:r>
              <a:t>저희가 보는 건 신고가 들어오기 전 며칠입니다. 그 구간이 지금 비어 있습니다. 채워서 넘겨드리겠습니다."</a:t>
            </a:r>
          </a:p>
          <a:p>
            <a:r>
              <a:t>빨간 테두리 두 칸을 손으로 짚으면서 말한다. 시각적으로 "빈칸"이 보이게.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먼저 꺼낸다. 질문받고 답하면 방어로 보이고, 먼저 말하면 설계로 보인다.</a:t>
            </a:r>
          </a:p>
          <a:p>
            <a:r>
              <a:t>"민간 회사 서버에 국가 방역 데이터가 쌓이는 겁니까?"에 대한 답은 다음 장(4주체 구조)에 있다.</a:t>
            </a:r>
          </a:p>
          <a:p>
            <a:r>
              <a:t>→ "그래서 데이터센터를 별도 주체로 분리했습니다"로 이어간다.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거점병원 정책이 추진 중이라면 이 장이 발표의 승부처다.</a:t>
            </a:r>
          </a:p>
          <a:p>
            <a:r>
              <a:t>"건물과 장비만으로는 수의사가 늘지 않습니다. 한 분이 볼 수 있는 농가 수가 늘어야 합니다.</a:t>
            </a:r>
          </a:p>
          <a:p>
            <a:r>
              <a:t>그게 이 사업의 진짜 성과 지표가 되어야 하고, 저희가 그 지표를 움직이는 도구입니다."</a:t>
            </a:r>
          </a:p>
          <a:p>
            <a:r>
              <a:t>"원격 트리아지 ≠ 원격 진료"를 반드시 명시한다. 규제 리스크의 대부분이 이 한 줄로 정리된다.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P2(거점병원)가 P1과 병행이라는 점을 짚는다. 순차가 아니다.</a:t>
            </a:r>
          </a:p>
          <a:p>
            <a:r>
              <a:t>P4를 말할 때 한 문장 덧붙인다: "대한민국 정부가 쓰는 시스템이라는 사실이 수출의 가장 강한 근거가 됩니다.</a:t>
            </a:r>
          </a:p>
          <a:p>
            <a:r>
              <a:t>국내 레퍼런스가 곧 수출 자산입니다."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빨리 넘긴다. 수의사 청중에게 이 문제를 설명하면 무례하다. 공감만 표시하고 넘어간다.</a:t>
            </a:r>
          </a:p>
          <a:p>
            <a:r>
              <a:t>"제가 말씀드릴 내용이 아니라 선생님들이 매일 겪으시는 일입니다. 한 장만 확인하고 넘어가겠습니다."</a:t>
            </a:r>
          </a:p>
          <a:p>
            <a:r>
              <a:t>단, "전승" 카드에서는 잠깐 멈춘다. 나중에 전문가 레이블 슬라이드의 복선이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순서를 지킨다: 오른쪽(하지 않는 것)을 먼저 말하고 왼쪽으로 간다. 경계를 먼저 그어야 나머지를 듣는다.</a:t>
            </a:r>
          </a:p>
          <a:p>
            <a:r>
              <a:t>"이 세 가지에 동의하지 않으시면 나머지 시간은 의미가 없습니다. 질문 있으시면 지금 받겠습니다."</a:t>
            </a:r>
          </a:p>
          <a:p>
            <a:r>
              <a:t>실제로 질문을 받고 답한 뒤 진행한다. 이 침묵을 견디는 게 이 발표의 기술이다.</a:t>
            </a:r>
          </a:p>
          <a:p>
            <a:r>
              <a:t>"정확도 95%"라고 말하지 않는다. 그건 센서 제조사 성능이지 우리가 측정한 값이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숫자는 설계 목표치다. "시범사업으로 검증할 목표 지표"라고 반드시 말한다. 실측이라고 하면 안 된다.</a:t>
            </a:r>
          </a:p>
          <a:p>
            <a:r>
              <a:t>휴약 자동계산은 수의사보다 정부 청중에게 더 크게 먹힌다. 항생제 잔류는 식품안전이자 통상 문제다.</a:t>
            </a:r>
          </a:p>
          <a:p>
            <a:r>
              <a:t>정부 청중이 섞여 있으면 이 대목에서 한 문장 더 붙인다: "수출 축산물 안전성 입증에도 직결됩니다."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수의계 대상 발표의 클로징 감정을 만드는 장이다.</a:t>
            </a:r>
          </a:p>
          <a:p>
            <a:r>
              <a:t>"선생님이 은퇴하시면 그 판단들이 어디로 갑니까? 지금은 사라집니다.</a:t>
            </a:r>
          </a:p>
          <a:p>
            <a:r>
              <a:t>이 구조에서는 남습니다. 그리고 다음 세대가 그걸 쓰고 시작합니다."</a:t>
            </a:r>
          </a:p>
          <a:p>
            <a:r>
              <a:t>foot의 '데이터 위생' 문장이 실무적으로 중요하다. 전문가는 "아무나의 입력이 섞이는가"를 가장 경계한다.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M3 기준선 측정을 강조한다. 대부분의 시범사업이 여기를 건너뛰고 나중에 성과를 증명하지 못한다.</a:t>
            </a:r>
          </a:p>
          <a:p>
            <a:r>
              <a:t>"3개월째에 아무것도 안 하는 것처럼 보이는 구간이 있습니다. 기준선을 재는 시간입니다.</a:t>
            </a:r>
          </a:p>
          <a:p>
            <a:r>
              <a:t>이걸 안 하면 12개월 뒤에 좋아졌다는 걸 증명할 방법이 없습니다."</a:t>
            </a:r>
          </a:p>
          <a:p>
            <a:r>
              <a:t>규모는 협상 가능하다고 열어둔다. 중요한 건 구조와 지표지 규모가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foot 문장이 이 구조의 핵심 세일즈 포인트다. 파트너 협상에서 이 말을 먼저 한다.</a:t>
            </a:r>
          </a:p>
          <a:p>
            <a:r>
              <a:t>"CowTalk이 '이 소에 이 정액'이라고 추천할 때마다 코리아제네틱스 매출이 생깁니다.</a:t>
            </a:r>
          </a:p>
          <a:p>
            <a:r>
              <a:t>농가를 늘릴 때마다 smaXtec 센서가 팔립니다. 저희가 여러분의 영업 파이프라인이 됩니다."</a:t>
            </a:r>
          </a:p>
          <a:p>
            <a:r>
              <a:t>L1 리스크를 먼저 인정한다: 단일 공급자 종속. → 센서 추상화 계층·원시데이터 자체적재·자체 조기감지 엔진 3중 방어를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⑤(데이터 인텔리전스)는 정부·농가 청중 앞에서는 조심스럽게 다룬다. "데이터 팔아서 돈 버는구나"로 읽히면 위험하다.</a:t>
            </a:r>
          </a:p>
          <a:p>
            <a:r>
              <a:t>반드시 3중 조건(옵트인 + 익명화 + 집계)을 같이 말한다.</a:t>
            </a:r>
          </a:p>
          <a:p>
            <a:r>
              <a:t>투자자·파트너 앞에서는 반대로 ⑤⑥의 마진 구조를 강조한다. 청중에 따라 이 장의 무게중심을 바꾼다.</a:t>
            </a:r>
          </a:p>
          <a:p>
            <a:r>
              <a:t>foot의 "흑자 전환점 3~5만두"가 이 사업의 전략을 결정한다. 농가 개별 영업만으로는 도달이 너무 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투자자·파트너 앞에서만 연다. 지자체 앞에서 "당신이 지불자"라고 말하는 건 무례하다.</a:t>
            </a:r>
          </a:p>
          <a:p>
            <a:r>
              <a:t>가장 저평가된 채널은 3번(조합·유업체)이다. 지자체와 달리 예산 편성 주기를 기다리지 않아도 되고,</a:t>
            </a:r>
          </a:p>
          <a:p>
            <a:r>
              <a:t>조합 하나가 지자체 사업 하나와 맞먹는 규모를 가진다. 현금흐름 방어책이기도 하다.</a:t>
            </a:r>
          </a:p>
          <a:p>
            <a:r>
              <a:t>경영 리스크: 주력 채널(지자체)의 입금이 가장 느리다(6~18개월). 운전자금 계획이 필요하다.</a:t>
            </a:r>
          </a:p>
          <a:p>
            <a:r>
              <a:t>"농가는 지금 돈이 없습니다. 그러나 농가의 문제는 지자체의 성과 지표이고, 국가의 방역 과제이고,</a:t>
            </a:r>
          </a:p>
          <a:p>
            <a:r>
              <a:t>환경 부처의 감축 실적입니다."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대외 배포 금지. 투자자·파트너 협상 자리에서만 연다.</a:t>
            </a:r>
          </a:p>
          <a:p>
            <a:r>
              <a:t>지자체·농가 앞에서 D2O 손익을 여는 것은 금물이다.</a:t>
            </a:r>
          </a:p>
          <a:p>
            <a:r>
              <a:t>smaXtec 몫과 KG 마진은 공개 참고시세($89 센서 + $2.49/두/월)에서 역산한 추정이다.</a:t>
            </a:r>
          </a:p>
          <a:p>
            <a:r>
              <a:t>실제 수입 원가는 코리아제네틱스만 안다 — 그 숫자를 확인하는 것이 협상의 1단계다.</a:t>
            </a:r>
          </a:p>
          <a:p>
            <a:r>
              <a:t>"목장이 내는 12,000원 중 7,700원이 수입 단가입니다. 저희가 남기는 4,300원으로</a:t>
            </a:r>
          </a:p>
          <a:p>
            <a:r>
              <a:t>플랫폼 개발·운영·CS·데이터센터를 전부 해야 합니다. 하드웨어 없이 구독으로만 가는 구조이니</a:t>
            </a:r>
          </a:p>
          <a:p>
            <a:r>
              <a:t>볼륨 구간별로 단가가 내려가는 테이블을 함께 만들어 주십시오."</a:t>
            </a:r>
          </a:p>
          <a:p>
            <a:r>
              <a:t>성장 시나리오: 3년차 80,000두 기준 매출 150.9억, 기여이익 31.78억,</a:t>
            </a:r>
          </a:p>
          <a:p>
            <a:r>
              <a:t>고정비 5억(5~6인) 차감 시 영업이익 26.78억. 1년차도 +1.46억으로 흑자다.</a:t>
            </a:r>
          </a:p>
          <a:p>
            <a:r>
              <a:t>심의에서 반드시 나오는 질문: "1인 회사가 이 규모를 감당합니까?"</a:t>
            </a:r>
          </a:p>
          <a:p>
            <a:r>
              <a:t>준비된 답 셋 — ① 플랫폼이 이미 자동화돼 있다 ② 실행은 파트너·외주가 한다</a:t>
            </a:r>
          </a:p>
          <a:p>
            <a:r>
              <a:t>③ 고정비가 낮아 적자 없이 단계적으로 확충할 수 있다. 먼저 말해야 방어된다.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지금 정해야 하는가 — 네 가지가 전부 여기에 걸려 있다:</a:t>
            </a:r>
          </a:p>
          <a:p>
            <a:r>
              <a:t>지자체·국가 계약의 전제 / 해외 수출의 전제 / 농가 신뢰의 전제 / 파트너 협상의 전제.</a:t>
            </a:r>
          </a:p>
          <a:p>
            <a:r>
              <a:t>나중에 정하면 상대의 협상력이 커진 뒤가 된다.</a:t>
            </a:r>
          </a:p>
          <a:p>
            <a:r>
              <a:t>권장 경로: 국내는 B로 시작 → 규모가 커지면 C로 전환. 해외는 처음부터 C.</a:t>
            </a:r>
          </a:p>
          <a:p>
            <a:r>
              <a:t>업체 선정 시 계약에 반드시 넣을 것: 국내 리전 명시 · 감사로그 보존기간과 열람권한 ·</a:t>
            </a:r>
          </a:p>
          <a:p>
            <a:r>
              <a:t>DR SLA · 공공조달 등록 여부 · 계약 종료 시 데이터 반환·파기 절차 · 두수 증가 시 단가 체감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오른쪽 4문장을 소리 내어 하나씩 읽는다. 이 장은 빨리 넘기지 않는다.</a:t>
            </a:r>
          </a:p>
          <a:p>
            <a:r>
              <a:t>"회사가 없어지면 우리 데이터는요?"라는 질문에 대한 답이 여기 있다 —</a:t>
            </a:r>
          </a:p>
          <a:p>
            <a:r>
              <a:t>"데이터센터 주체를 분리한 이유가 이것이기도 합니다. 보관 주체가 공공이면 저희가 없어져도 데이터는 남습니다."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problem, never with the company. Officials have seen a hundred vendor decks.</a:t>
            </a:r>
          </a:p>
          <a:p>
            <a:r>
              <a:t>"We are not here to sell you a farm app. We are here to show you how a country can see an outbreak before it is reported."</a:t>
            </a:r>
          </a:p>
          <a:p>
            <a:r>
              <a:t>For Southeast Asia, weight Wall 2 (disease containment). For the Gulf, weight Wall 3 and reframe it as food security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for any overseas government audience. Spend time here.</a:t>
            </a:r>
          </a:p>
          <a:p>
            <a:r>
              <a:t>"Your data stays inside your borders. What crosses the boundary is anonymized aggregate statistics, and only with your approval."</a:t>
            </a:r>
          </a:p>
          <a:p>
            <a:r>
              <a:t>Geopolitics matters here but is never said out loud — show it through the architecture, do not claim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overstate readiness here. Officials will test this in the pilot and a failure there is unrecoverable.</a:t>
            </a:r>
          </a:p>
          <a:p>
            <a:r>
              <a:t>"Full localization takes months, not weeks. We plan for that, and we will tell you which months."</a:t>
            </a:r>
          </a:p>
          <a:p>
            <a:r>
              <a:t>RTL (Arabic) is genuinely expensive. Offer English UI for early Gulf deployments — their working officials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quote Korean pricing abroad. It is too expensive for Southeast Asia and too cheap for the Gulf — both lose the deal.</a:t>
            </a:r>
          </a:p>
          <a:p>
            <a:r>
              <a:t>"I will not give you a number today, because the honest answer depends on your herd structure.</a:t>
            </a:r>
          </a:p>
          <a:p>
            <a:r>
              <a:t>Let us design the pilot first and price from real data."</a:t>
            </a:r>
          </a:p>
          <a:p>
            <a:r>
              <a:t>Financing is the real gate in Southeast Asia. Design the funding route before the product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장만 인쇄해서 들어가야 한다면 이 장이다. 결재 라인에 그대로 넘길 수 있게 설계했다.</a:t>
            </a:r>
          </a:p>
          <a:p>
            <a:r>
              <a:t>네 칸을 손으로 짚으며 순서대로 읽는다. 각 칸에 30초. 2분이면 끝난다.</a:t>
            </a:r>
          </a:p>
          <a:p>
            <a:r>
              <a:t>"평가 기준을 저희가 먼저 제안드리겠습니다. 이 다섯 지표가 움직이지 않으면 확산하지 마십시오."</a:t>
            </a:r>
          </a:p>
          <a:p>
            <a:r>
              <a:t>정직성 한 줄을 반드시 붙인다: "개체 편익만 보면 보수 시나리오는 BCR 0.45로 미달합니다.</a:t>
            </a:r>
          </a:p>
          <a:p>
            <a:r>
              <a:t>이 사업의 정당성은 농가 수익이 아니라 자원효율에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장에서는 새 정보를 넣지 않는다. 감정을 정리하고 끝낸다.</a:t>
            </a:r>
          </a:p>
          <a:p>
            <a:r>
              <a:t>"제 목장 소로 먼저 검증하지 않은 걸 남에게 권하지 않습니다. 그래서 파일럿을 제안드립니다."</a:t>
            </a:r>
          </a:p>
          <a:p>
            <a:r>
              <a:t>침묵을 3초 두고 질문을 받는다. 서둘러 다음 말을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B0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21031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LIVESTOCK DIGITAL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8716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40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소가 말하지 못하는 것을</a:t>
            </a:r>
            <a:r>
              <a:rPr sz="40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국가가 듣는다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187952"/>
            <a:ext cx="68897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위내센서 · 공공데이터 · AI 해석 · 역할별 액션플랜을 하나로 묶은
 축산 디지털 운영체제. 한 마리의 소에서 시작해 전국 방역까지 하나의 데이터 척추로 잇습니다.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58384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CowTalk v5.0     운영 규모 약 200 농장 · 1.1만 두     파일럿 경기도 · 송영신목장     D2O Corp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대전제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2026년 1월 1일,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벽이 사라졌습니다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미국산 쇠고기 관세가 0%가 됐습니다. 우유를 포함한 45개 품목이 함께 무관세가 됐습니다.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0468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국가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3258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쇠고기 관세 철폐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5860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현재 상태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미국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3258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2026년 1월 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5860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0%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FTA 이전 37.3% → 2025년 1.2~4.8% → 철폐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9544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호주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3258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2028년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860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단계적 인하 진행 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93591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뉴질랜드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258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2029년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5860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단계적 인하 진행 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77639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유제품 (우유·치즈 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3258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2026년 이후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5860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기존 11~13% →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미국산 쇠고기는 2017년 이미 수입 쇠고기 시장 1위입니다. 그 제품의 마지막 관세가 사라졌습니다.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"싸게 만들어 이긴다"는 선택지가 구조적으로 닫혔습니다.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대전제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같은 해, 축산은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안에서도 무너지고 있었습니다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밖에서 벽이 사라지는 동안 안에서는 두수가 줄고, 농가가 문을 닫고, 원가가 판매가를 넘어섰습니다.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36997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한우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6111" y="2468880"/>
            <a:ext cx="14359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2706624"/>
            <a:ext cx="52820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2825496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사육두수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111" y="2825496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315.4만두</a:t>
            </a: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(−5.2%)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3172968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3209544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사육 농장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111" y="3209544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72,389호</a:t>
            </a: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(1년 새 −3,689호)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3557015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3593591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농장 수 장기 추이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111" y="3593591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2000년 31.4만 → 2024년 8.4만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941063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977639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가임 암소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6111" y="3977639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154.3만두 (2년 새 −10만)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4325112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96431" y="2468880"/>
            <a:ext cx="36997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낙농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311" y="2468880"/>
            <a:ext cx="14359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96431" y="2706624"/>
            <a:ext cx="5282032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96431" y="2825496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사육두수 / 착유우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311" y="2825496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36.5만두 / </a:t>
            </a: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19.1만두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96431" y="3172968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96431" y="3209544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농가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9311" y="3209544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5,313호 (3년 새 </a:t>
            </a: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−9.7%</a:t>
            </a: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96431" y="3557015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6431" y="3593591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1인당 흰우유 소비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9311" y="3593591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22.9kg</a:t>
            </a: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(−9.5%, 40년 만 최저)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6431" y="3941063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96431" y="3977639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멸균우유 수입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9311" y="3977639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2016년 1,214톤 → </a:t>
            </a: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4.9만톤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96431" y="4325112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96431" y="4361688"/>
            <a:ext cx="3699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생산비 vs 원유가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9311" y="4361688"/>
            <a:ext cx="1435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1,252원 &gt; 1,249원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96431" y="4709159"/>
            <a:ext cx="5282032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가장 무거운 한 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1리터를 생산할수록 손해가 나는 구조에 들어섰습니다.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원유가는 3년 연속 동결됐고 생산비가 그 위로 올라갔습니다.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대전제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남은 경쟁축은 셋.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셋 다 데이터가 전제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가격으로 못 이기는 산업이 설 수 있는 자리는 증명·효율·환경뿐입니다. 그리고 셋 다 측정 없이는 불가능합니다.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① 증명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안전성·품질·이력을
입증한다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항생제 휴약, 질병 이력, 사육 과정이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기록으로 남아야 증명이 된다.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수출도 여기서 갈린다.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468880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651760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② 효율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두당 성적을 올려
생산비를 낮춘다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공태일 하루, 유방염 한 건, 폐사 한 마리가 그대로 원가다.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측정하지 않으면 개선할 수 없다.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4164" y="2468880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07044" y="2651760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③ 환경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탄소·분뇨를 줄이고
인정받는다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감축은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측정·보고·검증(MRV)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 없으면 실적으로 인정되지 않는다.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71416"/>
            <a:ext cx="10765231" cy="1819656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654296"/>
            <a:ext cx="1039947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결론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규모의 경제로는 미국·호주를 이길 수 없다. 한국이 갈 수 있는 길은 정밀의 경제다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
 한 마리를 정확히 관리해 두당 성적으로 격차를 메우는 것.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축산의 디지털 전환은 성장 전략이 아니라 생존 조건이다.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제언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축산의 위기는 데이터의 위기다.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보이지 않는 것은 관리할 수 없다.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사람이 줄고, 질병은 늦게 발견되고, 데이터는 있는데 연결되지 않는다. 세 문제는 하나의 뿌리를 갖는다.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54298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08853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벽 1 · 사람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지키는 사람이 사라진다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축산 현장 고령화, 대동물 수의사 감소. 왕진 한 건에 왕복 두 시간.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사람이 주는 속도를 기술이 못 따라가면 축산은 관리 불능이 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468880"/>
            <a:ext cx="3454298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651760"/>
            <a:ext cx="308853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벽 2 · 질병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항상 늦게 발견된다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소는 아프다고 말하지 않는다. 눈에 보일 때는 늦다.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첫 신고 시점에 확산은 이미 시작된 상태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다. 방역은 사후 대응의 반복이 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4164" y="2468880"/>
            <a:ext cx="3454298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07044" y="2651760"/>
            <a:ext cx="308853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벽 3 · 데이터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있는데 닿지 않는다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이력제·등급·DHI·KAHIS·기상이 전부 존재한다. 그런데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 한 사람이 그걸 자기 소 한 마리에 연결하는 일은 불가능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하다.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해법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세계 최고의 센서도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"그래서 뭘 해야 하나"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에는 답하지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위내센서는 이미 존재한다. 문제는 알람과 행동 사이에 다리가 없다는 것이다. CowTalk은 그 다리다.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01 감지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발정 감지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위내센서가 체온·활동량 변화를 포착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3164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772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72932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02 판단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맥락 결합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이력·산차·최근 치료·목장 설정을 한 화면에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5705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8313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95473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03 추천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수정 적기 · 정액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내일 06시, 추천 정액과 그 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8245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0853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8013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04 행동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현장 실행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수정사에게 전달, 정액 공급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0786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3394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40554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05 학습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결과 피드백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임신감정 결과가 다음 추천을 정확하게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핵심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알람 → 판단 → 추천 → 행동 → 기록이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화면에서 끝난다.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이것이 CowTalk이 존재하는 유일한 이유다.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센서 위에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세 개의 레이어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를 얹는다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smaXtec을 복제하지 않는다. 그 위에 공공데이터·AI·다중역할을 쌓아 계층을 다르게 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10765231" cy="89382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13232" y="2468880"/>
            <a:ext cx="41148" cy="893826"/>
          </a:xfrm>
          <a:prstGeom prst="rect">
            <a:avLst/>
          </a:prstGeom>
          <a:solidFill>
            <a:srgbClr val="B0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1417320" cy="710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LAYER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560320"/>
            <a:ext cx="6558991" cy="747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Intelligence Loop — 쓸수록 똑똑해진다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전문가 레이블 축적 · 프롬프트 자기보정 · 치료결과 자동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6743" y="259689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피드백 · 정확도 추적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445002"/>
            <a:ext cx="10765231" cy="89382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13232" y="3445002"/>
            <a:ext cx="41148" cy="89382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3563874"/>
            <a:ext cx="1417320" cy="710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3536442"/>
            <a:ext cx="6558991" cy="747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역할별 서빙 — 같은 데이터, 네 개의 관점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권한 경계가 게이트웨이 수준에서 강제된다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6743" y="357301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농가 · 수의사 · 방역관 · 행정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421124"/>
            <a:ext cx="10765231" cy="89382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13232" y="4421124"/>
            <a:ext cx="41148" cy="893826"/>
          </a:xfrm>
          <a:prstGeom prst="rect">
            <a:avLst/>
          </a:prstGeom>
          <a:solidFill>
            <a:srgbClr val="16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4539996"/>
            <a:ext cx="1417320" cy="710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16B0A6"/>
                </a:solidFill>
                <a:latin typeface="Consolas"/>
                <a:ea typeface="Consolas"/>
                <a:cs typeface="Consolas"/>
              </a:rPr>
              <a:t>LAYER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4872" y="4512564"/>
            <a:ext cx="6558991" cy="747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AI 해석 — 재판단하지 않고 맥락을 붙인다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모든 판단에 explanation + 기여요인 + 출처 기록. AI 불가 시 룰 엔진 대체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6743" y="45491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설명 · 근거 필수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397246"/>
            <a:ext cx="10765231" cy="89382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13232" y="5397246"/>
            <a:ext cx="41148" cy="893826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" y="5516118"/>
            <a:ext cx="1417320" cy="710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LAYER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5488686"/>
            <a:ext cx="6558991" cy="747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 통합 — 흩어진 것을 한 마리에 모은다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위내센서 이벤트 + 이력제·등급·경락 + 농장기록 + 기상 THI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6743" y="552526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센서 · 공공 · 기록 · 기상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소의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위 속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에서 재면 날씨에 흔들리지 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첫째·둘째 위 사이에 캡슐 센서를 경구 투여하면 가라앉아 평생 그 자리에 머뭅니다. 소는 이물감을 느끼지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4063101" cy="3346704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69734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무엇을 재나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심부체온 · 활동량 · 음수 · 반추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심부체온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발열(질병) · 분만 임박(체온 하강) · 열스트레스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활동량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발정 행동 · 활동 저하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음수 이벤트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급수 문제와 식욕 저하의 조기 신호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반추 패턴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소화기 이상 · 사료 적응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물을 마시면 위 온도가 일시적으로 떨어진다.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 보정이 제조사의 핵심 기술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이고, 우리가 센서 이벤트를 재판단하지 않는 이유다.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7501" y="2468880"/>
            <a:ext cx="6500961" cy="334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심부체온은 다른 방법으로 못 잰다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피부·귀 온도는 외기온에 끌려다닌다. 위 속은 항온 환경이라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미세한 변화가 진짜 생리 변화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다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탈락률이 0에 수렴한다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목걸이는 벗겨지고 이표는 떨어진다. 센서 없는 소는 데이터 없는 소이고,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방역 감시망의 구멍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 된다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생애 단위 시계열이 쌓인다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배터리 교체 없이 수년. AI가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"이 소의 평소"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를 알아야 이상을 안다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문헌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육성 수소 호흡기질병 연구에서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위내 고열이 임상 증상보다 항상 먼저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나타났습니다 — 시간차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12~136시간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. 양성예측도 73%.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기술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볼루스가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모든 면에서 최고는 아닙니다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축산 IoT 5종을 비교하면 강점이 갈립니다. 우리가 볼루스를 고른 이유는 두 가지가 대체 불가능하기 때문입니다.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20660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비교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476" y="2468880"/>
            <a:ext cx="16520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위내 볼루스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7673" y="2468880"/>
            <a:ext cx="16520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목걸이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2871" y="2468880"/>
            <a:ext cx="16520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이표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068" y="2468880"/>
            <a:ext cx="16520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카메라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265" y="2468880"/>
            <a:ext cx="16520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착유기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2825496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심부체온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476" y="282549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직접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7673" y="282549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2871" y="282549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귀 표면온도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068" y="282549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265" y="282549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3209544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발정(행동) 탐지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476" y="3209544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7673" y="3209544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강함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2871" y="3209544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068" y="3209544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265" y="3209544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3593591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유량 · 유성분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476" y="3593591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7673" y="3593591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2871" y="3593591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068" y="3593591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265" y="3593591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3977639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환경 간섭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476" y="3977639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없음 (체내)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7673" y="3977639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외기온 영향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2871" y="3977639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영향 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068" y="3977639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조명·먼지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3265" y="3977639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2" y="4361688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탈락 · 분실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476" y="4361688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거의 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7673" y="4361688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있음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2871" y="4361688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많음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068" y="4361688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3265" y="4361688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13232" y="4745736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배터리 수명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2476" y="474573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수년(생애)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7673" y="474573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교체 필요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2871" y="474573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1~3년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068" y="474573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상시전원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3265" y="4745736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상시전원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" y="509320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13232" y="5129783"/>
            <a:ext cx="20660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두당 단가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476" y="5129783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7673" y="5129783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2871" y="5129783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28068" y="5129783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53265" y="5129783"/>
            <a:ext cx="16520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설비 포함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3232" y="547725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정직한 결론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체온 기반 사건(질병·분만)은 볼루스가, 행동 기반 사건(발정)은 가속도계가 강합니다.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볼루스는 둘을 한 디바이스로 덮지만, 발정 탐지 단독으로는 목걸이가 낫습니다.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데이터 통합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소 한 마리에 번호가 넷.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지금까지 따로 살고 있었다.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 네 개를 한 개체로 묶는 것이 CowTalk의 기술적 해자다. 센서만으로는 "열이 난다"까지밖에 못 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21729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9363" y="2468880"/>
            <a:ext cx="17382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발급 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0759" y="2468880"/>
            <a:ext cx="17382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플랫폼에서의 역할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5868924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21729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이력제 번호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(12자리)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9363" y="2825496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국가 · 출생 2주 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0759" y="2825496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공공데이터 조회 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72968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9544"/>
            <a:ext cx="21729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목장 관리번호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9363" y="3209544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농장 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0759" y="3209544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현장에서 부르는 이름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57015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93591"/>
            <a:ext cx="21729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혈통등록번호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9363" y="3593591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종축개량협회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0759" y="3593591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근교계수 · 유전능력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41063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77639"/>
            <a:ext cx="21729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센서 시리얼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9363" y="3977639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smaXtec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0759" y="3977639"/>
            <a:ext cx="17382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실시간 생체신호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325112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783324" y="2468880"/>
            <a:ext cx="4695139" cy="3822192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966204" y="2651760"/>
            <a:ext cx="4329379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결합의 값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"열이 난다"에서
"우선순위 1번, 예상손실 X원"으로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이력·혈통·등급·시세가 붙어야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3산차 고능력우, 유방염 이력 있음, 지금 발열 → 우선 처치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가 된다.
 번호를 잇는 일이 곧 판단을 잇는 일이다.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같은 한 마리의 소가,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보는 사람에 따라 다른 의미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를 갖는다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농가에겐 내일 수정할 소, 방역관에겐 3km 반경 접촉 개체, 행정관에겐 통계 1건. 하나의 데이터 척추 위에 네 관점을 세운다.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농장주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내 소 한 마리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오늘 할 일 · 발정 · 분만 알림 · 두당 마진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4831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711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수의사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담당 목장 여러 개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위험 개체 트리아지 · 감별진단 · 왕진 동선 · 처방과 휴약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9311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방역관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지역 전체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집단 발열 · 접촉망 · 확산 시뮬레이션 · 역학조사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20911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행정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시도 · 전국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수급 · 정책 브리핑 · 예산 근거 · 성과 지표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권한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네 역할의 접근 권한은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게이트웨이 수준에서 강제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된다. 권한 밖 데이터는 조회 자체가 차단되고, 모든 조회는 감사 로그에 남는다.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주장이 아니라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코드 감사 결과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로 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마케팅 문구와 실제 코드를 1:1로 대조한 감사 기록이 저장소에 있다. 아래는 "현재 작동"으로 검증된 항목이다.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28508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7213" y="2468880"/>
            <a:ext cx="228489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검증된 기능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2706624"/>
            <a:ext cx="52820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2825496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AI 어시스턴트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213" y="2825496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MCP 도구 25종 · 역할별 접근제어 · 감사로그 · 음성 입출력 · 방역모드 자동전환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3172968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3209544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방역 · 역학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213" y="3209544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전국→시도→농장→개체 드릴다운 ·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SEIR 미분방정식 확산 시뮬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· 접촉망 추적 · 역학조사 DB · KAHIS 보고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3557015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3593591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번식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213" y="3593591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6단계 칸반 · 수정적기(AM-PM) · 발정동기화 4종 프로토콜 · 정액 추천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941063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96431" y="2468880"/>
            <a:ext cx="28508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영역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0413" y="2468880"/>
            <a:ext cx="228489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검증된 기능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96431" y="2706624"/>
            <a:ext cx="5282032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96431" y="2825496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조기감지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0413" y="2825496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질병징후지수 DSI 0~100, 70 이상 자동 경보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96431" y="3172968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96431" y="3209544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공공데이터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0413" y="3209544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이력제(EKAPE) 실연동 · 등급판정 · 경락가격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96431" y="3557015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96431" y="3593591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수의 임상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0413" y="3593591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감별진단 확률·근거·확인검사 트리 · 처방전 PDF ·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휴약기간 자동계산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· 치료결과 추적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96431" y="3941063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6431" y="3977639"/>
            <a:ext cx="2850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행정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0413" y="3977639"/>
            <a:ext cx="22848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4역할 RBAC · CSV/XLSX 내보내기 · 월간 리포트 · 자동화 룰 엔진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6431" y="4325112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정직성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그리고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아직 안 되는 것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을 먼저 말씀드립니다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심의도 계약도, "다 됩니다"보다 "이건 됐고 이건 로드맵입니다"를 더 신뢰합니다.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54298" cy="3346704"/>
          </a:xfrm>
          <a:prstGeom prst="rect">
            <a:avLst/>
          </a:prstGeom>
          <a:solidFill>
            <a:srgbClr val="F5EBDC"/>
          </a:solidFill>
          <a:ln w="9525">
            <a:solidFill>
              <a:srgbClr val="B0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08853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로드맵 1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젖소 혈통·DHI 정밀 연동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현재는 내부·등급 데이터 기반 추천이고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신뢰도를 화면에 표시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합니다. 어댑터는 준비됐고 연동 시 자동 정밀화됩니다.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기술 문제가 아니라 데이터 거버넌스 문제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468880"/>
            <a:ext cx="3454298" cy="3346704"/>
          </a:xfrm>
          <a:prstGeom prst="rect">
            <a:avLst/>
          </a:prstGeom>
          <a:solidFill>
            <a:srgbClr val="F5EBDC"/>
          </a:solidFill>
          <a:ln w="9525">
            <a:solidFill>
              <a:srgbClr val="B0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651760"/>
            <a:ext cx="308853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로드맵 2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역학조사 기상 실연동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일부 구간에 추정값이 섞여 있습니다. 실 기상 API 연동과 주간 추이 히스토리 적재가 남았습니다.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4164" y="2468880"/>
            <a:ext cx="3454298" cy="3346704"/>
          </a:xfrm>
          <a:prstGeom prst="rect">
            <a:avLst/>
          </a:prstGeom>
          <a:solidFill>
            <a:srgbClr val="F5EBDC"/>
          </a:solidFill>
          <a:ln w="9525">
            <a:solidFill>
              <a:srgbClr val="B0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07044" y="2651760"/>
            <a:ext cx="308853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로드맵 3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해외 종모우 · 오프라인 내성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해외 유전평가 데이터 연동과 통신 불안정 지역용 오프라인 큐잉은 수출 단계 과제입니다.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 장을 넣는 순간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앞 장 전부의 신뢰도가 올라간다.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빼면 앞 장 전부가 의심받는다.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지역정부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지자체는 지금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관내 축산을 실시간으로 볼 수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사고가 나야만 정보가 행정에 도달한다. 그 사이의 며칠이 방역의 성패를 가른다.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4063101" cy="3822192"/>
          </a:xfrm>
          <a:prstGeom prst="rect">
            <a:avLst/>
          </a:prstGeom>
          <a:solidFill>
            <a:srgbClr val="F7E7E6"/>
          </a:solidFill>
          <a:ln w="9525">
            <a:solidFill>
              <a:srgbClr val="A8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697341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A8322F"/>
                </a:solidFill>
                <a:latin typeface="Consolas"/>
                <a:ea typeface="Consolas"/>
                <a:cs typeface="Consolas"/>
              </a:rPr>
              <a:t>지금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사후 인지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농가 신고 → 행정 확인 → 검사 → 대응.
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신고 시점에 확산은 이미 진행 중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77501" y="2468880"/>
            <a:ext cx="1474364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77501" y="2587752"/>
            <a:ext cx="14743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전국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7501" y="3008376"/>
            <a:ext cx="14743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시도별 위험등급과 발열률을 한 화면에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53033" y="2468880"/>
            <a:ext cx="1474365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53033" y="2587752"/>
            <a:ext cx="14743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시도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3033" y="3008376"/>
            <a:ext cx="14743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클릭 한 번으로 관내 농장 목록과 좌표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8566" y="2468880"/>
            <a:ext cx="1474364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28566" y="2587752"/>
            <a:ext cx="14743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농장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566" y="3008376"/>
            <a:ext cx="14743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농장별 두수 · 알림 · 접촉 이력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04098" y="2468880"/>
            <a:ext cx="1474365" cy="0"/>
          </a:xfrm>
          <a:prstGeom prst="bentConnector3">
            <a:avLst/>
          </a:prstGeom>
          <a:ln w="25400">
            <a:solidFill>
              <a:srgbClr val="B06A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04098" y="2587752"/>
            <a:ext cx="14743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개체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4098" y="3008376"/>
            <a:ext cx="14743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그 소의 센서 추이와 AI 해석까지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7501" y="4462272"/>
            <a:ext cx="6500961" cy="1828800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60381" y="4645152"/>
            <a:ext cx="61352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드릴다운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전국 → 시도 → 농장 → 개체 → AI 판단이 한 화면에서 끊기지 않는다.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
 상황실에서 시작해 소 한 마리까지 내려가는 데 클릭 네 번이면 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방역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집단 발열이 뜨면,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확산을 계산해서 보여준다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그림이 아니라 SEIR 미분방정식 계산 결과다. 이동제한을 걸었을 때와 안 걸었을 때의 차이를 정량으로 비교한다.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01 탐지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집단 발열 감지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농장 단위 이상 징후를 클러스터로 자동 포착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4831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711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02 추적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접촉망 분석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실제 이동이력 기반 접촉 개체·농장 추적. 이동데이터 없으면 지역 기반 폴백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2468880"/>
            <a:ext cx="2540431" cy="3346704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9311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03 예측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SEIR 확산 시뮬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R0·잠복기·감염기간으로 확산 곡선 계산.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이동제한 시나리오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2468880"/>
            <a:ext cx="25404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20911" y="2651760"/>
            <a:ext cx="21746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04 보고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역학조사 · KAHIS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6항목 자동수집 · 조사 기록 영속화 · 국가 보고 상태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옵션 가치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전염병을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번만 막으면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시스템 비용은 그 자체로 회수된다. 이건 투자가 아니라 보험이다.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숫자마다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어디서 왔는지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를 함께 드립니다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A는 공표 통계, B는 문헌 범위의 하한, C는 우리 가정. 등급이 낮은 것은 낮다고 표시했습니다.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349989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등급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74" y="2468880"/>
            <a:ext cx="280833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의미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7760" y="2468880"/>
            <a:ext cx="280833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이 계산에서 쓴 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9246" y="2468880"/>
            <a:ext cx="1356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2825496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74" y="2825496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정부·공공기관 공표 통계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760" y="2825496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원유 기본가격 (낙농진흥회, 3년 연속 동결)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9246" y="2825496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1,084원/L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209544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74" y="3209544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정부·공공기관 공표 통계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7760" y="3209544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젖소 분뇨 배출원단위 (농촌진흥청)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46" y="3209544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28kg/두/일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3593591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6274" y="3593591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정부·공공기관 공표 통계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760" y="3593591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가축전염병 살처분 보상금 (2019~2024, 4개 질병)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46" y="3593591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5,289억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3977639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6274" y="3977639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문헌 범위의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하한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채택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7760" y="3977639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유방염 1건 손실 (문헌 30~50만원)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9246" y="3977639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300,000원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" y="4361688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74" y="4361688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문헌 범위의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하한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7760" y="4361688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공태일 단축 (활동량센서 문헌 5~15일)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46" y="4361688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5일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4745736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86274" y="4745736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우리 설계 가정 —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파일럿 검증 대상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7760" y="4745736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육성우 감축률 · 탄소 사회적비용 단가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46" y="4745736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15~45% / 10만원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509320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출처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단가는 발표용으로 만든 숫자가 아니라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제품이 매일 경제 계산에 실제로 쓰는 파라미터 카탈로그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이며, 농장별로 수정 가능합니다.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정정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발표 전에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저희 숫자 6건을 스스로 고쳤습니다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공개 통계와 대조하고 계산 정합성을 검토한 결과입니다. 대부분 유리한 방향이지만, 틀린 건 틀린 것입니다.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0468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기존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3258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실제 (공표 통계)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5860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영향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경기 젖소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100,000두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3258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150,364두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(2026.3 축산물이력제)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5860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사업 규모 1.5배 — 100,000두는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보급률 67% 시나리오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로 재정의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9544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경기 낙농가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1,500호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3258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전국 5,313호 · 목장당 69~70두
→ 경기 추정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약 2,100호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860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기지국 구축비 75억 →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약 107억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재산정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93591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젖소 두수 기준연도 불명확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258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전국 36.5~37.5만두 (2026)
3년새 농가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9.7% 감소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5860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경기 비중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40.6%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"전국 최대 낙농 거점" 표현은 정확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77639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육성우 감축을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8만두 전체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에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3258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감축은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보급된 농가에서만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발생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5860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사회·환경 편익 하향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361688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두당 월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15,000원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(설계 가정)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3258" y="4361688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현행 실단가 12,000원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
수입사 지급 7,700원 · D2O 4,300원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5860" y="4361688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연 비용 180억 →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144억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. BCR 상승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4745736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경기 육성우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80,000두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(근거 없는 추정)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3258" y="474573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공표통계 유도 →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약 66,000두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
전국 젖소 37.1만 − 착유우 19.1만에서 유도, 범위 5.9~7.3만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5860" y="474573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대상 육성우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44,200두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로 확정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09320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왜 먼저 말하나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우리가 우리 숫자를 고쳐 왔다는 사실 자체가, 남은 숫자에 대한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가장 강한 신뢰 근거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가장 보수적으로 잡아도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BCR 1.24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경기 젖소 150,364두 중 100,000두 보급(약 67%) · 두당 월 12,000원(현행 실단가) · 연 구독비용 144억 기준.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8201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편익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6518" y="2468880"/>
            <a:ext cx="18841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A 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3833" y="2468880"/>
            <a:ext cx="18841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B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148" y="2468880"/>
            <a:ext cx="18841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C 적극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2825496"/>
            <a:ext cx="4820134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농가 개체 편익 (두당 8.05만 / 20.5만 / 24만원)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6518" y="2825496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80.5억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3833" y="2825496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204.7억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1148" y="2825496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240.0억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310478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141361"/>
            <a:ext cx="4820134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육성우 감축 — 사료비 절감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6518" y="3141361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79.6억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3833" y="3141361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159.2억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1148" y="3141361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238.8억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420651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3457227"/>
            <a:ext cx="4820134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육성우 감축 — 분뇨 처리비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6518" y="3457227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15.9억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3833" y="3457227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31.8억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148" y="3457227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47.8억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736516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3773092"/>
            <a:ext cx="4820134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육성우 감축 — 탄소 (시장가 / 중간 / 사회적비용)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6518" y="3773092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2.0억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3833" y="3773092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11.9억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1148" y="3773092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59.7억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405238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" y="4088958"/>
            <a:ext cx="4820134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방역 (옵션가치)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6518" y="4088958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계상 안 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3833" y="4088958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30억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1148" y="4088958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30억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36824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4404823"/>
            <a:ext cx="4820134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연간 총편익 / 비용 144억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6518" y="4404823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178.0억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33" y="4404823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437.6억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1148" y="4404823"/>
            <a:ext cx="1884162" cy="315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616.3억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4684113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3232" y="4866993"/>
            <a:ext cx="2540431" cy="0"/>
          </a:xfrm>
          <a:prstGeom prst="bentConnector3">
            <a:avLst/>
          </a:prstGeom>
          <a:ln w="25400">
            <a:solidFill>
              <a:srgbClr val="B06A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3232" y="4985865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1.24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406489"/>
            <a:ext cx="2540431" cy="1424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A 보수 — _x0001_이 숫자로 말합니다_x0001_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454831" y="4866993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54831" y="4985865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3.04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4831" y="5406489"/>
            <a:ext cx="2540431" cy="1424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B 기준 (문헌 중간값)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96431" y="4866993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6431" y="4985865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4.28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6431" y="5406489"/>
            <a:ext cx="2540431" cy="1424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C 적극 (사회적 탄소비용 반영)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938031" y="4866993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938031" y="4985865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1.9년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38031" y="5406489"/>
            <a:ext cx="2540431" cy="1424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자가도입 시 회수기간 (보수 가정)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민감도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성패는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두 가지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로 수렴합니다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BCR을 흔드는 순서. 상위 두 개가 압도적이고, 나머지는 논쟁 대비 영향이 작습니다.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349989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74" y="2468880"/>
            <a:ext cx="280833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가정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7760" y="2468880"/>
            <a:ext cx="280833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변동 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9246" y="2468880"/>
            <a:ext cx="1356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BCR (기준 3.04)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2825496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74" y="2825496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육성우 감축률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(30%)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760" y="2825496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±15%p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9246" y="2825496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2.33 ~ 3.74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209544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74" y="3209544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두당 월 요금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(12,000원)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7760" y="3209544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10,000 ↔ 15,000원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46" y="3209544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3.65 ~ 2.43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3593591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6274" y="3593591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산유량 향상 (50L)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760" y="3593591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0 ↔ 100L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46" y="3593591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2.67 ~ 3.42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3977639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6274" y="3977639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공태일 단축 (10일)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7760" y="3977639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5일 ↔ 15일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9246" y="3977639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2.76 ~ 3.32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" y="4361688"/>
            <a:ext cx="3499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74" y="4361688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탄소 가치 단가 (3만원/톤)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7760" y="4361688"/>
            <a:ext cx="280833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시장가 1만 ↔ 사회적 10만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46" y="4361688"/>
            <a:ext cx="1356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2.98 ~ 3.23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시사점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육성우를 실제로 줄일 수 있는가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②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두당 요금을 얼마로 협상하는가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. 나머지 정밀도를 높이는 데 시간을 쓸 이유가 없습니다.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탄소 · 기후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축산은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감축 수단이 없는데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 30%를 줄여야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2030 NDC — 국가 40%, 농축수산 25.9%, 축산 분야 30% 감축. 그런데 축산의 배출은 생물의 대사입니다.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4063101" cy="3346704"/>
          </a:xfrm>
          <a:prstGeom prst="rect">
            <a:avLst/>
          </a:prstGeom>
          <a:solidFill>
            <a:srgbClr val="F7E7E6"/>
          </a:solidFill>
          <a:ln w="9525">
            <a:solidFill>
              <a:srgbClr val="A8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69734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A8322F"/>
                </a:solidFill>
                <a:latin typeface="Consolas"/>
                <a:ea typeface="Consolas"/>
                <a:cs typeface="Consolas"/>
              </a:rPr>
              <a:t>구조적 난제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연료를 바꾸듯
바꿀 수가 없다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제조업은 연료를, 발전은 전원을 바꾸면 된다. 축산은 소가 되새김하며 내는 메탄이다.
 저메탄 사료·분뇨처리 고도화는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단위당 저감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이고 농가에 비용을 지운다.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7501" y="2468880"/>
            <a:ext cx="6500961" cy="3346704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60381" y="2651760"/>
            <a:ext cx="613520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COWTALK의 경로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마리가 덜 배출하게 하는 대신
더 적은 소로 같은 우유를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번식효율↑ · 생애수명↑ → 대체 후보축(육성우) 수요↓ →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사육두수↓, 생산량 유지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.
 육성우는 2년간 생산 없이 먹고 배출한다. 그 두수가 줄면 사료·분뇨·메탄이 동시에 준다.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환경 성과를 위해 새로 할 일이 없다. 번식·건강을 잘하면 환경이 따라온다.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가장 강한 한 문장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농가에 비용을 부담시키지 않고 축산 온실가스를 줄이는 거의 유일한 수단입니다.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환경부담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 · 결과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탄소보다 먼저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악취 민원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 줄어듭니다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분뇨의 87%가 농경지에 살포되고, 악취 민원의 절반이 거기서 나옵니다. 총량이 줄면 원인 물질이 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0673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육성우 감축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3705" y="2468880"/>
            <a:ext cx="158303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탄소 저감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9894" y="2468880"/>
            <a:ext cx="158303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경기 젖소 2030
감축목표 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6084" y="2468880"/>
            <a:ext cx="158303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분뇨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2273" y="2468880"/>
            <a:ext cx="158303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사료비 절감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2825496"/>
            <a:ext cx="4067321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15%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· 6,630두 (보수)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3705" y="2825496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2.0만톤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9894" y="2825496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약 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6084" y="2825496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5.3만톤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2273" y="2825496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79.6억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12917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165749"/>
            <a:ext cx="4067321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30%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· 13,270두 (기준)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3705" y="3165749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4.0만톤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9894" y="3165749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약 21%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6084" y="3165749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10.6만톤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2273" y="3165749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159.2억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3469426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3506002"/>
            <a:ext cx="4067321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45%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· 19,900두 (적극)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3705" y="3506002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6.0만톤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9894" y="3506002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약 32%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6084" y="3506002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15.9만톤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2273" y="3506002"/>
            <a:ext cx="1583037" cy="340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238.8억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380967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13232" y="3992559"/>
            <a:ext cx="3454298" cy="229851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96112" y="4175439"/>
            <a:ext cx="3088538" cy="193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분뇨 총량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전국 연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5,073만톤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중 젖소 9.1%. 퇴비 75.3% · 액비 11.7%가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농경지로 간다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8698" y="3992559"/>
            <a:ext cx="3454298" cy="229851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51578" y="4175439"/>
            <a:ext cx="3088538" cy="193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질소 · 인 부하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분뇨 감소에 비례해 수질 오염 부하 저감.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살포 가능 농지 제약도 완화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4164" y="3992559"/>
            <a:ext cx="3454298" cy="229851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07044" y="4175439"/>
            <a:ext cx="3088538" cy="193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사료 자원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수입 조사료·곡물 의존도 감소 →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식량안보에도 기여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저희 숫자가 아니라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여러분 지역의 숫자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를 만드는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파일럿의 목적은 시연이 아니라 그 지역의 실측 근거를 확보하는 것이다.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요청 1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시범사업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일부 시군 + 공수의사 대상 실증. 규모보다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지표 사전 합의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가 중요하다.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468880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651760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요청 2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 연계 협조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KAHIS · 이력제 · 도 방역 데이터 연동을 위한 행정 협조.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4164" y="2468880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07044" y="2651760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요청 3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확산 로드맵 공동 수립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도 전역 → 전국 표준화까지의 단계를 함께 설계.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71416"/>
            <a:ext cx="10765231" cy="1819656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654296"/>
            <a:ext cx="1039947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사전 합의할 성과지표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조기감지 리드타임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(증상 발현 대비 며칠 빨랐나) ·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조치 기록률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(알림이 행동으로 이어진 비율) ·
 공태일 · 수태율 · 두당 일 마진 · 방역 대응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국가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국가 방역의 데이터는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신고된 것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에서 시작한다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그 이전의 며칠이 비어 있다. 그 공백이 확산 규모를 결정한다.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공백 구간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생체 이상 발생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센서는 알지만 아무도 보지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3164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772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72932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공백 구간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임상 증상 출현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농가가 눈으로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5705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8313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95473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기존 시작점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신고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여기서부터 국가 시스템이 작동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8245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0853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8013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기존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확인 · 검사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행정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0786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3394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40554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기존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이동제한 · 살처분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포지셔닝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CowTalk은 KAHIS를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대체하지 않는다.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앞의 두 칸을 채워서 넘긴다 — 조기감시 레이어(Early Warning Layer)다.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데이터 주권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보안을 말로 하지 않고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구조로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 증명한다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심의에서 가장 먼저 나오는 질문이자, 해외 계약의 전제 조건이다. 네 가지 모두 구현되어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5282031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Data Spine 원칙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모든 데이터는 DB를 거친다. AI가 파이프라인을 우회해 직접 판단하지 않는다.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감사 로그 자동 기록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모든 AI 도구 호출이 기록된다. 누가, 언제, 무엇을 근거로.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게이트웨이 강제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권한 밖 데이터는 조회 자체가 차단된다. 화면에서 숨기는 게 아니라 서버가 거부한다.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83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0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기억의 권한 경계</a:t>
            </a:r>
            <a:r>
              <a:rPr sz="108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AI 장기기억조차 그 계정 권한 안의 것만 회상한다. 권한 밖 맥락은 저장도 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2468880"/>
            <a:ext cx="5282031" cy="3822192"/>
          </a:xfrm>
          <a:prstGeom prst="rect">
            <a:avLst/>
          </a:prstGeom>
          <a:noFill/>
          <a:ln w="9525">
            <a:solidFill>
              <a:srgbClr val="B6C6C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79311" y="2596896"/>
            <a:ext cx="49162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EXPORT BOUNDARY · 반출 경계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1023" y="2907792"/>
            <a:ext cx="4952847" cy="1536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43903" y="3090672"/>
            <a:ext cx="4587087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나가지 않는 것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원시 센서 데이터 · 개체 식별정보 · 농가 식별정보 · 진료 및 처방 기록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1023" y="4572000"/>
            <a:ext cx="4952847" cy="1536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43903" y="4754880"/>
            <a:ext cx="4587087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승인 시 나가는 것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익명화 · 집계된 통계만. 옵트인 + 익명화 + 집계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세 조건을 모두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만족할 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정책 연계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거점 대동물병원은 진료소이자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방역 초소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가 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임상 데이터와 방역 데이터가 처음으로 같은 화면에서 만난다. 지금까지 없던 구조다.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4063101" cy="3822192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697341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정책의 빈칸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건물과 인력만으로는
총 진료 역량이 안 는다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한 명이 볼 수 있는 농가 수가 그대로면 거점을 만들어도 커버리지는 그대로다.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거점이 성공하려면 원격 트리아지가 전제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이고, 원격 트리아지는 소의 몸속 데이터가 있어야 가능하다.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7501" y="2468880"/>
            <a:ext cx="1364636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14661" y="2596896"/>
            <a:ext cx="109031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농가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센서 이상징후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DSI 경보 → 거점병원 케이스 큐로 자동 유입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001" y="4233672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9609" y="2468880"/>
            <a:ext cx="1364636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26769" y="2596896"/>
            <a:ext cx="109031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병원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임상 판단 · 처치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감별진단 · 처방 · 휴약 관리 · 결과 추적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9110" y="4233672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718" y="2468880"/>
            <a:ext cx="1364636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38878" y="2596896"/>
            <a:ext cx="109031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지역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방역 상황판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집단 이상 시 접촉망 · 확산 시뮬 · 역학조사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1218" y="4233672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13826" y="2468880"/>
            <a:ext cx="1364636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250986" y="2596896"/>
            <a:ext cx="109031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국가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KAHIS 보고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조사 결과가 국가 보고 체계로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목장에서 시작해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전국 표준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각 단계의 성공 기준을 미리 정해두고, 기준을 못 넘기면 다음 단계로 가지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0468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3258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5860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성공 기준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P0 · 파일럿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3258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송영신목장 + 경기 시군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5860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월간 리포트 3회, 두당 마진 추이 확보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9544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P1 · 지자체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3258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경기도 사업화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860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도 예산 편성, 100농가 이상 가동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93591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P2 · 거점병원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258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지역거점 대동물병원 연계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5860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병원 3곳 × 담당농가 30호, 커버리지 지표 개선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77639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P3 · 국가 표준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3258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방역 조기감시망 연계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5860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KAHIS 연동, 타 시도 확산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361688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P4 · 수출 1호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3258" y="4361688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동남아 1개국 파일럿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5860" y="4361688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G2G MOU + 소버린 인스턴스 구축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4745736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P5 · 다국가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3258" y="474573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3개국 이상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5860" y="474573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국가 라이선스 계약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09320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전문가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대동물 임상이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구조적으로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 무너지고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수의사들이 우리보다 더 잘 아는 문제다. 설명하지 말고 공감부터 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1626565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1260805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인력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신규 유입이 끊겼다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신규 수의사 대부분이 반려동물로 간다. 대동물 임상은 고령화하고 공백이 커진다.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0965" y="2468880"/>
            <a:ext cx="1626565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23845" y="2651760"/>
            <a:ext cx="1260805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시간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이동이 진료보다 길다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왕진 한 건에 왕복 1~2시간. 하루에 볼 수 있는 건수가 물리적으로 막혀 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2468880"/>
            <a:ext cx="1626565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1578" y="2651760"/>
            <a:ext cx="1260805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정보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도착해서야 안다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출발 전에는 상태를 모른다. 재방문과 오판단의 위험이 여기서 생긴다.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431" y="2468880"/>
            <a:ext cx="1626565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9311" y="2651760"/>
            <a:ext cx="1260805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기록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종이에 남는다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진료부·처방전 수기. 이력이 끊기고 휴약 관리가 농가 기억에 의존한다.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4164" y="2468880"/>
            <a:ext cx="1626565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07044" y="2651760"/>
            <a:ext cx="1260805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야간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골든타임이 비어 있다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야간·주말 응급 체계 부재. 아침에야 발견되는 경우가 많다.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51898" y="2468880"/>
            <a:ext cx="1626565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34778" y="2651760"/>
            <a:ext cx="1260805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전승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경험이 개인에 갇힌다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은퇴하면 그 노하우가 사라진다. 다음 세대가 처음부터 다시 배운다.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책임 경계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AI는 진단하지 않는다.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감별을 돕는다.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수의사 대상 발표에서 이 15분이 전부다. 여기서 신뢰를 얻지 못하면 나머지는 의미가 없다.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5282031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49162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시스템이 하는 것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근거를 정리해서 보여준다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6개 질병 감별 후보와 확률 순위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근거를 항목별로 ✓ / ✗ / — 로 노출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데이터가 없어 판단 못 한 항목은 '—'로 명시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무엇을 더 확인하면 확정되는지 검사 트리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근거가 약한 단일 후보가 100%로 부풀지 않도록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불확실성 보정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2468880"/>
            <a:ext cx="5282031" cy="3346704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79311" y="2651760"/>
            <a:ext cx="491627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시스템이 하지 않는 것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진단하지 않는다. 처방하지 않는다.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최종 판단과 처방은 수의사의 권한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이며 시스템이 대신하지 않는다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승인 없이 실행되는 처치는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구조적으로 없다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자동화 룰조차 승인 게이트를 우회하지 못한다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수의사가 기각하면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그 기각도 기록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된다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모든 판단은 감사 로그에 남아 사후 검증이 가능하다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표현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"AI가 진단합니다"라고 절대 말하지 않는다.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"AI가 감별 후보와 근거를 정리합니다. 진단은 수의사가 합니다."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하루의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출발하기 전에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이미 알고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케이스 큐가 담당 농장 전체에서 위험 개체를 자동 정렬한다. 왕진은 위험도와 동선으로 재구성된다.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5282031" cy="2646772"/>
          </a:xfrm>
          <a:prstGeom prst="rect">
            <a:avLst/>
          </a:prstGeom>
          <a:solidFill>
            <a:srgbClr val="F7E7E6"/>
          </a:solidFill>
          <a:ln w="9525">
            <a:solidFill>
              <a:srgbClr val="A8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4916271" cy="2281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A8322F"/>
                </a:solidFill>
                <a:latin typeface="Consolas"/>
                <a:ea typeface="Consolas"/>
                <a:cs typeface="Consolas"/>
              </a:rPr>
              <a:t>BEFORE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전화를 받고 출발한다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08:00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"우리 소가 밥을 안 먹어요"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09:30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출발 (편도 40분)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10:10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도착 — 그제서야 상태 파악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10:40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처치, 종이 진료부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18:00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하루 4~5건. 기록은 사무실에서 정리
 휴약 관리는 농가 기억에 의존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2468880"/>
            <a:ext cx="5282031" cy="2646772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79311" y="2651760"/>
            <a:ext cx="4916271" cy="2281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AFTER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큐를 보고 출발한다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07:30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담당 30농가 위험 개체 6두 자동 정렬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07:40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왕진 경로 자동 구성 (위험도 × 동선)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07:45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농가에 사전 지시 — 격리·보온·급수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09:00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감별 후보와 근거를 검토한 상태로 진입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09:20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처방 입력 → 처방전·휴약 종료일 자동 생성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17:00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하루 7~8건. 기록은 이미 끝나 있음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5298532"/>
            <a:ext cx="2540431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541740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4~5 → 7~8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746588"/>
            <a:ext cx="2540431" cy="992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일 진료 건수 (목표)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54831" y="5298532"/>
            <a:ext cx="2540432" cy="0"/>
          </a:xfrm>
          <a:prstGeom prst="bentConnector3">
            <a:avLst/>
          </a:prstGeom>
          <a:ln w="25400">
            <a:solidFill>
              <a:srgbClr val="B06A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54831" y="541740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15~20 → 30~40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4831" y="5746588"/>
            <a:ext cx="2540431" cy="992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담당 가능 농가 수 (목표)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96431" y="5298532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96431" y="541740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1" y="5838028"/>
            <a:ext cx="2540431" cy="992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현장 기록 완결률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8031" y="5298532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38031" y="541740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자동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8031" y="5838028"/>
            <a:ext cx="2540431" cy="992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휴약기간 계산 · 출하 안전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학습 루프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선생님의 판단이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사라지지 않고 자산이 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은퇴하면 없어지던 노하우가 시스템에 남아 다음 세대가 쓴다. 이것이 수의계에 드리는 가장 큰 제안이다.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01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대화 중 판단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"이건 케토시스네"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3164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772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72932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02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줄 확인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"레이블로 기록할까요?" — 동의 시에만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5705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8313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95473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03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정답 레이블로 저장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매칭 알람 있으면 정답 레이블, 없으면 임상관찰로 보존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8245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0853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8013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04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통계 집계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오탐·확진률 추적, 표본 10건 미만이면 반영 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0786" y="3995928"/>
            <a:ext cx="237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8B9BA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3394" y="2468880"/>
            <a:ext cx="187506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40554" y="2596896"/>
            <a:ext cx="1600748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74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05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판단 개선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다음 달 이 시스템은 오늘보다 정확해진다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데이터 위생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농장주와 행정관의 추측은 학습에서 제외된다.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전문가 판단만 정답 레이블로 쓴다 — 학습 데이터를 오염시키지 않기 위해서다.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시범사업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거점병원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3곳 × 농가 30호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, 12개월로 증명한다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병원 부담 0. 시범사업 예산이 결제하고, 병원은 도구를 얻고, 정부는 정책 지표를 얻는다.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19483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750" y="2468880"/>
            <a:ext cx="1557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5006" y="2468880"/>
            <a:ext cx="1557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내용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52820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19483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750" y="2825496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M1~M2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5006" y="2825496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병원 선정, 농가 모집, 센서 설치, 교육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63824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0400"/>
            <a:ext cx="19483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기준선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750" y="3200400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5006" y="3200400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개입 전 지표 측정 — 이게 없으면 성과를 증명할 수 없다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38728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75304"/>
            <a:ext cx="19483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4750" y="3575304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M4~M11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5006" y="3575304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케이스 큐 기반 진료, 월간 리뷰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13632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50208"/>
            <a:ext cx="19483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4750" y="3950208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M12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5006" y="3950208"/>
            <a:ext cx="15571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전후 비교, 확산 설계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288536"/>
            <a:ext cx="52820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96431" y="2468880"/>
            <a:ext cx="36997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예산 (3병원 12개월)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311" y="2468880"/>
            <a:ext cx="14359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금액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96431" y="2706624"/>
            <a:ext cx="5282032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96431" y="2825496"/>
            <a:ext cx="3699727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센서·기지국 구축 (90농가)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9311" y="2825496"/>
            <a:ext cx="1435999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4.5억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96431" y="3038856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96431" y="3075432"/>
            <a:ext cx="3699727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플랫폼 이용료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9311" y="3075432"/>
            <a:ext cx="1435999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9.7억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96431" y="3288792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96431" y="3325368"/>
            <a:ext cx="3699727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병원 임상모듈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9311" y="3325368"/>
            <a:ext cx="1435999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0.11억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6431" y="3538728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96431" y="3575304"/>
            <a:ext cx="3699727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교육·운영 지원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9311" y="3575304"/>
            <a:ext cx="1435999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0.5억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96431" y="3788664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96431" y="3825240"/>
            <a:ext cx="3699727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평가·연구 위탁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9311" y="3825240"/>
            <a:ext cx="1435999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0.4억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96431" y="4038600"/>
            <a:ext cx="5282032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96431" y="4075176"/>
            <a:ext cx="3699727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합계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9311" y="4075176"/>
            <a:ext cx="1435999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약 15.2억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196431" y="4288536"/>
            <a:ext cx="5282032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3232" y="4471416"/>
            <a:ext cx="10765231" cy="1819656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96112" y="4654296"/>
            <a:ext cx="1039947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가장 강력한 단 하나의 지표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증상 발현 대비 개입 리드타임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며칠 빨리 발견했는가. 이 수치 하나가 시범사업의 성패를 설명한다.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파트너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네 주체가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같은 층에서 경쟁하지 않게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 설계한다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각자 다른 층을 소유하고 층과 층은 인터페이스로만 만난다. 한 주체가 빠져도 그 층만 교체하면 되는 것 — 국가 인프라의 조건이다.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10765231" cy="77495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13232" y="2468880"/>
            <a:ext cx="41148" cy="774954"/>
          </a:xfrm>
          <a:prstGeom prst="rect">
            <a:avLst/>
          </a:prstGeom>
          <a:solidFill>
            <a:srgbClr val="B0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1417320" cy="592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L4 · 거버넌스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560320"/>
            <a:ext cx="6558991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데이터센터 — 주권 · 보관 · 감사 (외주)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보관·연산·백업 · 접근통제 · 소버린 존.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D2O는 계약·감독만, 직접 운영하지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6743" y="259689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운영사 미선정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326130"/>
            <a:ext cx="10765231" cy="77495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13232" y="3326130"/>
            <a:ext cx="41148" cy="77495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3445002"/>
            <a:ext cx="1417320" cy="592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L3 · 플랫폼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3417570"/>
            <a:ext cx="6558991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농업회사법인 (주)디투오 — 플랫폼 · 영업 · 교육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AI 해석 · 4역할 서비스 · 커넥터 · 자사 영업 고객 센서 공급 ·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실행은 파트너 교육으로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6743" y="345414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SW IP 100% 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183380"/>
            <a:ext cx="10765231" cy="77495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13232" y="4183380"/>
            <a:ext cx="41148" cy="774954"/>
          </a:xfrm>
          <a:prstGeom prst="rect">
            <a:avLst/>
          </a:prstGeom>
          <a:solidFill>
            <a:srgbClr val="16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4302252"/>
            <a:ext cx="1417320" cy="592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16B0A6"/>
                </a:solidFill>
                <a:latin typeface="Consolas"/>
                <a:ea typeface="Consolas"/>
                <a:cs typeface="Consolas"/>
              </a:rPr>
              <a:t>L2 ·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4872" y="4274820"/>
            <a:ext cx="6558991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코리아제네틱스 — 유전자원 · 시술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정액·수정란 공급 · 수정사 네트워크 · 번식 실행 · 수정 결과 데이터 생산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6743" y="431139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유전자원 IP · 시술 네트워크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040630"/>
            <a:ext cx="10765231" cy="77495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13232" y="5040630"/>
            <a:ext cx="41148" cy="774954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" y="5159502"/>
            <a:ext cx="1417320" cy="592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L1 · 센싱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5132070"/>
            <a:ext cx="6558991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smaXtec — 위내센서 · 이벤트 엔진</a:t>
            </a:r>
          </a:p>
          <a:p>
            <a:pPr algn="l">
              <a:lnSpc>
                <a:spcPct val="128000"/>
              </a:lnSpc>
            </a:pPr>
            <a:r>
              <a:rPr sz="93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위내 볼루스 · 농장 기지국 · 발정/분만/질병 이벤트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6743" y="516864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6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센서 IP · 알고리즘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설계 사상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아래층은 위층에 원천을 공급하고, 위층은 아래층에 수요를 만든다.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플랫폼이 파트너의 영업사원이 되는 구조.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수익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구독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, 정부에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인프라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, 해외에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운영체제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①이 데이터를 만들고 ②③이 규모를 만들고 ⑤⑥이 마진을 만든다. 셋이 같이 가야 성립한다.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24743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0729" y="2468880"/>
            <a:ext cx="1981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수익축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5162" y="2468880"/>
            <a:ext cx="1981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과금 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9596" y="2468880"/>
            <a:ext cx="1981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4029" y="2468880"/>
            <a:ext cx="1981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성격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2825496"/>
            <a:ext cx="2474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729" y="282549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 SaaS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5162" y="282549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목장주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9596" y="282549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월 구독 (Basic 5만 / Pro 10만) 또는 두당 과금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4029" y="282549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반복 · 소액 · 다수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209544"/>
            <a:ext cx="2474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729" y="3209544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지자체 라이선스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5162" y="3209544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시 · 도 · 시군구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9596" y="3209544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연간, 관내 두수 기반 (통합 정산)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4029" y="3209544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반복 · 예산 연동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3593591"/>
            <a:ext cx="2474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0729" y="3593591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국가 플랫폼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5162" y="3593591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중앙정부 · 검역기관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9596" y="3593591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구축 + 연간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4029" y="3593591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대형 · 장기 ·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레퍼런스 자산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3977639"/>
            <a:ext cx="2474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0729" y="3977639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거점 대동물병원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5162" y="3977639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병원 (시범사업 예산 대납)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9596" y="3977639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병원당 월 30만 + 담당농가 2만/호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4029" y="3977639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반복 · 신규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4361688"/>
            <a:ext cx="2474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0729" y="4361688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 인텔리전스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5162" y="4361688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사료 · 유업 · 보험 · 제약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9596" y="4361688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리포트 구독 /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4029" y="4361688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고마진 · </a:t>
            </a: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옵트인 필수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3232" y="4745736"/>
            <a:ext cx="2474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0729" y="474573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해외 수출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15162" y="474573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해외 정부 · 현지 파트너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9596" y="474573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국가 라이선스 + 두당 로열티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4029" y="4745736"/>
            <a:ext cx="19812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대형 · 고마진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3232" y="509320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손익 감각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두당 기여이익 약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4,150원(28%)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. 흑자 전환점은 대략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3~5만두 구간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이다. 그래서 지자체 사업이 생존 조건이다.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판매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농가에게 팔지 말고,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농가를 위해 지자체에 팔아라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같은 데이터가 네 곳에서 서로 다른 이유로 값이 매겨집니다. 이 플랫폼의 사업성은 거기서 나옵니다.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30811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505" y="2468880"/>
            <a:ext cx="247061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그가 진짜 사는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1274" y="2468880"/>
            <a:ext cx="247061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지불 주체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5044" y="2468880"/>
            <a:ext cx="11885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가격 (기준선)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6753" y="2468880"/>
            <a:ext cx="11885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우선순위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2825496"/>
            <a:ext cx="30811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지자체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505" y="2825496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성과 지표 · 예산 근거 · 민원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274" y="2825496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도 · 시군 예산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5044" y="2825496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관내 두수 통합 정산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6753" y="2825496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209544"/>
            <a:ext cx="30811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거점 대동물병원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505" y="3209544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커버리지 · 기록 자동화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1274" y="3209544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정부 시범사업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(병원 아님)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5044" y="3209544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월 30만 + 농가당 2만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6753" y="3209544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3593591"/>
            <a:ext cx="30811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조합 · 유업체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7505" y="3593591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원유 품질 · 수급 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1274" y="3593591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조합비 / 유대 정산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5044" y="3593591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두당 로열티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6753" y="3593591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3977639"/>
            <a:ext cx="30811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국가 · 방역기관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505" y="3977639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조기감시망 · 데이터 주권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1274" y="3977639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5044" y="3977639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구축 SI + 연 운영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6753" y="3977639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4361688"/>
            <a:ext cx="30811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해외 정부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7505" y="4361688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주권 지키며 도입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1274" y="4361688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국가 예산 / ODA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5044" y="4361688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라이선스 + 로열티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6753" y="4361688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3232" y="4709159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3232" y="4745736"/>
            <a:ext cx="30811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농가 (목장주)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505" y="4745736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밤에 안 나가도 되는 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1274" y="4745736"/>
            <a:ext cx="247061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지자체 보조 + 자부담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5044" y="4745736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두당 월 12,000원 + 설치 500만/목장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6753" y="4745736"/>
            <a:ext cx="118855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3232" y="5093207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왜 이 순서인가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낙농은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역마진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이고 50두 미만이 41%입니다. 농가 직접 판매로는 흑자 규모(3~5만두)에 도달할 수 없습니다.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번의 계약으로 수천 두가 붙는 채널만 우선 팝니다.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자금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12,000원 중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7,700원이 수입 단가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로 나갑니다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현행 실거래 구조입니다. smaXtec까지 밸류체인 전 구간이 순수 구독 — 하드웨어 비용이 아예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1773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주체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096" y="2468880"/>
            <a:ext cx="665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8841" y="2468880"/>
            <a:ext cx="665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원/두/월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7587" y="2468880"/>
            <a:ext cx="665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비중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706624"/>
            <a:ext cx="406310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2825496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목장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096" y="2825496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지불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8841" y="2825496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7587" y="2825496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100%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3125216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161792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코리아제네틱스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096" y="3161792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수입 · 통관 · 유통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8841" y="3161792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(7,700)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7587" y="3161792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64.2%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461512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3498088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↳ smaXtec 구독료 + KG 마진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096" y="3498088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내역은 KG만 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8841" y="3498088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7,700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7587" y="3498088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797808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3834384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D2O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096" y="3834384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판매 · 플랫폼 ·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8841" y="3834384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4,300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7587" y="3834384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35.8%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4134104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" y="4170680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↳ 운영 직접비 (추정)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096" y="4170680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DC · AI · CS · 결제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8841" y="4170680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(2,850)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7587" y="4170680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23.7%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470400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4506976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↳ 구독 기여이익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096" y="4506976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8841" y="4506976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1,450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37587" y="4506976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12.1%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4806695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2" y="4843271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↳ 설치 마진 환산 (70두·4년)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096" y="4843271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목장당 250만 ÷ 70두 ÷ 48개월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8841" y="4843271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+744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7587" y="4843271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3232" y="5142991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3232" y="5179567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D2O 통합 기여이익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096" y="5179567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8841" y="5179567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2,194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7587" y="5179567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16.3%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13232" y="5479287"/>
            <a:ext cx="406310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3232" y="5515863"/>
            <a:ext cx="1773712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손익분기</a:t>
            </a: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1인 체제(고정비 1.2억)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096" y="5515863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약 4,600두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8841" y="5515863"/>
            <a:ext cx="665593" cy="336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목장 66곳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" y="5815583"/>
            <a:ext cx="406310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77501" y="2468880"/>
            <a:ext cx="6500961" cy="1005840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160381" y="2651760"/>
            <a:ext cx="613520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설치 매출 (1회)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500만원 − 원가 250만원
= 마진 250만원 (50%)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중계기 HW·시공 +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개체 삽입 시술 · 기록 · 등록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포함,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최소 2회 방문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.
 70두 목장 4년 환산 시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두당 월 744원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손익분기를 57,500두 →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38,000두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로 낮춘다.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7501" y="3639312"/>
            <a:ext cx="6500961" cy="1005840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160381" y="3822192"/>
            <a:ext cx="613520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고정비가 거의 없다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데이터센터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외주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· 설치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파트너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· D2O는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1인 영업 체제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.
 손익분기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약 4,600두(목장 66곳)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자본은 제약이 아니다.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77501" y="4809744"/>
            <a:ext cx="6500961" cy="1005840"/>
          </a:xfrm>
          <a:prstGeom prst="rect">
            <a:avLst/>
          </a:prstGeom>
          <a:solidFill>
            <a:srgbClr val="F5EBDC"/>
          </a:solidFill>
          <a:ln w="9525">
            <a:solidFill>
              <a:srgbClr val="B0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160381" y="4992624"/>
            <a:ext cx="613520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⚠️ 진짜 제약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실행 역량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3년차엔 하루 6곳을 설치해야 한다.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설치 마진은 성장 연동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신규가 멈추면 0.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재삽입 원가 미계상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도태율 30%면 구독 기여이익의 34%.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협상 과제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하드웨어가 없으니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협상할 것은 구독료 하나뿐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이다.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볼륨 구간별 인하 조항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해지 시 설치 센서 처리 조건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— 이 둘이 계약의 전부다.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미해결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데이터센터 운영사와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데이터 주권 귀속</a:t>
            </a: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 아직 없습니다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기술 과제가 아니라 계약·거버넌스 과제입니다. 늦게 정할수록 비싸집니다.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5429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08853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안 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D2O 보관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D2O가 계약한 IDC·클라우드.
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빠르고 통제가 쉽다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단점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공공 심의 통과가 어렵다. "민간이 국가 방역 데이터를 보유" 논란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468880"/>
            <a:ext cx="3454298" cy="3346704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651760"/>
            <a:ext cx="308853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안 B · 국내 권장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공공 인프라 위탁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지자체·공공기관 클라우드에 적재.
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심의 통과 유리 · 농가 신뢰 확보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단점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조달 절차 · 유연성 저하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4164" y="2468880"/>
            <a:ext cx="3454298" cy="3346704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07044" y="2651760"/>
            <a:ext cx="308853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안 C · 수출 권장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합작 SPC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데이터센터 운영 법인 별도 설립.
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중립성 · 수익 공유 ·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국가별 복제 가능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단점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설립 비용 · 지분 협상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어느 안이든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SW 운영 주체(D2O)와 데이터 보관 주체를 분리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한다. 이 분리가 없으면 지자체 심의도 해외 계약도 통과하지 못한다.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데이터 소유권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데이터는 층마다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주인이 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가장 먼저 합의해야 하고, 가장 크게 보여줘야 하는 조항. 이게 없으면 지자체 심의도 해외 계약도 통과하지 못한다.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25867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데이터 계층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3124" y="2468880"/>
            <a:ext cx="2071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소유자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8199" y="2468880"/>
            <a:ext cx="9908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반출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5868924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25867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원시 센서 측정치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3124" y="2825496"/>
            <a:ext cx="20719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8199" y="2825496"/>
            <a:ext cx="9908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72968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9544"/>
            <a:ext cx="25867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개체 마스터 (이력 · 혈통)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3124" y="3209544"/>
            <a:ext cx="20719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국가 공공데이터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8199" y="3209544"/>
            <a:ext cx="9908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약관 범위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57015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93591"/>
            <a:ext cx="25867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진료 · 처방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3124" y="3593591"/>
            <a:ext cx="20719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 + 수의사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8199" y="3593591"/>
            <a:ext cx="9908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41063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77639"/>
            <a:ext cx="25867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AI 해석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3124" y="3977639"/>
            <a:ext cx="20719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플랫폼 (농가 열람권 보장)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8199" y="3977639"/>
            <a:ext cx="9908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325112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361688"/>
            <a:ext cx="25867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전문가 레이블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3124" y="4361688"/>
            <a:ext cx="20719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플랫폼 (익명화 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8199" y="4361688"/>
            <a:ext cx="9908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익명 집계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4709159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4745736"/>
            <a:ext cx="25867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지역 · 전국 집계 통계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3124" y="4745736"/>
            <a:ext cx="20719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공공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8199" y="4745736"/>
            <a:ext cx="9908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093207"/>
            <a:ext cx="5868924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783324" y="2468880"/>
            <a:ext cx="4695139" cy="3822192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966204" y="2651760"/>
            <a:ext cx="4329379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합의문 4문장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농가는 언제든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자기 데이터를 내보내고 삭제 요청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할 수 있다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플랫폼은 원시 데이터를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서비스 제공 목적 외로 사용하지 않는다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제3자 제공은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옵트인 · 익명화 · 집계 세 조건을 모두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만족할 때만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계약 종료 시 데이터는 </a:t>
            </a:r>
            <a:r>
              <a:rPr sz="93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반환되고 플랫폼 사본은 파기</a:t>
            </a:r>
            <a:r>
              <a:rPr sz="93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OVERSEAS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Three walls every livestock nation is hitting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The workforce is shrinking, disease is always found late, and the data exists but never reaches the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54298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08853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WALL 1 · PEOPLE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The workforce is disappearing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Large-animal veterinarians are aging out and few replace them. Two hours of driving for one farm visit.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When people leave faster than technology arrives, livestock becomes unmanageable.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468880"/>
            <a:ext cx="3454298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651760"/>
            <a:ext cx="308853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WALL 2 · DISEASE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Always found too late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Cattle do not report illness. By the time it is visible, it is late.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At the moment of first notification, spread has already begun.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4164" y="2468880"/>
            <a:ext cx="3454298" cy="382219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07044" y="2651760"/>
            <a:ext cx="308853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WALL 3 · DATA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Present but disconnected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Traceability, grading, milk recording, disease reporting — all exist.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No single farmer can connect them to one animal.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SOVEREIGNTY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Code flows out.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Data never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A sovereign instance runs inside your national infrastructure. We export an operating system, not your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4063101" cy="3346704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697341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DEPLOYMENT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One codebase,
national instances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Each country runs its own instance: local database, local computation, local audit trail.
 Updates flow from the core;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data never flows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7501" y="2468880"/>
            <a:ext cx="6500961" cy="3346704"/>
          </a:xfrm>
          <a:prstGeom prst="rect">
            <a:avLst/>
          </a:prstGeom>
          <a:noFill/>
          <a:ln w="9525">
            <a:solidFill>
              <a:srgbClr val="B6C6C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60381" y="2596896"/>
            <a:ext cx="613520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EXPORT 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2093" y="2907792"/>
            <a:ext cx="6171777" cy="1298448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4973" y="3090672"/>
            <a:ext cx="5806017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NEVER LEAVES YOUR BORDERS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Raw sensor data · animal identifiers · farm identifiers · clinical and prescription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2093" y="4334256"/>
            <a:ext cx="6171777" cy="1298448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24973" y="4517136"/>
            <a:ext cx="5806017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CROSSES ONLY WITH YOUR APPROVAL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Anonymized, aggregated statistics — and only when opt-in, anonymization and aggregation all hold.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SAY IT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Raise sovereignty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before they ask.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Answered on request it reads as defense; offered first it reads as design.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LOCALIZATION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Not a Korean system with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translated menus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Four adapter layers let a country plug in. Water buffalo, zebu, desert heat index — these are parameters, not rewrites.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0468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3258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WHAT IT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5860" y="2468880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READINESS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06624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825496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Public data connector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3258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Traceability, grading, disease reporting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5860" y="2825496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Pattern in place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172968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209544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Breed &amp; physiology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3258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Gestation length, estrus cycle, heat-stress thresholds, breed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860" y="3209544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Per-farm parameters exist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557015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593591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Language &amp;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258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Interface text, AI response language, date and 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5860" y="3593591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i18n required — first work item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941063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3977639"/>
            <a:ext cx="404687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Regulation &amp;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3258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Disease reporting forms, prescription rules, withdrawal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5860" y="3977639"/>
            <a:ext cx="324945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Korean reporting is the reference implementation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32511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HONESTY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Right-to-left layout and full offline resilience are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not done.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 We say so before the pilot, not during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SO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Two priority regions,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two different entry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Southeast Asia enters through disease control and public financing. The Gulf enters through food security and direct national contracts.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5282031" cy="229851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4916271" cy="193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SOUTHEAST ASIA · VN · ID · TH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Lead with disease containment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FMD and LSD are endemic; governments prioritize outbreak control over productivity.
 Smallholder structure means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per-head pricing must be redesigned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cooperative and enterprise bundles, not per-animal fees.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Entry: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KSP policy advisory → ODA-funded pilot → national budget scale-up.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2468880"/>
            <a:ext cx="5282031" cy="229851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79311" y="2651760"/>
            <a:ext cx="4916271" cy="193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MIDDLE EAST · CENTRAL ASIA · UAE · SA · UZ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Lead with food security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Dairy self-sufficiency is a national security agenda, not an agricultural one. Budget constraints are lower and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contracts are national in scale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. Extreme heat stress and very large single farms drive the technical work.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Entry: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direct national license with sovereign instance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50272"/>
            <a:ext cx="40468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3258" y="4950272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5860" y="4950272"/>
            <a:ext cx="3249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6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BEST FIT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5188016"/>
            <a:ext cx="10765231" cy="0"/>
          </a:xfrm>
          <a:prstGeom prst="bentConnector3">
            <a:avLst/>
          </a:prstGeom>
          <a:ln w="11430">
            <a:solidFill>
              <a:srgbClr val="B6C6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5306888"/>
            <a:ext cx="4046874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A · National 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3258" y="530688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Annual fixed fee + sovereign instance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860" y="530688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Gulf states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52550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562078"/>
            <a:ext cx="4046874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B · Per-head royalty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258" y="556207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Local partner operates, royalty per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5860" y="556207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Southeast Asia, scale-up phase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578069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5817268"/>
            <a:ext cx="4046874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C · ODA / KSP linked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3258" y="581726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Public funds build it, then transition to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5860" y="581726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Southeast Asia, entry phase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603588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072458"/>
            <a:ext cx="4046874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D · White 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3258" y="607245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Local brand, D2O core underneath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5860" y="6072458"/>
            <a:ext cx="3249450" cy="255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Where a large local incumbent exists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6291072"/>
            <a:ext cx="10765231" cy="0"/>
          </a:xfrm>
          <a:prstGeom prst="bentConnector3">
            <a:avLst/>
          </a:prstGeom>
          <a:ln w="762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한 장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전체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왜 → 무엇을 → 어떻게 →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그래서 무엇을 얻는가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결재에 필요한 것은 이 한 장에 전부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2540431" cy="230096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2174671" cy="19352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셋 다 보이지 않아서
생기는 문제다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지킬 사람이 없다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농장동물 수의사 897명(11.2%)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질병은 늦게 발견된다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살처분 보상금 5,289억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감축 수단이 없다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— 축산 2030년 30% 감축 목표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4831" y="2468880"/>
            <a:ext cx="2540431" cy="230096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711" y="2651760"/>
            <a:ext cx="2174671" cy="19352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무엇을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알람과 행동 사이에
다리를 놓는다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소의 몸속 신호를 국가 공공데이터·AI와 결합해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농가·수의사·방역관·행정이 각자의 언어로 "지금 무엇을 할지"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를 받는 플랫폼.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2468880"/>
            <a:ext cx="2540431" cy="2300962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9311" y="2651760"/>
            <a:ext cx="2174671" cy="19352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어떻게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한 화면에서
끝난다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감지 → 맥락 결합 → 추천 → 현장 실행 → 결과 피드백.
 데이터 통합 · AI 해석 · 역할별 서빙 · 학습 루프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4층 전부 구현·가동 중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2468880"/>
            <a:ext cx="2540431" cy="2300962"/>
          </a:xfrm>
          <a:prstGeom prst="rect">
            <a:avLst/>
          </a:prstGeom>
          <a:solidFill>
            <a:srgbClr val="EAF1F1"/>
          </a:solidFill>
          <a:ln w="9525">
            <a:solidFill>
              <a:srgbClr val="B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20911" y="2651760"/>
            <a:ext cx="2174671" cy="19352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그래서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네 개의 성과를
금액으로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① 농가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두당 연 8~24만원 · 자가도입 1.9년 회수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② 방역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럼피스킨 1회 = 271억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③ 환경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감축목표의 11~32%
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④ 수의</a:t>
            </a: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 1인 담당 15~20호 → 30~40호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4952722"/>
            <a:ext cx="2540431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507159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144억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492218"/>
            <a:ext cx="2540431" cy="862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연간 구독비용 (경기 10만두 · 월 12,000원)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54831" y="4952722"/>
            <a:ext cx="2540432" cy="0"/>
          </a:xfrm>
          <a:prstGeom prst="bentConnector3">
            <a:avLst/>
          </a:prstGeom>
          <a:ln w="25400">
            <a:solidFill>
              <a:srgbClr val="B06A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54831" y="507159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06A16"/>
                </a:solidFill>
                <a:latin typeface="Consolas"/>
                <a:ea typeface="Consolas"/>
                <a:cs typeface="Consolas"/>
              </a:rPr>
              <a:t>1.24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4831" y="5492218"/>
            <a:ext cx="2540431" cy="862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BCR — _x0001_보수 시나리오. 이 숫자로 말합니다_x0001_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96431" y="4952722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96431" y="507159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3.04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6431" y="5492218"/>
            <a:ext cx="2540431" cy="862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BCR — 기준 시나리오 (문헌 중간값)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38031" y="4952722"/>
            <a:ext cx="2540432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38031" y="5071594"/>
            <a:ext cx="25404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239"/>
                </a:solidFill>
                <a:latin typeface="Consolas"/>
                <a:ea typeface="Consolas"/>
                <a:cs typeface="Consolas"/>
              </a:rPr>
              <a:t>파일럿 5개 지표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031" y="5400778"/>
            <a:ext cx="2540431" cy="862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감축두수·공태일·리드타임·조치기록률·두당마진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5888736"/>
            <a:ext cx="10765231" cy="0"/>
          </a:xfrm>
          <a:prstGeom prst="bentConnector3">
            <a:avLst/>
          </a:prstGeom>
          <a:ln w="11430">
            <a:solidFill>
              <a:srgbClr val="D6E0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00760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78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요청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5989320"/>
            <a:ext cx="932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시범사업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(시군 + 공수의사 + 거점 대동물병원) ②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데이터 연계 협조</a:t>
            </a:r>
            <a:r>
              <a:rPr sz="1019" b="0">
                <a:solidFill>
                  <a:srgbClr val="243B53"/>
                </a:solidFill>
                <a:latin typeface="맑은 고딕"/>
                <a:ea typeface="맑은 고딕"/>
                <a:cs typeface="맑은 고딕"/>
              </a:rPr>
              <a:t>(KAHIS·이력제) ③ </a:t>
            </a:r>
            <a:r>
              <a:rPr sz="1019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확산 로드맵 공동 수립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75356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클로징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135" y="512064"/>
            <a:ext cx="1481328" cy="274320"/>
          </a:xfrm>
          <a:prstGeom prst="rect">
            <a:avLst/>
          </a:prstGeom>
          <a:noFill/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97135" y="548640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760" b="1" spc="12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그래서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96112"/>
            <a:ext cx="99040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시연이 아니라 </a:t>
            </a:r>
            <a:r>
              <a:rPr sz="2500" b="1">
                <a:solidFill>
                  <a:srgbClr val="0E7C7B"/>
                </a:solidFill>
                <a:latin typeface="맑은 고딕"/>
                <a:ea typeface="맑은 고딕"/>
                <a:cs typeface="맑은 고딕"/>
              </a:rPr>
              <a:t>실제 목장에 도움이 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88274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파일럿 목장은 개발자가 직접 운영하는 목장이다. 자기 소로 먼저 검증하지 않은 것을 남에게 권하지 않는다.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41148" cy="1819656"/>
          </a:xfrm>
          <a:prstGeom prst="rect">
            <a:avLst/>
          </a:prstGeom>
          <a:solidFill>
            <a:srgbClr val="B0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472623" cy="1819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200"/>
              </a:spcAft>
            </a:pPr>
            <a:r>
              <a:rPr sz="1900" b="0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소가 아프다고 말하지 않는다는 것,</a:t>
            </a:r>
          </a:p>
          <a:p>
            <a:pPr algn="l">
              <a:lnSpc>
                <a:spcPct val="136000"/>
              </a:lnSpc>
              <a:spcAft>
                <a:spcPts val="200"/>
              </a:spcAft>
            </a:pPr>
            <a:r>
              <a:rPr sz="1900" b="0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그리고 그걸 아무도 제때 알 수 없다는 것.</a:t>
            </a:r>
          </a:p>
          <a:p>
            <a:pPr algn="l">
              <a:lnSpc>
                <a:spcPct val="136000"/>
              </a:lnSpc>
              <a:spcAft>
                <a:spcPts val="200"/>
              </a:spcAft>
            </a:pPr>
            <a:r>
              <a:rPr sz="1900" b="0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이 문제는 한 목장의 문제가 아니라 한 나라의 문제다.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00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목장 경제성 · 질병 관리 · 공공성 — CowTalk의 세 가지 가치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471416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6112" y="4654296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목장 경제성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번식성적 향상과 질병 조기대응으로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두당 마진이 오른다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4471416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1578" y="4654296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질병 관리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위내센서와 AI 조기감지로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피해를 최소화한다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4164" y="4471416"/>
            <a:ext cx="3454298" cy="1819656"/>
          </a:xfrm>
          <a:prstGeom prst="rect">
            <a:avLst/>
          </a:prstGeom>
          <a:solidFill>
            <a:srgbClr val="F6F9F9"/>
          </a:solidFill>
          <a:ln w="9525">
            <a:solidFill>
              <a:srgbClr val="D6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07044" y="4654296"/>
            <a:ext cx="308853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1" spc="12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공공성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80" b="0">
                <a:solidFill>
                  <a:srgbClr val="5A6B76"/>
                </a:solidFill>
                <a:latin typeface="맑은 고딕"/>
                <a:ea typeface="맑은 고딕"/>
                <a:cs typeface="맑은 고딕"/>
              </a:rPr>
              <a:t>국가 방역 고도화, 확산 차단, </a:t>
            </a:r>
            <a:r>
              <a:rPr sz="980" b="1">
                <a:solidFill>
                  <a:srgbClr val="0B2239"/>
                </a:solidFill>
                <a:latin typeface="맑은 고딕"/>
                <a:ea typeface="맑은 고딕"/>
                <a:cs typeface="맑은 고딕"/>
              </a:rPr>
              <a:t>축산 디지털 주권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9823" y="63825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900" b="0">
                <a:solidFill>
                  <a:srgbClr val="8B9BA5"/>
                </a:solidFill>
                <a:latin typeface="Consolas"/>
                <a:ea typeface="Consolas"/>
                <a:cs typeface="Consolas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