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Core temperature</c:v>
          </c:tx>
          <c:marker>
            <c:symbol val="none"/>
          </c:marker>
          <c:cat>
            <c:strLit>
              <c:ptCount val="6"/>
              <c:pt idx="0">
                <c:v>D-3</c:v>
              </c:pt>
              <c:pt idx="1">
                <c:v>D-2</c:v>
              </c:pt>
              <c:pt idx="2">
                <c:v>D-1</c:v>
              </c:pt>
              <c:pt idx="3">
                <c:v>Today</c:v>
              </c:pt>
              <c:pt idx="4">
                <c:v>D+1</c:v>
              </c:pt>
              <c:pt idx="5">
                <c:v>D+2</c:v>
              </c:pt>
            </c:strLit>
          </c:cat>
          <c:val>
            <c:numLit>
              <c:formatCode>General</c:formatCode>
              <c:ptCount val="6"/>
              <c:pt idx="0">
                <c:v>38.5</c:v>
              </c:pt>
              <c:pt idx="1">
                <c:v>38.6</c:v>
              </c:pt>
              <c:pt idx="2">
                <c:v>38.700000000000003</c:v>
              </c:pt>
              <c:pt idx="3">
                <c:v>39.4</c:v>
              </c:pt>
              <c:pt idx="4">
                <c:v>39</c:v>
              </c:pt>
              <c:pt idx="5">
                <c:v>38.700000000000003</c:v>
              </c:pt>
            </c:numLit>
          </c:val>
          <c:smooth val="1"/>
          <c:extLst>
            <c:ext xmlns:c16="http://schemas.microsoft.com/office/drawing/2014/chart" uri="{C3380CC4-5D6E-409C-BE32-E72D297353CC}">
              <c16:uniqueId val="{00000000-5EEC-4D4E-A33D-AB923AE1226B}"/>
            </c:ext>
          </c:extLst>
        </c:ser>
        <c:ser>
          <c:idx val="1"/>
          <c:order val="1"/>
          <c:tx>
            <c:v>Rumination (index)</c:v>
          </c:tx>
          <c:marker>
            <c:symbol val="none"/>
          </c:marker>
          <c:cat>
            <c:strLit>
              <c:ptCount val="6"/>
              <c:pt idx="0">
                <c:v>D-3</c:v>
              </c:pt>
              <c:pt idx="1">
                <c:v>D-2</c:v>
              </c:pt>
              <c:pt idx="2">
                <c:v>D-1</c:v>
              </c:pt>
              <c:pt idx="3">
                <c:v>Today</c:v>
              </c:pt>
              <c:pt idx="4">
                <c:v>D+1</c:v>
              </c:pt>
              <c:pt idx="5">
                <c:v>D+2</c:v>
              </c:pt>
            </c:strLit>
          </c:cat>
          <c:val>
            <c:numLit>
              <c:formatCode>General</c:formatCode>
              <c:ptCount val="6"/>
              <c:pt idx="0">
                <c:v>80</c:v>
              </c:pt>
              <c:pt idx="1">
                <c:v>78</c:v>
              </c:pt>
              <c:pt idx="2">
                <c:v>70</c:v>
              </c:pt>
              <c:pt idx="3">
                <c:v>52</c:v>
              </c:pt>
              <c:pt idx="4">
                <c:v>60</c:v>
              </c:pt>
              <c:pt idx="5">
                <c:v>74</c:v>
              </c:pt>
            </c:numLit>
          </c:val>
          <c:smooth val="1"/>
          <c:extLst>
            <c:ext xmlns:c16="http://schemas.microsoft.com/office/drawing/2014/chart" uri="{C3380CC4-5D6E-409C-BE32-E72D297353CC}">
              <c16:uniqueId val="{00000001-5EEC-4D4E-A33D-AB923AE1226B}"/>
            </c:ext>
          </c:extLst>
        </c:ser>
        <c:ser>
          <c:idx val="2"/>
          <c:order val="2"/>
          <c:tx>
            <c:v>Activity (index)</c:v>
          </c:tx>
          <c:marker>
            <c:symbol val="none"/>
          </c:marker>
          <c:cat>
            <c:strLit>
              <c:ptCount val="6"/>
              <c:pt idx="0">
                <c:v>D-3</c:v>
              </c:pt>
              <c:pt idx="1">
                <c:v>D-2</c:v>
              </c:pt>
              <c:pt idx="2">
                <c:v>D-1</c:v>
              </c:pt>
              <c:pt idx="3">
                <c:v>Today</c:v>
              </c:pt>
              <c:pt idx="4">
                <c:v>D+1</c:v>
              </c:pt>
              <c:pt idx="5">
                <c:v>D+2</c:v>
              </c:pt>
            </c:strLit>
          </c:cat>
          <c:val>
            <c:numLit>
              <c:formatCode>General</c:formatCode>
              <c:ptCount val="6"/>
              <c:pt idx="0">
                <c:v>62</c:v>
              </c:pt>
              <c:pt idx="1">
                <c:v>64</c:v>
              </c:pt>
              <c:pt idx="2">
                <c:v>58</c:v>
              </c:pt>
              <c:pt idx="3">
                <c:v>48</c:v>
              </c:pt>
              <c:pt idx="4">
                <c:v>52</c:v>
              </c:pt>
              <c:pt idx="5">
                <c:v>60</c:v>
              </c:pt>
            </c:numLit>
          </c:val>
          <c:smooth val="1"/>
          <c:extLst>
            <c:ext xmlns:c16="http://schemas.microsoft.com/office/drawing/2014/chart" uri="{C3380CC4-5D6E-409C-BE32-E72D297353CC}">
              <c16:uniqueId val="{00000002-5EEC-4D4E-A33D-AB923AE1226B}"/>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DE4E0"/>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50112"/>
        <c:crosses val="autoZero"/>
        <c:crossBetween val="between"/>
      </c:valAx>
    </c:plotArea>
    <c:legend>
      <c:legendPos val="b"/>
      <c:overlay val="0"/>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Stable day</c:v>
          </c:tx>
          <c:marker>
            <c:symbol val="none"/>
          </c:marker>
          <c:cat>
            <c:numLit>
              <c:formatCode>General</c:formatCode>
              <c:ptCount val="7"/>
              <c:pt idx="0">
                <c:v>0</c:v>
              </c:pt>
              <c:pt idx="1">
                <c:v>4</c:v>
              </c:pt>
              <c:pt idx="2">
                <c:v>8</c:v>
              </c:pt>
              <c:pt idx="3">
                <c:v>12</c:v>
              </c:pt>
              <c:pt idx="4">
                <c:v>16</c:v>
              </c:pt>
              <c:pt idx="5">
                <c:v>20</c:v>
              </c:pt>
              <c:pt idx="6">
                <c:v>24</c:v>
              </c:pt>
            </c:numLit>
          </c:cat>
          <c:val>
            <c:numLit>
              <c:formatCode>General</c:formatCode>
              <c:ptCount val="7"/>
              <c:pt idx="0">
                <c:v>6.25</c:v>
              </c:pt>
              <c:pt idx="1">
                <c:v>6.18</c:v>
              </c:pt>
              <c:pt idx="2">
                <c:v>6.08</c:v>
              </c:pt>
              <c:pt idx="3">
                <c:v>5.98</c:v>
              </c:pt>
              <c:pt idx="4">
                <c:v>6.12</c:v>
              </c:pt>
              <c:pt idx="5">
                <c:v>6.22</c:v>
              </c:pt>
              <c:pt idx="6">
                <c:v>6.28</c:v>
              </c:pt>
            </c:numLit>
          </c:val>
          <c:smooth val="1"/>
          <c:extLst>
            <c:ext xmlns:c16="http://schemas.microsoft.com/office/drawing/2014/chart" uri="{C3380CC4-5D6E-409C-BE32-E72D297353CC}">
              <c16:uniqueId val="{00000000-4206-FB41-80C2-8997B0D01941}"/>
            </c:ext>
          </c:extLst>
        </c:ser>
        <c:ser>
          <c:idx val="1"/>
          <c:order val="1"/>
          <c:tx>
            <c:v>Check required</c:v>
          </c:tx>
          <c:marker>
            <c:symbol val="none"/>
          </c:marker>
          <c:cat>
            <c:numLit>
              <c:formatCode>General</c:formatCode>
              <c:ptCount val="7"/>
              <c:pt idx="0">
                <c:v>0</c:v>
              </c:pt>
              <c:pt idx="1">
                <c:v>4</c:v>
              </c:pt>
              <c:pt idx="2">
                <c:v>8</c:v>
              </c:pt>
              <c:pt idx="3">
                <c:v>12</c:v>
              </c:pt>
              <c:pt idx="4">
                <c:v>16</c:v>
              </c:pt>
              <c:pt idx="5">
                <c:v>20</c:v>
              </c:pt>
              <c:pt idx="6">
                <c:v>24</c:v>
              </c:pt>
            </c:numLit>
          </c:cat>
          <c:val>
            <c:numLit>
              <c:formatCode>General</c:formatCode>
              <c:ptCount val="7"/>
              <c:pt idx="0">
                <c:v>6.2</c:v>
              </c:pt>
              <c:pt idx="1">
                <c:v>6.05</c:v>
              </c:pt>
              <c:pt idx="2">
                <c:v>5.72</c:v>
              </c:pt>
              <c:pt idx="3">
                <c:v>5.58</c:v>
              </c:pt>
              <c:pt idx="4">
                <c:v>5.82</c:v>
              </c:pt>
              <c:pt idx="5">
                <c:v>6</c:v>
              </c:pt>
              <c:pt idx="6">
                <c:v>6.16</c:v>
              </c:pt>
            </c:numLit>
          </c:val>
          <c:smooth val="1"/>
          <c:extLst>
            <c:ext xmlns:c16="http://schemas.microsoft.com/office/drawing/2014/chart" uri="{C3380CC4-5D6E-409C-BE32-E72D297353CC}">
              <c16:uniqueId val="{00000001-4206-FB41-80C2-8997B0D0194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DE4E0"/>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50112"/>
        <c:crosses val="autoZero"/>
        <c:crossBetween val="between"/>
      </c:valAx>
    </c:plotArea>
    <c:legend>
      <c:legendPos val="b"/>
      <c:overlay val="0"/>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This course turns sensor data into routine management decisions. Ask how health, breeding and feeding decisions are made today. The system supports early checks and prioritization; it does not replace veterinary diagnosis.</a:t>
            </a:r>
          </a:p>
          <a:p>
            <a:endParaRPr/>
          </a:p>
          <a:p>
            <a:r>
              <a:t>[Sources]</a:t>
            </a:r>
          </a:p>
          <a:p>
            <a:r>
              <a:t>- Cover image: OpenAI image generation, 2026-08-20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that the course is about taking the right action at the right time, not simply viewing more graphs. At the end of each section, ask participants to write one SOP step they can apply.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Health–Reproduction–Feeding as one connected management system. A rumination decline may be both a health and feeding signal; context determines the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reticulum is the second stomach compartment. The next slide compares the practical difference between internal and external measurement.</a:t>
            </a:r>
          </a:p>
          <a:p>
            <a:endParaRPr/>
          </a:p>
          <a:p>
            <a:r>
              <a:t>[Sources]</a:t>
            </a:r>
          </a:p>
          <a:p>
            <a:r>
              <a:t>- https://smaxtec.com/en/smaxtec-system-in-detail/1000/</a:t>
            </a:r>
          </a:p>
          <a:p>
            <a:r>
              <a:t>
[Sources]
- Product image: https://www.smaxtec.com/wp-content/uploads/2024/07/20240708_devices_pH.svg
- https://www.smaxtec.com/en/technical-components/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point is not that all external sensors are poor. The internal position continuously measures unique information such as core temperature, drinking and rumen pH. Official materials describe a maintenance-free bolus after administration.</a:t>
            </a:r>
          </a:p>
          <a:p>
            <a:endParaRPr/>
          </a:p>
          <a:p>
            <a:r>
              <a:t>[Sources]</a:t>
            </a:r>
          </a:p>
          <a:p>
            <a:r>
              <a:t>- https://smaxtec.com/en/smaxtec-system-in-detail/1000/</a:t>
            </a:r>
          </a:p>
          <a:p>
            <a:r>
              <a:t>- https://smaxtec.com/en/technical-components/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station transfers data automatically, and a climate sensor can add ambient temperature, humidity and pressure. TruD® Cloud performs analysis, while field professionals make the final check and treatment decision.</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three rules: trend over a single value, combined signals over one signal, and checking over guessing. pH is used in selected representative cows fitted with a pH bolus.</a:t>
            </a:r>
          </a:p>
          <a:p>
            <a:endParaRPr/>
          </a:p>
          <a:p>
            <a:r>
              <a:t>[Sources]</a:t>
            </a:r>
          </a:p>
          <a:p>
            <a:r>
              <a:t>- https://smaxtec.com/en/technical-components/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cow’s baseline and the duration of change matter more than one absolute temperature. Check appearance, rectal temperature, udder, discharge, manure, intake and days post-calving. ±0.01°C is relative device accuracy, not diagnostic accuracy.</a:t>
            </a:r>
          </a:p>
          <a:p>
            <a:endParaRPr/>
          </a:p>
          <a:p>
            <a:r>
              <a:t>[Sources]</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stop at ‘she drank less.’ If several cows change together, inspect the water line, pressure, cleanliness, heat stress and group movement.</a:t>
            </a:r>
          </a:p>
          <a:p>
            <a:endParaRPr/>
          </a:p>
          <a:p>
            <a:r>
              <a:t>[Sources]</a:t>
            </a:r>
          </a:p>
          <a:p>
            <a:r>
              <a:t>- https://smaxtec.com/en/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Rumination alone cannot identify a disease. A simultaneous temperature change raises the priority of a health check. A turning point in the group average should trigger review of ration, mixing, delivery and sorting.</a:t>
            </a:r>
          </a:p>
          <a:p>
            <a:endParaRPr/>
          </a:p>
          <a:p>
            <a:r>
              <a:t>[Sources]</a:t>
            </a:r>
          </a:p>
          <a:p>
            <a:r>
              <a:t>- https://smaxtec.com/en/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Activity is central to heat detection but is not sufficient alone. Check reproductive status and insemination history; with declining activity, also check health and gait.</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specifications state a 150-day pH measurement period, with relative accuracy of ±0.2 for days 1–90 and ±0.4 for days 90–150. Review the daily profile and time spent low, not one point.</a:t>
            </a:r>
          </a:p>
          <a:p>
            <a:endParaRPr/>
          </a:p>
          <a:p>
            <a:r>
              <a:t>[Sources]</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graph is a training example that teaches a reading method; it is not a reproduction of the official app interface.</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the normal range, then locate the turning point. In this example, rising temperature with falling rumination and activity increases health-check priority. Values are synthetic training data, not clinical thresholds.</a:t>
            </a:r>
          </a:p>
          <a:p>
            <a:endParaRPr/>
          </a:p>
          <a:p>
            <a:r>
              <a:t>[Sources]</a:t>
            </a:r>
          </a:p>
          <a:p>
            <a:r>
              <a:t>- Training example data, author-created.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Individual view is strong for clinical follow-up; group view is strong for feeding, environment and operating issues. Distinguish a one-cow problem from a group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farm should define critical alert types, target response times and owners in advance. Marking an alert as viewed is not closure; record the outcome and schedule a recheck.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Manufacturer materials present case-based figures of up to five days earlier disease detection and up to 70% lower antibiotic use. These are not guarantees and vary by disease, farm and SOP.</a:t>
            </a:r>
          </a:p>
          <a:p>
            <a:endParaRPr/>
          </a:p>
          <a:p>
            <a:r>
              <a:t>[Sources]</a:t>
            </a:r>
          </a:p>
          <a:p>
            <a:r>
              <a:t>- https://smaxtec.com/en/</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Physiological changes may precede visible signs in conditions such as mastitis, metritis, pneumonia, ketosis or milk fever. Even if the system suggests a condition, veterinary confirmation is required.</a:t>
            </a:r>
          </a:p>
          <a:p>
            <a:endParaRPr/>
          </a:p>
          <a:p>
            <a:r>
              <a:t>[Sources]</a:t>
            </a:r>
          </a:p>
          <a:p>
            <a:r>
              <a:t>- https://smaxtec.com/en/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times shown are training examples. Adapt them to farm risk and veterinary protocols. Record quality matters for performance analysis and customer-support troubleshooting.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Interpret reproduction signals within the voluntary waiting period and the farm’s breeding strategy.</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system supports recommended insemination timing, including timing for sexed semen. Farm breeding protocols and veterinary judgment take priority.</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hours is an average, not a guarantee. Monitoring rumination, drinking and temperature recovery after calving can support earlier checks for retained placenta, metritis and metabolic problems.</a:t>
            </a:r>
          </a:p>
          <a:p>
            <a:endParaRPr/>
          </a:p>
          <a:p>
            <a:r>
              <a:t>[Sources]</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Abortion detection is included in official product descriptions. Treat it as a high-priority check, follow biosafety procedures and comply with local veterinary requirements.</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useful unit of feeding analysis is often the ration group and the period before and after a change—not the individual cow.</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Group names and DIM ranges are training examples. Adapt them to farm rations and operating rules, and always record movement and ration-change 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Sensors show the cow’s response, but identifying the cause also requires checking ingredient input and feed delivery.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graph is educational and does not define a universal clinical threshold. Review DM, NDF, sorting and mixing quality with the nutritionist.</a:t>
            </a:r>
          </a:p>
          <a:p>
            <a:endParaRPr/>
          </a:p>
          <a:p>
            <a:r>
              <a:t>[Sources]</a:t>
            </a:r>
          </a:p>
          <a:p>
            <a:r>
              <a:t>- Training example data, author-created.</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Assistant and worklists do not replace people; they create priorities and consistency.</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app description includes worklists, animal lists, observation lists, offline event entry and bulk actions. Define an official closure point so alerts do not disappear in personal messages.</a:t>
            </a:r>
          </a:p>
          <a:p>
            <a:endParaRPr/>
          </a:p>
          <a:p>
            <a:r>
              <a:t>[Sources]</a:t>
            </a:r>
          </a:p>
          <a:p>
            <a:r>
              <a:t>- https://play.google.com/store/apps/details?id=com.smaxtec.cow</a:t>
            </a:r>
          </a:p>
          <a:p>
            <a:r>
              <a:t>- https://smaxtec.com/us/software/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 the operating rhythm to the farm’s shifts. What matters is opening and closing the list at defined times every 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Include leading indicators such as response time, completion rate and data quality—not only production outcomes. Distinguish manufacturer figures from the farm’s own baseline.</a:t>
            </a:r>
          </a:p>
          <a:p>
            <a:r>
              <a:t>
[Sources]
- Stygar AH et al. (2021), Frontiers in Veterinary Science 8:634338. https://doi.org/10.3389/fvets.2021.634338
- Adams AE et al. (2013), Journal of Dairy Science 96(3):1549–1555. https://pubmed.ncbi.nlm.nih.gov/23332847/
- Liu N et al. (2023), Agriculture. https://agris.fao.org/search/en/providers/122436/records/67598043c7a957febdf958cc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support, provide the time of the issue, cow or group ID, equipment status, screenshots, graph range and checks already completed.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try to perfect every feature at once. Establish roles and task closure first. After 30 days, audit one workflow each for health, reproduction and feeding.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Repeat the three habits together: see the trend, add context and close the task. Finish by asking which worklist and SOP participants will check first tomorrow.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official sources for complex questions. Local veterinary law, medicine-use rules and biosafety requirements always take priority.</a:t>
            </a:r>
          </a:p>
          <a:p>
            <a:endParaRPr/>
          </a:p>
          <a:p>
            <a:r>
              <a:t>[Sources]</a:t>
            </a:r>
          </a:p>
          <a:p>
            <a:r>
              <a:t>- https://smaxtec.com/en/</a:t>
            </a:r>
          </a:p>
          <a:p>
            <a:r>
              <a:t>- https://smaxtec.com/en/smaxtec-system-in-detail/1000/</a:t>
            </a:r>
          </a:p>
          <a:p>
            <a:r>
              <a:t>- https://smaxtec.com/en/technical-components/</a:t>
            </a:r>
          </a:p>
          <a:p>
            <a:r>
              <a:t>- https://smaxtec.com/us/software/</a:t>
            </a:r>
          </a:p>
          <a:p>
            <a:r>
              <a:t>
[Sources]
- https://www.smaxtec.com/en/smaxtec-system-in-detail/1000/
- https://www.smaxtec.com/en/technical-components/
- https://www.smaxtec.com/us/software/
- https://www.smaxtec.com/en/profit-in-dairy-farming-why-smaxtec-truly-pays-off/
- https://www.smaxtec.com/en/success-stories/testimonial-bill-jewell-2/
- https://doi.org/10.3389/fvets.2021.634338
- https://pubmed.ncbi.nlm.nih.gov/23332847/
- https://agris.fao.org/search/en/providers/122436/records/67598043c7a957febdf958cc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is the hinge of the whole programme. The first half of this training covered the sensor. Everything that follows covers the layer that turns a sensor event into a decision, an action and a record. Do not present CowTalk as a better sensor — it is a different layer.</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the boundary out loud: the manufacturer validated the event, so we trust it. Re-scoring a validated event would only reduce accuracy. Our job starts after the event.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stack from the bottom up. Layer 1 is the only place data enters. Layer 2 never bypasses it — the assistant cannot answer from memory alone, it has to query the data. That constraint is what makes the answers auditable.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most countries these four numbers live in four systems that never meet. Ask the room how long it takes today to look up a treatment history for one animal. That answer is the value of this slide.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Give this slide time. In every audience there is someone who has decided in advance that AI is a liability. The right-hand column is for that person. Say plainly: the final judgement belongs to a human, and the system is built so that this cannot be bypassed.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Demonstrate live if the network allows. If not, use the screenshots in the appendix. The point to land is that it answers from the farm’s own data, not from general knowledge.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assistant cannot invent a capability. If a question needs a tool that does not exist, it says so. Access differs by role — a farmer and a biosecurity officer do not have the same tool set. Mention that the log is per-call, not per-session; that level of detail is what auditors ask for.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4 is the one that matters for professional users. A veterinarian will not act on a number whose origin is unclear. Point out that when a value is estimated rather than measured, the answer says so.</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distinction between hiding and refusing matters in procurement reviews. Hiding is a user-interface choice; refusing is an architectural guarantee. The same rule applies to the assistant’s long-term memory — it only recalls within the account’s permissions.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veterinarians are in the room, this is the section that decides whether they trust the product. Lead with the limits, then show the evidence table. Never say “the AI diagnoses”.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correction we made: an early version let a single weakly supported candidate reach near-certainty. That artefact was removed by adding an uncertainty prior. Being open about a fixed defect earns more clinical trust than any accuracy claim.</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 government audience, the withdrawal card is the strongest slide in the veterinary section. Residue control is usually managed on paper and memory. Here it becomes a system property, and it produces the evidence an export market asks for.</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Step 5 is deliberately conservative: the model does not edit its own instructions. Guidance is generated by deterministic rules from the label statistics, so every change is reviewable. This is the answer to “how do you stop the AI drifting?”</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the farm sees money fastest. Open days are the most expensive number on a dairy, and they are the number a sensor plus a decision layer moves first.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farm keeps different breeding settings — return interval, pregnancy check timing, gestation length, dry-off lead time. Using a global default here is the single most common way an advisory tool loses credibility. The callout is a procurement answer: read it verbatim if anyone asks about supplier bias.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failure mode to warn about: farms that record inseminations but not pregnancy results. Without the result the model cannot learn, and the recommendation quality plateaus. Make recording the result part of the routine from week one.</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Shift the frame here. Until now every slide was about one farm. From here the audience should be thinking about a region and a country.</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Demonstrate this as one continuous motion rather than four screens. The impression to leave is that the national number and the individual animal are the same data, not two reports that have to be reconciled.</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precise about what a model is. It uses published epidemiological parameters for the disease in question; it is not a forecast of whether an outbreak will occur. Overselling this is how credibility is lost with veterinary authorities.</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the replacement sentence early and clearly. Any suggestion of competing with the official notification system will end the conversation with a veterinary authority. We are an input to it.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two halves of this title are equally important. A system that learns but cannot be audited is not deployable in a regulated sector.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ten-label floor is worth naming explicitly. It is the difference between a system that learns and a system that overreacts to noise. Auditors and researchers both ask about this threshold.</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international audiences this is the slide that decides the deal. Raise sovereignty before they do — answered on request it reads as defence, offered first it reads as design. Each country runs its own instance; only approved anonymised aggregates ever cross the boundary.</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last section is about habit, not technology. Most failed deployments had working software and no routine.</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 only these three actions to farm users. Every additional feature taught in week one reduces adoption. Step three is the one people skip, and it is the one that determines whether the product improves.</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Agree these indicators before the pilot starts, not at the end. A pilot without an agreed baseline cannot prove anything at day ninety, however well it went.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Push back hard on skipping week two. Every farm wants to start using the alerts immediately. A week of baseline measurement is what makes the day-90 review a result rather than an opinion.</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on the third sentence and stop talking. Do not add a summary of the summary. If there is time, ask the room which of the three is hardest on their farm — the answer is always the third.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p:cNvPicPr>
            <a:picLocks noChangeAspect="1"/>
          </p:cNvPicPr>
          <p:nvPr/>
        </p:nvPicPr>
        <p:blipFill>
          <a:blip r:embed="rId3"/>
          <a:srcRect t="27" b="27"/>
          <a:stretch>
            <a:fillRect/>
          </a:stretch>
        </p:blipFill>
        <p:spPr>
          <a:xfrm>
            <a:off x="0" y="0"/>
            <a:ext cx="12192000" cy="6858000"/>
          </a:xfrm>
          <a:prstGeom prst="rect">
            <a:avLst/>
          </a:prstGeom>
        </p:spPr>
      </p:pic>
      <p:sp>
        <p:nvSpPr>
          <p:cNvPr id="2" name="직사각형 1">
            <a:extLst>
              <a:ext uri="{FF2B5EF4-FFF2-40B4-BE49-F238E27FC236}">
                <a16:creationId xmlns:a16="http://schemas.microsoft.com/office/drawing/2014/main" id="{4E79198B-E372-406E-880B-3778B3F233F4}"/>
              </a:ext>
            </a:extLst>
          </p:cNvPr>
          <p:cNvSpPr>
            <a:spLocks noGrp="1"/>
          </p:cNvSpPr>
          <p:nvPr/>
        </p:nvSpPr>
        <p:spPr>
          <a:xfrm>
            <a:off x="0" y="0"/>
            <a:ext cx="6667500" cy="6858000"/>
          </a:xfrm>
          <a:prstGeom prst="rect">
            <a:avLst/>
          </a:prstGeom>
          <a:gradFill>
            <a:gsLst>
              <a:gs pos="0">
                <a:srgbClr val="0A1B17"/>
              </a:gs>
              <a:gs pos="100000">
                <a:srgbClr val="0A1B17"/>
              </a:gs>
            </a:gsLst>
            <a:lin/>
          </a:gradFill>
          <a:ln w="0">
            <a:noFill/>
            <a:prstDash val="solid"/>
          </a:ln>
        </p:spPr>
        <p:txBody>
          <a:bodyPr/>
          <a:lstStyle/>
          <a:p>
            <a:endParaRPr lang="ko-KR" altLang="en-US"/>
          </a:p>
        </p:txBody>
      </p:sp>
      <p:sp>
        <p:nvSpPr>
          <p:cNvPr id="3" name="모서리가 둥근 직사각형 2">
            <a:extLst>
              <a:ext uri="{FF2B5EF4-FFF2-40B4-BE49-F238E27FC236}">
                <a16:creationId xmlns:a16="http://schemas.microsoft.com/office/drawing/2014/main" id="{AA0CB6E1-4A6B-47DD-8DE4-E1B50BDCF44B}"/>
              </a:ext>
            </a:extLst>
          </p:cNvPr>
          <p:cNvSpPr>
            <a:spLocks noGrp="1"/>
          </p:cNvSpPr>
          <p:nvPr/>
        </p:nvSpPr>
        <p:spPr>
          <a:xfrm>
            <a:off x="685800" y="628650"/>
            <a:ext cx="2000250" cy="323850"/>
          </a:xfrm>
          <a:prstGeom prst="roundRect">
            <a:avLst>
              <a:gd name="adj" fmla="val 50000"/>
            </a:avLst>
          </a:prstGeom>
          <a:solidFill>
            <a:srgbClr val="65D44A"/>
          </a:solidFill>
          <a:ln w="0">
            <a:noFill/>
            <a:prstDash val="solid"/>
          </a:ln>
        </p:spPr>
        <p:txBody>
          <a:bodyPr/>
          <a:lstStyle/>
          <a:p>
            <a:endParaRPr lang="ko-KR" altLang="en-US"/>
          </a:p>
        </p:txBody>
      </p:sp>
      <p:sp>
        <p:nvSpPr>
          <p:cNvPr id="4" name="직사각형 3">
            <a:extLst>
              <a:ext uri="{FF2B5EF4-FFF2-40B4-BE49-F238E27FC236}">
                <a16:creationId xmlns:a16="http://schemas.microsoft.com/office/drawing/2014/main" id="{875FD4E5-8847-4C30-BFD6-E7E769BD417F}"/>
              </a:ext>
            </a:extLst>
          </p:cNvPr>
          <p:cNvSpPr>
            <a:spLocks noGrp="1"/>
          </p:cNvSpPr>
          <p:nvPr/>
        </p:nvSpPr>
        <p:spPr>
          <a:xfrm>
            <a:off x="781050" y="685800"/>
            <a:ext cx="1809750" cy="190500"/>
          </a:xfrm>
          <a:prstGeom prst="rect">
            <a:avLst/>
          </a:prstGeom>
          <a:noFill/>
          <a:ln w="0">
            <a:noFill/>
            <a:prstDash val="solid"/>
          </a:ln>
        </p:spPr>
        <p:txBody>
          <a:bodyPr/>
          <a:lstStyle/>
          <a:p>
            <a:pPr algn="ctr">
              <a:buNone/>
              <a:defRPr sz="975" b="1">
                <a:solidFill>
                  <a:srgbClr val="0A1B17"/>
                </a:solidFill>
              </a:defRPr>
            </a:pPr>
            <a:r>
              <a:rPr sz="975" b="1">
                <a:solidFill>
                  <a:srgbClr val="0A1B17"/>
                </a:solidFill>
              </a:rPr>
              <a:t>UNIVERSAL TRAINING</a:t>
            </a:r>
          </a:p>
        </p:txBody>
      </p:sp>
      <p:sp>
        <p:nvSpPr>
          <p:cNvPr id="5" name="직사각형 4">
            <a:extLst>
              <a:ext uri="{FF2B5EF4-FFF2-40B4-BE49-F238E27FC236}">
                <a16:creationId xmlns:a16="http://schemas.microsoft.com/office/drawing/2014/main" id="{8ECB8269-2A47-4A81-9D76-38F9BD4264DD}"/>
              </a:ext>
            </a:extLst>
          </p:cNvPr>
          <p:cNvSpPr>
            <a:spLocks noGrp="1"/>
          </p:cNvSpPr>
          <p:nvPr/>
        </p:nvSpPr>
        <p:spPr>
          <a:xfrm>
            <a:off x="685800" y="1381125"/>
            <a:ext cx="5810250" cy="1619250"/>
          </a:xfrm>
          <a:prstGeom prst="rect">
            <a:avLst/>
          </a:prstGeom>
          <a:noFill/>
          <a:ln w="0">
            <a:noFill/>
            <a:prstDash val="solid"/>
          </a:ln>
        </p:spPr>
        <p:txBody>
          <a:bodyPr/>
          <a:lstStyle/>
          <a:p>
            <a:pPr algn="l">
              <a:buNone/>
              <a:defRPr sz="4350" b="1">
                <a:solidFill>
                  <a:srgbClr val="FFFFFF"/>
                </a:solidFill>
              </a:defRPr>
            </a:pPr>
            <a:r>
              <a:rPr sz="4350" b="1">
                <a:solidFill>
                  <a:srgbClr val="FFFFFF"/>
                </a:solidFill>
              </a:rPr>
              <a:t>Better decisions</a:t>
            </a:r>
          </a:p>
          <a:p>
            <a:pPr algn="l">
              <a:buNone/>
              <a:defRPr sz="4350" b="1">
                <a:solidFill>
                  <a:srgbClr val="FFFFFF"/>
                </a:solidFill>
              </a:defRPr>
            </a:pPr>
            <a:r>
              <a:rPr sz="4350" b="1">
                <a:solidFill>
                  <a:srgbClr val="FFFFFF"/>
                </a:solidFill>
              </a:rPr>
              <a:t>from inside the cow</a:t>
            </a:r>
          </a:p>
        </p:txBody>
      </p:sp>
      <p:sp>
        <p:nvSpPr>
          <p:cNvPr id="6" name="직사각형 5">
            <a:extLst>
              <a:ext uri="{FF2B5EF4-FFF2-40B4-BE49-F238E27FC236}">
                <a16:creationId xmlns:a16="http://schemas.microsoft.com/office/drawing/2014/main" id="{0AEE7629-BC37-406C-ACE1-903850927152}"/>
              </a:ext>
            </a:extLst>
          </p:cNvPr>
          <p:cNvSpPr>
            <a:spLocks noGrp="1"/>
          </p:cNvSpPr>
          <p:nvPr/>
        </p:nvSpPr>
        <p:spPr>
          <a:xfrm>
            <a:off x="685800" y="3219450"/>
            <a:ext cx="5334000" cy="666750"/>
          </a:xfrm>
          <a:prstGeom prst="rect">
            <a:avLst/>
          </a:prstGeom>
          <a:noFill/>
          <a:ln w="0">
            <a:noFill/>
            <a:prstDash val="solid"/>
          </a:ln>
        </p:spPr>
        <p:txBody>
          <a:bodyPr/>
          <a:lstStyle/>
          <a:p>
            <a:pPr algn="l">
              <a:buNone/>
              <a:defRPr sz="1875" b="0">
                <a:solidFill>
                  <a:srgbClr val="D7E5DF"/>
                </a:solidFill>
              </a:defRPr>
            </a:pPr>
            <a:r>
              <a:rPr sz="1875" b="0">
                <a:solidFill>
                  <a:srgbClr val="D7E5DF"/>
                </a:solidFill>
              </a:rPr>
              <a:t>Practical smaXtec / CowTalk training</a:t>
            </a:r>
          </a:p>
        </p:txBody>
      </p:sp>
      <p:sp>
        <p:nvSpPr>
          <p:cNvPr id="7" name="직사각형 6">
            <a:extLst>
              <a:ext uri="{FF2B5EF4-FFF2-40B4-BE49-F238E27FC236}">
                <a16:creationId xmlns:a16="http://schemas.microsoft.com/office/drawing/2014/main" id="{250EEBA7-952D-4AAE-B8A2-8F952B9A5984}"/>
              </a:ext>
            </a:extLst>
          </p:cNvPr>
          <p:cNvSpPr>
            <a:spLocks noGrp="1"/>
          </p:cNvSpPr>
          <p:nvPr/>
        </p:nvSpPr>
        <p:spPr>
          <a:xfrm>
            <a:off x="685800" y="4343400"/>
            <a:ext cx="5810250" cy="323850"/>
          </a:xfrm>
          <a:prstGeom prst="rect">
            <a:avLst/>
          </a:prstGeom>
          <a:noFill/>
          <a:ln w="0">
            <a:noFill/>
            <a:prstDash val="solid"/>
          </a:ln>
        </p:spPr>
        <p:txBody>
          <a:bodyPr/>
          <a:lstStyle/>
          <a:p>
            <a:pPr algn="l">
              <a:buNone/>
              <a:defRPr sz="1425" b="1">
                <a:solidFill>
                  <a:srgbClr val="65D44A"/>
                </a:solidFill>
              </a:defRPr>
            </a:pPr>
            <a:r>
              <a:rPr sz="1425" b="1">
                <a:solidFill>
                  <a:srgbClr val="65D44A"/>
                </a:solidFill>
              </a:rPr>
              <a:t>Health • Reproduction • Feeding</a:t>
            </a:r>
          </a:p>
        </p:txBody>
      </p:sp>
      <p:sp>
        <p:nvSpPr>
          <p:cNvPr id="8" name="직사각형 7">
            <a:extLst>
              <a:ext uri="{FF2B5EF4-FFF2-40B4-BE49-F238E27FC236}">
                <a16:creationId xmlns:a16="http://schemas.microsoft.com/office/drawing/2014/main" id="{6A5C6EF3-2258-454A-8D1E-635FA53CEFF1}"/>
              </a:ext>
            </a:extLst>
          </p:cNvPr>
          <p:cNvSpPr>
            <a:spLocks noGrp="1"/>
          </p:cNvSpPr>
          <p:nvPr/>
        </p:nvSpPr>
        <p:spPr>
          <a:xfrm>
            <a:off x="685800" y="6191250"/>
            <a:ext cx="4953000" cy="209550"/>
          </a:xfrm>
          <a:prstGeom prst="rect">
            <a:avLst/>
          </a:prstGeom>
          <a:noFill/>
          <a:ln w="0">
            <a:noFill/>
            <a:prstDash val="solid"/>
          </a:ln>
        </p:spPr>
        <p:txBody>
          <a:bodyPr/>
          <a:lstStyle/>
          <a:p>
            <a:pPr algn="l">
              <a:buNone/>
              <a:defRPr sz="975" b="0">
                <a:solidFill>
                  <a:srgbClr val="FFFFFF"/>
                </a:solidFill>
              </a:defRPr>
            </a:pPr>
            <a:r>
              <a:rPr sz="975" b="0">
                <a:solidFill>
                  <a:srgbClr val="FFFFFF"/>
                </a:solidFill>
              </a:rPr>
              <a:t>16:9 | English | Speaker notes included</a:t>
            </a:r>
          </a:p>
        </p:txBody>
      </p:sp>
    </p:spTree>
    <p:extLst>
      <p:ext uri="{BB962C8B-B14F-4D97-AF65-F5344CB8AC3E}">
        <p14:creationId xmlns:p14="http://schemas.microsoft.com/office/powerpoint/2010/main" val="531663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AE518FAD-7C9B-49CD-9639-55367FB66F71}"/>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LEARNING GOALS</a:t>
            </a:r>
          </a:p>
        </p:txBody>
      </p:sp>
      <p:sp>
        <p:nvSpPr>
          <p:cNvPr id="2" name="직사각형 1">
            <a:extLst>
              <a:ext uri="{FF2B5EF4-FFF2-40B4-BE49-F238E27FC236}">
                <a16:creationId xmlns:a16="http://schemas.microsoft.com/office/drawing/2014/main" id="{78A8AF5A-3C6D-4F3C-BBF3-CE36E3BA9D0C}"/>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Turn sensor signals into practical action</a:t>
            </a:r>
          </a:p>
        </p:txBody>
      </p:sp>
      <p:sp>
        <p:nvSpPr>
          <p:cNvPr id="3" name="직사각형 2">
            <a:extLst>
              <a:ext uri="{FF2B5EF4-FFF2-40B4-BE49-F238E27FC236}">
                <a16:creationId xmlns:a16="http://schemas.microsoft.com/office/drawing/2014/main" id="{26873E84-8F8B-439C-9AD2-13A580806D93}"/>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5D854680-0CD4-427A-8C5B-5C237BBDF37C}"/>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02</a:t>
            </a:r>
          </a:p>
        </p:txBody>
      </p:sp>
      <p:sp>
        <p:nvSpPr>
          <p:cNvPr id="5" name="직사각형 4">
            <a:extLst>
              <a:ext uri="{FF2B5EF4-FFF2-40B4-BE49-F238E27FC236}">
                <a16:creationId xmlns:a16="http://schemas.microsoft.com/office/drawing/2014/main" id="{F488FB7E-5A47-4C1A-AF14-CA7026ED7D74}"/>
              </a:ext>
            </a:extLst>
          </p:cNvPr>
          <p:cNvSpPr>
            <a:spLocks noGrp="1"/>
          </p:cNvSpPr>
          <p:nvPr/>
        </p:nvSpPr>
        <p:spPr>
          <a:xfrm>
            <a:off x="685800" y="17526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rPr>
              <a:t>01</a:t>
            </a:r>
          </a:p>
        </p:txBody>
      </p:sp>
      <p:sp>
        <p:nvSpPr>
          <p:cNvPr id="6" name="직사각형 5">
            <a:extLst>
              <a:ext uri="{FF2B5EF4-FFF2-40B4-BE49-F238E27FC236}">
                <a16:creationId xmlns:a16="http://schemas.microsoft.com/office/drawing/2014/main" id="{F1C15775-D52D-4800-9D0E-6731BCCECDC1}"/>
              </a:ext>
            </a:extLst>
          </p:cNvPr>
          <p:cNvSpPr>
            <a:spLocks noGrp="1"/>
          </p:cNvSpPr>
          <p:nvPr/>
        </p:nvSpPr>
        <p:spPr>
          <a:xfrm>
            <a:off x="1524000" y="17526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rPr>
              <a:t>Internal measurement</a:t>
            </a:r>
          </a:p>
        </p:txBody>
      </p:sp>
      <p:sp>
        <p:nvSpPr>
          <p:cNvPr id="7" name="직사각형 6">
            <a:extLst>
              <a:ext uri="{FF2B5EF4-FFF2-40B4-BE49-F238E27FC236}">
                <a16:creationId xmlns:a16="http://schemas.microsoft.com/office/drawing/2014/main" id="{27865602-D19E-4443-9D68-1EBBB33914D8}"/>
              </a:ext>
            </a:extLst>
          </p:cNvPr>
          <p:cNvSpPr>
            <a:spLocks noGrp="1"/>
          </p:cNvSpPr>
          <p:nvPr/>
        </p:nvSpPr>
        <p:spPr>
          <a:xfrm>
            <a:off x="4381500" y="17526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rPr>
              <a:t>Why reticulum signals are more stable</a:t>
            </a:r>
          </a:p>
        </p:txBody>
      </p:sp>
      <p:sp>
        <p:nvSpPr>
          <p:cNvPr id="8" name="직사각형 7">
            <a:extLst>
              <a:ext uri="{FF2B5EF4-FFF2-40B4-BE49-F238E27FC236}">
                <a16:creationId xmlns:a16="http://schemas.microsoft.com/office/drawing/2014/main" id="{E784E464-DC98-4385-B91C-61367FB68D5D}"/>
              </a:ext>
            </a:extLst>
          </p:cNvPr>
          <p:cNvSpPr>
            <a:spLocks noGrp="1"/>
          </p:cNvSpPr>
          <p:nvPr/>
        </p:nvSpPr>
        <p:spPr>
          <a:xfrm>
            <a:off x="1524000" y="2400300"/>
            <a:ext cx="9715500" cy="19050"/>
          </a:xfrm>
          <a:prstGeom prst="rect">
            <a:avLst/>
          </a:prstGeom>
          <a:solidFill>
            <a:srgbClr val="ECF1EE"/>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29F10EF2-1A1C-4A3E-B02B-75E32BE16717}"/>
              </a:ext>
            </a:extLst>
          </p:cNvPr>
          <p:cNvSpPr>
            <a:spLocks noGrp="1"/>
          </p:cNvSpPr>
          <p:nvPr/>
        </p:nvSpPr>
        <p:spPr>
          <a:xfrm>
            <a:off x="685800" y="27432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rPr>
              <a:t>02</a:t>
            </a:r>
          </a:p>
        </p:txBody>
      </p:sp>
      <p:sp>
        <p:nvSpPr>
          <p:cNvPr id="10" name="직사각형 9">
            <a:extLst>
              <a:ext uri="{FF2B5EF4-FFF2-40B4-BE49-F238E27FC236}">
                <a16:creationId xmlns:a16="http://schemas.microsoft.com/office/drawing/2014/main" id="{D1FD1DCB-9D82-4088-98B3-ADA92D4C1AEF}"/>
              </a:ext>
            </a:extLst>
          </p:cNvPr>
          <p:cNvSpPr>
            <a:spLocks noGrp="1"/>
          </p:cNvSpPr>
          <p:nvPr/>
        </p:nvSpPr>
        <p:spPr>
          <a:xfrm>
            <a:off x="1524000" y="27432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rPr>
              <a:t>Reading graphs</a:t>
            </a:r>
          </a:p>
        </p:txBody>
      </p:sp>
      <p:sp>
        <p:nvSpPr>
          <p:cNvPr id="11" name="직사각형 10">
            <a:extLst>
              <a:ext uri="{FF2B5EF4-FFF2-40B4-BE49-F238E27FC236}">
                <a16:creationId xmlns:a16="http://schemas.microsoft.com/office/drawing/2014/main" id="{F6A06A1E-C4B6-4DB1-B59E-1519C8D17B7D}"/>
              </a:ext>
            </a:extLst>
          </p:cNvPr>
          <p:cNvSpPr>
            <a:spLocks noGrp="1"/>
          </p:cNvSpPr>
          <p:nvPr/>
        </p:nvSpPr>
        <p:spPr>
          <a:xfrm>
            <a:off x="4381500" y="27432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rPr>
              <a:t>Interpret temperature, drinking, rumination, activity and pH together</a:t>
            </a:r>
          </a:p>
        </p:txBody>
      </p:sp>
      <p:sp>
        <p:nvSpPr>
          <p:cNvPr id="12" name="직사각형 11">
            <a:extLst>
              <a:ext uri="{FF2B5EF4-FFF2-40B4-BE49-F238E27FC236}">
                <a16:creationId xmlns:a16="http://schemas.microsoft.com/office/drawing/2014/main" id="{697A18E0-3EE1-4CDF-9893-805A08E61B4B}"/>
              </a:ext>
            </a:extLst>
          </p:cNvPr>
          <p:cNvSpPr>
            <a:spLocks noGrp="1"/>
          </p:cNvSpPr>
          <p:nvPr/>
        </p:nvSpPr>
        <p:spPr>
          <a:xfrm>
            <a:off x="1524000" y="3390900"/>
            <a:ext cx="9715500" cy="19050"/>
          </a:xfrm>
          <a:prstGeom prst="rect">
            <a:avLst/>
          </a:prstGeom>
          <a:solidFill>
            <a:srgbClr val="ECF1EE"/>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FC2D0792-18C4-44B3-B401-4786BF95A9B3}"/>
              </a:ext>
            </a:extLst>
          </p:cNvPr>
          <p:cNvSpPr>
            <a:spLocks noGrp="1"/>
          </p:cNvSpPr>
          <p:nvPr/>
        </p:nvSpPr>
        <p:spPr>
          <a:xfrm>
            <a:off x="685800" y="37338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rPr>
              <a:t>03</a:t>
            </a:r>
          </a:p>
        </p:txBody>
      </p:sp>
      <p:sp>
        <p:nvSpPr>
          <p:cNvPr id="14" name="직사각형 13">
            <a:extLst>
              <a:ext uri="{FF2B5EF4-FFF2-40B4-BE49-F238E27FC236}">
                <a16:creationId xmlns:a16="http://schemas.microsoft.com/office/drawing/2014/main" id="{E6C7F5A1-AB65-45C0-AA84-310906FFB748}"/>
              </a:ext>
            </a:extLst>
          </p:cNvPr>
          <p:cNvSpPr>
            <a:spLocks noGrp="1"/>
          </p:cNvSpPr>
          <p:nvPr/>
        </p:nvSpPr>
        <p:spPr>
          <a:xfrm>
            <a:off x="1524000" y="37338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rPr>
              <a:t>Workflow</a:t>
            </a:r>
          </a:p>
        </p:txBody>
      </p:sp>
      <p:sp>
        <p:nvSpPr>
          <p:cNvPr id="15" name="직사각형 14">
            <a:extLst>
              <a:ext uri="{FF2B5EF4-FFF2-40B4-BE49-F238E27FC236}">
                <a16:creationId xmlns:a16="http://schemas.microsoft.com/office/drawing/2014/main" id="{ADADE694-F90C-4277-B852-D97B91CAF2A0}"/>
              </a:ext>
            </a:extLst>
          </p:cNvPr>
          <p:cNvSpPr>
            <a:spLocks noGrp="1"/>
          </p:cNvSpPr>
          <p:nvPr/>
        </p:nvSpPr>
        <p:spPr>
          <a:xfrm>
            <a:off x="4381500" y="37338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rPr>
              <a:t>Alert → check → record → follow up → close</a:t>
            </a:r>
          </a:p>
        </p:txBody>
      </p:sp>
      <p:sp>
        <p:nvSpPr>
          <p:cNvPr id="16" name="직사각형 15">
            <a:extLst>
              <a:ext uri="{FF2B5EF4-FFF2-40B4-BE49-F238E27FC236}">
                <a16:creationId xmlns:a16="http://schemas.microsoft.com/office/drawing/2014/main" id="{7B30E455-4176-484A-9629-7C5FC8AA7DFC}"/>
              </a:ext>
            </a:extLst>
          </p:cNvPr>
          <p:cNvSpPr>
            <a:spLocks noGrp="1"/>
          </p:cNvSpPr>
          <p:nvPr/>
        </p:nvSpPr>
        <p:spPr>
          <a:xfrm>
            <a:off x="1524000" y="4381500"/>
            <a:ext cx="9715500" cy="19050"/>
          </a:xfrm>
          <a:prstGeom prst="rect">
            <a:avLst/>
          </a:prstGeom>
          <a:solidFill>
            <a:srgbClr val="ECF1EE"/>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8FE90290-CB0A-4D3F-BAC8-4EDC452AF3B1}"/>
              </a:ext>
            </a:extLst>
          </p:cNvPr>
          <p:cNvSpPr>
            <a:spLocks noGrp="1"/>
          </p:cNvSpPr>
          <p:nvPr/>
        </p:nvSpPr>
        <p:spPr>
          <a:xfrm>
            <a:off x="685800" y="47244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rPr>
              <a:t>04</a:t>
            </a:r>
          </a:p>
        </p:txBody>
      </p:sp>
      <p:sp>
        <p:nvSpPr>
          <p:cNvPr id="18" name="직사각형 17">
            <a:extLst>
              <a:ext uri="{FF2B5EF4-FFF2-40B4-BE49-F238E27FC236}">
                <a16:creationId xmlns:a16="http://schemas.microsoft.com/office/drawing/2014/main" id="{E0BD1298-1BB7-40C9-9FF3-063912AB8A4F}"/>
              </a:ext>
            </a:extLst>
          </p:cNvPr>
          <p:cNvSpPr>
            <a:spLocks noGrp="1"/>
          </p:cNvSpPr>
          <p:nvPr/>
        </p:nvSpPr>
        <p:spPr>
          <a:xfrm>
            <a:off x="1524000" y="47244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rPr>
              <a:t>Management</a:t>
            </a:r>
          </a:p>
        </p:txBody>
      </p:sp>
      <p:sp>
        <p:nvSpPr>
          <p:cNvPr id="19" name="직사각형 18">
            <a:extLst>
              <a:ext uri="{FF2B5EF4-FFF2-40B4-BE49-F238E27FC236}">
                <a16:creationId xmlns:a16="http://schemas.microsoft.com/office/drawing/2014/main" id="{15CCEFDE-7590-4A44-949A-7726A44FFFF1}"/>
              </a:ext>
            </a:extLst>
          </p:cNvPr>
          <p:cNvSpPr>
            <a:spLocks noGrp="1"/>
          </p:cNvSpPr>
          <p:nvPr/>
        </p:nvSpPr>
        <p:spPr>
          <a:xfrm>
            <a:off x="4381500" y="47244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rPr>
              <a:t>Groups, rations, worklists and performance indicators</a:t>
            </a:r>
          </a:p>
        </p:txBody>
      </p:sp>
      <p:sp>
        <p:nvSpPr>
          <p:cNvPr id="20" name="직사각형 19">
            <a:extLst>
              <a:ext uri="{FF2B5EF4-FFF2-40B4-BE49-F238E27FC236}">
                <a16:creationId xmlns:a16="http://schemas.microsoft.com/office/drawing/2014/main" id="{F5A4DA31-082F-41CB-BD41-D8701A677B63}"/>
              </a:ext>
            </a:extLst>
          </p:cNvPr>
          <p:cNvSpPr>
            <a:spLocks noGrp="1"/>
          </p:cNvSpPr>
          <p:nvPr/>
        </p:nvSpPr>
        <p:spPr>
          <a:xfrm>
            <a:off x="1524000" y="5372100"/>
            <a:ext cx="9715500" cy="19050"/>
          </a:xfrm>
          <a:prstGeom prst="rect">
            <a:avLst/>
          </a:prstGeom>
          <a:solidFill>
            <a:srgbClr val="ECF1EE"/>
          </a:solidFill>
          <a:ln w="0">
            <a:noFill/>
            <a:prstDash val="solid"/>
          </a:ln>
        </p:spPr>
        <p:txBody>
          <a:bodyPr/>
          <a:lstStyle/>
          <a:p>
            <a:endParaRPr lang="ko-KR" altLang="en-US"/>
          </a:p>
        </p:txBody>
      </p:sp>
    </p:spTree>
    <p:extLst>
      <p:ext uri="{BB962C8B-B14F-4D97-AF65-F5344CB8AC3E}">
        <p14:creationId xmlns:p14="http://schemas.microsoft.com/office/powerpoint/2010/main" val="167871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A5E13D1F-084B-4374-906E-3406563B485C}"/>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THE BIG PICTURE</a:t>
            </a:r>
          </a:p>
        </p:txBody>
      </p:sp>
      <p:sp>
        <p:nvSpPr>
          <p:cNvPr id="2" name="직사각형 1">
            <a:extLst>
              <a:ext uri="{FF2B5EF4-FFF2-40B4-BE49-F238E27FC236}">
                <a16:creationId xmlns:a16="http://schemas.microsoft.com/office/drawing/2014/main" id="{FADA5D8B-D08F-4226-9D85-C415AFBB5E11}"/>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One system, three management questions</a:t>
            </a:r>
          </a:p>
        </p:txBody>
      </p:sp>
      <p:sp>
        <p:nvSpPr>
          <p:cNvPr id="3" name="직사각형 2">
            <a:extLst>
              <a:ext uri="{FF2B5EF4-FFF2-40B4-BE49-F238E27FC236}">
                <a16:creationId xmlns:a16="http://schemas.microsoft.com/office/drawing/2014/main" id="{E5201BB2-A810-446F-B095-87511445F6CA}"/>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D35256E8-4C3D-4B48-A4AC-AC9B1FCE66B0}"/>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03</a:t>
            </a:r>
          </a:p>
        </p:txBody>
      </p:sp>
      <p:sp>
        <p:nvSpPr>
          <p:cNvPr id="5" name="모서리가 둥근 직사각형 4">
            <a:extLst>
              <a:ext uri="{FF2B5EF4-FFF2-40B4-BE49-F238E27FC236}">
                <a16:creationId xmlns:a16="http://schemas.microsoft.com/office/drawing/2014/main" id="{8260D49D-6189-4D15-80DF-FE3818072E6A}"/>
              </a:ext>
            </a:extLst>
          </p:cNvPr>
          <p:cNvSpPr>
            <a:spLocks noGrp="1"/>
          </p:cNvSpPr>
          <p:nvPr/>
        </p:nvSpPr>
        <p:spPr>
          <a:xfrm>
            <a:off x="685800" y="1905000"/>
            <a:ext cx="3162300" cy="3048000"/>
          </a:xfrm>
          <a:prstGeom prst="roundRect">
            <a:avLst>
              <a:gd name="adj" fmla="val 5000"/>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40AC07DF-9280-4A56-A2D3-7221FB1421E5}"/>
              </a:ext>
            </a:extLst>
          </p:cNvPr>
          <p:cNvSpPr>
            <a:spLocks noGrp="1"/>
          </p:cNvSpPr>
          <p:nvPr/>
        </p:nvSpPr>
        <p:spPr>
          <a:xfrm>
            <a:off x="685800" y="1905000"/>
            <a:ext cx="3162300" cy="114300"/>
          </a:xfrm>
          <a:prstGeom prst="rect">
            <a:avLst/>
          </a:prstGeom>
          <a:solidFill>
            <a:srgbClr val="E96155"/>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7152B54-F44B-47A7-97C6-0531BD4E76AA}"/>
              </a:ext>
            </a:extLst>
          </p:cNvPr>
          <p:cNvSpPr>
            <a:spLocks noGrp="1"/>
          </p:cNvSpPr>
          <p:nvPr/>
        </p:nvSpPr>
        <p:spPr>
          <a:xfrm>
            <a:off x="952500" y="2247900"/>
            <a:ext cx="2571750" cy="333375"/>
          </a:xfrm>
          <a:prstGeom prst="rect">
            <a:avLst/>
          </a:prstGeom>
          <a:noFill/>
          <a:ln w="0">
            <a:noFill/>
            <a:prstDash val="solid"/>
          </a:ln>
        </p:spPr>
        <p:txBody>
          <a:bodyPr/>
          <a:lstStyle/>
          <a:p>
            <a:pPr algn="l">
              <a:buNone/>
              <a:defRPr sz="1350" b="1">
                <a:solidFill>
                  <a:srgbClr val="E96155"/>
                </a:solidFill>
              </a:defRPr>
            </a:pPr>
            <a:r>
              <a:rPr sz="1350" b="1">
                <a:solidFill>
                  <a:srgbClr val="E96155"/>
                </a:solidFill>
              </a:rPr>
              <a:t>HEALTH</a:t>
            </a:r>
          </a:p>
        </p:txBody>
      </p:sp>
      <p:sp>
        <p:nvSpPr>
          <p:cNvPr id="8" name="직사각형 7">
            <a:extLst>
              <a:ext uri="{FF2B5EF4-FFF2-40B4-BE49-F238E27FC236}">
                <a16:creationId xmlns:a16="http://schemas.microsoft.com/office/drawing/2014/main" id="{5738E658-736F-4EDF-B177-27C41C3BF489}"/>
              </a:ext>
            </a:extLst>
          </p:cNvPr>
          <p:cNvSpPr>
            <a:spLocks noGrp="1"/>
          </p:cNvSpPr>
          <p:nvPr/>
        </p:nvSpPr>
        <p:spPr>
          <a:xfrm>
            <a:off x="952500" y="2914650"/>
            <a:ext cx="2571750" cy="1181100"/>
          </a:xfrm>
          <a:prstGeom prst="rect">
            <a:avLst/>
          </a:prstGeom>
          <a:noFill/>
          <a:ln w="0">
            <a:noFill/>
            <a:prstDash val="solid"/>
          </a:ln>
        </p:spPr>
        <p:txBody>
          <a:bodyPr/>
          <a:lstStyle/>
          <a:p>
            <a:pPr algn="l">
              <a:buNone/>
              <a:defRPr sz="2175" b="1">
                <a:solidFill>
                  <a:srgbClr val="10251F"/>
                </a:solidFill>
              </a:defRPr>
            </a:pPr>
            <a:r>
              <a:rPr sz="2175" b="1">
                <a:solidFill>
                  <a:srgbClr val="10251F"/>
                </a:solidFill>
              </a:rPr>
              <a:t>Which cow needs checking now?</a:t>
            </a:r>
          </a:p>
        </p:txBody>
      </p:sp>
      <p:sp>
        <p:nvSpPr>
          <p:cNvPr id="9" name="모서리가 둥근 직사각형 8">
            <a:extLst>
              <a:ext uri="{FF2B5EF4-FFF2-40B4-BE49-F238E27FC236}">
                <a16:creationId xmlns:a16="http://schemas.microsoft.com/office/drawing/2014/main" id="{DFC3259B-F7BA-45A8-9B7B-4EB1C3ED28D8}"/>
              </a:ext>
            </a:extLst>
          </p:cNvPr>
          <p:cNvSpPr>
            <a:spLocks noGrp="1"/>
          </p:cNvSpPr>
          <p:nvPr/>
        </p:nvSpPr>
        <p:spPr>
          <a:xfrm>
            <a:off x="4171950" y="1905000"/>
            <a:ext cx="3162300" cy="3048000"/>
          </a:xfrm>
          <a:prstGeom prst="roundRect">
            <a:avLst>
              <a:gd name="adj" fmla="val 5000"/>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52DF3C2B-BFC5-42BF-BE28-87D3D819368F}"/>
              </a:ext>
            </a:extLst>
          </p:cNvPr>
          <p:cNvSpPr>
            <a:spLocks noGrp="1"/>
          </p:cNvSpPr>
          <p:nvPr/>
        </p:nvSpPr>
        <p:spPr>
          <a:xfrm>
            <a:off x="4171950" y="1905000"/>
            <a:ext cx="3162300" cy="114300"/>
          </a:xfrm>
          <a:prstGeom prst="rect">
            <a:avLst/>
          </a:prstGeom>
          <a:solidFill>
            <a:srgbClr val="4C8DD9"/>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9D1515C6-7E76-4AE9-8BA7-8C0D8E173ED0}"/>
              </a:ext>
            </a:extLst>
          </p:cNvPr>
          <p:cNvSpPr>
            <a:spLocks noGrp="1"/>
          </p:cNvSpPr>
          <p:nvPr/>
        </p:nvSpPr>
        <p:spPr>
          <a:xfrm>
            <a:off x="4438650" y="2247900"/>
            <a:ext cx="2571750" cy="333375"/>
          </a:xfrm>
          <a:prstGeom prst="rect">
            <a:avLst/>
          </a:prstGeom>
          <a:noFill/>
          <a:ln w="0">
            <a:noFill/>
            <a:prstDash val="solid"/>
          </a:ln>
        </p:spPr>
        <p:txBody>
          <a:bodyPr/>
          <a:lstStyle/>
          <a:p>
            <a:pPr algn="l">
              <a:buNone/>
              <a:defRPr sz="1350" b="1">
                <a:solidFill>
                  <a:srgbClr val="4C8DD9"/>
                </a:solidFill>
              </a:defRPr>
            </a:pPr>
            <a:r>
              <a:rPr sz="1350" b="1">
                <a:solidFill>
                  <a:srgbClr val="4C8DD9"/>
                </a:solidFill>
              </a:rPr>
              <a:t>REPRODUCTION</a:t>
            </a:r>
          </a:p>
        </p:txBody>
      </p:sp>
      <p:sp>
        <p:nvSpPr>
          <p:cNvPr id="12" name="직사각형 11">
            <a:extLst>
              <a:ext uri="{FF2B5EF4-FFF2-40B4-BE49-F238E27FC236}">
                <a16:creationId xmlns:a16="http://schemas.microsoft.com/office/drawing/2014/main" id="{D6C0C7CF-96F1-4E89-A9B9-1C8F3DA4879A}"/>
              </a:ext>
            </a:extLst>
          </p:cNvPr>
          <p:cNvSpPr>
            <a:spLocks noGrp="1"/>
          </p:cNvSpPr>
          <p:nvPr/>
        </p:nvSpPr>
        <p:spPr>
          <a:xfrm>
            <a:off x="4438650" y="2914650"/>
            <a:ext cx="2571750" cy="1181100"/>
          </a:xfrm>
          <a:prstGeom prst="rect">
            <a:avLst/>
          </a:prstGeom>
          <a:noFill/>
          <a:ln w="0">
            <a:noFill/>
            <a:prstDash val="solid"/>
          </a:ln>
        </p:spPr>
        <p:txBody>
          <a:bodyPr/>
          <a:lstStyle/>
          <a:p>
            <a:pPr algn="l">
              <a:buNone/>
              <a:defRPr sz="2175" b="1">
                <a:solidFill>
                  <a:srgbClr val="10251F"/>
                </a:solidFill>
              </a:defRPr>
            </a:pPr>
            <a:r>
              <a:rPr sz="2175" b="1">
                <a:solidFill>
                  <a:srgbClr val="10251F"/>
                </a:solidFill>
              </a:rPr>
              <a:t>When should we inseminate or prepare for calving?</a:t>
            </a:r>
          </a:p>
        </p:txBody>
      </p:sp>
      <p:sp>
        <p:nvSpPr>
          <p:cNvPr id="13" name="모서리가 둥근 직사각형 12">
            <a:extLst>
              <a:ext uri="{FF2B5EF4-FFF2-40B4-BE49-F238E27FC236}">
                <a16:creationId xmlns:a16="http://schemas.microsoft.com/office/drawing/2014/main" id="{29E10949-66DB-41E1-A538-57DED2351B45}"/>
              </a:ext>
            </a:extLst>
          </p:cNvPr>
          <p:cNvSpPr>
            <a:spLocks noGrp="1"/>
          </p:cNvSpPr>
          <p:nvPr/>
        </p:nvSpPr>
        <p:spPr>
          <a:xfrm>
            <a:off x="7658100" y="1905000"/>
            <a:ext cx="3162300" cy="3048000"/>
          </a:xfrm>
          <a:prstGeom prst="roundRect">
            <a:avLst>
              <a:gd name="adj" fmla="val 5000"/>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53214C79-C08B-4696-A3F8-18F28F8103FF}"/>
              </a:ext>
            </a:extLst>
          </p:cNvPr>
          <p:cNvSpPr>
            <a:spLocks noGrp="1"/>
          </p:cNvSpPr>
          <p:nvPr/>
        </p:nvSpPr>
        <p:spPr>
          <a:xfrm>
            <a:off x="7658100" y="1905000"/>
            <a:ext cx="3162300" cy="114300"/>
          </a:xfrm>
          <a:prstGeom prst="rect">
            <a:avLst/>
          </a:prstGeom>
          <a:solidFill>
            <a:srgbClr val="F6B846"/>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139343B9-4629-4947-9766-CC52B3DF2EAA}"/>
              </a:ext>
            </a:extLst>
          </p:cNvPr>
          <p:cNvSpPr>
            <a:spLocks noGrp="1"/>
          </p:cNvSpPr>
          <p:nvPr/>
        </p:nvSpPr>
        <p:spPr>
          <a:xfrm>
            <a:off x="7924800" y="2247900"/>
            <a:ext cx="2571750" cy="333375"/>
          </a:xfrm>
          <a:prstGeom prst="rect">
            <a:avLst/>
          </a:prstGeom>
          <a:noFill/>
          <a:ln w="0">
            <a:noFill/>
            <a:prstDash val="solid"/>
          </a:ln>
        </p:spPr>
        <p:txBody>
          <a:bodyPr/>
          <a:lstStyle/>
          <a:p>
            <a:pPr algn="l">
              <a:buNone/>
              <a:defRPr sz="1350" b="1">
                <a:solidFill>
                  <a:srgbClr val="F6B846"/>
                </a:solidFill>
              </a:defRPr>
            </a:pPr>
            <a:r>
              <a:rPr sz="1350" b="1">
                <a:solidFill>
                  <a:srgbClr val="F6B846"/>
                </a:solidFill>
              </a:rPr>
              <a:t>FEEDING</a:t>
            </a:r>
          </a:p>
        </p:txBody>
      </p:sp>
      <p:sp>
        <p:nvSpPr>
          <p:cNvPr id="16" name="직사각형 15">
            <a:extLst>
              <a:ext uri="{FF2B5EF4-FFF2-40B4-BE49-F238E27FC236}">
                <a16:creationId xmlns:a16="http://schemas.microsoft.com/office/drawing/2014/main" id="{3736F63E-91AD-4F15-A95C-6F4521A6FDC9}"/>
              </a:ext>
            </a:extLst>
          </p:cNvPr>
          <p:cNvSpPr>
            <a:spLocks noGrp="1"/>
          </p:cNvSpPr>
          <p:nvPr/>
        </p:nvSpPr>
        <p:spPr>
          <a:xfrm>
            <a:off x="7924800" y="2914650"/>
            <a:ext cx="2571750" cy="1181100"/>
          </a:xfrm>
          <a:prstGeom prst="rect">
            <a:avLst/>
          </a:prstGeom>
          <a:noFill/>
          <a:ln w="0">
            <a:noFill/>
            <a:prstDash val="solid"/>
          </a:ln>
        </p:spPr>
        <p:txBody>
          <a:bodyPr/>
          <a:lstStyle/>
          <a:p>
            <a:pPr algn="l">
              <a:buNone/>
              <a:defRPr sz="2175" b="1">
                <a:solidFill>
                  <a:srgbClr val="10251F"/>
                </a:solidFill>
              </a:defRPr>
            </a:pPr>
            <a:r>
              <a:rPr sz="2175" b="1">
                <a:solidFill>
                  <a:srgbClr val="10251F"/>
                </a:solidFill>
              </a:rPr>
              <a:t>Which group or ration changed?</a:t>
            </a:r>
          </a:p>
        </p:txBody>
      </p:sp>
      <p:sp>
        <p:nvSpPr>
          <p:cNvPr id="17" name="직사각형 16">
            <a:extLst>
              <a:ext uri="{FF2B5EF4-FFF2-40B4-BE49-F238E27FC236}">
                <a16:creationId xmlns:a16="http://schemas.microsoft.com/office/drawing/2014/main" id="{9F10E8F8-3370-4862-B375-4242F3F513C7}"/>
              </a:ext>
            </a:extLst>
          </p:cNvPr>
          <p:cNvSpPr>
            <a:spLocks noGrp="1"/>
          </p:cNvSpPr>
          <p:nvPr/>
        </p:nvSpPr>
        <p:spPr>
          <a:xfrm>
            <a:off x="685800" y="5467350"/>
            <a:ext cx="10820400" cy="381000"/>
          </a:xfrm>
          <a:prstGeom prst="rect">
            <a:avLst/>
          </a:prstGeom>
          <a:noFill/>
          <a:ln w="0">
            <a:noFill/>
            <a:prstDash val="solid"/>
          </a:ln>
        </p:spPr>
        <p:txBody>
          <a:bodyPr/>
          <a:lstStyle/>
          <a:p>
            <a:pPr algn="ctr">
              <a:buNone/>
              <a:defRPr sz="1800" b="1">
                <a:solidFill>
                  <a:srgbClr val="15A98C"/>
                </a:solidFill>
              </a:defRPr>
            </a:pPr>
            <a:r>
              <a:rPr sz="1800" b="1">
                <a:solidFill>
                  <a:srgbClr val="15A98C"/>
                </a:solidFill>
              </a:rPr>
              <a:t>The same internal data → different decisions → one daily workflow</a:t>
            </a:r>
          </a:p>
        </p:txBody>
      </p:sp>
    </p:spTree>
    <p:extLst>
      <p:ext uri="{BB962C8B-B14F-4D97-AF65-F5344CB8AC3E}">
        <p14:creationId xmlns:p14="http://schemas.microsoft.com/office/powerpoint/2010/main" val="2035633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4C9898C-BB1E-4860-99B7-BBE6EE4DA7E4}"/>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rPr>
              <a:t>01</a:t>
            </a:r>
          </a:p>
        </p:txBody>
      </p:sp>
      <p:sp>
        <p:nvSpPr>
          <p:cNvPr id="2" name="직사각형 1">
            <a:extLst>
              <a:ext uri="{FF2B5EF4-FFF2-40B4-BE49-F238E27FC236}">
                <a16:creationId xmlns:a16="http://schemas.microsoft.com/office/drawing/2014/main" id="{35BE836B-2BA1-44EC-921F-1DE05980E61E}"/>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rPr>
              <a:t>Measuring from within</a:t>
            </a:r>
          </a:p>
        </p:txBody>
      </p:sp>
      <p:sp>
        <p:nvSpPr>
          <p:cNvPr id="3" name="직사각형 2">
            <a:extLst>
              <a:ext uri="{FF2B5EF4-FFF2-40B4-BE49-F238E27FC236}">
                <a16:creationId xmlns:a16="http://schemas.microsoft.com/office/drawing/2014/main" id="{AC37F355-968E-4D55-A0B0-D60898B4ED15}"/>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rPr>
              <a:t>The reticulum provides continuous physiological monitoring with less external noise.</a:t>
            </a:r>
          </a:p>
        </p:txBody>
      </p:sp>
      <p:sp>
        <p:nvSpPr>
          <p:cNvPr id="5" name="타원 4">
            <a:extLst>
              <a:ext uri="{FF2B5EF4-FFF2-40B4-BE49-F238E27FC236}">
                <a16:creationId xmlns:a16="http://schemas.microsoft.com/office/drawing/2014/main" id="{4D970705-ED29-443F-8EEB-CA2FCB5005BE}"/>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5FFE2E23-626D-42CE-9A4C-E7E6D84BB27A}"/>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EF970CD7-A1F0-4105-BACB-6AF24BB89F42}"/>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1CF79B35-DABC-4665-8646-8C83DB781F3A}"/>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CED4919A-A636-42EB-B17D-9E3C09690514}"/>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EB6DF7EF-6CBF-4857-8584-E243A7352BD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11" name="직사각형 10">
            <a:extLst>
              <a:ext uri="{FF2B5EF4-FFF2-40B4-BE49-F238E27FC236}">
                <a16:creationId xmlns:a16="http://schemas.microsoft.com/office/drawing/2014/main" id="{072EE4F6-FACE-43C6-B143-36FE421475B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04</a:t>
            </a:r>
          </a:p>
        </p:txBody>
      </p:sp>
      <p:sp>
        <p:nvSpPr>
          <p:cNvPr id="13" name="official-product-panel">
            <a:extLst>
              <a:ext uri="{FF2B5EF4-FFF2-40B4-BE49-F238E27FC236}">
                <a16:creationId xmlns:a16="http://schemas.microsoft.com/office/drawing/2014/main" id="{6F92D059-26E4-4A80-A98A-95984D1C3A16}"/>
              </a:ext>
            </a:extLst>
          </p:cNvPr>
          <p:cNvSpPr>
            <a:spLocks noGrp="1"/>
          </p:cNvSpPr>
          <p:nvPr/>
        </p:nvSpPr>
        <p:spPr>
          <a:xfrm>
            <a:off x="9906000" y="0"/>
            <a:ext cx="2286000" cy="6858000"/>
          </a:xfrm>
          <a:prstGeom prst="rect">
            <a:avLst/>
          </a:prstGeom>
          <a:solidFill>
            <a:srgbClr val="1BAF91"/>
          </a:solidFill>
          <a:ln w="0">
            <a:noFill/>
            <a:prstDash val="solid"/>
          </a:ln>
        </p:spPr>
        <p:txBody>
          <a:bodyPr/>
          <a:lstStyle/>
          <a:p>
            <a:endParaRPr lang="ko-KR" altLang="en-US"/>
          </a:p>
        </p:txBody>
      </p:sp>
      <p:pic>
        <p:nvPicPr>
          <p:cNvPr id="26" name="그림 25"/>
          <p:cNvPicPr>
            <a:picLocks noChangeAspect="1"/>
          </p:cNvPicPr>
          <p:nvPr/>
        </p:nvPicPr>
        <p:blipFill>
          <a:blip r:embed="rId3"/>
          <a:stretch/>
        </p:blipFill>
        <p:spPr>
          <a:xfrm>
            <a:off x="10001250" y="2190750"/>
            <a:ext cx="2095500" cy="2095500"/>
          </a:xfrm>
          <a:prstGeom prst="rect">
            <a:avLst/>
          </a:prstGeom>
        </p:spPr>
      </p:pic>
    </p:spTree>
    <p:extLst>
      <p:ext uri="{BB962C8B-B14F-4D97-AF65-F5344CB8AC3E}">
        <p14:creationId xmlns:p14="http://schemas.microsoft.com/office/powerpoint/2010/main" val="19937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65E1BB67-C24A-4DE5-8CC3-8F89E3A4DD82}"/>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RETICULUM</a:t>
            </a:r>
          </a:p>
        </p:txBody>
      </p:sp>
      <p:sp>
        <p:nvSpPr>
          <p:cNvPr id="2" name="직사각형 1">
            <a:extLst>
              <a:ext uri="{FF2B5EF4-FFF2-40B4-BE49-F238E27FC236}">
                <a16:creationId xmlns:a16="http://schemas.microsoft.com/office/drawing/2014/main" id="{47CD12B3-B253-442F-B81A-8C0AC9EDB14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The advantage of internal measurement: stable context</a:t>
            </a:r>
          </a:p>
        </p:txBody>
      </p:sp>
      <p:sp>
        <p:nvSpPr>
          <p:cNvPr id="3" name="직사각형 2">
            <a:extLst>
              <a:ext uri="{FF2B5EF4-FFF2-40B4-BE49-F238E27FC236}">
                <a16:creationId xmlns:a16="http://schemas.microsoft.com/office/drawing/2014/main" id="{C2EC6316-C5DF-4C32-B859-F10D06C9906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4A1845AC-C214-47A9-94CD-2263729B1D19}"/>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05</a:t>
            </a:r>
          </a:p>
        </p:txBody>
      </p:sp>
      <p:sp>
        <p:nvSpPr>
          <p:cNvPr id="5" name="모서리가 둥근 직사각형 4">
            <a:extLst>
              <a:ext uri="{FF2B5EF4-FFF2-40B4-BE49-F238E27FC236}">
                <a16:creationId xmlns:a16="http://schemas.microsoft.com/office/drawing/2014/main" id="{77A76178-15B0-44E7-BDE3-29CC68667055}"/>
              </a:ext>
            </a:extLst>
          </p:cNvPr>
          <p:cNvSpPr>
            <a:spLocks noGrp="1"/>
          </p:cNvSpPr>
          <p:nvPr/>
        </p:nvSpPr>
        <p:spPr>
          <a:xfrm>
            <a:off x="685800" y="1733550"/>
            <a:ext cx="5143500" cy="4095750"/>
          </a:xfrm>
          <a:prstGeom prst="roundRect">
            <a:avLst>
              <a:gd name="adj" fmla="val 3721"/>
            </a:avLst>
          </a:prstGeom>
          <a:solidFill>
            <a:srgbClr val="FFFFFF"/>
          </a:solidFill>
          <a:ln w="0">
            <a:noFill/>
            <a:prstDash val="solid"/>
          </a:ln>
        </p:spPr>
        <p:txBody>
          <a:bodyPr/>
          <a:lstStyle/>
          <a:p>
            <a:endParaRPr lang="ko-KR" altLang="en-US"/>
          </a:p>
        </p:txBody>
      </p:sp>
      <p:sp>
        <p:nvSpPr>
          <p:cNvPr id="6" name="모서리가 둥근 직사각형 5">
            <a:extLst>
              <a:ext uri="{FF2B5EF4-FFF2-40B4-BE49-F238E27FC236}">
                <a16:creationId xmlns:a16="http://schemas.microsoft.com/office/drawing/2014/main" id="{CE458CA2-161E-4376-B086-8BE4BB9B74FB}"/>
              </a:ext>
            </a:extLst>
          </p:cNvPr>
          <p:cNvSpPr>
            <a:spLocks noGrp="1"/>
          </p:cNvSpPr>
          <p:nvPr/>
        </p:nvSpPr>
        <p:spPr>
          <a:xfrm>
            <a:off x="6096000" y="1733550"/>
            <a:ext cx="5410200" cy="4095750"/>
          </a:xfrm>
          <a:prstGeom prst="roundRect">
            <a:avLst>
              <a:gd name="adj" fmla="val 3721"/>
            </a:avLst>
          </a:prstGeom>
          <a:solidFill>
            <a:srgbClr val="10251F"/>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3F54202-B6E6-464D-B36D-743E8C18DC76}"/>
              </a:ext>
            </a:extLst>
          </p:cNvPr>
          <p:cNvSpPr>
            <a:spLocks noGrp="1"/>
          </p:cNvSpPr>
          <p:nvPr/>
        </p:nvSpPr>
        <p:spPr>
          <a:xfrm>
            <a:off x="990600" y="2038350"/>
            <a:ext cx="4533900" cy="476250"/>
          </a:xfrm>
          <a:prstGeom prst="rect">
            <a:avLst/>
          </a:prstGeom>
          <a:noFill/>
          <a:ln w="0">
            <a:noFill/>
            <a:prstDash val="solid"/>
          </a:ln>
        </p:spPr>
        <p:txBody>
          <a:bodyPr/>
          <a:lstStyle/>
          <a:p>
            <a:pPr algn="l">
              <a:buNone/>
              <a:defRPr sz="1950" b="1">
                <a:solidFill>
                  <a:srgbClr val="15A98C"/>
                </a:solidFill>
              </a:defRPr>
            </a:pPr>
            <a:r>
              <a:rPr sz="1950" b="1">
                <a:solidFill>
                  <a:srgbClr val="15A98C"/>
                </a:solidFill>
              </a:rPr>
              <a:t>What affects external sensors?</a:t>
            </a:r>
          </a:p>
        </p:txBody>
      </p:sp>
      <p:sp>
        <p:nvSpPr>
          <p:cNvPr id="8" name="직사각형 7">
            <a:extLst>
              <a:ext uri="{FF2B5EF4-FFF2-40B4-BE49-F238E27FC236}">
                <a16:creationId xmlns:a16="http://schemas.microsoft.com/office/drawing/2014/main" id="{F6C3A0C7-66D1-43DC-A83C-02A533D250B2}"/>
              </a:ext>
            </a:extLst>
          </p:cNvPr>
          <p:cNvSpPr>
            <a:spLocks noGrp="1"/>
          </p:cNvSpPr>
          <p:nvPr/>
        </p:nvSpPr>
        <p:spPr>
          <a:xfrm>
            <a:off x="990600" y="2705100"/>
            <a:ext cx="4476750" cy="2571750"/>
          </a:xfrm>
          <a:prstGeom prst="rect">
            <a:avLst/>
          </a:prstGeom>
          <a:noFill/>
          <a:ln w="0">
            <a:noFill/>
            <a:prstDash val="solid"/>
          </a:ln>
        </p:spPr>
        <p:txBody>
          <a:bodyPr/>
          <a:lstStyle/>
          <a:p>
            <a:pPr algn="l">
              <a:buNone/>
              <a:defRPr sz="1575" b="0">
                <a:solidFill>
                  <a:srgbClr val="10251F"/>
                </a:solidFill>
              </a:defRPr>
            </a:pPr>
            <a:r>
              <a:rPr sz="1575" b="0">
                <a:solidFill>
                  <a:srgbClr val="10251F"/>
                </a:solidFill>
              </a:rPr>
              <a:t>• Dirt, friction and placement</a:t>
            </a:r>
          </a:p>
          <a:p>
            <a:pPr algn="l">
              <a:buNone/>
              <a:defRPr sz="1575" b="0">
                <a:solidFill>
                  <a:srgbClr val="10251F"/>
                </a:solidFill>
              </a:defRPr>
            </a:pPr>
            <a:r>
              <a:rPr sz="1575" b="0">
                <a:solidFill>
                  <a:srgbClr val="10251F"/>
                </a:solidFill>
              </a:rPr>
              <a:t>• Environmental and mechanical noise</a:t>
            </a:r>
          </a:p>
          <a:p>
            <a:pPr algn="l">
              <a:buNone/>
              <a:defRPr sz="1575" b="0">
                <a:solidFill>
                  <a:srgbClr val="10251F"/>
                </a:solidFill>
              </a:defRPr>
            </a:pPr>
            <a:r>
              <a:rPr sz="1575" b="0">
                <a:solidFill>
                  <a:srgbClr val="10251F"/>
                </a:solidFill>
              </a:rPr>
              <a:t>• Risk of detachment or displacement</a:t>
            </a:r>
          </a:p>
          <a:p>
            <a:pPr algn="l">
              <a:buNone/>
              <a:defRPr sz="1575" b="0">
                <a:solidFill>
                  <a:srgbClr val="10251F"/>
                </a:solidFill>
              </a:defRPr>
            </a:pPr>
            <a:r>
              <a:rPr sz="1575" b="0">
                <a:solidFill>
                  <a:srgbClr val="10251F"/>
                </a:solidFill>
              </a:rPr>
              <a:t>• Often measures behavior indirectly</a:t>
            </a:r>
          </a:p>
        </p:txBody>
      </p:sp>
      <p:sp>
        <p:nvSpPr>
          <p:cNvPr id="9" name="직사각형 8">
            <a:extLst>
              <a:ext uri="{FF2B5EF4-FFF2-40B4-BE49-F238E27FC236}">
                <a16:creationId xmlns:a16="http://schemas.microsoft.com/office/drawing/2014/main" id="{E142F0F8-14F9-4DE7-9E73-7F57FD86206A}"/>
              </a:ext>
            </a:extLst>
          </p:cNvPr>
          <p:cNvSpPr>
            <a:spLocks noGrp="1"/>
          </p:cNvSpPr>
          <p:nvPr/>
        </p:nvSpPr>
        <p:spPr>
          <a:xfrm>
            <a:off x="6419850" y="2038350"/>
            <a:ext cx="4762500" cy="4762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What does an internal bolus provide?</a:t>
            </a:r>
          </a:p>
        </p:txBody>
      </p:sp>
      <p:sp>
        <p:nvSpPr>
          <p:cNvPr id="10" name="직사각형 9">
            <a:extLst>
              <a:ext uri="{FF2B5EF4-FFF2-40B4-BE49-F238E27FC236}">
                <a16:creationId xmlns:a16="http://schemas.microsoft.com/office/drawing/2014/main" id="{4D450844-D394-461B-95AB-125155966545}"/>
              </a:ext>
            </a:extLst>
          </p:cNvPr>
          <p:cNvSpPr>
            <a:spLocks noGrp="1"/>
          </p:cNvSpPr>
          <p:nvPr/>
        </p:nvSpPr>
        <p:spPr>
          <a:xfrm>
            <a:off x="6419850" y="2705100"/>
            <a:ext cx="4667250" cy="2571750"/>
          </a:xfrm>
          <a:prstGeom prst="rect">
            <a:avLst/>
          </a:prstGeom>
          <a:noFill/>
          <a:ln w="0">
            <a:noFill/>
            <a:prstDash val="solid"/>
          </a:ln>
        </p:spPr>
        <p:txBody>
          <a:bodyPr/>
          <a:lstStyle/>
          <a:p>
            <a:pPr algn="l">
              <a:buNone/>
              <a:defRPr sz="1575" b="0">
                <a:solidFill>
                  <a:srgbClr val="FFFFFF"/>
                </a:solidFill>
              </a:defRPr>
            </a:pPr>
            <a:r>
              <a:rPr sz="1575" b="0">
                <a:solidFill>
                  <a:srgbClr val="FFFFFF"/>
                </a:solidFill>
              </a:rPr>
              <a:t>• Continuous core-temperature trend</a:t>
            </a:r>
          </a:p>
          <a:p>
            <a:pPr algn="l">
              <a:buNone/>
              <a:defRPr sz="1575" b="0">
                <a:solidFill>
                  <a:srgbClr val="FFFFFF"/>
                </a:solidFill>
              </a:defRPr>
            </a:pPr>
            <a:r>
              <a:rPr sz="1575" b="0">
                <a:solidFill>
                  <a:srgbClr val="FFFFFF"/>
                </a:solidFill>
              </a:rPr>
              <a:t>• Drinking cycles and water intake</a:t>
            </a:r>
          </a:p>
          <a:p>
            <a:pPr algn="l">
              <a:buNone/>
              <a:defRPr sz="1575" b="0">
                <a:solidFill>
                  <a:srgbClr val="FFFFFF"/>
                </a:solidFill>
              </a:defRPr>
            </a:pPr>
            <a:r>
              <a:rPr sz="1575" b="0">
                <a:solidFill>
                  <a:srgbClr val="FFFFFF"/>
                </a:solidFill>
              </a:rPr>
              <a:t>• Rumination from reticulum contractions</a:t>
            </a:r>
          </a:p>
          <a:p>
            <a:pPr algn="l">
              <a:buNone/>
              <a:defRPr sz="1575" b="0">
                <a:solidFill>
                  <a:srgbClr val="FFFFFF"/>
                </a:solidFill>
              </a:defRPr>
            </a:pPr>
            <a:r>
              <a:rPr sz="1575" b="0">
                <a:solidFill>
                  <a:srgbClr val="FFFFFF"/>
                </a:solidFill>
              </a:rPr>
              <a:t>• Activity and optional pH</a:t>
            </a:r>
          </a:p>
          <a:p>
            <a:pPr algn="l">
              <a:buNone/>
              <a:defRPr sz="1575" b="0">
                <a:solidFill>
                  <a:srgbClr val="FFFFFF"/>
                </a:solidFill>
              </a:defRPr>
            </a:pPr>
            <a:r>
              <a:rPr sz="1575" b="0">
                <a:solidFill>
                  <a:srgbClr val="FFFFFF"/>
                </a:solidFill>
              </a:rPr>
              <a:t>• Comparison with each cow’s baseline</a:t>
            </a:r>
          </a:p>
        </p:txBody>
      </p:sp>
    </p:spTree>
    <p:extLst>
      <p:ext uri="{BB962C8B-B14F-4D97-AF65-F5344CB8AC3E}">
        <p14:creationId xmlns:p14="http://schemas.microsoft.com/office/powerpoint/2010/main" val="94765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31" name="직사각형 30">
            <a:extLst>
              <a:ext uri="{FF2B5EF4-FFF2-40B4-BE49-F238E27FC236}">
                <a16:creationId xmlns:a16="http://schemas.microsoft.com/office/drawing/2014/main" id="{584CE81E-FC98-4BCC-96DE-B44D7F5B0A9E}"/>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SYSTEM ARCHITECTURE</a:t>
            </a:r>
          </a:p>
        </p:txBody>
      </p:sp>
      <p:sp>
        <p:nvSpPr>
          <p:cNvPr id="2" name="직사각형 1">
            <a:extLst>
              <a:ext uri="{FF2B5EF4-FFF2-40B4-BE49-F238E27FC236}">
                <a16:creationId xmlns:a16="http://schemas.microsoft.com/office/drawing/2014/main" id="{A026D55D-4AC7-45B7-A0EA-41AE8629963B}"/>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Data flows automatically; people make the decision</a:t>
            </a:r>
          </a:p>
        </p:txBody>
      </p:sp>
      <p:sp>
        <p:nvSpPr>
          <p:cNvPr id="3" name="직사각형 2">
            <a:extLst>
              <a:ext uri="{FF2B5EF4-FFF2-40B4-BE49-F238E27FC236}">
                <a16:creationId xmlns:a16="http://schemas.microsoft.com/office/drawing/2014/main" id="{2F814644-211F-4F11-AD38-CEA18597594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AD2464B2-DDC7-4FEC-82C2-BA9CD7CE702A}"/>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06</a:t>
            </a:r>
          </a:p>
        </p:txBody>
      </p:sp>
      <p:sp>
        <p:nvSpPr>
          <p:cNvPr id="5" name="오른쪽 화살표[R] 4">
            <a:extLst>
              <a:ext uri="{FF2B5EF4-FFF2-40B4-BE49-F238E27FC236}">
                <a16:creationId xmlns:a16="http://schemas.microsoft.com/office/drawing/2014/main" id="{25436AA8-FAF5-4A78-99C2-B09105A45CD7}"/>
              </a:ext>
            </a:extLst>
          </p:cNvPr>
          <p:cNvSpPr>
            <a:spLocks noGrp="1"/>
          </p:cNvSpPr>
          <p:nvPr/>
        </p:nvSpPr>
        <p:spPr>
          <a:xfrm>
            <a:off x="2247900" y="2952750"/>
            <a:ext cx="552450" cy="323850"/>
          </a:xfrm>
          <a:prstGeom prst="rightArrow">
            <a:avLst/>
          </a:prstGeom>
          <a:solidFill>
            <a:srgbClr val="DFF4E8"/>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33B6E8C6-238A-4C4E-9A2A-4DB37FFACFA4}"/>
              </a:ext>
            </a:extLst>
          </p:cNvPr>
          <p:cNvSpPr>
            <a:spLocks noGrp="1"/>
          </p:cNvSpPr>
          <p:nvPr/>
        </p:nvSpPr>
        <p:spPr>
          <a:xfrm>
            <a:off x="476250" y="2247900"/>
            <a:ext cx="590550" cy="590550"/>
          </a:xfrm>
          <a:prstGeom prst="ellipse">
            <a:avLst/>
          </a:prstGeom>
          <a:solidFill>
            <a:srgbClr val="65D44A"/>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C7476094-E2DA-4944-9D92-1DEF597BA161}"/>
              </a:ext>
            </a:extLst>
          </p:cNvPr>
          <p:cNvSpPr>
            <a:spLocks noGrp="1"/>
          </p:cNvSpPr>
          <p:nvPr/>
        </p:nvSpPr>
        <p:spPr>
          <a:xfrm>
            <a:off x="476250"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rPr>
              <a:t>1</a:t>
            </a:r>
          </a:p>
        </p:txBody>
      </p:sp>
      <p:sp>
        <p:nvSpPr>
          <p:cNvPr id="8" name="직사각형 7">
            <a:extLst>
              <a:ext uri="{FF2B5EF4-FFF2-40B4-BE49-F238E27FC236}">
                <a16:creationId xmlns:a16="http://schemas.microsoft.com/office/drawing/2014/main" id="{EF334C2B-BD97-4236-B9A5-AA833DD41EB4}"/>
              </a:ext>
            </a:extLst>
          </p:cNvPr>
          <p:cNvSpPr>
            <a:spLocks noGrp="1"/>
          </p:cNvSpPr>
          <p:nvPr/>
        </p:nvSpPr>
        <p:spPr>
          <a:xfrm>
            <a:off x="476250"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BOLUS</a:t>
            </a:r>
          </a:p>
        </p:txBody>
      </p:sp>
      <p:sp>
        <p:nvSpPr>
          <p:cNvPr id="9" name="직사각형 8">
            <a:extLst>
              <a:ext uri="{FF2B5EF4-FFF2-40B4-BE49-F238E27FC236}">
                <a16:creationId xmlns:a16="http://schemas.microsoft.com/office/drawing/2014/main" id="{9697CCA5-FA49-4DAF-82D8-8474838271FB}"/>
              </a:ext>
            </a:extLst>
          </p:cNvPr>
          <p:cNvSpPr>
            <a:spLocks noGrp="1"/>
          </p:cNvSpPr>
          <p:nvPr/>
        </p:nvSpPr>
        <p:spPr>
          <a:xfrm>
            <a:off x="476250"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Internal signals</a:t>
            </a:r>
          </a:p>
        </p:txBody>
      </p:sp>
      <p:sp>
        <p:nvSpPr>
          <p:cNvPr id="10" name="오른쪽 화살표[R] 9">
            <a:extLst>
              <a:ext uri="{FF2B5EF4-FFF2-40B4-BE49-F238E27FC236}">
                <a16:creationId xmlns:a16="http://schemas.microsoft.com/office/drawing/2014/main" id="{00612AD2-7B1E-43F1-B2C4-85FB409ABB9B}"/>
              </a:ext>
            </a:extLst>
          </p:cNvPr>
          <p:cNvSpPr>
            <a:spLocks noGrp="1"/>
          </p:cNvSpPr>
          <p:nvPr/>
        </p:nvSpPr>
        <p:spPr>
          <a:xfrm>
            <a:off x="4581525" y="2952750"/>
            <a:ext cx="552450" cy="323850"/>
          </a:xfrm>
          <a:prstGeom prst="rightArrow">
            <a:avLst/>
          </a:prstGeom>
          <a:solidFill>
            <a:srgbClr val="DFF4E8"/>
          </a:solidFill>
          <a:ln w="0">
            <a:noFill/>
            <a:prstDash val="solid"/>
          </a:ln>
        </p:spPr>
        <p:txBody>
          <a:bodyPr/>
          <a:lstStyle/>
          <a:p>
            <a:endParaRPr lang="ko-KR" altLang="en-US"/>
          </a:p>
        </p:txBody>
      </p:sp>
      <p:sp>
        <p:nvSpPr>
          <p:cNvPr id="11" name="타원 10">
            <a:extLst>
              <a:ext uri="{FF2B5EF4-FFF2-40B4-BE49-F238E27FC236}">
                <a16:creationId xmlns:a16="http://schemas.microsoft.com/office/drawing/2014/main" id="{48A736F1-0B3F-4180-AA5A-B6CBD9FF2670}"/>
              </a:ext>
            </a:extLst>
          </p:cNvPr>
          <p:cNvSpPr>
            <a:spLocks noGrp="1"/>
          </p:cNvSpPr>
          <p:nvPr/>
        </p:nvSpPr>
        <p:spPr>
          <a:xfrm>
            <a:off x="2809875" y="2247900"/>
            <a:ext cx="590550" cy="590550"/>
          </a:xfrm>
          <a:prstGeom prst="ellipse">
            <a:avLst/>
          </a:prstGeom>
          <a:solidFill>
            <a:srgbClr val="65D44A"/>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25942D40-3AF3-4ADF-83FF-DE85E7540B8E}"/>
              </a:ext>
            </a:extLst>
          </p:cNvPr>
          <p:cNvSpPr>
            <a:spLocks noGrp="1"/>
          </p:cNvSpPr>
          <p:nvPr/>
        </p:nvSpPr>
        <p:spPr>
          <a:xfrm>
            <a:off x="2809875"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rPr>
              <a:t>2</a:t>
            </a:r>
          </a:p>
        </p:txBody>
      </p:sp>
      <p:sp>
        <p:nvSpPr>
          <p:cNvPr id="13" name="직사각형 12">
            <a:extLst>
              <a:ext uri="{FF2B5EF4-FFF2-40B4-BE49-F238E27FC236}">
                <a16:creationId xmlns:a16="http://schemas.microsoft.com/office/drawing/2014/main" id="{B38FFA21-B49F-4B32-B8E1-E24EDA25F77F}"/>
              </a:ext>
            </a:extLst>
          </p:cNvPr>
          <p:cNvSpPr>
            <a:spLocks noGrp="1"/>
          </p:cNvSpPr>
          <p:nvPr/>
        </p:nvSpPr>
        <p:spPr>
          <a:xfrm>
            <a:off x="2809875"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BASE STATION</a:t>
            </a:r>
          </a:p>
        </p:txBody>
      </p:sp>
      <p:sp>
        <p:nvSpPr>
          <p:cNvPr id="14" name="직사각형 13">
            <a:extLst>
              <a:ext uri="{FF2B5EF4-FFF2-40B4-BE49-F238E27FC236}">
                <a16:creationId xmlns:a16="http://schemas.microsoft.com/office/drawing/2014/main" id="{3F35D29C-118D-4559-B102-C71CBDDC96A8}"/>
              </a:ext>
            </a:extLst>
          </p:cNvPr>
          <p:cNvSpPr>
            <a:spLocks noGrp="1"/>
          </p:cNvSpPr>
          <p:nvPr/>
        </p:nvSpPr>
        <p:spPr>
          <a:xfrm>
            <a:off x="2809875"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Automatic reception</a:t>
            </a:r>
          </a:p>
        </p:txBody>
      </p:sp>
      <p:sp>
        <p:nvSpPr>
          <p:cNvPr id="15" name="오른쪽 화살표[R] 14">
            <a:extLst>
              <a:ext uri="{FF2B5EF4-FFF2-40B4-BE49-F238E27FC236}">
                <a16:creationId xmlns:a16="http://schemas.microsoft.com/office/drawing/2014/main" id="{8A0A417E-8953-44D8-AE94-DB24E5516027}"/>
              </a:ext>
            </a:extLst>
          </p:cNvPr>
          <p:cNvSpPr>
            <a:spLocks noGrp="1"/>
          </p:cNvSpPr>
          <p:nvPr/>
        </p:nvSpPr>
        <p:spPr>
          <a:xfrm>
            <a:off x="6915150" y="2952750"/>
            <a:ext cx="552450" cy="323850"/>
          </a:xfrm>
          <a:prstGeom prst="rightArrow">
            <a:avLst/>
          </a:prstGeom>
          <a:solidFill>
            <a:srgbClr val="DFF4E8"/>
          </a:solidFill>
          <a:ln w="0">
            <a:noFill/>
            <a:prstDash val="solid"/>
          </a:ln>
        </p:spPr>
        <p:txBody>
          <a:bodyPr/>
          <a:lstStyle/>
          <a:p>
            <a:endParaRPr lang="ko-KR" altLang="en-US"/>
          </a:p>
        </p:txBody>
      </p:sp>
      <p:sp>
        <p:nvSpPr>
          <p:cNvPr id="16" name="타원 15">
            <a:extLst>
              <a:ext uri="{FF2B5EF4-FFF2-40B4-BE49-F238E27FC236}">
                <a16:creationId xmlns:a16="http://schemas.microsoft.com/office/drawing/2014/main" id="{6685756C-364C-4FCE-BFAB-B2B0E0122DA2}"/>
              </a:ext>
            </a:extLst>
          </p:cNvPr>
          <p:cNvSpPr>
            <a:spLocks noGrp="1"/>
          </p:cNvSpPr>
          <p:nvPr/>
        </p:nvSpPr>
        <p:spPr>
          <a:xfrm>
            <a:off x="5143500" y="2247900"/>
            <a:ext cx="590550" cy="590550"/>
          </a:xfrm>
          <a:prstGeom prst="ellipse">
            <a:avLst/>
          </a:prstGeom>
          <a:solidFill>
            <a:srgbClr val="65D44A"/>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E962CE5D-17AC-419A-AA05-D8D64F471E80}"/>
              </a:ext>
            </a:extLst>
          </p:cNvPr>
          <p:cNvSpPr>
            <a:spLocks noGrp="1"/>
          </p:cNvSpPr>
          <p:nvPr/>
        </p:nvSpPr>
        <p:spPr>
          <a:xfrm>
            <a:off x="5143500"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rPr>
              <a:t>3</a:t>
            </a:r>
          </a:p>
        </p:txBody>
      </p:sp>
      <p:sp>
        <p:nvSpPr>
          <p:cNvPr id="18" name="직사각형 17">
            <a:extLst>
              <a:ext uri="{FF2B5EF4-FFF2-40B4-BE49-F238E27FC236}">
                <a16:creationId xmlns:a16="http://schemas.microsoft.com/office/drawing/2014/main" id="{079A9792-ADD7-4698-A635-07B7B9916CA4}"/>
              </a:ext>
            </a:extLst>
          </p:cNvPr>
          <p:cNvSpPr>
            <a:spLocks noGrp="1"/>
          </p:cNvSpPr>
          <p:nvPr/>
        </p:nvSpPr>
        <p:spPr>
          <a:xfrm>
            <a:off x="5143500"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CLOUD TruD®</a:t>
            </a:r>
          </a:p>
        </p:txBody>
      </p:sp>
      <p:sp>
        <p:nvSpPr>
          <p:cNvPr id="19" name="직사각형 18">
            <a:extLst>
              <a:ext uri="{FF2B5EF4-FFF2-40B4-BE49-F238E27FC236}">
                <a16:creationId xmlns:a16="http://schemas.microsoft.com/office/drawing/2014/main" id="{949A695F-5460-465E-8ACF-6C84C3BA0095}"/>
              </a:ext>
            </a:extLst>
          </p:cNvPr>
          <p:cNvSpPr>
            <a:spLocks noGrp="1"/>
          </p:cNvSpPr>
          <p:nvPr/>
        </p:nvSpPr>
        <p:spPr>
          <a:xfrm>
            <a:off x="5143500"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Algorithms and analysis</a:t>
            </a:r>
          </a:p>
        </p:txBody>
      </p:sp>
      <p:sp>
        <p:nvSpPr>
          <p:cNvPr id="20" name="오른쪽 화살표[R] 19">
            <a:extLst>
              <a:ext uri="{FF2B5EF4-FFF2-40B4-BE49-F238E27FC236}">
                <a16:creationId xmlns:a16="http://schemas.microsoft.com/office/drawing/2014/main" id="{7CBFB828-D1F9-4017-ADD1-A76575C29A05}"/>
              </a:ext>
            </a:extLst>
          </p:cNvPr>
          <p:cNvSpPr>
            <a:spLocks noGrp="1"/>
          </p:cNvSpPr>
          <p:nvPr/>
        </p:nvSpPr>
        <p:spPr>
          <a:xfrm>
            <a:off x="9248775" y="2952750"/>
            <a:ext cx="552450" cy="323850"/>
          </a:xfrm>
          <a:prstGeom prst="rightArrow">
            <a:avLst/>
          </a:prstGeom>
          <a:solidFill>
            <a:srgbClr val="DFF4E8"/>
          </a:solidFill>
          <a:ln w="0">
            <a:noFill/>
            <a:prstDash val="solid"/>
          </a:ln>
        </p:spPr>
        <p:txBody>
          <a:bodyPr/>
          <a:lstStyle/>
          <a:p>
            <a:endParaRPr lang="ko-KR" altLang="en-US"/>
          </a:p>
        </p:txBody>
      </p:sp>
      <p:sp>
        <p:nvSpPr>
          <p:cNvPr id="21" name="타원 20">
            <a:extLst>
              <a:ext uri="{FF2B5EF4-FFF2-40B4-BE49-F238E27FC236}">
                <a16:creationId xmlns:a16="http://schemas.microsoft.com/office/drawing/2014/main" id="{39A4FE0E-B1DB-49E3-8521-6AA4C2347B8A}"/>
              </a:ext>
            </a:extLst>
          </p:cNvPr>
          <p:cNvSpPr>
            <a:spLocks noGrp="1"/>
          </p:cNvSpPr>
          <p:nvPr/>
        </p:nvSpPr>
        <p:spPr>
          <a:xfrm>
            <a:off x="7477125" y="2247900"/>
            <a:ext cx="590550" cy="590550"/>
          </a:xfrm>
          <a:prstGeom prst="ellipse">
            <a:avLst/>
          </a:prstGeom>
          <a:solidFill>
            <a:srgbClr val="65D44A"/>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C87230CF-9ECF-4506-9D20-EBB62A652B1F}"/>
              </a:ext>
            </a:extLst>
          </p:cNvPr>
          <p:cNvSpPr>
            <a:spLocks noGrp="1"/>
          </p:cNvSpPr>
          <p:nvPr/>
        </p:nvSpPr>
        <p:spPr>
          <a:xfrm>
            <a:off x="7477125"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rPr>
              <a:t>4</a:t>
            </a:r>
          </a:p>
        </p:txBody>
      </p:sp>
      <p:sp>
        <p:nvSpPr>
          <p:cNvPr id="23" name="직사각형 22">
            <a:extLst>
              <a:ext uri="{FF2B5EF4-FFF2-40B4-BE49-F238E27FC236}">
                <a16:creationId xmlns:a16="http://schemas.microsoft.com/office/drawing/2014/main" id="{E3CD0999-3807-4CAC-99D9-7C6F24CCDE61}"/>
              </a:ext>
            </a:extLst>
          </p:cNvPr>
          <p:cNvSpPr>
            <a:spLocks noGrp="1"/>
          </p:cNvSpPr>
          <p:nvPr/>
        </p:nvSpPr>
        <p:spPr>
          <a:xfrm>
            <a:off x="7477125"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MESSENGER / APP</a:t>
            </a:r>
          </a:p>
        </p:txBody>
      </p:sp>
      <p:sp>
        <p:nvSpPr>
          <p:cNvPr id="24" name="직사각형 23">
            <a:extLst>
              <a:ext uri="{FF2B5EF4-FFF2-40B4-BE49-F238E27FC236}">
                <a16:creationId xmlns:a16="http://schemas.microsoft.com/office/drawing/2014/main" id="{F37B1143-5885-4B6D-B92E-3EF85494E9B9}"/>
              </a:ext>
            </a:extLst>
          </p:cNvPr>
          <p:cNvSpPr>
            <a:spLocks noGrp="1"/>
          </p:cNvSpPr>
          <p:nvPr/>
        </p:nvSpPr>
        <p:spPr>
          <a:xfrm>
            <a:off x="7477125"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Alerts and graphs</a:t>
            </a:r>
          </a:p>
        </p:txBody>
      </p:sp>
      <p:sp>
        <p:nvSpPr>
          <p:cNvPr id="25" name="타원 24">
            <a:extLst>
              <a:ext uri="{FF2B5EF4-FFF2-40B4-BE49-F238E27FC236}">
                <a16:creationId xmlns:a16="http://schemas.microsoft.com/office/drawing/2014/main" id="{CD48DF70-1A4C-4F23-94EB-AE2176C680A2}"/>
              </a:ext>
            </a:extLst>
          </p:cNvPr>
          <p:cNvSpPr>
            <a:spLocks noGrp="1"/>
          </p:cNvSpPr>
          <p:nvPr/>
        </p:nvSpPr>
        <p:spPr>
          <a:xfrm>
            <a:off x="9810750" y="2247900"/>
            <a:ext cx="590550" cy="590550"/>
          </a:xfrm>
          <a:prstGeom prst="ellipse">
            <a:avLst/>
          </a:prstGeom>
          <a:solidFill>
            <a:srgbClr val="65D44A"/>
          </a:solidFill>
          <a:ln w="0">
            <a:noFill/>
            <a:prstDash val="solid"/>
          </a:ln>
        </p:spPr>
        <p:txBody>
          <a:bodyPr/>
          <a:lstStyle/>
          <a:p>
            <a:endParaRPr lang="ko-KR" altLang="en-US"/>
          </a:p>
        </p:txBody>
      </p:sp>
      <p:sp>
        <p:nvSpPr>
          <p:cNvPr id="26" name="직사각형 25">
            <a:extLst>
              <a:ext uri="{FF2B5EF4-FFF2-40B4-BE49-F238E27FC236}">
                <a16:creationId xmlns:a16="http://schemas.microsoft.com/office/drawing/2014/main" id="{589354C5-5A1E-4760-B801-8412AADCD3E3}"/>
              </a:ext>
            </a:extLst>
          </p:cNvPr>
          <p:cNvSpPr>
            <a:spLocks noGrp="1"/>
          </p:cNvSpPr>
          <p:nvPr/>
        </p:nvSpPr>
        <p:spPr>
          <a:xfrm>
            <a:off x="9810750"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rPr>
              <a:t>5</a:t>
            </a:r>
          </a:p>
        </p:txBody>
      </p:sp>
      <p:sp>
        <p:nvSpPr>
          <p:cNvPr id="27" name="직사각형 26">
            <a:extLst>
              <a:ext uri="{FF2B5EF4-FFF2-40B4-BE49-F238E27FC236}">
                <a16:creationId xmlns:a16="http://schemas.microsoft.com/office/drawing/2014/main" id="{276BFA75-A07B-4A5E-A5DE-90BC099092ED}"/>
              </a:ext>
            </a:extLst>
          </p:cNvPr>
          <p:cNvSpPr>
            <a:spLocks noGrp="1"/>
          </p:cNvSpPr>
          <p:nvPr/>
        </p:nvSpPr>
        <p:spPr>
          <a:xfrm>
            <a:off x="9810750"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TEAM</a:t>
            </a:r>
          </a:p>
        </p:txBody>
      </p:sp>
      <p:sp>
        <p:nvSpPr>
          <p:cNvPr id="28" name="직사각형 27">
            <a:extLst>
              <a:ext uri="{FF2B5EF4-FFF2-40B4-BE49-F238E27FC236}">
                <a16:creationId xmlns:a16="http://schemas.microsoft.com/office/drawing/2014/main" id="{854BB708-82ED-49B8-8D18-1B18DE6FC966}"/>
              </a:ext>
            </a:extLst>
          </p:cNvPr>
          <p:cNvSpPr>
            <a:spLocks noGrp="1"/>
          </p:cNvSpPr>
          <p:nvPr/>
        </p:nvSpPr>
        <p:spPr>
          <a:xfrm>
            <a:off x="9810750"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Check and record</a:t>
            </a:r>
          </a:p>
        </p:txBody>
      </p:sp>
      <p:sp>
        <p:nvSpPr>
          <p:cNvPr id="29" name="모서리가 둥근 직사각형 28">
            <a:extLst>
              <a:ext uri="{FF2B5EF4-FFF2-40B4-BE49-F238E27FC236}">
                <a16:creationId xmlns:a16="http://schemas.microsoft.com/office/drawing/2014/main" id="{BEC22636-FBAA-4BFF-88EE-D96A6CAE7658}"/>
              </a:ext>
            </a:extLst>
          </p:cNvPr>
          <p:cNvSpPr>
            <a:spLocks noGrp="1"/>
          </p:cNvSpPr>
          <p:nvPr/>
        </p:nvSpPr>
        <p:spPr>
          <a:xfrm>
            <a:off x="2324100" y="4953000"/>
            <a:ext cx="7543800" cy="628650"/>
          </a:xfrm>
          <a:prstGeom prst="roundRect">
            <a:avLst>
              <a:gd name="adj" fmla="val 18182"/>
            </a:avLst>
          </a:prstGeom>
          <a:solidFill>
            <a:srgbClr val="10251F"/>
          </a:solidFill>
          <a:ln w="0">
            <a:noFill/>
            <a:prstDash val="solid"/>
          </a:ln>
        </p:spPr>
        <p:txBody>
          <a:bodyPr/>
          <a:lstStyle/>
          <a:p>
            <a:endParaRPr lang="ko-KR" altLang="en-US"/>
          </a:p>
        </p:txBody>
      </p:sp>
      <p:sp>
        <p:nvSpPr>
          <p:cNvPr id="30" name="직사각형 29">
            <a:extLst>
              <a:ext uri="{FF2B5EF4-FFF2-40B4-BE49-F238E27FC236}">
                <a16:creationId xmlns:a16="http://schemas.microsoft.com/office/drawing/2014/main" id="{FC2CF3B4-33C7-4FA6-B951-FAA6CC64BD42}"/>
              </a:ext>
            </a:extLst>
          </p:cNvPr>
          <p:cNvSpPr>
            <a:spLocks noGrp="1"/>
          </p:cNvSpPr>
          <p:nvPr/>
        </p:nvSpPr>
        <p:spPr>
          <a:xfrm>
            <a:off x="2609850" y="5143500"/>
            <a:ext cx="6972300" cy="304800"/>
          </a:xfrm>
          <a:prstGeom prst="rect">
            <a:avLst/>
          </a:prstGeom>
          <a:noFill/>
          <a:ln w="0">
            <a:noFill/>
            <a:prstDash val="solid"/>
          </a:ln>
        </p:spPr>
        <p:txBody>
          <a:bodyPr/>
          <a:lstStyle/>
          <a:p>
            <a:pPr algn="ctr">
              <a:buNone/>
              <a:defRPr sz="1800" b="1">
                <a:solidFill>
                  <a:srgbClr val="FFFFFF"/>
                </a:solidFill>
              </a:defRPr>
            </a:pPr>
            <a:r>
              <a:rPr sz="1800" b="1">
                <a:solidFill>
                  <a:srgbClr val="FFFFFF"/>
                </a:solidFill>
              </a:rPr>
              <a:t>The sensor provides the signal. The SOP turns it into an outcome.</a:t>
            </a:r>
          </a:p>
        </p:txBody>
      </p:sp>
    </p:spTree>
    <p:extLst>
      <p:ext uri="{BB962C8B-B14F-4D97-AF65-F5344CB8AC3E}">
        <p14:creationId xmlns:p14="http://schemas.microsoft.com/office/powerpoint/2010/main" val="843974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BE267C42-8BCF-406F-AB91-31FB7214DC8F}"/>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SIGNALS</a:t>
            </a:r>
          </a:p>
        </p:txBody>
      </p:sp>
      <p:sp>
        <p:nvSpPr>
          <p:cNvPr id="2" name="직사각형 1">
            <a:extLst>
              <a:ext uri="{FF2B5EF4-FFF2-40B4-BE49-F238E27FC236}">
                <a16:creationId xmlns:a16="http://schemas.microsoft.com/office/drawing/2014/main" id="{E80B8350-0D25-4493-84CF-F53976C92C39}"/>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Five signals tell the cow’s story together</a:t>
            </a:r>
          </a:p>
        </p:txBody>
      </p:sp>
      <p:sp>
        <p:nvSpPr>
          <p:cNvPr id="3" name="직사각형 2">
            <a:extLst>
              <a:ext uri="{FF2B5EF4-FFF2-40B4-BE49-F238E27FC236}">
                <a16:creationId xmlns:a16="http://schemas.microsoft.com/office/drawing/2014/main" id="{CFDCB164-60D6-41A4-8A1E-13B8497567F3}"/>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902EDE1D-E470-4420-BC40-90098F58B833}"/>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07</a:t>
            </a:r>
          </a:p>
        </p:txBody>
      </p:sp>
      <p:sp>
        <p:nvSpPr>
          <p:cNvPr id="5" name="타원 4">
            <a:extLst>
              <a:ext uri="{FF2B5EF4-FFF2-40B4-BE49-F238E27FC236}">
                <a16:creationId xmlns:a16="http://schemas.microsoft.com/office/drawing/2014/main" id="{7806E969-7E9E-404D-9E06-85C7A35BBC63}"/>
              </a:ext>
            </a:extLst>
          </p:cNvPr>
          <p:cNvSpPr>
            <a:spLocks noGrp="1"/>
          </p:cNvSpPr>
          <p:nvPr/>
        </p:nvSpPr>
        <p:spPr>
          <a:xfrm>
            <a:off x="666750" y="1924050"/>
            <a:ext cx="781050" cy="781050"/>
          </a:xfrm>
          <a:prstGeom prst="ellipse">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74FCCB2-9F13-4994-B786-8C5FC5F7423D}"/>
              </a:ext>
            </a:extLst>
          </p:cNvPr>
          <p:cNvSpPr>
            <a:spLocks noGrp="1"/>
          </p:cNvSpPr>
          <p:nvPr/>
        </p:nvSpPr>
        <p:spPr>
          <a:xfrm>
            <a:off x="66675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rPr>
              <a:t>°C</a:t>
            </a:r>
          </a:p>
        </p:txBody>
      </p:sp>
      <p:sp>
        <p:nvSpPr>
          <p:cNvPr id="7" name="직사각형 6">
            <a:extLst>
              <a:ext uri="{FF2B5EF4-FFF2-40B4-BE49-F238E27FC236}">
                <a16:creationId xmlns:a16="http://schemas.microsoft.com/office/drawing/2014/main" id="{1566BF88-923B-464F-B7C4-217F922E82A0}"/>
              </a:ext>
            </a:extLst>
          </p:cNvPr>
          <p:cNvSpPr>
            <a:spLocks noGrp="1"/>
          </p:cNvSpPr>
          <p:nvPr/>
        </p:nvSpPr>
        <p:spPr>
          <a:xfrm>
            <a:off x="47625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rPr>
              <a:t>Core temperature</a:t>
            </a:r>
          </a:p>
        </p:txBody>
      </p:sp>
      <p:sp>
        <p:nvSpPr>
          <p:cNvPr id="8" name="직사각형 7">
            <a:extLst>
              <a:ext uri="{FF2B5EF4-FFF2-40B4-BE49-F238E27FC236}">
                <a16:creationId xmlns:a16="http://schemas.microsoft.com/office/drawing/2014/main" id="{FDEB7AAC-2B88-4539-8165-F7F547DD5F5E}"/>
              </a:ext>
            </a:extLst>
          </p:cNvPr>
          <p:cNvSpPr>
            <a:spLocks noGrp="1"/>
          </p:cNvSpPr>
          <p:nvPr/>
        </p:nvSpPr>
        <p:spPr>
          <a:xfrm>
            <a:off x="24765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rPr>
              <a:t>Inflammation, calving, heat stress</a:t>
            </a:r>
          </a:p>
        </p:txBody>
      </p:sp>
      <p:sp>
        <p:nvSpPr>
          <p:cNvPr id="9" name="타원 8">
            <a:extLst>
              <a:ext uri="{FF2B5EF4-FFF2-40B4-BE49-F238E27FC236}">
                <a16:creationId xmlns:a16="http://schemas.microsoft.com/office/drawing/2014/main" id="{38AF3C9E-1EDD-46E4-ACD7-F8A0022B83C0}"/>
              </a:ext>
            </a:extLst>
          </p:cNvPr>
          <p:cNvSpPr>
            <a:spLocks noGrp="1"/>
          </p:cNvSpPr>
          <p:nvPr/>
        </p:nvSpPr>
        <p:spPr>
          <a:xfrm>
            <a:off x="2933700" y="1924050"/>
            <a:ext cx="781050" cy="781050"/>
          </a:xfrm>
          <a:prstGeom prst="ellipse">
            <a:avLst/>
          </a:prstGeom>
          <a:solidFill>
            <a:srgbClr val="65D44A"/>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85F88AB9-46BD-4821-8715-F65F46ECD422}"/>
              </a:ext>
            </a:extLst>
          </p:cNvPr>
          <p:cNvSpPr>
            <a:spLocks noGrp="1"/>
          </p:cNvSpPr>
          <p:nvPr/>
        </p:nvSpPr>
        <p:spPr>
          <a:xfrm>
            <a:off x="293370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rPr>
              <a:t>H₂O</a:t>
            </a:r>
          </a:p>
        </p:txBody>
      </p:sp>
      <p:sp>
        <p:nvSpPr>
          <p:cNvPr id="11" name="직사각형 10">
            <a:extLst>
              <a:ext uri="{FF2B5EF4-FFF2-40B4-BE49-F238E27FC236}">
                <a16:creationId xmlns:a16="http://schemas.microsoft.com/office/drawing/2014/main" id="{8F5FBCE3-BF1A-494F-8219-36EBB75FD6FD}"/>
              </a:ext>
            </a:extLst>
          </p:cNvPr>
          <p:cNvSpPr>
            <a:spLocks noGrp="1"/>
          </p:cNvSpPr>
          <p:nvPr/>
        </p:nvSpPr>
        <p:spPr>
          <a:xfrm>
            <a:off x="274320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rPr>
              <a:t>Drinking</a:t>
            </a:r>
          </a:p>
        </p:txBody>
      </p:sp>
      <p:sp>
        <p:nvSpPr>
          <p:cNvPr id="12" name="직사각형 11">
            <a:extLst>
              <a:ext uri="{FF2B5EF4-FFF2-40B4-BE49-F238E27FC236}">
                <a16:creationId xmlns:a16="http://schemas.microsoft.com/office/drawing/2014/main" id="{399175C8-E4B5-4D5F-A788-47A725B0E735}"/>
              </a:ext>
            </a:extLst>
          </p:cNvPr>
          <p:cNvSpPr>
            <a:spLocks noGrp="1"/>
          </p:cNvSpPr>
          <p:nvPr/>
        </p:nvSpPr>
        <p:spPr>
          <a:xfrm>
            <a:off x="251460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rPr>
              <a:t>Changes in drinking frequency and volume</a:t>
            </a:r>
          </a:p>
        </p:txBody>
      </p:sp>
      <p:sp>
        <p:nvSpPr>
          <p:cNvPr id="13" name="타원 12">
            <a:extLst>
              <a:ext uri="{FF2B5EF4-FFF2-40B4-BE49-F238E27FC236}">
                <a16:creationId xmlns:a16="http://schemas.microsoft.com/office/drawing/2014/main" id="{3F3A094E-9405-4B47-837D-8521524824CF}"/>
              </a:ext>
            </a:extLst>
          </p:cNvPr>
          <p:cNvSpPr>
            <a:spLocks noGrp="1"/>
          </p:cNvSpPr>
          <p:nvPr/>
        </p:nvSpPr>
        <p:spPr>
          <a:xfrm>
            <a:off x="5200650" y="1924050"/>
            <a:ext cx="781050" cy="781050"/>
          </a:xfrm>
          <a:prstGeom prst="ellipse">
            <a:avLst/>
          </a:prstGeom>
          <a:solidFill>
            <a:srgbClr val="65D44A"/>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3E2352C2-8C37-46F0-B632-4D3D4FE018E2}"/>
              </a:ext>
            </a:extLst>
          </p:cNvPr>
          <p:cNvSpPr>
            <a:spLocks noGrp="1"/>
          </p:cNvSpPr>
          <p:nvPr/>
        </p:nvSpPr>
        <p:spPr>
          <a:xfrm>
            <a:off x="520065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rPr>
              <a:t>R</a:t>
            </a:r>
          </a:p>
        </p:txBody>
      </p:sp>
      <p:sp>
        <p:nvSpPr>
          <p:cNvPr id="15" name="직사각형 14">
            <a:extLst>
              <a:ext uri="{FF2B5EF4-FFF2-40B4-BE49-F238E27FC236}">
                <a16:creationId xmlns:a16="http://schemas.microsoft.com/office/drawing/2014/main" id="{590DD956-E71E-4BA8-90C7-2A89F57198B9}"/>
              </a:ext>
            </a:extLst>
          </p:cNvPr>
          <p:cNvSpPr>
            <a:spLocks noGrp="1"/>
          </p:cNvSpPr>
          <p:nvPr/>
        </p:nvSpPr>
        <p:spPr>
          <a:xfrm>
            <a:off x="501015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rPr>
              <a:t>Rumination</a:t>
            </a:r>
          </a:p>
        </p:txBody>
      </p:sp>
      <p:sp>
        <p:nvSpPr>
          <p:cNvPr id="16" name="직사각형 15">
            <a:extLst>
              <a:ext uri="{FF2B5EF4-FFF2-40B4-BE49-F238E27FC236}">
                <a16:creationId xmlns:a16="http://schemas.microsoft.com/office/drawing/2014/main" id="{3C31AE90-F3A6-4E95-B9E0-CD3D7B159FF1}"/>
              </a:ext>
            </a:extLst>
          </p:cNvPr>
          <p:cNvSpPr>
            <a:spLocks noGrp="1"/>
          </p:cNvSpPr>
          <p:nvPr/>
        </p:nvSpPr>
        <p:spPr>
          <a:xfrm>
            <a:off x="478155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rPr>
              <a:t>Response to health and ration</a:t>
            </a:r>
          </a:p>
        </p:txBody>
      </p:sp>
      <p:sp>
        <p:nvSpPr>
          <p:cNvPr id="17" name="타원 16">
            <a:extLst>
              <a:ext uri="{FF2B5EF4-FFF2-40B4-BE49-F238E27FC236}">
                <a16:creationId xmlns:a16="http://schemas.microsoft.com/office/drawing/2014/main" id="{DA38661F-B73B-4A46-9898-81BD91CCBD3A}"/>
              </a:ext>
            </a:extLst>
          </p:cNvPr>
          <p:cNvSpPr>
            <a:spLocks noGrp="1"/>
          </p:cNvSpPr>
          <p:nvPr/>
        </p:nvSpPr>
        <p:spPr>
          <a:xfrm>
            <a:off x="7467600" y="1924050"/>
            <a:ext cx="781050" cy="781050"/>
          </a:xfrm>
          <a:prstGeom prst="ellipse">
            <a:avLst/>
          </a:prstGeom>
          <a:solidFill>
            <a:srgbClr val="65D44A"/>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70468AAB-A65C-498A-B9C9-9717FC07CDF2}"/>
              </a:ext>
            </a:extLst>
          </p:cNvPr>
          <p:cNvSpPr>
            <a:spLocks noGrp="1"/>
          </p:cNvSpPr>
          <p:nvPr/>
        </p:nvSpPr>
        <p:spPr>
          <a:xfrm>
            <a:off x="746760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rPr>
              <a:t>A</a:t>
            </a:r>
          </a:p>
        </p:txBody>
      </p:sp>
      <p:sp>
        <p:nvSpPr>
          <p:cNvPr id="19" name="직사각형 18">
            <a:extLst>
              <a:ext uri="{FF2B5EF4-FFF2-40B4-BE49-F238E27FC236}">
                <a16:creationId xmlns:a16="http://schemas.microsoft.com/office/drawing/2014/main" id="{DEBD9721-2560-438E-8810-78FE5315F86D}"/>
              </a:ext>
            </a:extLst>
          </p:cNvPr>
          <p:cNvSpPr>
            <a:spLocks noGrp="1"/>
          </p:cNvSpPr>
          <p:nvPr/>
        </p:nvSpPr>
        <p:spPr>
          <a:xfrm>
            <a:off x="727710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rPr>
              <a:t>Activity</a:t>
            </a:r>
          </a:p>
        </p:txBody>
      </p:sp>
      <p:sp>
        <p:nvSpPr>
          <p:cNvPr id="20" name="직사각형 19">
            <a:extLst>
              <a:ext uri="{FF2B5EF4-FFF2-40B4-BE49-F238E27FC236}">
                <a16:creationId xmlns:a16="http://schemas.microsoft.com/office/drawing/2014/main" id="{333ACF2C-E558-497C-9BB4-47D8BF6C277D}"/>
              </a:ext>
            </a:extLst>
          </p:cNvPr>
          <p:cNvSpPr>
            <a:spLocks noGrp="1"/>
          </p:cNvSpPr>
          <p:nvPr/>
        </p:nvSpPr>
        <p:spPr>
          <a:xfrm>
            <a:off x="704850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rPr>
              <a:t>Heat, lameness, abrupt behavior change</a:t>
            </a:r>
          </a:p>
        </p:txBody>
      </p:sp>
      <p:sp>
        <p:nvSpPr>
          <p:cNvPr id="21" name="타원 20">
            <a:extLst>
              <a:ext uri="{FF2B5EF4-FFF2-40B4-BE49-F238E27FC236}">
                <a16:creationId xmlns:a16="http://schemas.microsoft.com/office/drawing/2014/main" id="{B5B6CF9B-4A04-4BFB-B8E7-2015DB2B0FB2}"/>
              </a:ext>
            </a:extLst>
          </p:cNvPr>
          <p:cNvSpPr>
            <a:spLocks noGrp="1"/>
          </p:cNvSpPr>
          <p:nvPr/>
        </p:nvSpPr>
        <p:spPr>
          <a:xfrm>
            <a:off x="9734550" y="1924050"/>
            <a:ext cx="781050" cy="781050"/>
          </a:xfrm>
          <a:prstGeom prst="ellipse">
            <a:avLst/>
          </a:prstGeom>
          <a:solidFill>
            <a:srgbClr val="F6B846"/>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CD7D7EAA-C97D-45E8-A80F-EAACD5416D4F}"/>
              </a:ext>
            </a:extLst>
          </p:cNvPr>
          <p:cNvSpPr>
            <a:spLocks noGrp="1"/>
          </p:cNvSpPr>
          <p:nvPr/>
        </p:nvSpPr>
        <p:spPr>
          <a:xfrm>
            <a:off x="973455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rPr>
              <a:t>pH</a:t>
            </a:r>
          </a:p>
        </p:txBody>
      </p:sp>
      <p:sp>
        <p:nvSpPr>
          <p:cNvPr id="23" name="직사각형 22">
            <a:extLst>
              <a:ext uri="{FF2B5EF4-FFF2-40B4-BE49-F238E27FC236}">
                <a16:creationId xmlns:a16="http://schemas.microsoft.com/office/drawing/2014/main" id="{5E0697E2-5F56-444A-AEC4-8D7B77D64D8F}"/>
              </a:ext>
            </a:extLst>
          </p:cNvPr>
          <p:cNvSpPr>
            <a:spLocks noGrp="1"/>
          </p:cNvSpPr>
          <p:nvPr/>
        </p:nvSpPr>
        <p:spPr>
          <a:xfrm>
            <a:off x="954405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rPr>
              <a:t>Rumen pH</a:t>
            </a:r>
          </a:p>
        </p:txBody>
      </p:sp>
      <p:sp>
        <p:nvSpPr>
          <p:cNvPr id="24" name="직사각형 23">
            <a:extLst>
              <a:ext uri="{FF2B5EF4-FFF2-40B4-BE49-F238E27FC236}">
                <a16:creationId xmlns:a16="http://schemas.microsoft.com/office/drawing/2014/main" id="{5F9B7448-2C50-4385-9DE8-1D4B7DC12769}"/>
              </a:ext>
            </a:extLst>
          </p:cNvPr>
          <p:cNvSpPr>
            <a:spLocks noGrp="1"/>
          </p:cNvSpPr>
          <p:nvPr/>
        </p:nvSpPr>
        <p:spPr>
          <a:xfrm>
            <a:off x="931545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rPr>
              <a:t>Fermentation stability and SARA risk</a:t>
            </a:r>
          </a:p>
        </p:txBody>
      </p:sp>
      <p:sp>
        <p:nvSpPr>
          <p:cNvPr id="25" name="직사각형 24">
            <a:extLst>
              <a:ext uri="{FF2B5EF4-FFF2-40B4-BE49-F238E27FC236}">
                <a16:creationId xmlns:a16="http://schemas.microsoft.com/office/drawing/2014/main" id="{0D236732-BA36-4025-A2C9-9530E9DF5410}"/>
              </a:ext>
            </a:extLst>
          </p:cNvPr>
          <p:cNvSpPr>
            <a:spLocks noGrp="1"/>
          </p:cNvSpPr>
          <p:nvPr/>
        </p:nvSpPr>
        <p:spPr>
          <a:xfrm>
            <a:off x="685800" y="5219700"/>
            <a:ext cx="10820400" cy="361950"/>
          </a:xfrm>
          <a:prstGeom prst="rect">
            <a:avLst/>
          </a:prstGeom>
          <a:noFill/>
          <a:ln w="0">
            <a:noFill/>
            <a:prstDash val="solid"/>
          </a:ln>
        </p:spPr>
        <p:txBody>
          <a:bodyPr/>
          <a:lstStyle/>
          <a:p>
            <a:pPr algn="ctr">
              <a:buNone/>
              <a:defRPr sz="1650" b="1">
                <a:solidFill>
                  <a:srgbClr val="15A98C"/>
                </a:solidFill>
              </a:defRPr>
            </a:pPr>
            <a:r>
              <a:rPr sz="1650" b="1">
                <a:solidFill>
                  <a:srgbClr val="15A98C"/>
                </a:solidFill>
              </a:rPr>
              <a:t>Trend &gt; single point   |   Combination &gt; single signal   |   Check &gt; assumption</a:t>
            </a:r>
          </a:p>
        </p:txBody>
      </p:sp>
    </p:spTree>
    <p:extLst>
      <p:ext uri="{BB962C8B-B14F-4D97-AF65-F5344CB8AC3E}">
        <p14:creationId xmlns:p14="http://schemas.microsoft.com/office/powerpoint/2010/main" val="190031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02A0DE54-57D7-4430-80A4-15BBB4D3849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CORE TEMPERATURE</a:t>
            </a:r>
          </a:p>
        </p:txBody>
      </p:sp>
      <p:sp>
        <p:nvSpPr>
          <p:cNvPr id="2" name="직사각형 1">
            <a:extLst>
              <a:ext uri="{FF2B5EF4-FFF2-40B4-BE49-F238E27FC236}">
                <a16:creationId xmlns:a16="http://schemas.microsoft.com/office/drawing/2014/main" id="{48E002E4-E002-4F13-BCFA-9737DA284ED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Temperature is a powerful internal signal for early checks</a:t>
            </a:r>
          </a:p>
        </p:txBody>
      </p:sp>
      <p:sp>
        <p:nvSpPr>
          <p:cNvPr id="3" name="직사각형 2">
            <a:extLst>
              <a:ext uri="{FF2B5EF4-FFF2-40B4-BE49-F238E27FC236}">
                <a16:creationId xmlns:a16="http://schemas.microsoft.com/office/drawing/2014/main" id="{25CB0A2A-309B-47F1-906C-3F687EF60DD4}"/>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8EE44A08-006A-4CFE-A7DF-1BCA0B1C1613}"/>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08</a:t>
            </a:r>
          </a:p>
        </p:txBody>
      </p:sp>
      <p:sp>
        <p:nvSpPr>
          <p:cNvPr id="5" name="직사각형 4">
            <a:extLst>
              <a:ext uri="{FF2B5EF4-FFF2-40B4-BE49-F238E27FC236}">
                <a16:creationId xmlns:a16="http://schemas.microsoft.com/office/drawing/2014/main" id="{D460D05A-BBC3-427E-9B93-08C70D04D956}"/>
              </a:ext>
            </a:extLst>
          </p:cNvPr>
          <p:cNvSpPr>
            <a:spLocks noGrp="1"/>
          </p:cNvSpPr>
          <p:nvPr/>
        </p:nvSpPr>
        <p:spPr>
          <a:xfrm>
            <a:off x="685800" y="1885950"/>
            <a:ext cx="3048000" cy="609600"/>
          </a:xfrm>
          <a:prstGeom prst="rect">
            <a:avLst/>
          </a:prstGeom>
          <a:noFill/>
          <a:ln w="0">
            <a:noFill/>
            <a:prstDash val="solid"/>
          </a:ln>
        </p:spPr>
        <p:txBody>
          <a:bodyPr/>
          <a:lstStyle/>
          <a:p>
            <a:pPr algn="l">
              <a:buNone/>
              <a:defRPr sz="3600" b="1">
                <a:solidFill>
                  <a:srgbClr val="E96155"/>
                </a:solidFill>
              </a:defRPr>
            </a:pPr>
            <a:r>
              <a:rPr sz="3600" b="1">
                <a:solidFill>
                  <a:srgbClr val="E96155"/>
                </a:solidFill>
              </a:rPr>
              <a:t>±0.01 °C</a:t>
            </a:r>
          </a:p>
        </p:txBody>
      </p:sp>
      <p:sp>
        <p:nvSpPr>
          <p:cNvPr id="6" name="직사각형 5">
            <a:extLst>
              <a:ext uri="{FF2B5EF4-FFF2-40B4-BE49-F238E27FC236}">
                <a16:creationId xmlns:a16="http://schemas.microsoft.com/office/drawing/2014/main" id="{7745B9E6-4F6B-453A-A73D-15C7974FDFEC}"/>
              </a:ext>
            </a:extLst>
          </p:cNvPr>
          <p:cNvSpPr>
            <a:spLocks noGrp="1"/>
          </p:cNvSpPr>
          <p:nvPr/>
        </p:nvSpPr>
        <p:spPr>
          <a:xfrm>
            <a:off x="685800" y="2476500"/>
            <a:ext cx="3048000" cy="533400"/>
          </a:xfrm>
          <a:prstGeom prst="rect">
            <a:avLst/>
          </a:prstGeom>
          <a:noFill/>
          <a:ln w="0">
            <a:noFill/>
            <a:prstDash val="solid"/>
          </a:ln>
        </p:spPr>
        <p:txBody>
          <a:bodyPr/>
          <a:lstStyle/>
          <a:p>
            <a:pPr algn="l">
              <a:buNone/>
              <a:defRPr sz="1275" b="0">
                <a:solidFill>
                  <a:srgbClr val="66746F"/>
                </a:solidFill>
              </a:defRPr>
            </a:pPr>
            <a:r>
              <a:rPr sz="1275" b="0">
                <a:solidFill>
                  <a:srgbClr val="66746F"/>
                </a:solidFill>
              </a:rPr>
              <a:t>Manufacturer-stated relative measurement accuracy</a:t>
            </a:r>
          </a:p>
        </p:txBody>
      </p:sp>
      <p:sp>
        <p:nvSpPr>
          <p:cNvPr id="7" name="타원 6">
            <a:extLst>
              <a:ext uri="{FF2B5EF4-FFF2-40B4-BE49-F238E27FC236}">
                <a16:creationId xmlns:a16="http://schemas.microsoft.com/office/drawing/2014/main" id="{6225F113-9436-4ECB-9664-EA54D16FE371}"/>
              </a:ext>
            </a:extLst>
          </p:cNvPr>
          <p:cNvSpPr>
            <a:spLocks noGrp="1"/>
          </p:cNvSpPr>
          <p:nvPr/>
        </p:nvSpPr>
        <p:spPr>
          <a:xfrm>
            <a:off x="4095750" y="1943100"/>
            <a:ext cx="114300" cy="114300"/>
          </a:xfrm>
          <a:prstGeom prst="ellipse">
            <a:avLst/>
          </a:prstGeom>
          <a:solidFill>
            <a:srgbClr val="65D44A"/>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FE729EF0-689A-4047-B77C-56B2FBABD48F}"/>
              </a:ext>
            </a:extLst>
          </p:cNvPr>
          <p:cNvSpPr>
            <a:spLocks noGrp="1"/>
          </p:cNvSpPr>
          <p:nvPr/>
        </p:nvSpPr>
        <p:spPr>
          <a:xfrm>
            <a:off x="4362450" y="186690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rPr>
              <a:t>Watch deviations from the cow’s own baseline</a:t>
            </a:r>
          </a:p>
        </p:txBody>
      </p:sp>
      <p:sp>
        <p:nvSpPr>
          <p:cNvPr id="9" name="타원 8">
            <a:extLst>
              <a:ext uri="{FF2B5EF4-FFF2-40B4-BE49-F238E27FC236}">
                <a16:creationId xmlns:a16="http://schemas.microsoft.com/office/drawing/2014/main" id="{B20B7461-501A-4D87-BC4A-3F4391025B42}"/>
              </a:ext>
            </a:extLst>
          </p:cNvPr>
          <p:cNvSpPr>
            <a:spLocks noGrp="1"/>
          </p:cNvSpPr>
          <p:nvPr/>
        </p:nvSpPr>
        <p:spPr>
          <a:xfrm>
            <a:off x="4095750" y="2609850"/>
            <a:ext cx="114300" cy="114300"/>
          </a:xfrm>
          <a:prstGeom prst="ellipse">
            <a:avLst/>
          </a:prstGeom>
          <a:solidFill>
            <a:srgbClr val="65D44A"/>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D4989B85-D238-4E8E-8C63-6EFB1EEC6B79}"/>
              </a:ext>
            </a:extLst>
          </p:cNvPr>
          <p:cNvSpPr>
            <a:spLocks noGrp="1"/>
          </p:cNvSpPr>
          <p:nvPr/>
        </p:nvSpPr>
        <p:spPr>
          <a:xfrm>
            <a:off x="4362450" y="253365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rPr>
              <a:t>A rise may be consistent with inflammation</a:t>
            </a:r>
          </a:p>
        </p:txBody>
      </p:sp>
      <p:sp>
        <p:nvSpPr>
          <p:cNvPr id="11" name="타원 10">
            <a:extLst>
              <a:ext uri="{FF2B5EF4-FFF2-40B4-BE49-F238E27FC236}">
                <a16:creationId xmlns:a16="http://schemas.microsoft.com/office/drawing/2014/main" id="{6EE88806-B30A-4069-B837-3C1D201AA562}"/>
              </a:ext>
            </a:extLst>
          </p:cNvPr>
          <p:cNvSpPr>
            <a:spLocks noGrp="1"/>
          </p:cNvSpPr>
          <p:nvPr/>
        </p:nvSpPr>
        <p:spPr>
          <a:xfrm>
            <a:off x="4095750" y="3276600"/>
            <a:ext cx="114300" cy="114300"/>
          </a:xfrm>
          <a:prstGeom prst="ellipse">
            <a:avLst/>
          </a:prstGeom>
          <a:solidFill>
            <a:srgbClr val="65D44A"/>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827A85D8-5AA6-4CDB-BF28-27B48AF269B1}"/>
              </a:ext>
            </a:extLst>
          </p:cNvPr>
          <p:cNvSpPr>
            <a:spLocks noGrp="1"/>
          </p:cNvSpPr>
          <p:nvPr/>
        </p:nvSpPr>
        <p:spPr>
          <a:xfrm>
            <a:off x="4362450" y="320040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rPr>
              <a:t>A drop matters with other signs in a calving context</a:t>
            </a:r>
          </a:p>
        </p:txBody>
      </p:sp>
      <p:sp>
        <p:nvSpPr>
          <p:cNvPr id="13" name="타원 12">
            <a:extLst>
              <a:ext uri="{FF2B5EF4-FFF2-40B4-BE49-F238E27FC236}">
                <a16:creationId xmlns:a16="http://schemas.microsoft.com/office/drawing/2014/main" id="{B40A7FFC-E702-4226-8BD7-DC29AC4BA2EA}"/>
              </a:ext>
            </a:extLst>
          </p:cNvPr>
          <p:cNvSpPr>
            <a:spLocks noGrp="1"/>
          </p:cNvSpPr>
          <p:nvPr/>
        </p:nvSpPr>
        <p:spPr>
          <a:xfrm>
            <a:off x="4095750" y="3943350"/>
            <a:ext cx="114300" cy="114300"/>
          </a:xfrm>
          <a:prstGeom prst="ellipse">
            <a:avLst/>
          </a:prstGeom>
          <a:solidFill>
            <a:srgbClr val="65D44A"/>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BFEDBAF2-CDC7-4DBF-A025-8DE046A256B6}"/>
              </a:ext>
            </a:extLst>
          </p:cNvPr>
          <p:cNvSpPr>
            <a:spLocks noGrp="1"/>
          </p:cNvSpPr>
          <p:nvPr/>
        </p:nvSpPr>
        <p:spPr>
          <a:xfrm>
            <a:off x="4362450" y="386715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rPr>
              <a:t>For heat stress, read it with climate, drinking and rumination</a:t>
            </a:r>
          </a:p>
        </p:txBody>
      </p:sp>
      <p:sp>
        <p:nvSpPr>
          <p:cNvPr id="15" name="모서리가 둥근 직사각형 14">
            <a:extLst>
              <a:ext uri="{FF2B5EF4-FFF2-40B4-BE49-F238E27FC236}">
                <a16:creationId xmlns:a16="http://schemas.microsoft.com/office/drawing/2014/main" id="{A5800FB2-AC6B-4AA4-8F28-B0892D2BDA54}"/>
              </a:ext>
            </a:extLst>
          </p:cNvPr>
          <p:cNvSpPr>
            <a:spLocks noGrp="1"/>
          </p:cNvSpPr>
          <p:nvPr/>
        </p:nvSpPr>
        <p:spPr>
          <a:xfrm>
            <a:off x="685800" y="4857750"/>
            <a:ext cx="10820400" cy="704850"/>
          </a:xfrm>
          <a:prstGeom prst="roundRect">
            <a:avLst>
              <a:gd name="adj" fmla="val 16216"/>
            </a:avLst>
          </a:prstGeom>
          <a:solidFill>
            <a:srgbClr val="DFF4E8"/>
          </a:solidFill>
          <a:ln w="0">
            <a:noFill/>
            <a:prstDash val="solid"/>
          </a:ln>
        </p:spPr>
        <p:txBody>
          <a:bodyPr/>
          <a:lstStyle/>
          <a:p>
            <a:endParaRPr lang="ko-KR" altLang="en-US"/>
          </a:p>
        </p:txBody>
      </p:sp>
      <p:sp>
        <p:nvSpPr>
          <p:cNvPr id="16" name="직사각형 15">
            <a:extLst>
              <a:ext uri="{FF2B5EF4-FFF2-40B4-BE49-F238E27FC236}">
                <a16:creationId xmlns:a16="http://schemas.microsoft.com/office/drawing/2014/main" id="{332B0D49-2C1B-41F1-B291-182857578011}"/>
              </a:ext>
            </a:extLst>
          </p:cNvPr>
          <p:cNvSpPr>
            <a:spLocks noGrp="1"/>
          </p:cNvSpPr>
          <p:nvPr/>
        </p:nvSpPr>
        <p:spPr>
          <a:xfrm>
            <a:off x="971550" y="5067300"/>
            <a:ext cx="10248900" cy="304800"/>
          </a:xfrm>
          <a:prstGeom prst="rect">
            <a:avLst/>
          </a:prstGeom>
          <a:noFill/>
          <a:ln w="0">
            <a:noFill/>
            <a:prstDash val="solid"/>
          </a:ln>
        </p:spPr>
        <p:txBody>
          <a:bodyPr/>
          <a:lstStyle/>
          <a:p>
            <a:pPr algn="ctr">
              <a:buNone/>
              <a:defRPr sz="1650" b="1">
                <a:solidFill>
                  <a:srgbClr val="10251F"/>
                </a:solidFill>
              </a:defRPr>
            </a:pPr>
            <a:r>
              <a:rPr sz="1650" b="1">
                <a:solidFill>
                  <a:srgbClr val="10251F"/>
                </a:solidFill>
              </a:rPr>
              <a:t>An alert is not a diagnosis. Observe, measure and check history and SOP first.</a:t>
            </a:r>
          </a:p>
        </p:txBody>
      </p:sp>
    </p:spTree>
    <p:extLst>
      <p:ext uri="{BB962C8B-B14F-4D97-AF65-F5344CB8AC3E}">
        <p14:creationId xmlns:p14="http://schemas.microsoft.com/office/powerpoint/2010/main" val="1973830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00FC669C-C660-42CE-BD2A-35F41612104C}"/>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WATER &amp; DRINKING</a:t>
            </a:r>
          </a:p>
        </p:txBody>
      </p:sp>
      <p:sp>
        <p:nvSpPr>
          <p:cNvPr id="2" name="직사각형 1">
            <a:extLst>
              <a:ext uri="{FF2B5EF4-FFF2-40B4-BE49-F238E27FC236}">
                <a16:creationId xmlns:a16="http://schemas.microsoft.com/office/drawing/2014/main" id="{45345639-BB1D-430F-8304-59B0FC92DA74}"/>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Drinking signals can reveal a problem before milk changes</a:t>
            </a:r>
          </a:p>
        </p:txBody>
      </p:sp>
      <p:sp>
        <p:nvSpPr>
          <p:cNvPr id="3" name="직사각형 2">
            <a:extLst>
              <a:ext uri="{FF2B5EF4-FFF2-40B4-BE49-F238E27FC236}">
                <a16:creationId xmlns:a16="http://schemas.microsoft.com/office/drawing/2014/main" id="{D7471110-55C8-48AD-B7B2-A51279D9648E}"/>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E87FB937-E9B9-4E2B-843B-F07449904539}"/>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09</a:t>
            </a:r>
          </a:p>
        </p:txBody>
      </p:sp>
      <p:sp>
        <p:nvSpPr>
          <p:cNvPr id="5" name="직사각형 4">
            <a:extLst>
              <a:ext uri="{FF2B5EF4-FFF2-40B4-BE49-F238E27FC236}">
                <a16:creationId xmlns:a16="http://schemas.microsoft.com/office/drawing/2014/main" id="{773DE68C-AEF4-4B4D-8745-AD055887D41E}"/>
              </a:ext>
            </a:extLst>
          </p:cNvPr>
          <p:cNvSpPr>
            <a:spLocks noGrp="1"/>
          </p:cNvSpPr>
          <p:nvPr/>
        </p:nvSpPr>
        <p:spPr>
          <a:xfrm>
            <a:off x="685800" y="1809750"/>
            <a:ext cx="2857500" cy="381000"/>
          </a:xfrm>
          <a:prstGeom prst="rect">
            <a:avLst/>
          </a:prstGeom>
          <a:noFill/>
          <a:ln w="0">
            <a:noFill/>
            <a:prstDash val="solid"/>
          </a:ln>
        </p:spPr>
        <p:txBody>
          <a:bodyPr/>
          <a:lstStyle/>
          <a:p>
            <a:pPr algn="l">
              <a:buNone/>
              <a:defRPr sz="2025" b="1">
                <a:solidFill>
                  <a:srgbClr val="15A98C"/>
                </a:solidFill>
              </a:defRPr>
            </a:pPr>
            <a:r>
              <a:rPr sz="2025" b="1">
                <a:solidFill>
                  <a:srgbClr val="15A98C"/>
                </a:solidFill>
              </a:rPr>
              <a:t>What do we look for?</a:t>
            </a:r>
          </a:p>
        </p:txBody>
      </p:sp>
      <p:sp>
        <p:nvSpPr>
          <p:cNvPr id="6" name="타원 5">
            <a:extLst>
              <a:ext uri="{FF2B5EF4-FFF2-40B4-BE49-F238E27FC236}">
                <a16:creationId xmlns:a16="http://schemas.microsoft.com/office/drawing/2014/main" id="{42FA046E-1118-4F58-BF50-8C594E2AEE5A}"/>
              </a:ext>
            </a:extLst>
          </p:cNvPr>
          <p:cNvSpPr>
            <a:spLocks noGrp="1"/>
          </p:cNvSpPr>
          <p:nvPr/>
        </p:nvSpPr>
        <p:spPr>
          <a:xfrm>
            <a:off x="685800" y="2457450"/>
            <a:ext cx="114300" cy="114300"/>
          </a:xfrm>
          <a:prstGeom prst="ellipse">
            <a:avLst/>
          </a:prstGeom>
          <a:solidFill>
            <a:srgbClr val="65D44A"/>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93099AEF-34A3-4D41-B175-21900ADB1D86}"/>
              </a:ext>
            </a:extLst>
          </p:cNvPr>
          <p:cNvSpPr>
            <a:spLocks noGrp="1"/>
          </p:cNvSpPr>
          <p:nvPr/>
        </p:nvSpPr>
        <p:spPr>
          <a:xfrm>
            <a:off x="952500" y="238125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rPr>
              <a:t>Number of drinking cycles</a:t>
            </a:r>
          </a:p>
        </p:txBody>
      </p:sp>
      <p:sp>
        <p:nvSpPr>
          <p:cNvPr id="8" name="타원 7">
            <a:extLst>
              <a:ext uri="{FF2B5EF4-FFF2-40B4-BE49-F238E27FC236}">
                <a16:creationId xmlns:a16="http://schemas.microsoft.com/office/drawing/2014/main" id="{434470BD-F499-4288-9B0D-BE4C514C84BC}"/>
              </a:ext>
            </a:extLst>
          </p:cNvPr>
          <p:cNvSpPr>
            <a:spLocks noGrp="1"/>
          </p:cNvSpPr>
          <p:nvPr/>
        </p:nvSpPr>
        <p:spPr>
          <a:xfrm>
            <a:off x="685800" y="3048000"/>
            <a:ext cx="114300" cy="114300"/>
          </a:xfrm>
          <a:prstGeom prst="ellipse">
            <a:avLst/>
          </a:prstGeom>
          <a:solidFill>
            <a:srgbClr val="65D44A"/>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DF57E18E-ED90-4527-8FB7-0E10216CF974}"/>
              </a:ext>
            </a:extLst>
          </p:cNvPr>
          <p:cNvSpPr>
            <a:spLocks noGrp="1"/>
          </p:cNvSpPr>
          <p:nvPr/>
        </p:nvSpPr>
        <p:spPr>
          <a:xfrm>
            <a:off x="952500" y="297180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rPr>
              <a:t>Individual water intake</a:t>
            </a:r>
          </a:p>
        </p:txBody>
      </p:sp>
      <p:sp>
        <p:nvSpPr>
          <p:cNvPr id="10" name="타원 9">
            <a:extLst>
              <a:ext uri="{FF2B5EF4-FFF2-40B4-BE49-F238E27FC236}">
                <a16:creationId xmlns:a16="http://schemas.microsoft.com/office/drawing/2014/main" id="{4E4C5902-3E83-47E2-83B7-EBA1244E1901}"/>
              </a:ext>
            </a:extLst>
          </p:cNvPr>
          <p:cNvSpPr>
            <a:spLocks noGrp="1"/>
          </p:cNvSpPr>
          <p:nvPr/>
        </p:nvSpPr>
        <p:spPr>
          <a:xfrm>
            <a:off x="685800" y="3638550"/>
            <a:ext cx="114300" cy="114300"/>
          </a:xfrm>
          <a:prstGeom prst="ellipse">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F5AF95C9-282A-45DD-BE03-D8CE696F8EDF}"/>
              </a:ext>
            </a:extLst>
          </p:cNvPr>
          <p:cNvSpPr>
            <a:spLocks noGrp="1"/>
          </p:cNvSpPr>
          <p:nvPr/>
        </p:nvSpPr>
        <p:spPr>
          <a:xfrm>
            <a:off x="952500" y="356235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rPr>
              <a:t>Deviation from the daily baseline</a:t>
            </a:r>
          </a:p>
        </p:txBody>
      </p:sp>
      <p:sp>
        <p:nvSpPr>
          <p:cNvPr id="12" name="타원 11">
            <a:extLst>
              <a:ext uri="{FF2B5EF4-FFF2-40B4-BE49-F238E27FC236}">
                <a16:creationId xmlns:a16="http://schemas.microsoft.com/office/drawing/2014/main" id="{3C2213AE-0F36-4168-9697-14589AE87349}"/>
              </a:ext>
            </a:extLst>
          </p:cNvPr>
          <p:cNvSpPr>
            <a:spLocks noGrp="1"/>
          </p:cNvSpPr>
          <p:nvPr/>
        </p:nvSpPr>
        <p:spPr>
          <a:xfrm>
            <a:off x="685800" y="4229100"/>
            <a:ext cx="114300" cy="114300"/>
          </a:xfrm>
          <a:prstGeom prst="ellipse">
            <a:avLst/>
          </a:prstGeom>
          <a:solidFill>
            <a:srgbClr val="65D44A"/>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699FC868-014A-40F6-8C92-A05761C7C1DF}"/>
              </a:ext>
            </a:extLst>
          </p:cNvPr>
          <p:cNvSpPr>
            <a:spLocks noGrp="1"/>
          </p:cNvSpPr>
          <p:nvPr/>
        </p:nvSpPr>
        <p:spPr>
          <a:xfrm>
            <a:off x="952500" y="415290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rPr>
              <a:t>Simultaneous group-level change</a:t>
            </a:r>
          </a:p>
        </p:txBody>
      </p:sp>
      <p:sp>
        <p:nvSpPr>
          <p:cNvPr id="14" name="모서리가 둥근 직사각형 13">
            <a:extLst>
              <a:ext uri="{FF2B5EF4-FFF2-40B4-BE49-F238E27FC236}">
                <a16:creationId xmlns:a16="http://schemas.microsoft.com/office/drawing/2014/main" id="{7D151DF6-5FC7-4B10-9CE3-BB67BB76DD54}"/>
              </a:ext>
            </a:extLst>
          </p:cNvPr>
          <p:cNvSpPr>
            <a:spLocks noGrp="1"/>
          </p:cNvSpPr>
          <p:nvPr/>
        </p:nvSpPr>
        <p:spPr>
          <a:xfrm>
            <a:off x="5715000" y="1714500"/>
            <a:ext cx="5791200" cy="3543300"/>
          </a:xfrm>
          <a:prstGeom prst="roundRect">
            <a:avLst>
              <a:gd name="adj" fmla="val 4301"/>
            </a:avLst>
          </a:prstGeom>
          <a:solidFill>
            <a:srgbClr val="10251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C9FD88F0-2245-4DA5-A536-09AF2F02AE66}"/>
              </a:ext>
            </a:extLst>
          </p:cNvPr>
          <p:cNvSpPr>
            <a:spLocks noGrp="1"/>
          </p:cNvSpPr>
          <p:nvPr/>
        </p:nvSpPr>
        <p:spPr>
          <a:xfrm>
            <a:off x="6096000" y="2095500"/>
            <a:ext cx="4762500" cy="228600"/>
          </a:xfrm>
          <a:prstGeom prst="rect">
            <a:avLst/>
          </a:prstGeom>
          <a:noFill/>
          <a:ln w="0">
            <a:noFill/>
            <a:prstDash val="solid"/>
          </a:ln>
        </p:spPr>
        <p:txBody>
          <a:bodyPr/>
          <a:lstStyle/>
          <a:p>
            <a:pPr algn="l">
              <a:buNone/>
              <a:defRPr sz="1125" b="1">
                <a:solidFill>
                  <a:srgbClr val="65D44A"/>
                </a:solidFill>
              </a:defRPr>
            </a:pPr>
            <a:r>
              <a:rPr sz="1125" b="1">
                <a:solidFill>
                  <a:srgbClr val="65D44A"/>
                </a:solidFill>
              </a:rPr>
              <a:t>QUICK QUESTION</a:t>
            </a:r>
          </a:p>
        </p:txBody>
      </p:sp>
      <p:sp>
        <p:nvSpPr>
          <p:cNvPr id="16" name="직사각형 15">
            <a:extLst>
              <a:ext uri="{FF2B5EF4-FFF2-40B4-BE49-F238E27FC236}">
                <a16:creationId xmlns:a16="http://schemas.microsoft.com/office/drawing/2014/main" id="{E05D1E1D-E374-49DE-A7DD-757CD0DBF367}"/>
              </a:ext>
            </a:extLst>
          </p:cNvPr>
          <p:cNvSpPr>
            <a:spLocks noGrp="1"/>
          </p:cNvSpPr>
          <p:nvPr/>
        </p:nvSpPr>
        <p:spPr>
          <a:xfrm>
            <a:off x="6096000" y="2571750"/>
            <a:ext cx="4762500" cy="1047750"/>
          </a:xfrm>
          <a:prstGeom prst="rect">
            <a:avLst/>
          </a:prstGeom>
          <a:noFill/>
          <a:ln w="0">
            <a:noFill/>
            <a:prstDash val="solid"/>
          </a:ln>
        </p:spPr>
        <p:txBody>
          <a:bodyPr/>
          <a:lstStyle/>
          <a:p>
            <a:pPr algn="l">
              <a:buNone/>
              <a:defRPr sz="2775" b="1">
                <a:solidFill>
                  <a:srgbClr val="FFFFFF"/>
                </a:solidFill>
              </a:defRPr>
            </a:pPr>
            <a:r>
              <a:rPr sz="2775" b="1">
                <a:solidFill>
                  <a:srgbClr val="FFFFFF"/>
                </a:solidFill>
              </a:rPr>
              <a:t>One cow</a:t>
            </a:r>
          </a:p>
          <a:p>
            <a:pPr algn="l">
              <a:buNone/>
              <a:defRPr sz="2775" b="1">
                <a:solidFill>
                  <a:srgbClr val="FFFFFF"/>
                </a:solidFill>
              </a:defRPr>
            </a:pPr>
            <a:r>
              <a:rPr sz="2775" b="1">
                <a:solidFill>
                  <a:srgbClr val="FFFFFF"/>
                </a:solidFill>
              </a:rPr>
              <a:t>or the whole group?</a:t>
            </a:r>
          </a:p>
        </p:txBody>
      </p:sp>
      <p:sp>
        <p:nvSpPr>
          <p:cNvPr id="17" name="직사각형 16">
            <a:extLst>
              <a:ext uri="{FF2B5EF4-FFF2-40B4-BE49-F238E27FC236}">
                <a16:creationId xmlns:a16="http://schemas.microsoft.com/office/drawing/2014/main" id="{45AF09A0-182C-4433-923E-45CB2D14C97D}"/>
              </a:ext>
            </a:extLst>
          </p:cNvPr>
          <p:cNvSpPr>
            <a:spLocks noGrp="1"/>
          </p:cNvSpPr>
          <p:nvPr/>
        </p:nvSpPr>
        <p:spPr>
          <a:xfrm>
            <a:off x="6096000" y="4000500"/>
            <a:ext cx="4857750" cy="685800"/>
          </a:xfrm>
          <a:prstGeom prst="rect">
            <a:avLst/>
          </a:prstGeom>
          <a:noFill/>
          <a:ln w="0">
            <a:noFill/>
            <a:prstDash val="solid"/>
          </a:ln>
        </p:spPr>
        <p:txBody>
          <a:bodyPr/>
          <a:lstStyle/>
          <a:p>
            <a:pPr algn="l">
              <a:buNone/>
              <a:defRPr sz="1500" b="0">
                <a:solidFill>
                  <a:srgbClr val="D7E5DF"/>
                </a:solidFill>
              </a:defRPr>
            </a:pPr>
            <a:r>
              <a:rPr sz="1500" b="0">
                <a:solidFill>
                  <a:srgbClr val="D7E5DF"/>
                </a:solidFill>
              </a:rPr>
              <a:t>One cow → health or individual access</a:t>
            </a:r>
          </a:p>
          <a:p>
            <a:pPr algn="l">
              <a:buNone/>
              <a:defRPr sz="1500" b="0">
                <a:solidFill>
                  <a:srgbClr val="D7E5DF"/>
                </a:solidFill>
              </a:defRPr>
            </a:pPr>
            <a:r>
              <a:rPr sz="1500" b="0">
                <a:solidFill>
                  <a:srgbClr val="D7E5DF"/>
                </a:solidFill>
              </a:rPr>
              <a:t>Group → water line, pressure, heat stress, feed</a:t>
            </a:r>
          </a:p>
        </p:txBody>
      </p:sp>
    </p:spTree>
    <p:extLst>
      <p:ext uri="{BB962C8B-B14F-4D97-AF65-F5344CB8AC3E}">
        <p14:creationId xmlns:p14="http://schemas.microsoft.com/office/powerpoint/2010/main" val="453155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594E3BF-58EF-495B-93FD-A909BD98C1CE}"/>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RUMINATION</a:t>
            </a:r>
          </a:p>
        </p:txBody>
      </p:sp>
      <p:sp>
        <p:nvSpPr>
          <p:cNvPr id="2" name="직사각형 1">
            <a:extLst>
              <a:ext uri="{FF2B5EF4-FFF2-40B4-BE49-F238E27FC236}">
                <a16:creationId xmlns:a16="http://schemas.microsoft.com/office/drawing/2014/main" id="{6644F0F2-3148-4847-B514-C0CBEECCE04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Rumination connects health and feeding</a:t>
            </a:r>
          </a:p>
        </p:txBody>
      </p:sp>
      <p:sp>
        <p:nvSpPr>
          <p:cNvPr id="3" name="직사각형 2">
            <a:extLst>
              <a:ext uri="{FF2B5EF4-FFF2-40B4-BE49-F238E27FC236}">
                <a16:creationId xmlns:a16="http://schemas.microsoft.com/office/drawing/2014/main" id="{B5BDF1C0-53DC-44C3-9898-BBFA9019158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CD5CEEDA-3816-4346-90D2-941A065031BE}"/>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10</a:t>
            </a:r>
          </a:p>
        </p:txBody>
      </p:sp>
      <p:sp>
        <p:nvSpPr>
          <p:cNvPr id="5" name="직사각형 4">
            <a:extLst>
              <a:ext uri="{FF2B5EF4-FFF2-40B4-BE49-F238E27FC236}">
                <a16:creationId xmlns:a16="http://schemas.microsoft.com/office/drawing/2014/main" id="{EFDCCAED-A748-4ED8-87F3-ED8A17F7AE20}"/>
              </a:ext>
            </a:extLst>
          </p:cNvPr>
          <p:cNvSpPr>
            <a:spLocks noGrp="1"/>
          </p:cNvSpPr>
          <p:nvPr/>
        </p:nvSpPr>
        <p:spPr>
          <a:xfrm>
            <a:off x="685800" y="1885950"/>
            <a:ext cx="114300" cy="3143250"/>
          </a:xfrm>
          <a:prstGeom prst="rect">
            <a:avLst/>
          </a:prstGeom>
          <a:solidFill>
            <a:srgbClr val="15A98C"/>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BBBC5F2A-2862-4C67-8357-F26126C6B96D}"/>
              </a:ext>
            </a:extLst>
          </p:cNvPr>
          <p:cNvSpPr>
            <a:spLocks noGrp="1"/>
          </p:cNvSpPr>
          <p:nvPr/>
        </p:nvSpPr>
        <p:spPr>
          <a:xfrm>
            <a:off x="1066800" y="1924050"/>
            <a:ext cx="2476500" cy="457200"/>
          </a:xfrm>
          <a:prstGeom prst="rect">
            <a:avLst/>
          </a:prstGeom>
          <a:noFill/>
          <a:ln w="0">
            <a:noFill/>
            <a:prstDash val="solid"/>
          </a:ln>
        </p:spPr>
        <p:txBody>
          <a:bodyPr/>
          <a:lstStyle/>
          <a:p>
            <a:pPr algn="l">
              <a:buNone/>
              <a:defRPr sz="2550" b="1">
                <a:solidFill>
                  <a:srgbClr val="10251F"/>
                </a:solidFill>
              </a:defRPr>
            </a:pPr>
            <a:r>
              <a:rPr sz="2550" b="1">
                <a:solidFill>
                  <a:srgbClr val="10251F"/>
                </a:solidFill>
              </a:rPr>
              <a:t>Decline</a:t>
            </a:r>
          </a:p>
        </p:txBody>
      </p:sp>
      <p:sp>
        <p:nvSpPr>
          <p:cNvPr id="7" name="직사각형 6">
            <a:extLst>
              <a:ext uri="{FF2B5EF4-FFF2-40B4-BE49-F238E27FC236}">
                <a16:creationId xmlns:a16="http://schemas.microsoft.com/office/drawing/2014/main" id="{A6D0AB2F-DFF8-4ACF-A1B2-B23122BCDD0C}"/>
              </a:ext>
            </a:extLst>
          </p:cNvPr>
          <p:cNvSpPr>
            <a:spLocks noGrp="1"/>
          </p:cNvSpPr>
          <p:nvPr/>
        </p:nvSpPr>
        <p:spPr>
          <a:xfrm>
            <a:off x="1066800" y="2571750"/>
            <a:ext cx="4095750" cy="1428750"/>
          </a:xfrm>
          <a:prstGeom prst="rect">
            <a:avLst/>
          </a:prstGeom>
          <a:noFill/>
          <a:ln w="0">
            <a:noFill/>
            <a:prstDash val="solid"/>
          </a:ln>
        </p:spPr>
        <p:txBody>
          <a:bodyPr/>
          <a:lstStyle/>
          <a:p>
            <a:pPr algn="l">
              <a:buNone/>
              <a:defRPr sz="1650" b="0">
                <a:solidFill>
                  <a:srgbClr val="66746F"/>
                </a:solidFill>
              </a:defRPr>
            </a:pPr>
            <a:r>
              <a:rPr sz="1650" b="0">
                <a:solidFill>
                  <a:srgbClr val="66746F"/>
                </a:solidFill>
              </a:rPr>
              <a:t>May relate to disease, pain, lower intake, stress or a group change.</a:t>
            </a:r>
          </a:p>
        </p:txBody>
      </p:sp>
      <p:sp>
        <p:nvSpPr>
          <p:cNvPr id="8" name="직사각형 7">
            <a:extLst>
              <a:ext uri="{FF2B5EF4-FFF2-40B4-BE49-F238E27FC236}">
                <a16:creationId xmlns:a16="http://schemas.microsoft.com/office/drawing/2014/main" id="{B278306E-15A7-4662-85A4-8CEE15F79433}"/>
              </a:ext>
            </a:extLst>
          </p:cNvPr>
          <p:cNvSpPr>
            <a:spLocks noGrp="1"/>
          </p:cNvSpPr>
          <p:nvPr/>
        </p:nvSpPr>
        <p:spPr>
          <a:xfrm>
            <a:off x="6096000" y="1924050"/>
            <a:ext cx="3143250" cy="457200"/>
          </a:xfrm>
          <a:prstGeom prst="rect">
            <a:avLst/>
          </a:prstGeom>
          <a:noFill/>
          <a:ln w="0">
            <a:noFill/>
            <a:prstDash val="solid"/>
          </a:ln>
        </p:spPr>
        <p:txBody>
          <a:bodyPr/>
          <a:lstStyle/>
          <a:p>
            <a:pPr algn="l">
              <a:buNone/>
              <a:defRPr sz="2550" b="1">
                <a:solidFill>
                  <a:srgbClr val="10251F"/>
                </a:solidFill>
              </a:defRPr>
            </a:pPr>
            <a:r>
              <a:rPr sz="2550" b="1">
                <a:solidFill>
                  <a:srgbClr val="10251F"/>
                </a:solidFill>
              </a:rPr>
              <a:t>Recovery</a:t>
            </a:r>
          </a:p>
        </p:txBody>
      </p:sp>
      <p:sp>
        <p:nvSpPr>
          <p:cNvPr id="9" name="직사각형 8">
            <a:extLst>
              <a:ext uri="{FF2B5EF4-FFF2-40B4-BE49-F238E27FC236}">
                <a16:creationId xmlns:a16="http://schemas.microsoft.com/office/drawing/2014/main" id="{CDC0D964-F8AB-47D4-84FA-9914D7AAF086}"/>
              </a:ext>
            </a:extLst>
          </p:cNvPr>
          <p:cNvSpPr>
            <a:spLocks noGrp="1"/>
          </p:cNvSpPr>
          <p:nvPr/>
        </p:nvSpPr>
        <p:spPr>
          <a:xfrm>
            <a:off x="6096000" y="2571750"/>
            <a:ext cx="4572000" cy="1428750"/>
          </a:xfrm>
          <a:prstGeom prst="rect">
            <a:avLst/>
          </a:prstGeom>
          <a:noFill/>
          <a:ln w="0">
            <a:noFill/>
            <a:prstDash val="solid"/>
          </a:ln>
        </p:spPr>
        <p:txBody>
          <a:bodyPr/>
          <a:lstStyle/>
          <a:p>
            <a:pPr algn="l">
              <a:buNone/>
              <a:defRPr sz="1650" b="0">
                <a:solidFill>
                  <a:srgbClr val="66746F"/>
                </a:solidFill>
              </a:defRPr>
            </a:pPr>
            <a:r>
              <a:rPr sz="1650" b="0">
                <a:solidFill>
                  <a:srgbClr val="66746F"/>
                </a:solidFill>
              </a:rPr>
              <a:t>Helps track response after treatment, calving recovery or ration correction.</a:t>
            </a:r>
          </a:p>
        </p:txBody>
      </p:sp>
      <p:sp>
        <p:nvSpPr>
          <p:cNvPr id="10" name="모서리가 둥근 직사각형 9">
            <a:extLst>
              <a:ext uri="{FF2B5EF4-FFF2-40B4-BE49-F238E27FC236}">
                <a16:creationId xmlns:a16="http://schemas.microsoft.com/office/drawing/2014/main" id="{A1CF9D95-2D4D-46C3-B8E0-DD15A13C63E9}"/>
              </a:ext>
            </a:extLst>
          </p:cNvPr>
          <p:cNvSpPr>
            <a:spLocks noGrp="1"/>
          </p:cNvSpPr>
          <p:nvPr/>
        </p:nvSpPr>
        <p:spPr>
          <a:xfrm>
            <a:off x="1066800" y="4476750"/>
            <a:ext cx="1809750" cy="323850"/>
          </a:xfrm>
          <a:prstGeom prst="roundRect">
            <a:avLst>
              <a:gd name="adj" fmla="val 50000"/>
            </a:avLst>
          </a:prstGeom>
          <a:solidFill>
            <a:srgbClr val="DFF4E8"/>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268D5854-1132-4831-AD1C-317898655A29}"/>
              </a:ext>
            </a:extLst>
          </p:cNvPr>
          <p:cNvSpPr>
            <a:spLocks noGrp="1"/>
          </p:cNvSpPr>
          <p:nvPr/>
        </p:nvSpPr>
        <p:spPr>
          <a:xfrm>
            <a:off x="1162050" y="4533900"/>
            <a:ext cx="1619250" cy="190500"/>
          </a:xfrm>
          <a:prstGeom prst="rect">
            <a:avLst/>
          </a:prstGeom>
          <a:noFill/>
          <a:ln w="0">
            <a:noFill/>
            <a:prstDash val="solid"/>
          </a:ln>
        </p:spPr>
        <p:txBody>
          <a:bodyPr/>
          <a:lstStyle/>
          <a:p>
            <a:pPr algn="ctr">
              <a:buNone/>
              <a:defRPr sz="975" b="1">
                <a:solidFill>
                  <a:srgbClr val="15A98C"/>
                </a:solidFill>
              </a:defRPr>
            </a:pPr>
            <a:r>
              <a:rPr sz="975" b="1">
                <a:solidFill>
                  <a:srgbClr val="15A98C"/>
                </a:solidFill>
              </a:rPr>
              <a:t>INDIVIDUAL TREND</a:t>
            </a:r>
          </a:p>
        </p:txBody>
      </p:sp>
      <p:sp>
        <p:nvSpPr>
          <p:cNvPr id="12" name="모서리가 둥근 직사각형 11">
            <a:extLst>
              <a:ext uri="{FF2B5EF4-FFF2-40B4-BE49-F238E27FC236}">
                <a16:creationId xmlns:a16="http://schemas.microsoft.com/office/drawing/2014/main" id="{F0C2B3F1-578E-4808-AD06-AC489A4A252F}"/>
              </a:ext>
            </a:extLst>
          </p:cNvPr>
          <p:cNvSpPr>
            <a:spLocks noGrp="1"/>
          </p:cNvSpPr>
          <p:nvPr/>
        </p:nvSpPr>
        <p:spPr>
          <a:xfrm>
            <a:off x="6096000" y="4476750"/>
            <a:ext cx="1619250" cy="323850"/>
          </a:xfrm>
          <a:prstGeom prst="roundRect">
            <a:avLst>
              <a:gd name="adj" fmla="val 50000"/>
            </a:avLst>
          </a:prstGeom>
          <a:solidFill>
            <a:srgbClr val="DFF4E8"/>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2DCE3DFD-1265-4660-843C-66829BCF91D4}"/>
              </a:ext>
            </a:extLst>
          </p:cNvPr>
          <p:cNvSpPr>
            <a:spLocks noGrp="1"/>
          </p:cNvSpPr>
          <p:nvPr/>
        </p:nvSpPr>
        <p:spPr>
          <a:xfrm>
            <a:off x="6191250" y="4533900"/>
            <a:ext cx="1428750" cy="190500"/>
          </a:xfrm>
          <a:prstGeom prst="rect">
            <a:avLst/>
          </a:prstGeom>
          <a:noFill/>
          <a:ln w="0">
            <a:noFill/>
            <a:prstDash val="solid"/>
          </a:ln>
        </p:spPr>
        <p:txBody>
          <a:bodyPr/>
          <a:lstStyle/>
          <a:p>
            <a:pPr algn="ctr">
              <a:buNone/>
              <a:defRPr sz="975" b="1">
                <a:solidFill>
                  <a:srgbClr val="15A98C"/>
                </a:solidFill>
              </a:defRPr>
            </a:pPr>
            <a:r>
              <a:rPr sz="975" b="1">
                <a:solidFill>
                  <a:srgbClr val="15A98C"/>
                </a:solidFill>
              </a:rPr>
              <a:t>GROUP TREND</a:t>
            </a:r>
          </a:p>
        </p:txBody>
      </p:sp>
    </p:spTree>
    <p:extLst>
      <p:ext uri="{BB962C8B-B14F-4D97-AF65-F5344CB8AC3E}">
        <p14:creationId xmlns:p14="http://schemas.microsoft.com/office/powerpoint/2010/main" val="2133208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F2038D87-CDBC-4F27-91B3-4794B3010873}"/>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ACTIVITY</a:t>
            </a:r>
          </a:p>
        </p:txBody>
      </p:sp>
      <p:sp>
        <p:nvSpPr>
          <p:cNvPr id="2" name="직사각형 1">
            <a:extLst>
              <a:ext uri="{FF2B5EF4-FFF2-40B4-BE49-F238E27FC236}">
                <a16:creationId xmlns:a16="http://schemas.microsoft.com/office/drawing/2014/main" id="{2C8031C9-6E19-4923-907E-442047322206}"/>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Activity supports reproduction decisions, but needs context</a:t>
            </a:r>
          </a:p>
        </p:txBody>
      </p:sp>
      <p:sp>
        <p:nvSpPr>
          <p:cNvPr id="3" name="직사각형 2">
            <a:extLst>
              <a:ext uri="{FF2B5EF4-FFF2-40B4-BE49-F238E27FC236}">
                <a16:creationId xmlns:a16="http://schemas.microsoft.com/office/drawing/2014/main" id="{534D585B-5C8C-4B13-978B-A1F63FD59AA4}"/>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8560144B-BE5F-4CBE-8626-E0273D5BD950}"/>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11</a:t>
            </a:r>
          </a:p>
        </p:txBody>
      </p:sp>
      <p:sp>
        <p:nvSpPr>
          <p:cNvPr id="5" name="타원 4">
            <a:extLst>
              <a:ext uri="{FF2B5EF4-FFF2-40B4-BE49-F238E27FC236}">
                <a16:creationId xmlns:a16="http://schemas.microsoft.com/office/drawing/2014/main" id="{3299FED1-4DF2-469F-A5AE-56A20959AA17}"/>
              </a:ext>
            </a:extLst>
          </p:cNvPr>
          <p:cNvSpPr>
            <a:spLocks noGrp="1"/>
          </p:cNvSpPr>
          <p:nvPr/>
        </p:nvSpPr>
        <p:spPr>
          <a:xfrm>
            <a:off x="2286000" y="2476500"/>
            <a:ext cx="2095500" cy="2095500"/>
          </a:xfrm>
          <a:prstGeom prst="ellipse">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9BA10AC-B986-4E8E-BA88-9F9AF4F23126}"/>
              </a:ext>
            </a:extLst>
          </p:cNvPr>
          <p:cNvSpPr>
            <a:spLocks noGrp="1"/>
          </p:cNvSpPr>
          <p:nvPr/>
        </p:nvSpPr>
        <p:spPr>
          <a:xfrm>
            <a:off x="2476500" y="3352800"/>
            <a:ext cx="1714500" cy="381000"/>
          </a:xfrm>
          <a:prstGeom prst="rect">
            <a:avLst/>
          </a:prstGeom>
          <a:noFill/>
          <a:ln w="0">
            <a:noFill/>
            <a:prstDash val="solid"/>
          </a:ln>
        </p:spPr>
        <p:txBody>
          <a:bodyPr/>
          <a:lstStyle/>
          <a:p>
            <a:pPr algn="ctr">
              <a:buNone/>
              <a:defRPr sz="2250" b="1">
                <a:solidFill>
                  <a:srgbClr val="0A1B17"/>
                </a:solidFill>
              </a:defRPr>
            </a:pPr>
            <a:r>
              <a:rPr sz="2250" b="1">
                <a:solidFill>
                  <a:srgbClr val="0A1B17"/>
                </a:solidFill>
              </a:rPr>
              <a:t>ACTIVITY</a:t>
            </a:r>
          </a:p>
        </p:txBody>
      </p:sp>
      <p:sp>
        <p:nvSpPr>
          <p:cNvPr id="7" name="모서리가 둥근 직사각형 6">
            <a:extLst>
              <a:ext uri="{FF2B5EF4-FFF2-40B4-BE49-F238E27FC236}">
                <a16:creationId xmlns:a16="http://schemas.microsoft.com/office/drawing/2014/main" id="{678F045A-D095-42CB-AF55-FB5A227B3805}"/>
              </a:ext>
            </a:extLst>
          </p:cNvPr>
          <p:cNvSpPr>
            <a:spLocks noGrp="1"/>
          </p:cNvSpPr>
          <p:nvPr/>
        </p:nvSpPr>
        <p:spPr>
          <a:xfrm>
            <a:off x="6667500" y="2076450"/>
            <a:ext cx="4000500" cy="781050"/>
          </a:xfrm>
          <a:prstGeom prst="roundRect">
            <a:avLst>
              <a:gd name="adj" fmla="val 14634"/>
            </a:avLst>
          </a:prstGeom>
          <a:solidFill>
            <a:srgbClr val="FFFFFF"/>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493C6DBA-CBB9-4768-87C0-1D039253B63A}"/>
              </a:ext>
            </a:extLst>
          </p:cNvPr>
          <p:cNvSpPr>
            <a:spLocks noGrp="1"/>
          </p:cNvSpPr>
          <p:nvPr/>
        </p:nvSpPr>
        <p:spPr>
          <a:xfrm>
            <a:off x="6667500" y="2076450"/>
            <a:ext cx="95250" cy="781050"/>
          </a:xfrm>
          <a:prstGeom prst="rect">
            <a:avLst/>
          </a:prstGeom>
          <a:solidFill>
            <a:srgbClr val="E96155"/>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C079F3FA-EECF-4C72-89FC-6D3D8A0183A3}"/>
              </a:ext>
            </a:extLst>
          </p:cNvPr>
          <p:cNvSpPr>
            <a:spLocks noGrp="1"/>
          </p:cNvSpPr>
          <p:nvPr/>
        </p:nvSpPr>
        <p:spPr>
          <a:xfrm>
            <a:off x="6934200" y="2209800"/>
            <a:ext cx="1238250" cy="238125"/>
          </a:xfrm>
          <a:prstGeom prst="rect">
            <a:avLst/>
          </a:prstGeom>
          <a:noFill/>
          <a:ln w="0">
            <a:noFill/>
            <a:prstDash val="solid"/>
          </a:ln>
        </p:spPr>
        <p:txBody>
          <a:bodyPr/>
          <a:lstStyle/>
          <a:p>
            <a:pPr algn="l">
              <a:buNone/>
              <a:defRPr sz="1350" b="1">
                <a:solidFill>
                  <a:srgbClr val="E96155"/>
                </a:solidFill>
              </a:defRPr>
            </a:pPr>
            <a:r>
              <a:rPr sz="1350" b="1">
                <a:solidFill>
                  <a:srgbClr val="E96155"/>
                </a:solidFill>
              </a:rPr>
              <a:t>Increased</a:t>
            </a:r>
          </a:p>
        </p:txBody>
      </p:sp>
      <p:sp>
        <p:nvSpPr>
          <p:cNvPr id="10" name="직사각형 9">
            <a:extLst>
              <a:ext uri="{FF2B5EF4-FFF2-40B4-BE49-F238E27FC236}">
                <a16:creationId xmlns:a16="http://schemas.microsoft.com/office/drawing/2014/main" id="{7013987C-F943-436B-AD38-82CD2DDF9B58}"/>
              </a:ext>
            </a:extLst>
          </p:cNvPr>
          <p:cNvSpPr>
            <a:spLocks noGrp="1"/>
          </p:cNvSpPr>
          <p:nvPr/>
        </p:nvSpPr>
        <p:spPr>
          <a:xfrm>
            <a:off x="8239125" y="2209800"/>
            <a:ext cx="2095500" cy="428625"/>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Possible heat</a:t>
            </a:r>
          </a:p>
        </p:txBody>
      </p:sp>
      <p:sp>
        <p:nvSpPr>
          <p:cNvPr id="11" name="모서리가 둥근 직사각형 10">
            <a:extLst>
              <a:ext uri="{FF2B5EF4-FFF2-40B4-BE49-F238E27FC236}">
                <a16:creationId xmlns:a16="http://schemas.microsoft.com/office/drawing/2014/main" id="{1410B24C-5C4E-429F-B72F-7D9AF338B2CD}"/>
              </a:ext>
            </a:extLst>
          </p:cNvPr>
          <p:cNvSpPr>
            <a:spLocks noGrp="1"/>
          </p:cNvSpPr>
          <p:nvPr/>
        </p:nvSpPr>
        <p:spPr>
          <a:xfrm>
            <a:off x="6667500" y="3238500"/>
            <a:ext cx="4000500" cy="781050"/>
          </a:xfrm>
          <a:prstGeom prst="roundRect">
            <a:avLst>
              <a:gd name="adj" fmla="val 14634"/>
            </a:avLst>
          </a:prstGeom>
          <a:solidFill>
            <a:srgbClr val="FFFFFF"/>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B0651EAD-92EC-4489-BE16-A65C3607760B}"/>
              </a:ext>
            </a:extLst>
          </p:cNvPr>
          <p:cNvSpPr>
            <a:spLocks noGrp="1"/>
          </p:cNvSpPr>
          <p:nvPr/>
        </p:nvSpPr>
        <p:spPr>
          <a:xfrm>
            <a:off x="6667500" y="3238500"/>
            <a:ext cx="95250" cy="781050"/>
          </a:xfrm>
          <a:prstGeom prst="rect">
            <a:avLst/>
          </a:prstGeom>
          <a:solidFill>
            <a:srgbClr val="4C8DD9"/>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31C394F1-4F4F-471B-833E-B27485F3A24A}"/>
              </a:ext>
            </a:extLst>
          </p:cNvPr>
          <p:cNvSpPr>
            <a:spLocks noGrp="1"/>
          </p:cNvSpPr>
          <p:nvPr/>
        </p:nvSpPr>
        <p:spPr>
          <a:xfrm>
            <a:off x="6934200" y="3371850"/>
            <a:ext cx="1238250" cy="238125"/>
          </a:xfrm>
          <a:prstGeom prst="rect">
            <a:avLst/>
          </a:prstGeom>
          <a:noFill/>
          <a:ln w="0">
            <a:noFill/>
            <a:prstDash val="solid"/>
          </a:ln>
        </p:spPr>
        <p:txBody>
          <a:bodyPr/>
          <a:lstStyle/>
          <a:p>
            <a:pPr algn="l">
              <a:buNone/>
              <a:defRPr sz="1350" b="1">
                <a:solidFill>
                  <a:srgbClr val="4C8DD9"/>
                </a:solidFill>
              </a:defRPr>
            </a:pPr>
            <a:r>
              <a:rPr sz="1350" b="1">
                <a:solidFill>
                  <a:srgbClr val="4C8DD9"/>
                </a:solidFill>
              </a:rPr>
              <a:t>Decreased</a:t>
            </a:r>
          </a:p>
        </p:txBody>
      </p:sp>
      <p:sp>
        <p:nvSpPr>
          <p:cNvPr id="14" name="직사각형 13">
            <a:extLst>
              <a:ext uri="{FF2B5EF4-FFF2-40B4-BE49-F238E27FC236}">
                <a16:creationId xmlns:a16="http://schemas.microsoft.com/office/drawing/2014/main" id="{D8127F45-AD98-4F1B-BA8E-30E8092262C8}"/>
              </a:ext>
            </a:extLst>
          </p:cNvPr>
          <p:cNvSpPr>
            <a:spLocks noGrp="1"/>
          </p:cNvSpPr>
          <p:nvPr/>
        </p:nvSpPr>
        <p:spPr>
          <a:xfrm>
            <a:off x="8239125" y="3371850"/>
            <a:ext cx="2095500" cy="428625"/>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Lameness / disease</a:t>
            </a:r>
          </a:p>
        </p:txBody>
      </p:sp>
      <p:sp>
        <p:nvSpPr>
          <p:cNvPr id="15" name="모서리가 둥근 직사각형 14">
            <a:extLst>
              <a:ext uri="{FF2B5EF4-FFF2-40B4-BE49-F238E27FC236}">
                <a16:creationId xmlns:a16="http://schemas.microsoft.com/office/drawing/2014/main" id="{45E0B923-BC7B-4714-AE69-C07500030D46}"/>
              </a:ext>
            </a:extLst>
          </p:cNvPr>
          <p:cNvSpPr>
            <a:spLocks noGrp="1"/>
          </p:cNvSpPr>
          <p:nvPr/>
        </p:nvSpPr>
        <p:spPr>
          <a:xfrm>
            <a:off x="6667500" y="4400550"/>
            <a:ext cx="4000500" cy="781050"/>
          </a:xfrm>
          <a:prstGeom prst="roundRect">
            <a:avLst>
              <a:gd name="adj" fmla="val 14634"/>
            </a:avLst>
          </a:prstGeom>
          <a:solidFill>
            <a:srgbClr val="FFFFFF"/>
          </a:solidFill>
          <a:ln w="0">
            <a:noFill/>
            <a:prstDash val="solid"/>
          </a:ln>
        </p:spPr>
        <p:txBody>
          <a:bodyPr/>
          <a:lstStyle/>
          <a:p>
            <a:endParaRPr lang="ko-KR" altLang="en-US"/>
          </a:p>
        </p:txBody>
      </p:sp>
      <p:sp>
        <p:nvSpPr>
          <p:cNvPr id="16" name="직사각형 15">
            <a:extLst>
              <a:ext uri="{FF2B5EF4-FFF2-40B4-BE49-F238E27FC236}">
                <a16:creationId xmlns:a16="http://schemas.microsoft.com/office/drawing/2014/main" id="{9CFDD865-71E4-4715-9A6B-ABDB5DDFAEAF}"/>
              </a:ext>
            </a:extLst>
          </p:cNvPr>
          <p:cNvSpPr>
            <a:spLocks noGrp="1"/>
          </p:cNvSpPr>
          <p:nvPr/>
        </p:nvSpPr>
        <p:spPr>
          <a:xfrm>
            <a:off x="6667500" y="4400550"/>
            <a:ext cx="95250" cy="781050"/>
          </a:xfrm>
          <a:prstGeom prst="rect">
            <a:avLst/>
          </a:prstGeom>
          <a:solidFill>
            <a:srgbClr val="F6B846"/>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558F1C32-D948-4523-80E8-C87A7F0245C9}"/>
              </a:ext>
            </a:extLst>
          </p:cNvPr>
          <p:cNvSpPr>
            <a:spLocks noGrp="1"/>
          </p:cNvSpPr>
          <p:nvPr/>
        </p:nvSpPr>
        <p:spPr>
          <a:xfrm>
            <a:off x="6934200" y="4533900"/>
            <a:ext cx="1238250" cy="238125"/>
          </a:xfrm>
          <a:prstGeom prst="rect">
            <a:avLst/>
          </a:prstGeom>
          <a:noFill/>
          <a:ln w="0">
            <a:noFill/>
            <a:prstDash val="solid"/>
          </a:ln>
        </p:spPr>
        <p:txBody>
          <a:bodyPr/>
          <a:lstStyle/>
          <a:p>
            <a:pPr algn="l">
              <a:buNone/>
              <a:defRPr sz="1350" b="1">
                <a:solidFill>
                  <a:srgbClr val="F6B846"/>
                </a:solidFill>
              </a:defRPr>
            </a:pPr>
            <a:r>
              <a:rPr sz="1350" b="1">
                <a:solidFill>
                  <a:srgbClr val="F6B846"/>
                </a:solidFill>
              </a:rPr>
              <a:t>Changed</a:t>
            </a:r>
          </a:p>
        </p:txBody>
      </p:sp>
      <p:sp>
        <p:nvSpPr>
          <p:cNvPr id="18" name="직사각형 17">
            <a:extLst>
              <a:ext uri="{FF2B5EF4-FFF2-40B4-BE49-F238E27FC236}">
                <a16:creationId xmlns:a16="http://schemas.microsoft.com/office/drawing/2014/main" id="{FE32B1B6-ABFB-4D8A-ADB7-843A885E98C5}"/>
              </a:ext>
            </a:extLst>
          </p:cNvPr>
          <p:cNvSpPr>
            <a:spLocks noGrp="1"/>
          </p:cNvSpPr>
          <p:nvPr/>
        </p:nvSpPr>
        <p:spPr>
          <a:xfrm>
            <a:off x="8239125" y="4533900"/>
            <a:ext cx="2095500" cy="428625"/>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Movement / stress</a:t>
            </a:r>
          </a:p>
        </p:txBody>
      </p:sp>
    </p:spTree>
    <p:extLst>
      <p:ext uri="{BB962C8B-B14F-4D97-AF65-F5344CB8AC3E}">
        <p14:creationId xmlns:p14="http://schemas.microsoft.com/office/powerpoint/2010/main" val="1640581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27E57AF6-5CEB-4A0F-906A-BA9D126A490F}"/>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RUMEN pH</a:t>
            </a:r>
          </a:p>
        </p:txBody>
      </p:sp>
      <p:sp>
        <p:nvSpPr>
          <p:cNvPr id="2" name="직사각형 1">
            <a:extLst>
              <a:ext uri="{FF2B5EF4-FFF2-40B4-BE49-F238E27FC236}">
                <a16:creationId xmlns:a16="http://schemas.microsoft.com/office/drawing/2014/main" id="{FADA665F-C445-4894-AC89-4C8F85381258}"/>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pH shows the ration’s actual effect in the rumen</a:t>
            </a:r>
          </a:p>
        </p:txBody>
      </p:sp>
      <p:sp>
        <p:nvSpPr>
          <p:cNvPr id="3" name="직사각형 2">
            <a:extLst>
              <a:ext uri="{FF2B5EF4-FFF2-40B4-BE49-F238E27FC236}">
                <a16:creationId xmlns:a16="http://schemas.microsoft.com/office/drawing/2014/main" id="{3157A22B-7C5C-4FB0-96E3-77BD88DF6646}"/>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96603A02-7B18-411F-9166-7A30B7EA17F5}"/>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12</a:t>
            </a:r>
          </a:p>
        </p:txBody>
      </p:sp>
      <p:sp>
        <p:nvSpPr>
          <p:cNvPr id="5" name="직사각형 4">
            <a:extLst>
              <a:ext uri="{FF2B5EF4-FFF2-40B4-BE49-F238E27FC236}">
                <a16:creationId xmlns:a16="http://schemas.microsoft.com/office/drawing/2014/main" id="{78B9A6D7-7117-4762-8156-DE902F99E68A}"/>
              </a:ext>
            </a:extLst>
          </p:cNvPr>
          <p:cNvSpPr>
            <a:spLocks noGrp="1"/>
          </p:cNvSpPr>
          <p:nvPr/>
        </p:nvSpPr>
        <p:spPr>
          <a:xfrm>
            <a:off x="685800" y="1885950"/>
            <a:ext cx="3333750" cy="609600"/>
          </a:xfrm>
          <a:prstGeom prst="rect">
            <a:avLst/>
          </a:prstGeom>
          <a:noFill/>
          <a:ln w="0">
            <a:noFill/>
            <a:prstDash val="solid"/>
          </a:ln>
        </p:spPr>
        <p:txBody>
          <a:bodyPr/>
          <a:lstStyle/>
          <a:p>
            <a:pPr algn="l">
              <a:buNone/>
              <a:defRPr sz="3600" b="1">
                <a:solidFill>
                  <a:srgbClr val="F6B846"/>
                </a:solidFill>
              </a:defRPr>
            </a:pPr>
            <a:r>
              <a:rPr sz="3600" b="1">
                <a:solidFill>
                  <a:srgbClr val="F6B846"/>
                </a:solidFill>
              </a:rPr>
              <a:t>150 days</a:t>
            </a:r>
          </a:p>
        </p:txBody>
      </p:sp>
      <p:sp>
        <p:nvSpPr>
          <p:cNvPr id="6" name="직사각형 5">
            <a:extLst>
              <a:ext uri="{FF2B5EF4-FFF2-40B4-BE49-F238E27FC236}">
                <a16:creationId xmlns:a16="http://schemas.microsoft.com/office/drawing/2014/main" id="{BC736F2F-B382-4D17-9AEF-AC6672006912}"/>
              </a:ext>
            </a:extLst>
          </p:cNvPr>
          <p:cNvSpPr>
            <a:spLocks noGrp="1"/>
          </p:cNvSpPr>
          <p:nvPr/>
        </p:nvSpPr>
        <p:spPr>
          <a:xfrm>
            <a:off x="685800" y="2476500"/>
            <a:ext cx="3333750" cy="533400"/>
          </a:xfrm>
          <a:prstGeom prst="rect">
            <a:avLst/>
          </a:prstGeom>
          <a:noFill/>
          <a:ln w="0">
            <a:noFill/>
            <a:prstDash val="solid"/>
          </a:ln>
        </p:spPr>
        <p:txBody>
          <a:bodyPr/>
          <a:lstStyle/>
          <a:p>
            <a:pPr algn="l">
              <a:buNone/>
              <a:defRPr sz="1275" b="0">
                <a:solidFill>
                  <a:srgbClr val="66746F"/>
                </a:solidFill>
              </a:defRPr>
            </a:pPr>
            <a:r>
              <a:rPr sz="1275" b="0">
                <a:solidFill>
                  <a:srgbClr val="66746F"/>
                </a:solidFill>
              </a:rPr>
              <a:t>pH measurement period; other signals for the battery lifetime</a:t>
            </a:r>
          </a:p>
        </p:txBody>
      </p:sp>
      <p:sp>
        <p:nvSpPr>
          <p:cNvPr id="7" name="모서리가 둥근 직사각형 6">
            <a:extLst>
              <a:ext uri="{FF2B5EF4-FFF2-40B4-BE49-F238E27FC236}">
                <a16:creationId xmlns:a16="http://schemas.microsoft.com/office/drawing/2014/main" id="{B98C19B4-9FC2-4E90-A885-6C7F33C52458}"/>
              </a:ext>
            </a:extLst>
          </p:cNvPr>
          <p:cNvSpPr>
            <a:spLocks noGrp="1"/>
          </p:cNvSpPr>
          <p:nvPr/>
        </p:nvSpPr>
        <p:spPr>
          <a:xfrm>
            <a:off x="4572000" y="1714500"/>
            <a:ext cx="6934200" cy="3429000"/>
          </a:xfrm>
          <a:prstGeom prst="roundRect">
            <a:avLst>
              <a:gd name="adj" fmla="val 4444"/>
            </a:avLst>
          </a:prstGeom>
          <a:solidFill>
            <a:srgbClr val="FFFFFF"/>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6A013186-29E2-4220-A80D-7161A00B277E}"/>
              </a:ext>
            </a:extLst>
          </p:cNvPr>
          <p:cNvSpPr>
            <a:spLocks noGrp="1"/>
          </p:cNvSpPr>
          <p:nvPr/>
        </p:nvSpPr>
        <p:spPr>
          <a:xfrm>
            <a:off x="4953000" y="2057400"/>
            <a:ext cx="2857500" cy="247650"/>
          </a:xfrm>
          <a:prstGeom prst="rect">
            <a:avLst/>
          </a:prstGeom>
          <a:noFill/>
          <a:ln w="0">
            <a:noFill/>
            <a:prstDash val="solid"/>
          </a:ln>
        </p:spPr>
        <p:txBody>
          <a:bodyPr/>
          <a:lstStyle/>
          <a:p>
            <a:pPr algn="l">
              <a:buNone/>
              <a:defRPr sz="1125" b="1">
                <a:solidFill>
                  <a:srgbClr val="15A98C"/>
                </a:solidFill>
              </a:defRPr>
            </a:pPr>
            <a:r>
              <a:rPr sz="1125" b="1">
                <a:solidFill>
                  <a:srgbClr val="15A98C"/>
                </a:solidFill>
              </a:rPr>
              <a:t>INTERPRETATION CHAIN</a:t>
            </a:r>
          </a:p>
        </p:txBody>
      </p:sp>
      <p:sp>
        <p:nvSpPr>
          <p:cNvPr id="9" name="오른쪽 화살표[R] 8">
            <a:extLst>
              <a:ext uri="{FF2B5EF4-FFF2-40B4-BE49-F238E27FC236}">
                <a16:creationId xmlns:a16="http://schemas.microsoft.com/office/drawing/2014/main" id="{01631159-4101-4D77-820E-AA953DEE6089}"/>
              </a:ext>
            </a:extLst>
          </p:cNvPr>
          <p:cNvSpPr>
            <a:spLocks noGrp="1"/>
          </p:cNvSpPr>
          <p:nvPr/>
        </p:nvSpPr>
        <p:spPr>
          <a:xfrm>
            <a:off x="6124575" y="3143250"/>
            <a:ext cx="361950" cy="247650"/>
          </a:xfrm>
          <a:prstGeom prst="rightArrow">
            <a:avLst/>
          </a:prstGeom>
          <a:solidFill>
            <a:srgbClr val="DFF4E8"/>
          </a:solidFill>
          <a:ln w="0">
            <a:noFill/>
            <a:prstDash val="solid"/>
          </a:ln>
        </p:spPr>
        <p:txBody>
          <a:bodyPr/>
          <a:lstStyle/>
          <a:p>
            <a:endParaRPr lang="ko-KR" altLang="en-US"/>
          </a:p>
        </p:txBody>
      </p:sp>
      <p:sp>
        <p:nvSpPr>
          <p:cNvPr id="10" name="모서리가 둥근 직사각형 9">
            <a:extLst>
              <a:ext uri="{FF2B5EF4-FFF2-40B4-BE49-F238E27FC236}">
                <a16:creationId xmlns:a16="http://schemas.microsoft.com/office/drawing/2014/main" id="{08FAAA6F-0CD9-48AE-A140-8065ADE66429}"/>
              </a:ext>
            </a:extLst>
          </p:cNvPr>
          <p:cNvSpPr>
            <a:spLocks noGrp="1"/>
          </p:cNvSpPr>
          <p:nvPr/>
        </p:nvSpPr>
        <p:spPr>
          <a:xfrm>
            <a:off x="4953000" y="2781300"/>
            <a:ext cx="1238250" cy="990600"/>
          </a:xfrm>
          <a:prstGeom prst="roundRect">
            <a:avLst>
              <a:gd name="adj" fmla="val 11538"/>
            </a:avLst>
          </a:prstGeom>
          <a:solidFill>
            <a:srgbClr val="ECF1EE"/>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57964559-315F-4BE3-B1B9-A60BAF18D0D6}"/>
              </a:ext>
            </a:extLst>
          </p:cNvPr>
          <p:cNvSpPr>
            <a:spLocks noGrp="1"/>
          </p:cNvSpPr>
          <p:nvPr/>
        </p:nvSpPr>
        <p:spPr>
          <a:xfrm>
            <a:off x="5048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rPr>
              <a:t>Ration / mixing</a:t>
            </a:r>
          </a:p>
        </p:txBody>
      </p:sp>
      <p:sp>
        <p:nvSpPr>
          <p:cNvPr id="12" name="오른쪽 화살표[R] 11">
            <a:extLst>
              <a:ext uri="{FF2B5EF4-FFF2-40B4-BE49-F238E27FC236}">
                <a16:creationId xmlns:a16="http://schemas.microsoft.com/office/drawing/2014/main" id="{39BEC0E8-5297-480C-B123-F559001D0EEE}"/>
              </a:ext>
            </a:extLst>
          </p:cNvPr>
          <p:cNvSpPr>
            <a:spLocks noGrp="1"/>
          </p:cNvSpPr>
          <p:nvPr/>
        </p:nvSpPr>
        <p:spPr>
          <a:xfrm>
            <a:off x="7648575" y="3143250"/>
            <a:ext cx="361950" cy="247650"/>
          </a:xfrm>
          <a:prstGeom prst="rightArrow">
            <a:avLst/>
          </a:prstGeom>
          <a:solidFill>
            <a:srgbClr val="DFF4E8"/>
          </a:solidFill>
          <a:ln w="0">
            <a:noFill/>
            <a:prstDash val="solid"/>
          </a:ln>
        </p:spPr>
        <p:txBody>
          <a:bodyPr/>
          <a:lstStyle/>
          <a:p>
            <a:endParaRPr lang="ko-KR" altLang="en-US"/>
          </a:p>
        </p:txBody>
      </p:sp>
      <p:sp>
        <p:nvSpPr>
          <p:cNvPr id="13" name="모서리가 둥근 직사각형 12">
            <a:extLst>
              <a:ext uri="{FF2B5EF4-FFF2-40B4-BE49-F238E27FC236}">
                <a16:creationId xmlns:a16="http://schemas.microsoft.com/office/drawing/2014/main" id="{FA596321-DC8E-473C-BCBA-F3E4D0653EE1}"/>
              </a:ext>
            </a:extLst>
          </p:cNvPr>
          <p:cNvSpPr>
            <a:spLocks noGrp="1"/>
          </p:cNvSpPr>
          <p:nvPr/>
        </p:nvSpPr>
        <p:spPr>
          <a:xfrm>
            <a:off x="6477000" y="2781300"/>
            <a:ext cx="1238250" cy="990600"/>
          </a:xfrm>
          <a:prstGeom prst="roundRect">
            <a:avLst>
              <a:gd name="adj" fmla="val 11538"/>
            </a:avLst>
          </a:prstGeom>
          <a:solidFill>
            <a:srgbClr val="F6B846"/>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139C3F01-36E6-4371-97ED-24E228AA9208}"/>
              </a:ext>
            </a:extLst>
          </p:cNvPr>
          <p:cNvSpPr>
            <a:spLocks noGrp="1"/>
          </p:cNvSpPr>
          <p:nvPr/>
        </p:nvSpPr>
        <p:spPr>
          <a:xfrm>
            <a:off x="6572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rPr>
              <a:t>pH profile</a:t>
            </a:r>
          </a:p>
        </p:txBody>
      </p:sp>
      <p:sp>
        <p:nvSpPr>
          <p:cNvPr id="15" name="오른쪽 화살표[R] 14">
            <a:extLst>
              <a:ext uri="{FF2B5EF4-FFF2-40B4-BE49-F238E27FC236}">
                <a16:creationId xmlns:a16="http://schemas.microsoft.com/office/drawing/2014/main" id="{9C58AEF4-3F23-4951-9A43-BA98CC0C250A}"/>
              </a:ext>
            </a:extLst>
          </p:cNvPr>
          <p:cNvSpPr>
            <a:spLocks noGrp="1"/>
          </p:cNvSpPr>
          <p:nvPr/>
        </p:nvSpPr>
        <p:spPr>
          <a:xfrm>
            <a:off x="9172575" y="3143250"/>
            <a:ext cx="361950" cy="247650"/>
          </a:xfrm>
          <a:prstGeom prst="rightArrow">
            <a:avLst/>
          </a:prstGeom>
          <a:solidFill>
            <a:srgbClr val="DFF4E8"/>
          </a:solidFill>
          <a:ln w="0">
            <a:noFill/>
            <a:prstDash val="solid"/>
          </a:ln>
        </p:spPr>
        <p:txBody>
          <a:bodyPr/>
          <a:lstStyle/>
          <a:p>
            <a:endParaRPr lang="ko-KR" altLang="en-US"/>
          </a:p>
        </p:txBody>
      </p:sp>
      <p:sp>
        <p:nvSpPr>
          <p:cNvPr id="16" name="모서리가 둥근 직사각형 15">
            <a:extLst>
              <a:ext uri="{FF2B5EF4-FFF2-40B4-BE49-F238E27FC236}">
                <a16:creationId xmlns:a16="http://schemas.microsoft.com/office/drawing/2014/main" id="{DF62D0F3-4C7E-445C-B25E-B209EA8203A2}"/>
              </a:ext>
            </a:extLst>
          </p:cNvPr>
          <p:cNvSpPr>
            <a:spLocks noGrp="1"/>
          </p:cNvSpPr>
          <p:nvPr/>
        </p:nvSpPr>
        <p:spPr>
          <a:xfrm>
            <a:off x="8001000" y="2781300"/>
            <a:ext cx="1238250" cy="990600"/>
          </a:xfrm>
          <a:prstGeom prst="roundRect">
            <a:avLst>
              <a:gd name="adj" fmla="val 11538"/>
            </a:avLst>
          </a:prstGeom>
          <a:solidFill>
            <a:srgbClr val="ECF1EE"/>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A366A6C7-B735-4E62-A327-0C7B39CA207B}"/>
              </a:ext>
            </a:extLst>
          </p:cNvPr>
          <p:cNvSpPr>
            <a:spLocks noGrp="1"/>
          </p:cNvSpPr>
          <p:nvPr/>
        </p:nvSpPr>
        <p:spPr>
          <a:xfrm>
            <a:off x="8096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rPr>
              <a:t>Rumination and drinking</a:t>
            </a:r>
          </a:p>
        </p:txBody>
      </p:sp>
      <p:sp>
        <p:nvSpPr>
          <p:cNvPr id="18" name="모서리가 둥근 직사각형 17">
            <a:extLst>
              <a:ext uri="{FF2B5EF4-FFF2-40B4-BE49-F238E27FC236}">
                <a16:creationId xmlns:a16="http://schemas.microsoft.com/office/drawing/2014/main" id="{3E3BACCB-9959-4886-BBFF-244FF9D74931}"/>
              </a:ext>
            </a:extLst>
          </p:cNvPr>
          <p:cNvSpPr>
            <a:spLocks noGrp="1"/>
          </p:cNvSpPr>
          <p:nvPr/>
        </p:nvSpPr>
        <p:spPr>
          <a:xfrm>
            <a:off x="9525000" y="2781300"/>
            <a:ext cx="1238250" cy="990600"/>
          </a:xfrm>
          <a:prstGeom prst="roundRect">
            <a:avLst>
              <a:gd name="adj" fmla="val 11538"/>
            </a:avLst>
          </a:prstGeom>
          <a:solidFill>
            <a:srgbClr val="ECF1EE"/>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9C37C899-2C5E-4026-8870-F083500A75BB}"/>
              </a:ext>
            </a:extLst>
          </p:cNvPr>
          <p:cNvSpPr>
            <a:spLocks noGrp="1"/>
          </p:cNvSpPr>
          <p:nvPr/>
        </p:nvSpPr>
        <p:spPr>
          <a:xfrm>
            <a:off x="9620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rPr>
              <a:t>Group outcome</a:t>
            </a:r>
          </a:p>
        </p:txBody>
      </p:sp>
      <p:sp>
        <p:nvSpPr>
          <p:cNvPr id="20" name="직사각형 19">
            <a:extLst>
              <a:ext uri="{FF2B5EF4-FFF2-40B4-BE49-F238E27FC236}">
                <a16:creationId xmlns:a16="http://schemas.microsoft.com/office/drawing/2014/main" id="{0E158FEA-9440-4D30-9CA8-0824EC29A6E1}"/>
              </a:ext>
            </a:extLst>
          </p:cNvPr>
          <p:cNvSpPr>
            <a:spLocks noGrp="1"/>
          </p:cNvSpPr>
          <p:nvPr/>
        </p:nvSpPr>
        <p:spPr>
          <a:xfrm>
            <a:off x="685800" y="5486400"/>
            <a:ext cx="10820400" cy="323850"/>
          </a:xfrm>
          <a:prstGeom prst="rect">
            <a:avLst/>
          </a:prstGeom>
          <a:noFill/>
          <a:ln w="0">
            <a:noFill/>
            <a:prstDash val="solid"/>
          </a:ln>
        </p:spPr>
        <p:txBody>
          <a:bodyPr/>
          <a:lstStyle/>
          <a:p>
            <a:pPr algn="ctr">
              <a:buNone/>
              <a:defRPr sz="1650" b="1">
                <a:solidFill>
                  <a:srgbClr val="15A98C"/>
                </a:solidFill>
              </a:defRPr>
            </a:pPr>
            <a:r>
              <a:rPr sz="1650" b="1">
                <a:solidFill>
                  <a:srgbClr val="15A98C"/>
                </a:solidFill>
              </a:rPr>
              <a:t>pH is a feeding-verification tool in selected representative cows</a:t>
            </a:r>
          </a:p>
        </p:txBody>
      </p:sp>
    </p:spTree>
    <p:extLst>
      <p:ext uri="{BB962C8B-B14F-4D97-AF65-F5344CB8AC3E}">
        <p14:creationId xmlns:p14="http://schemas.microsoft.com/office/powerpoint/2010/main" val="1897684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CEE58DDF-1A75-414D-A2FB-D57BE284C941}"/>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rPr>
              <a:t>02</a:t>
            </a:r>
          </a:p>
        </p:txBody>
      </p:sp>
      <p:sp>
        <p:nvSpPr>
          <p:cNvPr id="2" name="직사각형 1">
            <a:extLst>
              <a:ext uri="{FF2B5EF4-FFF2-40B4-BE49-F238E27FC236}">
                <a16:creationId xmlns:a16="http://schemas.microsoft.com/office/drawing/2014/main" id="{DF76A1BB-C481-4DB4-A082-E61822097DBE}"/>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rPr>
              <a:t>Messenger and app graphs</a:t>
            </a:r>
          </a:p>
        </p:txBody>
      </p:sp>
      <p:sp>
        <p:nvSpPr>
          <p:cNvPr id="3" name="직사각형 2">
            <a:extLst>
              <a:ext uri="{FF2B5EF4-FFF2-40B4-BE49-F238E27FC236}">
                <a16:creationId xmlns:a16="http://schemas.microsoft.com/office/drawing/2014/main" id="{E1CE8FA3-58F2-469D-90D9-BB7D870D4D74}"/>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rPr>
              <a:t>Use graphs to validate an alert, understand the timeline and choose the next check.</a:t>
            </a:r>
          </a:p>
        </p:txBody>
      </p:sp>
      <p:sp>
        <p:nvSpPr>
          <p:cNvPr id="5" name="타원 4">
            <a:extLst>
              <a:ext uri="{FF2B5EF4-FFF2-40B4-BE49-F238E27FC236}">
                <a16:creationId xmlns:a16="http://schemas.microsoft.com/office/drawing/2014/main" id="{F70ABAEB-543C-4917-915B-E1D1E0CA4357}"/>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2D3E0C62-AD0E-4E84-B248-833683BE9177}"/>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4B2D98E4-E549-49F6-8AE3-6962F0423AF0}"/>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E1999684-D145-4197-B45F-C0F7F50B9E39}"/>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8B6F5FC6-99B1-4DBF-8914-B0EA908CC299}"/>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4D10060E-09B0-4BA5-B574-E972475360D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11" name="직사각형 10">
            <a:extLst>
              <a:ext uri="{FF2B5EF4-FFF2-40B4-BE49-F238E27FC236}">
                <a16:creationId xmlns:a16="http://schemas.microsoft.com/office/drawing/2014/main" id="{956BCB01-843A-403D-A5E3-E9401C0BE248}"/>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13</a:t>
            </a:r>
          </a:p>
        </p:txBody>
      </p:sp>
      <p:pic>
        <p:nvPicPr>
          <p:cNvPr id="24" name="그림 23"/>
          <p:cNvPicPr>
            <a:picLocks noChangeAspect="1"/>
          </p:cNvPicPr>
          <p:nvPr/>
        </p:nvPicPr>
        <p:blipFill>
          <a:blip r:embed="rId3"/>
          <a:srcRect l="10046" r="10046"/>
          <a:stretch>
            <a:fillRect/>
          </a:stretch>
        </p:blipFill>
        <p:spPr>
          <a:xfrm>
            <a:off x="9906000" y="0"/>
            <a:ext cx="2286000" cy="6858000"/>
          </a:xfrm>
          <a:prstGeom prst="rect">
            <a:avLst/>
          </a:prstGeom>
        </p:spPr>
      </p:pic>
    </p:spTree>
    <p:extLst>
      <p:ext uri="{BB962C8B-B14F-4D97-AF65-F5344CB8AC3E}">
        <p14:creationId xmlns:p14="http://schemas.microsoft.com/office/powerpoint/2010/main" val="64136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9144ECDE-E9ED-40A0-BE28-B8FC626A23C9}"/>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TRAINING GRAPH EXAMPLE</a:t>
            </a:r>
          </a:p>
        </p:txBody>
      </p:sp>
      <p:sp>
        <p:nvSpPr>
          <p:cNvPr id="2" name="직사각형 1">
            <a:extLst>
              <a:ext uri="{FF2B5EF4-FFF2-40B4-BE49-F238E27FC236}">
                <a16:creationId xmlns:a16="http://schemas.microsoft.com/office/drawing/2014/main" id="{C6B52E39-28D3-4579-B0AF-78E5DF204C86}"/>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Read the graph left to right—from event to decision</a:t>
            </a:r>
          </a:p>
        </p:txBody>
      </p:sp>
      <p:sp>
        <p:nvSpPr>
          <p:cNvPr id="3" name="직사각형 2">
            <a:extLst>
              <a:ext uri="{FF2B5EF4-FFF2-40B4-BE49-F238E27FC236}">
                <a16:creationId xmlns:a16="http://schemas.microsoft.com/office/drawing/2014/main" id="{BBFAA03F-F962-41FF-840A-1D447B75C27D}"/>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FBE08C7D-EBC9-4291-BC9A-A1404A5AF37F}"/>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14</a:t>
            </a:r>
          </a:p>
        </p:txBody>
      </p:sp>
      <p:sp>
        <p:nvSpPr>
          <p:cNvPr id="5" name="모서리가 둥근 직사각형 4">
            <a:extLst>
              <a:ext uri="{FF2B5EF4-FFF2-40B4-BE49-F238E27FC236}">
                <a16:creationId xmlns:a16="http://schemas.microsoft.com/office/drawing/2014/main" id="{7053BADF-A57E-4040-AC34-4B395A24F555}"/>
              </a:ext>
            </a:extLst>
          </p:cNvPr>
          <p:cNvSpPr>
            <a:spLocks noGrp="1"/>
          </p:cNvSpPr>
          <p:nvPr/>
        </p:nvSpPr>
        <p:spPr>
          <a:xfrm>
            <a:off x="8572500" y="466725"/>
            <a:ext cx="2667000" cy="323850"/>
          </a:xfrm>
          <a:prstGeom prst="roundRect">
            <a:avLst>
              <a:gd name="adj" fmla="val 50000"/>
            </a:avLst>
          </a:prstGeom>
          <a:solidFill>
            <a:srgbClr val="F6B846"/>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06D00443-F569-45A7-937E-7F182DBA266A}"/>
              </a:ext>
            </a:extLst>
          </p:cNvPr>
          <p:cNvSpPr>
            <a:spLocks noGrp="1"/>
          </p:cNvSpPr>
          <p:nvPr/>
        </p:nvSpPr>
        <p:spPr>
          <a:xfrm>
            <a:off x="8667750" y="523875"/>
            <a:ext cx="2476500" cy="190500"/>
          </a:xfrm>
          <a:prstGeom prst="rect">
            <a:avLst/>
          </a:prstGeom>
          <a:noFill/>
          <a:ln w="0">
            <a:noFill/>
            <a:prstDash val="solid"/>
          </a:ln>
        </p:spPr>
        <p:txBody>
          <a:bodyPr/>
          <a:lstStyle/>
          <a:p>
            <a:pPr algn="ctr">
              <a:buNone/>
              <a:defRPr sz="975" b="1">
                <a:solidFill>
                  <a:srgbClr val="0A1B17"/>
                </a:solidFill>
              </a:defRPr>
            </a:pPr>
            <a:r>
              <a:rPr sz="975" b="1">
                <a:solidFill>
                  <a:srgbClr val="0A1B17"/>
                </a:solidFill>
              </a:rPr>
              <a:t>Training example—not the official UI</a:t>
            </a:r>
          </a:p>
        </p:txBody>
      </p:sp>
      <p:graphicFrame>
        <p:nvGraphicFramePr>
          <p:cNvPr id="24" name="Chart"/>
          <p:cNvGraphicFramePr/>
          <p:nvPr/>
        </p:nvGraphicFramePr>
        <p:xfrm>
          <a:off x="685800" y="1809750"/>
          <a:ext cx="78105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8" name="직사각형 7">
            <a:extLst>
              <a:ext uri="{FF2B5EF4-FFF2-40B4-BE49-F238E27FC236}">
                <a16:creationId xmlns:a16="http://schemas.microsoft.com/office/drawing/2014/main" id="{37462653-8DD8-4AB9-930D-3571BB68763A}"/>
              </a:ext>
            </a:extLst>
          </p:cNvPr>
          <p:cNvSpPr>
            <a:spLocks noGrp="1"/>
          </p:cNvSpPr>
          <p:nvPr/>
        </p:nvSpPr>
        <p:spPr>
          <a:xfrm>
            <a:off x="8858250" y="19621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rPr>
              <a:t>1</a:t>
            </a:r>
          </a:p>
        </p:txBody>
      </p:sp>
      <p:sp>
        <p:nvSpPr>
          <p:cNvPr id="9" name="직사각형 8">
            <a:extLst>
              <a:ext uri="{FF2B5EF4-FFF2-40B4-BE49-F238E27FC236}">
                <a16:creationId xmlns:a16="http://schemas.microsoft.com/office/drawing/2014/main" id="{7CF31592-08BB-4BFF-9B4D-A42FE8294FB1}"/>
              </a:ext>
            </a:extLst>
          </p:cNvPr>
          <p:cNvSpPr>
            <a:spLocks noGrp="1"/>
          </p:cNvSpPr>
          <p:nvPr/>
        </p:nvSpPr>
        <p:spPr>
          <a:xfrm>
            <a:off x="9410700" y="2000250"/>
            <a:ext cx="1809750" cy="285750"/>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Find the baseline</a:t>
            </a:r>
          </a:p>
        </p:txBody>
      </p:sp>
      <p:sp>
        <p:nvSpPr>
          <p:cNvPr id="10" name="직사각형 9">
            <a:extLst>
              <a:ext uri="{FF2B5EF4-FFF2-40B4-BE49-F238E27FC236}">
                <a16:creationId xmlns:a16="http://schemas.microsoft.com/office/drawing/2014/main" id="{DC08BC8B-7D67-46D3-83BC-F88ED2CBF115}"/>
              </a:ext>
            </a:extLst>
          </p:cNvPr>
          <p:cNvSpPr>
            <a:spLocks noGrp="1"/>
          </p:cNvSpPr>
          <p:nvPr/>
        </p:nvSpPr>
        <p:spPr>
          <a:xfrm>
            <a:off x="8858250" y="28003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rPr>
              <a:t>2</a:t>
            </a:r>
          </a:p>
        </p:txBody>
      </p:sp>
      <p:sp>
        <p:nvSpPr>
          <p:cNvPr id="11" name="직사각형 10">
            <a:extLst>
              <a:ext uri="{FF2B5EF4-FFF2-40B4-BE49-F238E27FC236}">
                <a16:creationId xmlns:a16="http://schemas.microsoft.com/office/drawing/2014/main" id="{D50954EA-965B-4B42-B814-3BF4BB35A755}"/>
              </a:ext>
            </a:extLst>
          </p:cNvPr>
          <p:cNvSpPr>
            <a:spLocks noGrp="1"/>
          </p:cNvSpPr>
          <p:nvPr/>
        </p:nvSpPr>
        <p:spPr>
          <a:xfrm>
            <a:off x="9410700" y="2838450"/>
            <a:ext cx="1905000" cy="476250"/>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Find the turning point</a:t>
            </a:r>
          </a:p>
        </p:txBody>
      </p:sp>
      <p:sp>
        <p:nvSpPr>
          <p:cNvPr id="12" name="직사각형 11">
            <a:extLst>
              <a:ext uri="{FF2B5EF4-FFF2-40B4-BE49-F238E27FC236}">
                <a16:creationId xmlns:a16="http://schemas.microsoft.com/office/drawing/2014/main" id="{D1474510-586D-40BA-A4E3-4787996BBE6B}"/>
              </a:ext>
            </a:extLst>
          </p:cNvPr>
          <p:cNvSpPr>
            <a:spLocks noGrp="1"/>
          </p:cNvSpPr>
          <p:nvPr/>
        </p:nvSpPr>
        <p:spPr>
          <a:xfrm>
            <a:off x="8858250" y="37909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rPr>
              <a:t>3</a:t>
            </a:r>
          </a:p>
        </p:txBody>
      </p:sp>
      <p:sp>
        <p:nvSpPr>
          <p:cNvPr id="13" name="직사각형 12">
            <a:extLst>
              <a:ext uri="{FF2B5EF4-FFF2-40B4-BE49-F238E27FC236}">
                <a16:creationId xmlns:a16="http://schemas.microsoft.com/office/drawing/2014/main" id="{C6FD1F85-9B0D-4520-BCE0-3CA7AE53C383}"/>
              </a:ext>
            </a:extLst>
          </p:cNvPr>
          <p:cNvSpPr>
            <a:spLocks noGrp="1"/>
          </p:cNvSpPr>
          <p:nvPr/>
        </p:nvSpPr>
        <p:spPr>
          <a:xfrm>
            <a:off x="9410700" y="3829050"/>
            <a:ext cx="1905000" cy="476250"/>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Combine signals</a:t>
            </a:r>
          </a:p>
        </p:txBody>
      </p:sp>
      <p:sp>
        <p:nvSpPr>
          <p:cNvPr id="14" name="직사각형 13">
            <a:extLst>
              <a:ext uri="{FF2B5EF4-FFF2-40B4-BE49-F238E27FC236}">
                <a16:creationId xmlns:a16="http://schemas.microsoft.com/office/drawing/2014/main" id="{9357A0F3-91B7-4A2E-93FD-263C709BF68B}"/>
              </a:ext>
            </a:extLst>
          </p:cNvPr>
          <p:cNvSpPr>
            <a:spLocks noGrp="1"/>
          </p:cNvSpPr>
          <p:nvPr/>
        </p:nvSpPr>
        <p:spPr>
          <a:xfrm>
            <a:off x="8858250" y="47815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rPr>
              <a:t>4</a:t>
            </a:r>
          </a:p>
        </p:txBody>
      </p:sp>
      <p:sp>
        <p:nvSpPr>
          <p:cNvPr id="15" name="직사각형 14">
            <a:extLst>
              <a:ext uri="{FF2B5EF4-FFF2-40B4-BE49-F238E27FC236}">
                <a16:creationId xmlns:a16="http://schemas.microsoft.com/office/drawing/2014/main" id="{73932DA3-3289-4BE4-9BA4-AB3AE9FE6D83}"/>
              </a:ext>
            </a:extLst>
          </p:cNvPr>
          <p:cNvSpPr>
            <a:spLocks noGrp="1"/>
          </p:cNvSpPr>
          <p:nvPr/>
        </p:nvSpPr>
        <p:spPr>
          <a:xfrm>
            <a:off x="9410700" y="4819650"/>
            <a:ext cx="1905000" cy="571500"/>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Record the event and action</a:t>
            </a:r>
          </a:p>
        </p:txBody>
      </p:sp>
    </p:spTree>
    <p:extLst>
      <p:ext uri="{BB962C8B-B14F-4D97-AF65-F5344CB8AC3E}">
        <p14:creationId xmlns:p14="http://schemas.microsoft.com/office/powerpoint/2010/main" val="504217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4D8736AD-AE22-4ACE-B5F9-B83AEEDCAF79}"/>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VIEW LEVEL</a:t>
            </a:r>
          </a:p>
        </p:txBody>
      </p:sp>
      <p:sp>
        <p:nvSpPr>
          <p:cNvPr id="2" name="직사각형 1">
            <a:extLst>
              <a:ext uri="{FF2B5EF4-FFF2-40B4-BE49-F238E27FC236}">
                <a16:creationId xmlns:a16="http://schemas.microsoft.com/office/drawing/2014/main" id="{25867626-4515-4818-BB21-7E471D463991}"/>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Individual and group views answer different questions</a:t>
            </a:r>
          </a:p>
        </p:txBody>
      </p:sp>
      <p:sp>
        <p:nvSpPr>
          <p:cNvPr id="3" name="직사각형 2">
            <a:extLst>
              <a:ext uri="{FF2B5EF4-FFF2-40B4-BE49-F238E27FC236}">
                <a16:creationId xmlns:a16="http://schemas.microsoft.com/office/drawing/2014/main" id="{4304229A-B717-4A9D-846D-0A3EE3541D5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33E656C7-BA4B-4127-879A-4067D07A68E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15</a:t>
            </a:r>
          </a:p>
        </p:txBody>
      </p:sp>
      <p:sp>
        <p:nvSpPr>
          <p:cNvPr id="5" name="모서리가 둥근 직사각형 4">
            <a:extLst>
              <a:ext uri="{FF2B5EF4-FFF2-40B4-BE49-F238E27FC236}">
                <a16:creationId xmlns:a16="http://schemas.microsoft.com/office/drawing/2014/main" id="{B35D7DC6-D91C-4281-B227-0C04201D7444}"/>
              </a:ext>
            </a:extLst>
          </p:cNvPr>
          <p:cNvSpPr>
            <a:spLocks noGrp="1"/>
          </p:cNvSpPr>
          <p:nvPr/>
        </p:nvSpPr>
        <p:spPr>
          <a:xfrm>
            <a:off x="685800" y="1733550"/>
            <a:ext cx="5143500" cy="4095750"/>
          </a:xfrm>
          <a:prstGeom prst="roundRect">
            <a:avLst>
              <a:gd name="adj" fmla="val 3721"/>
            </a:avLst>
          </a:prstGeom>
          <a:solidFill>
            <a:srgbClr val="FFFFFF"/>
          </a:solidFill>
          <a:ln w="0">
            <a:noFill/>
            <a:prstDash val="solid"/>
          </a:ln>
        </p:spPr>
        <p:txBody>
          <a:bodyPr/>
          <a:lstStyle/>
          <a:p>
            <a:endParaRPr lang="ko-KR" altLang="en-US"/>
          </a:p>
        </p:txBody>
      </p:sp>
      <p:sp>
        <p:nvSpPr>
          <p:cNvPr id="6" name="모서리가 둥근 직사각형 5">
            <a:extLst>
              <a:ext uri="{FF2B5EF4-FFF2-40B4-BE49-F238E27FC236}">
                <a16:creationId xmlns:a16="http://schemas.microsoft.com/office/drawing/2014/main" id="{0F33E6BE-1C1D-4AA0-A2CC-D234B1E963C4}"/>
              </a:ext>
            </a:extLst>
          </p:cNvPr>
          <p:cNvSpPr>
            <a:spLocks noGrp="1"/>
          </p:cNvSpPr>
          <p:nvPr/>
        </p:nvSpPr>
        <p:spPr>
          <a:xfrm>
            <a:off x="6096000" y="1733550"/>
            <a:ext cx="5410200" cy="4095750"/>
          </a:xfrm>
          <a:prstGeom prst="roundRect">
            <a:avLst>
              <a:gd name="adj" fmla="val 3721"/>
            </a:avLst>
          </a:prstGeom>
          <a:solidFill>
            <a:srgbClr val="10251F"/>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95F8AE95-E77D-4083-A2D9-16B14D0A1415}"/>
              </a:ext>
            </a:extLst>
          </p:cNvPr>
          <p:cNvSpPr>
            <a:spLocks noGrp="1"/>
          </p:cNvSpPr>
          <p:nvPr/>
        </p:nvSpPr>
        <p:spPr>
          <a:xfrm>
            <a:off x="990600" y="2038350"/>
            <a:ext cx="4533900" cy="476250"/>
          </a:xfrm>
          <a:prstGeom prst="rect">
            <a:avLst/>
          </a:prstGeom>
          <a:noFill/>
          <a:ln w="0">
            <a:noFill/>
            <a:prstDash val="solid"/>
          </a:ln>
        </p:spPr>
        <p:txBody>
          <a:bodyPr/>
          <a:lstStyle/>
          <a:p>
            <a:pPr algn="l">
              <a:buNone/>
              <a:defRPr sz="1950" b="1">
                <a:solidFill>
                  <a:srgbClr val="15A98C"/>
                </a:solidFill>
              </a:defRPr>
            </a:pPr>
            <a:r>
              <a:rPr sz="1950" b="1">
                <a:solidFill>
                  <a:srgbClr val="15A98C"/>
                </a:solidFill>
              </a:rPr>
              <a:t>INDIVIDUAL</a:t>
            </a:r>
          </a:p>
        </p:txBody>
      </p:sp>
      <p:sp>
        <p:nvSpPr>
          <p:cNvPr id="8" name="직사각형 7">
            <a:extLst>
              <a:ext uri="{FF2B5EF4-FFF2-40B4-BE49-F238E27FC236}">
                <a16:creationId xmlns:a16="http://schemas.microsoft.com/office/drawing/2014/main" id="{3BCB44FA-3D4B-4C21-8AE0-1A5D01211700}"/>
              </a:ext>
            </a:extLst>
          </p:cNvPr>
          <p:cNvSpPr>
            <a:spLocks noGrp="1"/>
          </p:cNvSpPr>
          <p:nvPr/>
        </p:nvSpPr>
        <p:spPr>
          <a:xfrm>
            <a:off x="990600" y="2705100"/>
            <a:ext cx="4476750" cy="2571750"/>
          </a:xfrm>
          <a:prstGeom prst="rect">
            <a:avLst/>
          </a:prstGeom>
          <a:noFill/>
          <a:ln w="0">
            <a:noFill/>
            <a:prstDash val="solid"/>
          </a:ln>
        </p:spPr>
        <p:txBody>
          <a:bodyPr/>
          <a:lstStyle/>
          <a:p>
            <a:pPr algn="l">
              <a:buNone/>
              <a:defRPr sz="1575" b="0">
                <a:solidFill>
                  <a:srgbClr val="10251F"/>
                </a:solidFill>
              </a:defRPr>
            </a:pPr>
            <a:r>
              <a:rPr sz="1575" b="0">
                <a:solidFill>
                  <a:srgbClr val="10251F"/>
                </a:solidFill>
              </a:rPr>
              <a:t>• Which cow changed?</a:t>
            </a:r>
          </a:p>
          <a:p>
            <a:pPr algn="l">
              <a:buNone/>
              <a:defRPr sz="1575" b="0">
                <a:solidFill>
                  <a:srgbClr val="10251F"/>
                </a:solidFill>
              </a:defRPr>
            </a:pPr>
            <a:r>
              <a:rPr sz="1575" b="0">
                <a:solidFill>
                  <a:srgbClr val="10251F"/>
                </a:solidFill>
              </a:rPr>
              <a:t>• How far from her baseline?</a:t>
            </a:r>
          </a:p>
          <a:p>
            <a:pPr algn="l">
              <a:buNone/>
              <a:defRPr sz="1575" b="0">
                <a:solidFill>
                  <a:srgbClr val="10251F"/>
                </a:solidFill>
              </a:defRPr>
            </a:pPr>
            <a:r>
              <a:rPr sz="1575" b="0">
                <a:solidFill>
                  <a:srgbClr val="10251F"/>
                </a:solidFill>
              </a:rPr>
              <a:t>• What happened before the alert?</a:t>
            </a:r>
          </a:p>
          <a:p>
            <a:pPr algn="l">
              <a:buNone/>
              <a:defRPr sz="1575" b="0">
                <a:solidFill>
                  <a:srgbClr val="10251F"/>
                </a:solidFill>
              </a:defRPr>
            </a:pPr>
            <a:r>
              <a:rPr sz="1575" b="0">
                <a:solidFill>
                  <a:srgbClr val="10251F"/>
                </a:solidFill>
              </a:rPr>
              <a:t>• Did she recover after the check or treatment?</a:t>
            </a:r>
          </a:p>
        </p:txBody>
      </p:sp>
      <p:sp>
        <p:nvSpPr>
          <p:cNvPr id="9" name="직사각형 8">
            <a:extLst>
              <a:ext uri="{FF2B5EF4-FFF2-40B4-BE49-F238E27FC236}">
                <a16:creationId xmlns:a16="http://schemas.microsoft.com/office/drawing/2014/main" id="{4E796CC2-94EB-4F3C-922A-1BA88DF35750}"/>
              </a:ext>
            </a:extLst>
          </p:cNvPr>
          <p:cNvSpPr>
            <a:spLocks noGrp="1"/>
          </p:cNvSpPr>
          <p:nvPr/>
        </p:nvSpPr>
        <p:spPr>
          <a:xfrm>
            <a:off x="6419850" y="2038350"/>
            <a:ext cx="4762500" cy="4762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GROUP</a:t>
            </a:r>
          </a:p>
        </p:txBody>
      </p:sp>
      <p:sp>
        <p:nvSpPr>
          <p:cNvPr id="10" name="직사각형 9">
            <a:extLst>
              <a:ext uri="{FF2B5EF4-FFF2-40B4-BE49-F238E27FC236}">
                <a16:creationId xmlns:a16="http://schemas.microsoft.com/office/drawing/2014/main" id="{AB06B5DD-02D8-4C48-8243-D864F942C846}"/>
              </a:ext>
            </a:extLst>
          </p:cNvPr>
          <p:cNvSpPr>
            <a:spLocks noGrp="1"/>
          </p:cNvSpPr>
          <p:nvPr/>
        </p:nvSpPr>
        <p:spPr>
          <a:xfrm>
            <a:off x="6419850" y="2705100"/>
            <a:ext cx="4667250" cy="2571750"/>
          </a:xfrm>
          <a:prstGeom prst="rect">
            <a:avLst/>
          </a:prstGeom>
          <a:noFill/>
          <a:ln w="0">
            <a:noFill/>
            <a:prstDash val="solid"/>
          </a:ln>
        </p:spPr>
        <p:txBody>
          <a:bodyPr/>
          <a:lstStyle/>
          <a:p>
            <a:pPr algn="l">
              <a:buNone/>
              <a:defRPr sz="1575" b="0">
                <a:solidFill>
                  <a:srgbClr val="FFFFFF"/>
                </a:solidFill>
              </a:defRPr>
            </a:pPr>
            <a:r>
              <a:rPr sz="1575" b="0">
                <a:solidFill>
                  <a:srgbClr val="FFFFFF"/>
                </a:solidFill>
              </a:rPr>
              <a:t>• How many cows changed together?</a:t>
            </a:r>
          </a:p>
          <a:p>
            <a:pPr algn="l">
              <a:buNone/>
              <a:defRPr sz="1575" b="0">
                <a:solidFill>
                  <a:srgbClr val="FFFFFF"/>
                </a:solidFill>
              </a:defRPr>
            </a:pPr>
            <a:r>
              <a:rPr sz="1575" b="0">
                <a:solidFill>
                  <a:srgbClr val="FFFFFF"/>
                </a:solidFill>
              </a:rPr>
              <a:t>• Was there a ration, water or climate event?</a:t>
            </a:r>
          </a:p>
          <a:p>
            <a:pPr algn="l">
              <a:buNone/>
              <a:defRPr sz="1575" b="0">
                <a:solidFill>
                  <a:srgbClr val="FFFFFF"/>
                </a:solidFill>
              </a:defRPr>
            </a:pPr>
            <a:r>
              <a:rPr sz="1575" b="0">
                <a:solidFill>
                  <a:srgbClr val="FFFFFF"/>
                </a:solidFill>
              </a:rPr>
              <a:t>• Which ration group was most affected?</a:t>
            </a:r>
          </a:p>
          <a:p>
            <a:pPr algn="l">
              <a:buNone/>
              <a:defRPr sz="1575" b="0">
                <a:solidFill>
                  <a:srgbClr val="FFFFFF"/>
                </a:solidFill>
              </a:defRPr>
            </a:pPr>
            <a:r>
              <a:rPr sz="1575" b="0">
                <a:solidFill>
                  <a:srgbClr val="FFFFFF"/>
                </a:solidFill>
              </a:rPr>
              <a:t>• How long did the change last?</a:t>
            </a:r>
          </a:p>
        </p:txBody>
      </p:sp>
    </p:spTree>
    <p:extLst>
      <p:ext uri="{BB962C8B-B14F-4D97-AF65-F5344CB8AC3E}">
        <p14:creationId xmlns:p14="http://schemas.microsoft.com/office/powerpoint/2010/main" val="1510621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FB590081-0A69-421C-AE63-207F02A169E2}"/>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ALERT TRIAGE</a:t>
            </a:r>
          </a:p>
        </p:txBody>
      </p:sp>
      <p:sp>
        <p:nvSpPr>
          <p:cNvPr id="2" name="직사각형 1">
            <a:extLst>
              <a:ext uri="{FF2B5EF4-FFF2-40B4-BE49-F238E27FC236}">
                <a16:creationId xmlns:a16="http://schemas.microsoft.com/office/drawing/2014/main" id="{17474A71-D9A9-466F-8A4B-F62A5E5A53D0}"/>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The goal is correct triage—not simply closing the alert</a:t>
            </a:r>
          </a:p>
        </p:txBody>
      </p:sp>
      <p:sp>
        <p:nvSpPr>
          <p:cNvPr id="3" name="직사각형 2">
            <a:extLst>
              <a:ext uri="{FF2B5EF4-FFF2-40B4-BE49-F238E27FC236}">
                <a16:creationId xmlns:a16="http://schemas.microsoft.com/office/drawing/2014/main" id="{1DA22836-FE1B-4BE5-9720-7E664AC744EE}"/>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8404B979-1AF5-4CED-B008-5D887E2D967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16</a:t>
            </a:r>
          </a:p>
        </p:txBody>
      </p:sp>
      <p:sp>
        <p:nvSpPr>
          <p:cNvPr id="5" name="모서리가 둥근 직사각형 4">
            <a:extLst>
              <a:ext uri="{FF2B5EF4-FFF2-40B4-BE49-F238E27FC236}">
                <a16:creationId xmlns:a16="http://schemas.microsoft.com/office/drawing/2014/main" id="{2911D7ED-1679-49AC-A6AC-1CAD4D4028B5}"/>
              </a:ext>
            </a:extLst>
          </p:cNvPr>
          <p:cNvSpPr>
            <a:spLocks noGrp="1"/>
          </p:cNvSpPr>
          <p:nvPr/>
        </p:nvSpPr>
        <p:spPr>
          <a:xfrm>
            <a:off x="5524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EEF9C864-BB8A-4358-B3AE-5A9B0BFFDBE3}"/>
              </a:ext>
            </a:extLst>
          </p:cNvPr>
          <p:cNvSpPr>
            <a:spLocks noGrp="1"/>
          </p:cNvSpPr>
          <p:nvPr/>
        </p:nvSpPr>
        <p:spPr>
          <a:xfrm>
            <a:off x="7429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rPr>
              <a:t>1</a:t>
            </a:r>
          </a:p>
        </p:txBody>
      </p:sp>
      <p:sp>
        <p:nvSpPr>
          <p:cNvPr id="7" name="직사각형 6">
            <a:extLst>
              <a:ext uri="{FF2B5EF4-FFF2-40B4-BE49-F238E27FC236}">
                <a16:creationId xmlns:a16="http://schemas.microsoft.com/office/drawing/2014/main" id="{CF4BB530-EC63-487E-9F98-218D8BAB0482}"/>
              </a:ext>
            </a:extLst>
          </p:cNvPr>
          <p:cNvSpPr>
            <a:spLocks noGrp="1"/>
          </p:cNvSpPr>
          <p:nvPr/>
        </p:nvSpPr>
        <p:spPr>
          <a:xfrm>
            <a:off x="7429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OPEN</a:t>
            </a:r>
          </a:p>
        </p:txBody>
      </p:sp>
      <p:sp>
        <p:nvSpPr>
          <p:cNvPr id="8" name="직사각형 7">
            <a:extLst>
              <a:ext uri="{FF2B5EF4-FFF2-40B4-BE49-F238E27FC236}">
                <a16:creationId xmlns:a16="http://schemas.microsoft.com/office/drawing/2014/main" id="{6DB94ECE-4AD5-4572-A163-E4F2F7CFC022}"/>
              </a:ext>
            </a:extLst>
          </p:cNvPr>
          <p:cNvSpPr>
            <a:spLocks noGrp="1"/>
          </p:cNvSpPr>
          <p:nvPr/>
        </p:nvSpPr>
        <p:spPr>
          <a:xfrm>
            <a:off x="7429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Signal, time, duration</a:t>
            </a:r>
          </a:p>
        </p:txBody>
      </p:sp>
      <p:sp>
        <p:nvSpPr>
          <p:cNvPr id="9" name="모서리가 둥근 직사각형 8">
            <a:extLst>
              <a:ext uri="{FF2B5EF4-FFF2-40B4-BE49-F238E27FC236}">
                <a16:creationId xmlns:a16="http://schemas.microsoft.com/office/drawing/2014/main" id="{85CD941B-A17A-41E4-911E-2A92392D08B5}"/>
              </a:ext>
            </a:extLst>
          </p:cNvPr>
          <p:cNvSpPr>
            <a:spLocks noGrp="1"/>
          </p:cNvSpPr>
          <p:nvPr/>
        </p:nvSpPr>
        <p:spPr>
          <a:xfrm>
            <a:off x="28765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9A23F063-9B36-4EA7-92C7-28ED5B067634}"/>
              </a:ext>
            </a:extLst>
          </p:cNvPr>
          <p:cNvSpPr>
            <a:spLocks noGrp="1"/>
          </p:cNvSpPr>
          <p:nvPr/>
        </p:nvSpPr>
        <p:spPr>
          <a:xfrm>
            <a:off x="30670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rPr>
              <a:t>2</a:t>
            </a:r>
          </a:p>
        </p:txBody>
      </p:sp>
      <p:sp>
        <p:nvSpPr>
          <p:cNvPr id="11" name="직사각형 10">
            <a:extLst>
              <a:ext uri="{FF2B5EF4-FFF2-40B4-BE49-F238E27FC236}">
                <a16:creationId xmlns:a16="http://schemas.microsoft.com/office/drawing/2014/main" id="{DCC24003-9B01-4C92-88DE-0B025E58F276}"/>
              </a:ext>
            </a:extLst>
          </p:cNvPr>
          <p:cNvSpPr>
            <a:spLocks noGrp="1"/>
          </p:cNvSpPr>
          <p:nvPr/>
        </p:nvSpPr>
        <p:spPr>
          <a:xfrm>
            <a:off x="30670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CONTEXT</a:t>
            </a:r>
          </a:p>
        </p:txBody>
      </p:sp>
      <p:sp>
        <p:nvSpPr>
          <p:cNvPr id="12" name="직사각형 11">
            <a:extLst>
              <a:ext uri="{FF2B5EF4-FFF2-40B4-BE49-F238E27FC236}">
                <a16:creationId xmlns:a16="http://schemas.microsoft.com/office/drawing/2014/main" id="{3FD468AD-C702-4102-8CD6-4B8003465DC5}"/>
              </a:ext>
            </a:extLst>
          </p:cNvPr>
          <p:cNvSpPr>
            <a:spLocks noGrp="1"/>
          </p:cNvSpPr>
          <p:nvPr/>
        </p:nvSpPr>
        <p:spPr>
          <a:xfrm>
            <a:off x="30670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Lactation, calving, group</a:t>
            </a:r>
          </a:p>
        </p:txBody>
      </p:sp>
      <p:sp>
        <p:nvSpPr>
          <p:cNvPr id="13" name="모서리가 둥근 직사각형 12">
            <a:extLst>
              <a:ext uri="{FF2B5EF4-FFF2-40B4-BE49-F238E27FC236}">
                <a16:creationId xmlns:a16="http://schemas.microsoft.com/office/drawing/2014/main" id="{F98674D5-A03B-4E70-AE71-4AA980491329}"/>
              </a:ext>
            </a:extLst>
          </p:cNvPr>
          <p:cNvSpPr>
            <a:spLocks noGrp="1"/>
          </p:cNvSpPr>
          <p:nvPr/>
        </p:nvSpPr>
        <p:spPr>
          <a:xfrm>
            <a:off x="5200650" y="2038350"/>
            <a:ext cx="2000250" cy="2400300"/>
          </a:xfrm>
          <a:prstGeom prst="roundRect">
            <a:avLst>
              <a:gd name="adj" fmla="val 7619"/>
            </a:avLst>
          </a:prstGeom>
          <a:solidFill>
            <a:srgbClr val="65D44A"/>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AF289B31-3A2F-490A-BC3A-00E572118E07}"/>
              </a:ext>
            </a:extLst>
          </p:cNvPr>
          <p:cNvSpPr>
            <a:spLocks noGrp="1"/>
          </p:cNvSpPr>
          <p:nvPr/>
        </p:nvSpPr>
        <p:spPr>
          <a:xfrm>
            <a:off x="5391150" y="2228850"/>
            <a:ext cx="400050" cy="400050"/>
          </a:xfrm>
          <a:prstGeom prst="rect">
            <a:avLst/>
          </a:prstGeom>
          <a:noFill/>
          <a:ln w="0">
            <a:noFill/>
            <a:prstDash val="solid"/>
          </a:ln>
        </p:spPr>
        <p:txBody>
          <a:bodyPr/>
          <a:lstStyle/>
          <a:p>
            <a:pPr algn="l">
              <a:buNone/>
              <a:defRPr sz="2250" b="1">
                <a:solidFill>
                  <a:srgbClr val="0A1B17"/>
                </a:solidFill>
              </a:defRPr>
            </a:pPr>
            <a:r>
              <a:rPr sz="2250" b="1">
                <a:solidFill>
                  <a:srgbClr val="0A1B17"/>
                </a:solidFill>
              </a:rPr>
              <a:t>3</a:t>
            </a:r>
          </a:p>
        </p:txBody>
      </p:sp>
      <p:sp>
        <p:nvSpPr>
          <p:cNvPr id="15" name="직사각형 14">
            <a:extLst>
              <a:ext uri="{FF2B5EF4-FFF2-40B4-BE49-F238E27FC236}">
                <a16:creationId xmlns:a16="http://schemas.microsoft.com/office/drawing/2014/main" id="{6BDDCD43-86B4-42C2-AB83-D953B2273EF2}"/>
              </a:ext>
            </a:extLst>
          </p:cNvPr>
          <p:cNvSpPr>
            <a:spLocks noGrp="1"/>
          </p:cNvSpPr>
          <p:nvPr/>
        </p:nvSpPr>
        <p:spPr>
          <a:xfrm>
            <a:off x="53911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CHECK</a:t>
            </a:r>
          </a:p>
        </p:txBody>
      </p:sp>
      <p:sp>
        <p:nvSpPr>
          <p:cNvPr id="16" name="직사각형 15">
            <a:extLst>
              <a:ext uri="{FF2B5EF4-FFF2-40B4-BE49-F238E27FC236}">
                <a16:creationId xmlns:a16="http://schemas.microsoft.com/office/drawing/2014/main" id="{643DA623-C68D-45D6-B9AC-0EE238E5C3DC}"/>
              </a:ext>
            </a:extLst>
          </p:cNvPr>
          <p:cNvSpPr>
            <a:spLocks noGrp="1"/>
          </p:cNvSpPr>
          <p:nvPr/>
        </p:nvSpPr>
        <p:spPr>
          <a:xfrm>
            <a:off x="53911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Cow, environment, equipment</a:t>
            </a:r>
          </a:p>
        </p:txBody>
      </p:sp>
      <p:sp>
        <p:nvSpPr>
          <p:cNvPr id="17" name="모서리가 둥근 직사각형 16">
            <a:extLst>
              <a:ext uri="{FF2B5EF4-FFF2-40B4-BE49-F238E27FC236}">
                <a16:creationId xmlns:a16="http://schemas.microsoft.com/office/drawing/2014/main" id="{538A648E-A485-47C1-A445-5853AE84C61E}"/>
              </a:ext>
            </a:extLst>
          </p:cNvPr>
          <p:cNvSpPr>
            <a:spLocks noGrp="1"/>
          </p:cNvSpPr>
          <p:nvPr/>
        </p:nvSpPr>
        <p:spPr>
          <a:xfrm>
            <a:off x="75247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81D2CEF1-B759-4814-8895-F2489B0C2963}"/>
              </a:ext>
            </a:extLst>
          </p:cNvPr>
          <p:cNvSpPr>
            <a:spLocks noGrp="1"/>
          </p:cNvSpPr>
          <p:nvPr/>
        </p:nvSpPr>
        <p:spPr>
          <a:xfrm>
            <a:off x="77152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rPr>
              <a:t>4</a:t>
            </a:r>
          </a:p>
        </p:txBody>
      </p:sp>
      <p:sp>
        <p:nvSpPr>
          <p:cNvPr id="19" name="직사각형 18">
            <a:extLst>
              <a:ext uri="{FF2B5EF4-FFF2-40B4-BE49-F238E27FC236}">
                <a16:creationId xmlns:a16="http://schemas.microsoft.com/office/drawing/2014/main" id="{3C0F03F7-7256-41F3-8CFC-E256CB78A09C}"/>
              </a:ext>
            </a:extLst>
          </p:cNvPr>
          <p:cNvSpPr>
            <a:spLocks noGrp="1"/>
          </p:cNvSpPr>
          <p:nvPr/>
        </p:nvSpPr>
        <p:spPr>
          <a:xfrm>
            <a:off x="77152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RECORD</a:t>
            </a:r>
          </a:p>
        </p:txBody>
      </p:sp>
      <p:sp>
        <p:nvSpPr>
          <p:cNvPr id="20" name="직사각형 19">
            <a:extLst>
              <a:ext uri="{FF2B5EF4-FFF2-40B4-BE49-F238E27FC236}">
                <a16:creationId xmlns:a16="http://schemas.microsoft.com/office/drawing/2014/main" id="{F0EF6469-6CA2-4EA5-BA9A-A0FBFFBE42B8}"/>
              </a:ext>
            </a:extLst>
          </p:cNvPr>
          <p:cNvSpPr>
            <a:spLocks noGrp="1"/>
          </p:cNvSpPr>
          <p:nvPr/>
        </p:nvSpPr>
        <p:spPr>
          <a:xfrm>
            <a:off x="77152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Finding and action</a:t>
            </a:r>
          </a:p>
        </p:txBody>
      </p:sp>
      <p:sp>
        <p:nvSpPr>
          <p:cNvPr id="21" name="모서리가 둥근 직사각형 20">
            <a:extLst>
              <a:ext uri="{FF2B5EF4-FFF2-40B4-BE49-F238E27FC236}">
                <a16:creationId xmlns:a16="http://schemas.microsoft.com/office/drawing/2014/main" id="{80033CA5-9E22-451C-84C8-FAD1E2D37878}"/>
              </a:ext>
            </a:extLst>
          </p:cNvPr>
          <p:cNvSpPr>
            <a:spLocks noGrp="1"/>
          </p:cNvSpPr>
          <p:nvPr/>
        </p:nvSpPr>
        <p:spPr>
          <a:xfrm>
            <a:off x="98488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C0083C59-D252-4CFD-BA18-F774513CAAF5}"/>
              </a:ext>
            </a:extLst>
          </p:cNvPr>
          <p:cNvSpPr>
            <a:spLocks noGrp="1"/>
          </p:cNvSpPr>
          <p:nvPr/>
        </p:nvSpPr>
        <p:spPr>
          <a:xfrm>
            <a:off x="100393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rPr>
              <a:t>5</a:t>
            </a:r>
          </a:p>
        </p:txBody>
      </p:sp>
      <p:sp>
        <p:nvSpPr>
          <p:cNvPr id="23" name="직사각형 22">
            <a:extLst>
              <a:ext uri="{FF2B5EF4-FFF2-40B4-BE49-F238E27FC236}">
                <a16:creationId xmlns:a16="http://schemas.microsoft.com/office/drawing/2014/main" id="{52238241-1FD2-45A6-B994-C446D7386FB3}"/>
              </a:ext>
            </a:extLst>
          </p:cNvPr>
          <p:cNvSpPr>
            <a:spLocks noGrp="1"/>
          </p:cNvSpPr>
          <p:nvPr/>
        </p:nvSpPr>
        <p:spPr>
          <a:xfrm>
            <a:off x="100393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FOLLOW UP</a:t>
            </a:r>
          </a:p>
        </p:txBody>
      </p:sp>
      <p:sp>
        <p:nvSpPr>
          <p:cNvPr id="24" name="직사각형 23">
            <a:extLst>
              <a:ext uri="{FF2B5EF4-FFF2-40B4-BE49-F238E27FC236}">
                <a16:creationId xmlns:a16="http://schemas.microsoft.com/office/drawing/2014/main" id="{DB54D00B-12E8-46D1-BC88-F04D6651B4D8}"/>
              </a:ext>
            </a:extLst>
          </p:cNvPr>
          <p:cNvSpPr>
            <a:spLocks noGrp="1"/>
          </p:cNvSpPr>
          <p:nvPr/>
        </p:nvSpPr>
        <p:spPr>
          <a:xfrm>
            <a:off x="100393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Did the trend recover?</a:t>
            </a:r>
          </a:p>
        </p:txBody>
      </p:sp>
      <p:sp>
        <p:nvSpPr>
          <p:cNvPr id="25" name="직사각형 24">
            <a:extLst>
              <a:ext uri="{FF2B5EF4-FFF2-40B4-BE49-F238E27FC236}">
                <a16:creationId xmlns:a16="http://schemas.microsoft.com/office/drawing/2014/main" id="{4D59C26F-F6A9-4F85-978A-BA7CF286E690}"/>
              </a:ext>
            </a:extLst>
          </p:cNvPr>
          <p:cNvSpPr>
            <a:spLocks noGrp="1"/>
          </p:cNvSpPr>
          <p:nvPr/>
        </p:nvSpPr>
        <p:spPr>
          <a:xfrm>
            <a:off x="685800" y="5124450"/>
            <a:ext cx="10820400" cy="400050"/>
          </a:xfrm>
          <a:prstGeom prst="rect">
            <a:avLst/>
          </a:prstGeom>
          <a:noFill/>
          <a:ln w="0">
            <a:noFill/>
            <a:prstDash val="solid"/>
          </a:ln>
        </p:spPr>
        <p:txBody>
          <a:bodyPr/>
          <a:lstStyle/>
          <a:p>
            <a:pPr algn="ctr">
              <a:buNone/>
              <a:defRPr sz="1575" b="1">
                <a:solidFill>
                  <a:srgbClr val="15A98C"/>
                </a:solidFill>
              </a:defRPr>
            </a:pPr>
            <a:r>
              <a:rPr sz="1575" b="1">
                <a:solidFill>
                  <a:srgbClr val="15A98C"/>
                </a:solidFill>
              </a:rPr>
              <a:t>Critical alert → responsible person now   |   Unclear alert → recheck and follow up</a:t>
            </a:r>
          </a:p>
        </p:txBody>
      </p:sp>
    </p:spTree>
    <p:extLst>
      <p:ext uri="{BB962C8B-B14F-4D97-AF65-F5344CB8AC3E}">
        <p14:creationId xmlns:p14="http://schemas.microsoft.com/office/powerpoint/2010/main" val="38078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4EF2C0BD-032F-48E0-BFD1-F2834DA17CA8}"/>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rPr>
              <a:t>03</a:t>
            </a:r>
          </a:p>
        </p:txBody>
      </p:sp>
      <p:sp>
        <p:nvSpPr>
          <p:cNvPr id="2" name="직사각형 1">
            <a:extLst>
              <a:ext uri="{FF2B5EF4-FFF2-40B4-BE49-F238E27FC236}">
                <a16:creationId xmlns:a16="http://schemas.microsoft.com/office/drawing/2014/main" id="{4232DE3B-B58F-4C17-9AED-C5FCA9346519}"/>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rPr>
              <a:t>Early health management</a:t>
            </a:r>
          </a:p>
        </p:txBody>
      </p:sp>
      <p:sp>
        <p:nvSpPr>
          <p:cNvPr id="3" name="직사각형 2">
            <a:extLst>
              <a:ext uri="{FF2B5EF4-FFF2-40B4-BE49-F238E27FC236}">
                <a16:creationId xmlns:a16="http://schemas.microsoft.com/office/drawing/2014/main" id="{E9B72057-90A0-4680-8CAB-1DFD3377B3FB}"/>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rPr>
              <a:t>The value of an early signal is moving the check earlier—not naming the disease.</a:t>
            </a:r>
          </a:p>
        </p:txBody>
      </p:sp>
      <p:sp>
        <p:nvSpPr>
          <p:cNvPr id="5" name="타원 4">
            <a:extLst>
              <a:ext uri="{FF2B5EF4-FFF2-40B4-BE49-F238E27FC236}">
                <a16:creationId xmlns:a16="http://schemas.microsoft.com/office/drawing/2014/main" id="{575AF46E-0357-43DD-9DC4-D0491228ED3D}"/>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E870DC79-D1C2-43DC-85F3-7E05C40D48F7}"/>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5F91E857-7A00-41AD-9611-D64971C984B7}"/>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DA3EB91E-C16A-4BFE-9B43-7A68D387760C}"/>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B99F3835-E825-4BF1-82AC-03000FE6316A}"/>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162E9ABB-7B53-488F-B40A-6C53BCF1CA2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11" name="직사각형 10">
            <a:extLst>
              <a:ext uri="{FF2B5EF4-FFF2-40B4-BE49-F238E27FC236}">
                <a16:creationId xmlns:a16="http://schemas.microsoft.com/office/drawing/2014/main" id="{F8955DBC-0094-4452-B244-9F61A51A06C4}"/>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17</a:t>
            </a:r>
          </a:p>
        </p:txBody>
      </p:sp>
      <p:pic>
        <p:nvPicPr>
          <p:cNvPr id="24" name="그림 23"/>
          <p:cNvPicPr>
            <a:picLocks noChangeAspect="1"/>
          </p:cNvPicPr>
          <p:nvPr/>
        </p:nvPicPr>
        <p:blipFill>
          <a:blip r:embed="rId3"/>
          <a:srcRect l="9484" r="9484"/>
          <a:stretch>
            <a:fillRect/>
          </a:stretch>
        </p:blipFill>
        <p:spPr>
          <a:xfrm>
            <a:off x="9906000" y="0"/>
            <a:ext cx="2286000" cy="6858000"/>
          </a:xfrm>
          <a:prstGeom prst="rect">
            <a:avLst/>
          </a:prstGeom>
        </p:spPr>
      </p:pic>
    </p:spTree>
    <p:extLst>
      <p:ext uri="{BB962C8B-B14F-4D97-AF65-F5344CB8AC3E}">
        <p14:creationId xmlns:p14="http://schemas.microsoft.com/office/powerpoint/2010/main" val="155841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B91F08FE-0F7B-4C50-9610-11146E9B8081}"/>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EARLY DETECTION</a:t>
            </a:r>
          </a:p>
        </p:txBody>
      </p:sp>
      <p:sp>
        <p:nvSpPr>
          <p:cNvPr id="2" name="직사각형 1">
            <a:extLst>
              <a:ext uri="{FF2B5EF4-FFF2-40B4-BE49-F238E27FC236}">
                <a16:creationId xmlns:a16="http://schemas.microsoft.com/office/drawing/2014/main" id="{238CE81C-2FE3-4D3C-AC2D-9B0665D63DC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Detect the deviation early—not the diagnosis</a:t>
            </a:r>
          </a:p>
        </p:txBody>
      </p:sp>
      <p:sp>
        <p:nvSpPr>
          <p:cNvPr id="3" name="직사각형 2">
            <a:extLst>
              <a:ext uri="{FF2B5EF4-FFF2-40B4-BE49-F238E27FC236}">
                <a16:creationId xmlns:a16="http://schemas.microsoft.com/office/drawing/2014/main" id="{F5CCD47F-2C4B-4C93-82F3-A7504CD674E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539375AD-C270-4EE4-AE13-5F8C2FDF9921}"/>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18</a:t>
            </a:r>
          </a:p>
        </p:txBody>
      </p:sp>
      <p:sp>
        <p:nvSpPr>
          <p:cNvPr id="5" name="모서리가 둥근 직사각형 4">
            <a:extLst>
              <a:ext uri="{FF2B5EF4-FFF2-40B4-BE49-F238E27FC236}">
                <a16:creationId xmlns:a16="http://schemas.microsoft.com/office/drawing/2014/main" id="{46320016-BF29-4592-815B-EE586399A172}"/>
              </a:ext>
            </a:extLst>
          </p:cNvPr>
          <p:cNvSpPr>
            <a:spLocks noGrp="1"/>
          </p:cNvSpPr>
          <p:nvPr/>
        </p:nvSpPr>
        <p:spPr>
          <a:xfrm>
            <a:off x="685800" y="2305050"/>
            <a:ext cx="2362200" cy="1619250"/>
          </a:xfrm>
          <a:prstGeom prst="roundRect">
            <a:avLst>
              <a:gd name="adj" fmla="val 9412"/>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EC6A0DC-3C4D-42D5-9019-B8D62F985A50}"/>
              </a:ext>
            </a:extLst>
          </p:cNvPr>
          <p:cNvSpPr>
            <a:spLocks noGrp="1"/>
          </p:cNvSpPr>
          <p:nvPr/>
        </p:nvSpPr>
        <p:spPr>
          <a:xfrm>
            <a:off x="895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rPr>
              <a:t>Invisible stage</a:t>
            </a:r>
          </a:p>
        </p:txBody>
      </p:sp>
      <p:sp>
        <p:nvSpPr>
          <p:cNvPr id="7" name="직사각형 6">
            <a:extLst>
              <a:ext uri="{FF2B5EF4-FFF2-40B4-BE49-F238E27FC236}">
                <a16:creationId xmlns:a16="http://schemas.microsoft.com/office/drawing/2014/main" id="{B77AED8F-81EC-462B-A15E-53209E952B74}"/>
              </a:ext>
            </a:extLst>
          </p:cNvPr>
          <p:cNvSpPr>
            <a:spLocks noGrp="1"/>
          </p:cNvSpPr>
          <p:nvPr/>
        </p:nvSpPr>
        <p:spPr>
          <a:xfrm>
            <a:off x="895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rPr>
              <a:t>Internal trend changes</a:t>
            </a:r>
          </a:p>
        </p:txBody>
      </p:sp>
      <p:sp>
        <p:nvSpPr>
          <p:cNvPr id="8" name="오른쪽 화살표[R] 7">
            <a:extLst>
              <a:ext uri="{FF2B5EF4-FFF2-40B4-BE49-F238E27FC236}">
                <a16:creationId xmlns:a16="http://schemas.microsoft.com/office/drawing/2014/main" id="{4DE3BAFA-9324-463C-9083-827D66F507CD}"/>
              </a:ext>
            </a:extLst>
          </p:cNvPr>
          <p:cNvSpPr>
            <a:spLocks noGrp="1"/>
          </p:cNvSpPr>
          <p:nvPr/>
        </p:nvSpPr>
        <p:spPr>
          <a:xfrm>
            <a:off x="2952750" y="2924175"/>
            <a:ext cx="495300" cy="361950"/>
          </a:xfrm>
          <a:prstGeom prst="rightArrow">
            <a:avLst/>
          </a:prstGeom>
          <a:solidFill>
            <a:srgbClr val="10251F"/>
          </a:solidFill>
          <a:ln w="0">
            <a:noFill/>
            <a:prstDash val="solid"/>
          </a:ln>
        </p:spPr>
        <p:txBody>
          <a:bodyPr/>
          <a:lstStyle/>
          <a:p>
            <a:endParaRPr lang="ko-KR" altLang="en-US"/>
          </a:p>
        </p:txBody>
      </p:sp>
      <p:sp>
        <p:nvSpPr>
          <p:cNvPr id="9" name="모서리가 둥근 직사각형 8">
            <a:extLst>
              <a:ext uri="{FF2B5EF4-FFF2-40B4-BE49-F238E27FC236}">
                <a16:creationId xmlns:a16="http://schemas.microsoft.com/office/drawing/2014/main" id="{F6894741-326C-49DE-8EF0-101D2A2E381B}"/>
              </a:ext>
            </a:extLst>
          </p:cNvPr>
          <p:cNvSpPr>
            <a:spLocks noGrp="1"/>
          </p:cNvSpPr>
          <p:nvPr/>
        </p:nvSpPr>
        <p:spPr>
          <a:xfrm>
            <a:off x="3352800" y="2305050"/>
            <a:ext cx="2362200" cy="1619250"/>
          </a:xfrm>
          <a:prstGeom prst="roundRect">
            <a:avLst>
              <a:gd name="adj" fmla="val 9412"/>
            </a:avLst>
          </a:prstGeom>
          <a:solidFill>
            <a:srgbClr val="F6B846"/>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256EDCD2-159E-4C06-86FE-F1061FC789B0}"/>
              </a:ext>
            </a:extLst>
          </p:cNvPr>
          <p:cNvSpPr>
            <a:spLocks noGrp="1"/>
          </p:cNvSpPr>
          <p:nvPr/>
        </p:nvSpPr>
        <p:spPr>
          <a:xfrm>
            <a:off x="3562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rPr>
              <a:t>Subclinical stage</a:t>
            </a:r>
          </a:p>
        </p:txBody>
      </p:sp>
      <p:sp>
        <p:nvSpPr>
          <p:cNvPr id="11" name="직사각형 10">
            <a:extLst>
              <a:ext uri="{FF2B5EF4-FFF2-40B4-BE49-F238E27FC236}">
                <a16:creationId xmlns:a16="http://schemas.microsoft.com/office/drawing/2014/main" id="{91C1A309-CCB8-46FD-A796-479E5E0B876C}"/>
              </a:ext>
            </a:extLst>
          </p:cNvPr>
          <p:cNvSpPr>
            <a:spLocks noGrp="1"/>
          </p:cNvSpPr>
          <p:nvPr/>
        </p:nvSpPr>
        <p:spPr>
          <a:xfrm>
            <a:off x="3562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rPr>
              <a:t>Alert + check</a:t>
            </a:r>
          </a:p>
        </p:txBody>
      </p:sp>
      <p:sp>
        <p:nvSpPr>
          <p:cNvPr id="12" name="오른쪽 화살표[R] 11">
            <a:extLst>
              <a:ext uri="{FF2B5EF4-FFF2-40B4-BE49-F238E27FC236}">
                <a16:creationId xmlns:a16="http://schemas.microsoft.com/office/drawing/2014/main" id="{9250E01D-074F-4A75-8A85-D1B171EFD3AC}"/>
              </a:ext>
            </a:extLst>
          </p:cNvPr>
          <p:cNvSpPr>
            <a:spLocks noGrp="1"/>
          </p:cNvSpPr>
          <p:nvPr/>
        </p:nvSpPr>
        <p:spPr>
          <a:xfrm>
            <a:off x="5619750" y="2924175"/>
            <a:ext cx="495300" cy="361950"/>
          </a:xfrm>
          <a:prstGeom prst="rightArrow">
            <a:avLst/>
          </a:prstGeom>
          <a:solidFill>
            <a:srgbClr val="10251F"/>
          </a:solidFill>
          <a:ln w="0">
            <a:noFill/>
            <a:prstDash val="solid"/>
          </a:ln>
        </p:spPr>
        <p:txBody>
          <a:bodyPr/>
          <a:lstStyle/>
          <a:p>
            <a:endParaRPr lang="ko-KR" altLang="en-US"/>
          </a:p>
        </p:txBody>
      </p:sp>
      <p:sp>
        <p:nvSpPr>
          <p:cNvPr id="13" name="모서리가 둥근 직사각형 12">
            <a:extLst>
              <a:ext uri="{FF2B5EF4-FFF2-40B4-BE49-F238E27FC236}">
                <a16:creationId xmlns:a16="http://schemas.microsoft.com/office/drawing/2014/main" id="{98386806-D875-4022-B619-23C41E82E8EE}"/>
              </a:ext>
            </a:extLst>
          </p:cNvPr>
          <p:cNvSpPr>
            <a:spLocks noGrp="1"/>
          </p:cNvSpPr>
          <p:nvPr/>
        </p:nvSpPr>
        <p:spPr>
          <a:xfrm>
            <a:off x="6019800" y="2305050"/>
            <a:ext cx="2362200" cy="1619250"/>
          </a:xfrm>
          <a:prstGeom prst="roundRect">
            <a:avLst>
              <a:gd name="adj" fmla="val 9412"/>
            </a:avLst>
          </a:prstGeom>
          <a:solidFill>
            <a:srgbClr val="E96155"/>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10E8F69B-4A80-43EF-AF01-1795ED66A282}"/>
              </a:ext>
            </a:extLst>
          </p:cNvPr>
          <p:cNvSpPr>
            <a:spLocks noGrp="1"/>
          </p:cNvSpPr>
          <p:nvPr/>
        </p:nvSpPr>
        <p:spPr>
          <a:xfrm>
            <a:off x="6229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rPr>
              <a:t>Clinical stage</a:t>
            </a:r>
          </a:p>
        </p:txBody>
      </p:sp>
      <p:sp>
        <p:nvSpPr>
          <p:cNvPr id="15" name="직사각형 14">
            <a:extLst>
              <a:ext uri="{FF2B5EF4-FFF2-40B4-BE49-F238E27FC236}">
                <a16:creationId xmlns:a16="http://schemas.microsoft.com/office/drawing/2014/main" id="{BB542BF4-83D1-4CD1-AE18-682BBB4D7CE0}"/>
              </a:ext>
            </a:extLst>
          </p:cNvPr>
          <p:cNvSpPr>
            <a:spLocks noGrp="1"/>
          </p:cNvSpPr>
          <p:nvPr/>
        </p:nvSpPr>
        <p:spPr>
          <a:xfrm>
            <a:off x="6229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rPr>
              <a:t>Visible symptoms</a:t>
            </a:r>
          </a:p>
        </p:txBody>
      </p:sp>
      <p:sp>
        <p:nvSpPr>
          <p:cNvPr id="16" name="오른쪽 화살표[R] 15">
            <a:extLst>
              <a:ext uri="{FF2B5EF4-FFF2-40B4-BE49-F238E27FC236}">
                <a16:creationId xmlns:a16="http://schemas.microsoft.com/office/drawing/2014/main" id="{96625D72-EF8B-4D93-B787-CDC8A03EABF3}"/>
              </a:ext>
            </a:extLst>
          </p:cNvPr>
          <p:cNvSpPr>
            <a:spLocks noGrp="1"/>
          </p:cNvSpPr>
          <p:nvPr/>
        </p:nvSpPr>
        <p:spPr>
          <a:xfrm>
            <a:off x="8286750" y="2924175"/>
            <a:ext cx="495300" cy="361950"/>
          </a:xfrm>
          <a:prstGeom prst="rightArrow">
            <a:avLst/>
          </a:prstGeom>
          <a:solidFill>
            <a:srgbClr val="10251F"/>
          </a:solidFill>
          <a:ln w="0">
            <a:noFill/>
            <a:prstDash val="solid"/>
          </a:ln>
        </p:spPr>
        <p:txBody>
          <a:bodyPr/>
          <a:lstStyle/>
          <a:p>
            <a:endParaRPr lang="ko-KR" altLang="en-US"/>
          </a:p>
        </p:txBody>
      </p:sp>
      <p:sp>
        <p:nvSpPr>
          <p:cNvPr id="17" name="모서리가 둥근 직사각형 16">
            <a:extLst>
              <a:ext uri="{FF2B5EF4-FFF2-40B4-BE49-F238E27FC236}">
                <a16:creationId xmlns:a16="http://schemas.microsoft.com/office/drawing/2014/main" id="{180E67D0-1AD9-4363-B368-7D1F43F30CF5}"/>
              </a:ext>
            </a:extLst>
          </p:cNvPr>
          <p:cNvSpPr>
            <a:spLocks noGrp="1"/>
          </p:cNvSpPr>
          <p:nvPr/>
        </p:nvSpPr>
        <p:spPr>
          <a:xfrm>
            <a:off x="8686800" y="2305050"/>
            <a:ext cx="2362200" cy="1619250"/>
          </a:xfrm>
          <a:prstGeom prst="roundRect">
            <a:avLst>
              <a:gd name="adj" fmla="val 9412"/>
            </a:avLst>
          </a:prstGeom>
          <a:solidFill>
            <a:srgbClr val="15A98C"/>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93BBA4E0-1AAB-4786-8962-16830461967F}"/>
              </a:ext>
            </a:extLst>
          </p:cNvPr>
          <p:cNvSpPr>
            <a:spLocks noGrp="1"/>
          </p:cNvSpPr>
          <p:nvPr/>
        </p:nvSpPr>
        <p:spPr>
          <a:xfrm>
            <a:off x="8896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rPr>
              <a:t>Recovery</a:t>
            </a:r>
          </a:p>
        </p:txBody>
      </p:sp>
      <p:sp>
        <p:nvSpPr>
          <p:cNvPr id="19" name="직사각형 18">
            <a:extLst>
              <a:ext uri="{FF2B5EF4-FFF2-40B4-BE49-F238E27FC236}">
                <a16:creationId xmlns:a16="http://schemas.microsoft.com/office/drawing/2014/main" id="{68CA3691-A91F-4C20-A82B-FFF90CD4E7E9}"/>
              </a:ext>
            </a:extLst>
          </p:cNvPr>
          <p:cNvSpPr>
            <a:spLocks noGrp="1"/>
          </p:cNvSpPr>
          <p:nvPr/>
        </p:nvSpPr>
        <p:spPr>
          <a:xfrm>
            <a:off x="8896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rPr>
              <a:t>Trend monitoring</a:t>
            </a:r>
          </a:p>
        </p:txBody>
      </p:sp>
      <p:sp>
        <p:nvSpPr>
          <p:cNvPr id="20" name="직사각형 19">
            <a:extLst>
              <a:ext uri="{FF2B5EF4-FFF2-40B4-BE49-F238E27FC236}">
                <a16:creationId xmlns:a16="http://schemas.microsoft.com/office/drawing/2014/main" id="{48DE7ECA-6A30-40FD-A9D7-4B88F680FDAD}"/>
              </a:ext>
            </a:extLst>
          </p:cNvPr>
          <p:cNvSpPr>
            <a:spLocks noGrp="1"/>
          </p:cNvSpPr>
          <p:nvPr/>
        </p:nvSpPr>
        <p:spPr>
          <a:xfrm>
            <a:off x="685800" y="4762500"/>
            <a:ext cx="10820400" cy="533400"/>
          </a:xfrm>
          <a:prstGeom prst="rect">
            <a:avLst/>
          </a:prstGeom>
          <a:noFill/>
          <a:ln w="0">
            <a:noFill/>
            <a:prstDash val="solid"/>
          </a:ln>
        </p:spPr>
        <p:txBody>
          <a:bodyPr/>
          <a:lstStyle/>
          <a:p>
            <a:pPr algn="ctr">
              <a:buNone/>
              <a:defRPr sz="1950" b="1">
                <a:solidFill>
                  <a:srgbClr val="10251F"/>
                </a:solidFill>
              </a:defRPr>
            </a:pPr>
            <a:r>
              <a:rPr sz="1950" b="1">
                <a:solidFill>
                  <a:srgbClr val="10251F"/>
                </a:solidFill>
              </a:rPr>
              <a:t>Goal: check and begin targeted action before clinical deterioration</a:t>
            </a:r>
          </a:p>
        </p:txBody>
      </p:sp>
    </p:spTree>
    <p:extLst>
      <p:ext uri="{BB962C8B-B14F-4D97-AF65-F5344CB8AC3E}">
        <p14:creationId xmlns:p14="http://schemas.microsoft.com/office/powerpoint/2010/main" val="66288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2E84CF7E-3049-465D-9666-8CC158D347A6}"/>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PRACTICAL SOP</a:t>
            </a:r>
          </a:p>
        </p:txBody>
      </p:sp>
      <p:sp>
        <p:nvSpPr>
          <p:cNvPr id="2" name="직사각형 1">
            <a:extLst>
              <a:ext uri="{FF2B5EF4-FFF2-40B4-BE49-F238E27FC236}">
                <a16:creationId xmlns:a16="http://schemas.microsoft.com/office/drawing/2014/main" id="{E344ABE2-B406-4298-95DE-578855D62B7A}"/>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The health SOP should work the same way for every alert</a:t>
            </a:r>
          </a:p>
        </p:txBody>
      </p:sp>
      <p:sp>
        <p:nvSpPr>
          <p:cNvPr id="3" name="직사각형 2">
            <a:extLst>
              <a:ext uri="{FF2B5EF4-FFF2-40B4-BE49-F238E27FC236}">
                <a16:creationId xmlns:a16="http://schemas.microsoft.com/office/drawing/2014/main" id="{7A4AFBE1-FC8D-4273-A96C-21746063E66E}"/>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0FBFF41B-DC44-451A-990A-12053AC85539}"/>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19</a:t>
            </a:r>
          </a:p>
        </p:txBody>
      </p:sp>
      <p:sp>
        <p:nvSpPr>
          <p:cNvPr id="5" name="직사각형 4">
            <a:extLst>
              <a:ext uri="{FF2B5EF4-FFF2-40B4-BE49-F238E27FC236}">
                <a16:creationId xmlns:a16="http://schemas.microsoft.com/office/drawing/2014/main" id="{CB951A3C-6C0B-408F-8E36-1DFEDD4BBE9A}"/>
              </a:ext>
            </a:extLst>
          </p:cNvPr>
          <p:cNvSpPr>
            <a:spLocks noGrp="1"/>
          </p:cNvSpPr>
          <p:nvPr/>
        </p:nvSpPr>
        <p:spPr>
          <a:xfrm>
            <a:off x="685800" y="1714500"/>
            <a:ext cx="10820400" cy="647700"/>
          </a:xfrm>
          <a:prstGeom prst="rect">
            <a:avLst/>
          </a:prstGeom>
          <a:solidFill>
            <a:srgbClr val="ECF1EE"/>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71015B63-074C-4149-A8DB-640BB2228AEB}"/>
              </a:ext>
            </a:extLst>
          </p:cNvPr>
          <p:cNvSpPr>
            <a:spLocks noGrp="1"/>
          </p:cNvSpPr>
          <p:nvPr/>
        </p:nvSpPr>
        <p:spPr>
          <a:xfrm>
            <a:off x="876300" y="188595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0–15 min</a:t>
            </a:r>
          </a:p>
        </p:txBody>
      </p:sp>
      <p:sp>
        <p:nvSpPr>
          <p:cNvPr id="7" name="직사각형 6">
            <a:extLst>
              <a:ext uri="{FF2B5EF4-FFF2-40B4-BE49-F238E27FC236}">
                <a16:creationId xmlns:a16="http://schemas.microsoft.com/office/drawing/2014/main" id="{77ED16AB-1D12-48F0-8FD2-39AE8176C897}"/>
              </a:ext>
            </a:extLst>
          </p:cNvPr>
          <p:cNvSpPr>
            <a:spLocks noGrp="1"/>
          </p:cNvSpPr>
          <p:nvPr/>
        </p:nvSpPr>
        <p:spPr>
          <a:xfrm>
            <a:off x="2571750" y="188595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rPr>
              <a:t>Receive alert</a:t>
            </a:r>
          </a:p>
        </p:txBody>
      </p:sp>
      <p:sp>
        <p:nvSpPr>
          <p:cNvPr id="8" name="직사각형 7">
            <a:extLst>
              <a:ext uri="{FF2B5EF4-FFF2-40B4-BE49-F238E27FC236}">
                <a16:creationId xmlns:a16="http://schemas.microsoft.com/office/drawing/2014/main" id="{5E2BD9F6-3278-434F-B272-4D519011CCFF}"/>
              </a:ext>
            </a:extLst>
          </p:cNvPr>
          <p:cNvSpPr>
            <a:spLocks noGrp="1"/>
          </p:cNvSpPr>
          <p:nvPr/>
        </p:nvSpPr>
        <p:spPr>
          <a:xfrm>
            <a:off x="5715000" y="188595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Animal ID, location, risk level</a:t>
            </a:r>
          </a:p>
        </p:txBody>
      </p:sp>
      <p:sp>
        <p:nvSpPr>
          <p:cNvPr id="9" name="직사각형 8">
            <a:extLst>
              <a:ext uri="{FF2B5EF4-FFF2-40B4-BE49-F238E27FC236}">
                <a16:creationId xmlns:a16="http://schemas.microsoft.com/office/drawing/2014/main" id="{75C69ADE-7894-4468-98E5-198DC67801EA}"/>
              </a:ext>
            </a:extLst>
          </p:cNvPr>
          <p:cNvSpPr>
            <a:spLocks noGrp="1"/>
          </p:cNvSpPr>
          <p:nvPr/>
        </p:nvSpPr>
        <p:spPr>
          <a:xfrm>
            <a:off x="685800" y="2495550"/>
            <a:ext cx="10820400" cy="647700"/>
          </a:xfrm>
          <a:prstGeom prst="rect">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4DD7FAD1-9333-48F2-969F-975BAE4DE6FD}"/>
              </a:ext>
            </a:extLst>
          </p:cNvPr>
          <p:cNvSpPr>
            <a:spLocks noGrp="1"/>
          </p:cNvSpPr>
          <p:nvPr/>
        </p:nvSpPr>
        <p:spPr>
          <a:xfrm>
            <a:off x="876300" y="266700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15–60 min</a:t>
            </a:r>
          </a:p>
        </p:txBody>
      </p:sp>
      <p:sp>
        <p:nvSpPr>
          <p:cNvPr id="11" name="직사각형 10">
            <a:extLst>
              <a:ext uri="{FF2B5EF4-FFF2-40B4-BE49-F238E27FC236}">
                <a16:creationId xmlns:a16="http://schemas.microsoft.com/office/drawing/2014/main" id="{199BF304-D621-4CCA-81D6-FC105EC61CC3}"/>
              </a:ext>
            </a:extLst>
          </p:cNvPr>
          <p:cNvSpPr>
            <a:spLocks noGrp="1"/>
          </p:cNvSpPr>
          <p:nvPr/>
        </p:nvSpPr>
        <p:spPr>
          <a:xfrm>
            <a:off x="2571750" y="266700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rPr>
              <a:t>Physical check</a:t>
            </a:r>
          </a:p>
        </p:txBody>
      </p:sp>
      <p:sp>
        <p:nvSpPr>
          <p:cNvPr id="12" name="직사각형 11">
            <a:extLst>
              <a:ext uri="{FF2B5EF4-FFF2-40B4-BE49-F238E27FC236}">
                <a16:creationId xmlns:a16="http://schemas.microsoft.com/office/drawing/2014/main" id="{32280780-3B3F-4A46-B23B-1EE094C86241}"/>
              </a:ext>
            </a:extLst>
          </p:cNvPr>
          <p:cNvSpPr>
            <a:spLocks noGrp="1"/>
          </p:cNvSpPr>
          <p:nvPr/>
        </p:nvSpPr>
        <p:spPr>
          <a:xfrm>
            <a:off x="5715000" y="266700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Temperature, udder, discharge, manure, gait</a:t>
            </a:r>
          </a:p>
        </p:txBody>
      </p:sp>
      <p:sp>
        <p:nvSpPr>
          <p:cNvPr id="13" name="직사각형 12">
            <a:extLst>
              <a:ext uri="{FF2B5EF4-FFF2-40B4-BE49-F238E27FC236}">
                <a16:creationId xmlns:a16="http://schemas.microsoft.com/office/drawing/2014/main" id="{FECDE3C8-5085-4363-A362-72F1BDAF1F82}"/>
              </a:ext>
            </a:extLst>
          </p:cNvPr>
          <p:cNvSpPr>
            <a:spLocks noGrp="1"/>
          </p:cNvSpPr>
          <p:nvPr/>
        </p:nvSpPr>
        <p:spPr>
          <a:xfrm>
            <a:off x="685800" y="3276600"/>
            <a:ext cx="10820400" cy="647700"/>
          </a:xfrm>
          <a:prstGeom prst="rect">
            <a:avLst/>
          </a:prstGeom>
          <a:solidFill>
            <a:srgbClr val="ECF1EE"/>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C28448E0-A73F-4100-8544-BD525C65A32D}"/>
              </a:ext>
            </a:extLst>
          </p:cNvPr>
          <p:cNvSpPr>
            <a:spLocks noGrp="1"/>
          </p:cNvSpPr>
          <p:nvPr/>
        </p:nvSpPr>
        <p:spPr>
          <a:xfrm>
            <a:off x="876300" y="344805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Same shift</a:t>
            </a:r>
          </a:p>
        </p:txBody>
      </p:sp>
      <p:sp>
        <p:nvSpPr>
          <p:cNvPr id="15" name="직사각형 14">
            <a:extLst>
              <a:ext uri="{FF2B5EF4-FFF2-40B4-BE49-F238E27FC236}">
                <a16:creationId xmlns:a16="http://schemas.microsoft.com/office/drawing/2014/main" id="{F1BAC131-E4FB-478D-8A61-A775AB9D1A6E}"/>
              </a:ext>
            </a:extLst>
          </p:cNvPr>
          <p:cNvSpPr>
            <a:spLocks noGrp="1"/>
          </p:cNvSpPr>
          <p:nvPr/>
        </p:nvSpPr>
        <p:spPr>
          <a:xfrm>
            <a:off x="2571750" y="344805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rPr>
              <a:t>Decision and record</a:t>
            </a:r>
          </a:p>
        </p:txBody>
      </p:sp>
      <p:sp>
        <p:nvSpPr>
          <p:cNvPr id="16" name="직사각형 15">
            <a:extLst>
              <a:ext uri="{FF2B5EF4-FFF2-40B4-BE49-F238E27FC236}">
                <a16:creationId xmlns:a16="http://schemas.microsoft.com/office/drawing/2014/main" id="{135AB65E-187D-443F-A5EC-97D1C1B203EE}"/>
              </a:ext>
            </a:extLst>
          </p:cNvPr>
          <p:cNvSpPr>
            <a:spLocks noGrp="1"/>
          </p:cNvSpPr>
          <p:nvPr/>
        </p:nvSpPr>
        <p:spPr>
          <a:xfrm>
            <a:off x="5715000" y="344805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Monitor / separate / specialist / treat</a:t>
            </a:r>
          </a:p>
        </p:txBody>
      </p:sp>
      <p:sp>
        <p:nvSpPr>
          <p:cNvPr id="17" name="직사각형 16">
            <a:extLst>
              <a:ext uri="{FF2B5EF4-FFF2-40B4-BE49-F238E27FC236}">
                <a16:creationId xmlns:a16="http://schemas.microsoft.com/office/drawing/2014/main" id="{B890D60F-5078-474C-A02C-867AEB0BD40A}"/>
              </a:ext>
            </a:extLst>
          </p:cNvPr>
          <p:cNvSpPr>
            <a:spLocks noGrp="1"/>
          </p:cNvSpPr>
          <p:nvPr/>
        </p:nvSpPr>
        <p:spPr>
          <a:xfrm>
            <a:off x="685800" y="4057650"/>
            <a:ext cx="10820400" cy="647700"/>
          </a:xfrm>
          <a:prstGeom prst="rect">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2A2DC4A0-018F-42D3-8106-ECF86CDF7F58}"/>
              </a:ext>
            </a:extLst>
          </p:cNvPr>
          <p:cNvSpPr>
            <a:spLocks noGrp="1"/>
          </p:cNvSpPr>
          <p:nvPr/>
        </p:nvSpPr>
        <p:spPr>
          <a:xfrm>
            <a:off x="876300" y="422910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Next 24 hours</a:t>
            </a:r>
          </a:p>
        </p:txBody>
      </p:sp>
      <p:sp>
        <p:nvSpPr>
          <p:cNvPr id="19" name="직사각형 18">
            <a:extLst>
              <a:ext uri="{FF2B5EF4-FFF2-40B4-BE49-F238E27FC236}">
                <a16:creationId xmlns:a16="http://schemas.microsoft.com/office/drawing/2014/main" id="{9663CF9D-070A-4038-B00F-E09941C28085}"/>
              </a:ext>
            </a:extLst>
          </p:cNvPr>
          <p:cNvSpPr>
            <a:spLocks noGrp="1"/>
          </p:cNvSpPr>
          <p:nvPr/>
        </p:nvSpPr>
        <p:spPr>
          <a:xfrm>
            <a:off x="2571750" y="422910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rPr>
              <a:t>Trend monitoring</a:t>
            </a:r>
          </a:p>
        </p:txBody>
      </p:sp>
      <p:sp>
        <p:nvSpPr>
          <p:cNvPr id="20" name="직사각형 19">
            <a:extLst>
              <a:ext uri="{FF2B5EF4-FFF2-40B4-BE49-F238E27FC236}">
                <a16:creationId xmlns:a16="http://schemas.microsoft.com/office/drawing/2014/main" id="{6155AA46-82F6-4EBA-9A34-30BC93A86910}"/>
              </a:ext>
            </a:extLst>
          </p:cNvPr>
          <p:cNvSpPr>
            <a:spLocks noGrp="1"/>
          </p:cNvSpPr>
          <p:nvPr/>
        </p:nvSpPr>
        <p:spPr>
          <a:xfrm>
            <a:off x="5715000" y="422910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Temperature, rumination, drinking, clinical response</a:t>
            </a:r>
          </a:p>
        </p:txBody>
      </p:sp>
      <p:sp>
        <p:nvSpPr>
          <p:cNvPr id="21" name="직사각형 20">
            <a:extLst>
              <a:ext uri="{FF2B5EF4-FFF2-40B4-BE49-F238E27FC236}">
                <a16:creationId xmlns:a16="http://schemas.microsoft.com/office/drawing/2014/main" id="{9D3E7425-FB44-4591-8AA4-98FBCEF2B67E}"/>
              </a:ext>
            </a:extLst>
          </p:cNvPr>
          <p:cNvSpPr>
            <a:spLocks noGrp="1"/>
          </p:cNvSpPr>
          <p:nvPr/>
        </p:nvSpPr>
        <p:spPr>
          <a:xfrm>
            <a:off x="685800" y="4838700"/>
            <a:ext cx="10820400" cy="647700"/>
          </a:xfrm>
          <a:prstGeom prst="rect">
            <a:avLst/>
          </a:prstGeom>
          <a:solidFill>
            <a:srgbClr val="ECF1EE"/>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6C3D6153-97D9-438B-B49E-4420F1CD40F8}"/>
              </a:ext>
            </a:extLst>
          </p:cNvPr>
          <p:cNvSpPr>
            <a:spLocks noGrp="1"/>
          </p:cNvSpPr>
          <p:nvPr/>
        </p:nvSpPr>
        <p:spPr>
          <a:xfrm>
            <a:off x="876300" y="501015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Close</a:t>
            </a:r>
          </a:p>
        </p:txBody>
      </p:sp>
      <p:sp>
        <p:nvSpPr>
          <p:cNvPr id="23" name="직사각형 22">
            <a:extLst>
              <a:ext uri="{FF2B5EF4-FFF2-40B4-BE49-F238E27FC236}">
                <a16:creationId xmlns:a16="http://schemas.microsoft.com/office/drawing/2014/main" id="{614D6235-438E-4CDB-AA1E-8664621E82D6}"/>
              </a:ext>
            </a:extLst>
          </p:cNvPr>
          <p:cNvSpPr>
            <a:spLocks noGrp="1"/>
          </p:cNvSpPr>
          <p:nvPr/>
        </p:nvSpPr>
        <p:spPr>
          <a:xfrm>
            <a:off x="2571750" y="501015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rPr>
              <a:t>Confirm outcome</a:t>
            </a:r>
          </a:p>
        </p:txBody>
      </p:sp>
      <p:sp>
        <p:nvSpPr>
          <p:cNvPr id="24" name="직사각형 23">
            <a:extLst>
              <a:ext uri="{FF2B5EF4-FFF2-40B4-BE49-F238E27FC236}">
                <a16:creationId xmlns:a16="http://schemas.microsoft.com/office/drawing/2014/main" id="{7E9F9F73-30FA-4E18-816C-3A4C66D653BC}"/>
              </a:ext>
            </a:extLst>
          </p:cNvPr>
          <p:cNvSpPr>
            <a:spLocks noGrp="1"/>
          </p:cNvSpPr>
          <p:nvPr/>
        </p:nvSpPr>
        <p:spPr>
          <a:xfrm>
            <a:off x="5715000" y="501015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Cause, action, recurrence prevention</a:t>
            </a:r>
          </a:p>
        </p:txBody>
      </p:sp>
    </p:spTree>
    <p:extLst>
      <p:ext uri="{BB962C8B-B14F-4D97-AF65-F5344CB8AC3E}">
        <p14:creationId xmlns:p14="http://schemas.microsoft.com/office/powerpoint/2010/main" val="1919545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58C7955-C39A-426A-B941-5B8C1DD998A3}"/>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rPr>
              <a:t>04</a:t>
            </a:r>
          </a:p>
        </p:txBody>
      </p:sp>
      <p:sp>
        <p:nvSpPr>
          <p:cNvPr id="2" name="직사각형 1">
            <a:extLst>
              <a:ext uri="{FF2B5EF4-FFF2-40B4-BE49-F238E27FC236}">
                <a16:creationId xmlns:a16="http://schemas.microsoft.com/office/drawing/2014/main" id="{C3572C42-1A7B-41FD-95A4-786ACB2C172A}"/>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rPr>
              <a:t>Reproduction</a:t>
            </a:r>
          </a:p>
        </p:txBody>
      </p:sp>
      <p:sp>
        <p:nvSpPr>
          <p:cNvPr id="3" name="직사각형 2">
            <a:extLst>
              <a:ext uri="{FF2B5EF4-FFF2-40B4-BE49-F238E27FC236}">
                <a16:creationId xmlns:a16="http://schemas.microsoft.com/office/drawing/2014/main" id="{7F337174-B8D7-4507-9B64-14FC00FED3C9}"/>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rPr>
              <a:t>Activity, temperature and history sharpen heat, insemination and calving decisions.</a:t>
            </a:r>
          </a:p>
        </p:txBody>
      </p:sp>
      <p:sp>
        <p:nvSpPr>
          <p:cNvPr id="5" name="타원 4">
            <a:extLst>
              <a:ext uri="{FF2B5EF4-FFF2-40B4-BE49-F238E27FC236}">
                <a16:creationId xmlns:a16="http://schemas.microsoft.com/office/drawing/2014/main" id="{953C11D2-87F8-4B39-900C-97146ECA2AB9}"/>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009B0B32-DE8B-45E5-819E-04D5C867476B}"/>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F06DEF30-940A-4CD5-ACE9-5B1F65802258}"/>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5FBBCE41-1D95-49F4-838E-7718B65828AA}"/>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E6263E50-55A6-4FFB-932F-15CED837EDC7}"/>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E4058EB9-D9E0-4EDC-8060-877019AEE62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11" name="직사각형 10">
            <a:extLst>
              <a:ext uri="{FF2B5EF4-FFF2-40B4-BE49-F238E27FC236}">
                <a16:creationId xmlns:a16="http://schemas.microsoft.com/office/drawing/2014/main" id="{874668B4-C22C-4FA1-B0DA-07B4C81070A8}"/>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20</a:t>
            </a:r>
          </a:p>
        </p:txBody>
      </p:sp>
      <p:pic>
        <p:nvPicPr>
          <p:cNvPr id="24" name="그림 23"/>
          <p:cNvPicPr>
            <a:picLocks noChangeAspect="1"/>
          </p:cNvPicPr>
          <p:nvPr/>
        </p:nvPicPr>
        <p:blipFill>
          <a:blip r:embed="rId3"/>
          <a:srcRect l="9369" r="9369"/>
          <a:stretch>
            <a:fillRect/>
          </a:stretch>
        </p:blipFill>
        <p:spPr>
          <a:xfrm>
            <a:off x="9906000" y="0"/>
            <a:ext cx="2286000" cy="6858000"/>
          </a:xfrm>
          <a:prstGeom prst="rect">
            <a:avLst/>
          </a:prstGeom>
        </p:spPr>
      </p:pic>
    </p:spTree>
    <p:extLst>
      <p:ext uri="{BB962C8B-B14F-4D97-AF65-F5344CB8AC3E}">
        <p14:creationId xmlns:p14="http://schemas.microsoft.com/office/powerpoint/2010/main" val="729678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0E7937E8-9226-47E2-98A8-F7DCF5BB2B26}"/>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HEAT</a:t>
            </a:r>
          </a:p>
        </p:txBody>
      </p:sp>
      <p:sp>
        <p:nvSpPr>
          <p:cNvPr id="2" name="직사각형 1">
            <a:extLst>
              <a:ext uri="{FF2B5EF4-FFF2-40B4-BE49-F238E27FC236}">
                <a16:creationId xmlns:a16="http://schemas.microsoft.com/office/drawing/2014/main" id="{5856299B-0DBC-4849-97D1-632C7DA56BE7}"/>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A heat alert is a tool for managing the insemination window</a:t>
            </a:r>
          </a:p>
        </p:txBody>
      </p:sp>
      <p:sp>
        <p:nvSpPr>
          <p:cNvPr id="3" name="직사각형 2">
            <a:extLst>
              <a:ext uri="{FF2B5EF4-FFF2-40B4-BE49-F238E27FC236}">
                <a16:creationId xmlns:a16="http://schemas.microsoft.com/office/drawing/2014/main" id="{D5E1D932-EF65-4625-B4CB-4BB02910C2D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6BB17697-AFF6-453E-837E-5271928DFD7C}"/>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21</a:t>
            </a:r>
          </a:p>
        </p:txBody>
      </p:sp>
      <p:sp>
        <p:nvSpPr>
          <p:cNvPr id="5" name="모서리가 둥근 직사각형 4">
            <a:extLst>
              <a:ext uri="{FF2B5EF4-FFF2-40B4-BE49-F238E27FC236}">
                <a16:creationId xmlns:a16="http://schemas.microsoft.com/office/drawing/2014/main" id="{3FD5AD8B-AFA7-42DD-A03F-1AC86BD62C3F}"/>
              </a:ext>
            </a:extLst>
          </p:cNvPr>
          <p:cNvSpPr>
            <a:spLocks noGrp="1"/>
          </p:cNvSpPr>
          <p:nvPr/>
        </p:nvSpPr>
        <p:spPr>
          <a:xfrm>
            <a:off x="685800" y="1790700"/>
            <a:ext cx="10820400" cy="1428750"/>
          </a:xfrm>
          <a:prstGeom prst="roundRect">
            <a:avLst>
              <a:gd name="adj" fmla="val 10667"/>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0912B94A-7B8F-45AB-A158-6B32862644CA}"/>
              </a:ext>
            </a:extLst>
          </p:cNvPr>
          <p:cNvSpPr>
            <a:spLocks noGrp="1"/>
          </p:cNvSpPr>
          <p:nvPr/>
        </p:nvSpPr>
        <p:spPr>
          <a:xfrm>
            <a:off x="8763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rPr>
              <a:t>1</a:t>
            </a:r>
          </a:p>
        </p:txBody>
      </p:sp>
      <p:sp>
        <p:nvSpPr>
          <p:cNvPr id="7" name="직사각형 6">
            <a:extLst>
              <a:ext uri="{FF2B5EF4-FFF2-40B4-BE49-F238E27FC236}">
                <a16:creationId xmlns:a16="http://schemas.microsoft.com/office/drawing/2014/main" id="{A78ACA4C-7CDB-4D5C-AC05-EC2C4553F6C4}"/>
              </a:ext>
            </a:extLst>
          </p:cNvPr>
          <p:cNvSpPr>
            <a:spLocks noGrp="1"/>
          </p:cNvSpPr>
          <p:nvPr/>
        </p:nvSpPr>
        <p:spPr>
          <a:xfrm>
            <a:off x="8763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Activity rises</a:t>
            </a:r>
          </a:p>
        </p:txBody>
      </p:sp>
      <p:sp>
        <p:nvSpPr>
          <p:cNvPr id="8" name="오른쪽 화살표[R] 7">
            <a:extLst>
              <a:ext uri="{FF2B5EF4-FFF2-40B4-BE49-F238E27FC236}">
                <a16:creationId xmlns:a16="http://schemas.microsoft.com/office/drawing/2014/main" id="{2C3293CD-38F0-4BDE-82D3-8391E844965E}"/>
              </a:ext>
            </a:extLst>
          </p:cNvPr>
          <p:cNvSpPr>
            <a:spLocks noGrp="1"/>
          </p:cNvSpPr>
          <p:nvPr/>
        </p:nvSpPr>
        <p:spPr>
          <a:xfrm>
            <a:off x="2971800" y="2400300"/>
            <a:ext cx="457200" cy="266700"/>
          </a:xfrm>
          <a:prstGeom prst="rightArrow">
            <a:avLst/>
          </a:prstGeom>
          <a:solidFill>
            <a:srgbClr val="DFF4E8"/>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24E86364-A9AD-4C04-A95C-DCD3776DC445}"/>
              </a:ext>
            </a:extLst>
          </p:cNvPr>
          <p:cNvSpPr>
            <a:spLocks noGrp="1"/>
          </p:cNvSpPr>
          <p:nvPr/>
        </p:nvSpPr>
        <p:spPr>
          <a:xfrm>
            <a:off x="35052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rPr>
              <a:t>2</a:t>
            </a:r>
          </a:p>
        </p:txBody>
      </p:sp>
      <p:sp>
        <p:nvSpPr>
          <p:cNvPr id="10" name="직사각형 9">
            <a:extLst>
              <a:ext uri="{FF2B5EF4-FFF2-40B4-BE49-F238E27FC236}">
                <a16:creationId xmlns:a16="http://schemas.microsoft.com/office/drawing/2014/main" id="{2A3B89EC-0566-48FC-BF3F-CA2D3C46912B}"/>
              </a:ext>
            </a:extLst>
          </p:cNvPr>
          <p:cNvSpPr>
            <a:spLocks noGrp="1"/>
          </p:cNvSpPr>
          <p:nvPr/>
        </p:nvSpPr>
        <p:spPr>
          <a:xfrm>
            <a:off x="35052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Algorithm produces a heat index</a:t>
            </a:r>
          </a:p>
        </p:txBody>
      </p:sp>
      <p:sp>
        <p:nvSpPr>
          <p:cNvPr id="11" name="오른쪽 화살표[R] 10">
            <a:extLst>
              <a:ext uri="{FF2B5EF4-FFF2-40B4-BE49-F238E27FC236}">
                <a16:creationId xmlns:a16="http://schemas.microsoft.com/office/drawing/2014/main" id="{06EA66D1-02D1-41C6-9A85-4B6876BC386E}"/>
              </a:ext>
            </a:extLst>
          </p:cNvPr>
          <p:cNvSpPr>
            <a:spLocks noGrp="1"/>
          </p:cNvSpPr>
          <p:nvPr/>
        </p:nvSpPr>
        <p:spPr>
          <a:xfrm>
            <a:off x="5600700" y="2400300"/>
            <a:ext cx="457200" cy="266700"/>
          </a:xfrm>
          <a:prstGeom prst="rightArrow">
            <a:avLst/>
          </a:prstGeom>
          <a:solidFill>
            <a:srgbClr val="DFF4E8"/>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4DB5676E-5B62-4DE3-B44C-FD2593B81F86}"/>
              </a:ext>
            </a:extLst>
          </p:cNvPr>
          <p:cNvSpPr>
            <a:spLocks noGrp="1"/>
          </p:cNvSpPr>
          <p:nvPr/>
        </p:nvSpPr>
        <p:spPr>
          <a:xfrm>
            <a:off x="61341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rPr>
              <a:t>3</a:t>
            </a:r>
          </a:p>
        </p:txBody>
      </p:sp>
      <p:sp>
        <p:nvSpPr>
          <p:cNvPr id="13" name="직사각형 12">
            <a:extLst>
              <a:ext uri="{FF2B5EF4-FFF2-40B4-BE49-F238E27FC236}">
                <a16:creationId xmlns:a16="http://schemas.microsoft.com/office/drawing/2014/main" id="{38AE8B3F-012D-47BA-8FD3-FFDBD62D458C}"/>
              </a:ext>
            </a:extLst>
          </p:cNvPr>
          <p:cNvSpPr>
            <a:spLocks noGrp="1"/>
          </p:cNvSpPr>
          <p:nvPr/>
        </p:nvSpPr>
        <p:spPr>
          <a:xfrm>
            <a:off x="61341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Recommended insemination window</a:t>
            </a:r>
          </a:p>
        </p:txBody>
      </p:sp>
      <p:sp>
        <p:nvSpPr>
          <p:cNvPr id="14" name="오른쪽 화살표[R] 13">
            <a:extLst>
              <a:ext uri="{FF2B5EF4-FFF2-40B4-BE49-F238E27FC236}">
                <a16:creationId xmlns:a16="http://schemas.microsoft.com/office/drawing/2014/main" id="{495C0808-6C1F-4F87-A498-C9C642AC4706}"/>
              </a:ext>
            </a:extLst>
          </p:cNvPr>
          <p:cNvSpPr>
            <a:spLocks noGrp="1"/>
          </p:cNvSpPr>
          <p:nvPr/>
        </p:nvSpPr>
        <p:spPr>
          <a:xfrm>
            <a:off x="8229600" y="2400300"/>
            <a:ext cx="457200" cy="266700"/>
          </a:xfrm>
          <a:prstGeom prst="rightArrow">
            <a:avLst/>
          </a:prstGeom>
          <a:solidFill>
            <a:srgbClr val="DFF4E8"/>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FD8B045E-17C8-4338-A65A-1EC781FD7ABC}"/>
              </a:ext>
            </a:extLst>
          </p:cNvPr>
          <p:cNvSpPr>
            <a:spLocks noGrp="1"/>
          </p:cNvSpPr>
          <p:nvPr/>
        </p:nvSpPr>
        <p:spPr>
          <a:xfrm>
            <a:off x="87630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rPr>
              <a:t>4</a:t>
            </a:r>
          </a:p>
        </p:txBody>
      </p:sp>
      <p:sp>
        <p:nvSpPr>
          <p:cNvPr id="16" name="직사각형 15">
            <a:extLst>
              <a:ext uri="{FF2B5EF4-FFF2-40B4-BE49-F238E27FC236}">
                <a16:creationId xmlns:a16="http://schemas.microsoft.com/office/drawing/2014/main" id="{51CB2A18-5FC9-4737-A8F9-958FC6D386EB}"/>
              </a:ext>
            </a:extLst>
          </p:cNvPr>
          <p:cNvSpPr>
            <a:spLocks noGrp="1"/>
          </p:cNvSpPr>
          <p:nvPr/>
        </p:nvSpPr>
        <p:spPr>
          <a:xfrm>
            <a:off x="87630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Record the result</a:t>
            </a:r>
          </a:p>
        </p:txBody>
      </p:sp>
      <p:sp>
        <p:nvSpPr>
          <p:cNvPr id="17" name="타원 16">
            <a:extLst>
              <a:ext uri="{FF2B5EF4-FFF2-40B4-BE49-F238E27FC236}">
                <a16:creationId xmlns:a16="http://schemas.microsoft.com/office/drawing/2014/main" id="{B7950F00-A84E-4722-AA07-98DC03EF5EA8}"/>
              </a:ext>
            </a:extLst>
          </p:cNvPr>
          <p:cNvSpPr>
            <a:spLocks noGrp="1"/>
          </p:cNvSpPr>
          <p:nvPr/>
        </p:nvSpPr>
        <p:spPr>
          <a:xfrm>
            <a:off x="1714500" y="3924300"/>
            <a:ext cx="114300" cy="114300"/>
          </a:xfrm>
          <a:prstGeom prst="ellipse">
            <a:avLst/>
          </a:prstGeom>
          <a:solidFill>
            <a:srgbClr val="65D44A"/>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373B8A64-89D0-40F8-9CAE-DE06CBA83DB3}"/>
              </a:ext>
            </a:extLst>
          </p:cNvPr>
          <p:cNvSpPr>
            <a:spLocks noGrp="1"/>
          </p:cNvSpPr>
          <p:nvPr/>
        </p:nvSpPr>
        <p:spPr>
          <a:xfrm>
            <a:off x="1981200" y="384810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Check status and days in milk</a:t>
            </a:r>
          </a:p>
        </p:txBody>
      </p:sp>
      <p:sp>
        <p:nvSpPr>
          <p:cNvPr id="19" name="타원 18">
            <a:extLst>
              <a:ext uri="{FF2B5EF4-FFF2-40B4-BE49-F238E27FC236}">
                <a16:creationId xmlns:a16="http://schemas.microsoft.com/office/drawing/2014/main" id="{123C618F-6DED-4BC1-B579-D6116ED9477F}"/>
              </a:ext>
            </a:extLst>
          </p:cNvPr>
          <p:cNvSpPr>
            <a:spLocks noGrp="1"/>
          </p:cNvSpPr>
          <p:nvPr/>
        </p:nvSpPr>
        <p:spPr>
          <a:xfrm>
            <a:off x="1714500" y="4400550"/>
            <a:ext cx="114300" cy="114300"/>
          </a:xfrm>
          <a:prstGeom prst="ellipse">
            <a:avLst/>
          </a:prstGeom>
          <a:solidFill>
            <a:srgbClr val="65D44A"/>
          </a:solidFill>
          <a:ln w="0">
            <a:noFill/>
            <a:prstDash val="solid"/>
          </a:ln>
        </p:spPr>
        <p:txBody>
          <a:bodyPr/>
          <a:lstStyle/>
          <a:p>
            <a:endParaRPr lang="ko-KR" altLang="en-US"/>
          </a:p>
        </p:txBody>
      </p:sp>
      <p:sp>
        <p:nvSpPr>
          <p:cNvPr id="20" name="직사각형 19">
            <a:extLst>
              <a:ext uri="{FF2B5EF4-FFF2-40B4-BE49-F238E27FC236}">
                <a16:creationId xmlns:a16="http://schemas.microsoft.com/office/drawing/2014/main" id="{21F74938-A388-4560-8F31-BB12B3491925}"/>
              </a:ext>
            </a:extLst>
          </p:cNvPr>
          <p:cNvSpPr>
            <a:spLocks noGrp="1"/>
          </p:cNvSpPr>
          <p:nvPr/>
        </p:nvSpPr>
        <p:spPr>
          <a:xfrm>
            <a:off x="1981200" y="432435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Confirm observed signs</a:t>
            </a:r>
          </a:p>
        </p:txBody>
      </p:sp>
      <p:sp>
        <p:nvSpPr>
          <p:cNvPr id="21" name="타원 20">
            <a:extLst>
              <a:ext uri="{FF2B5EF4-FFF2-40B4-BE49-F238E27FC236}">
                <a16:creationId xmlns:a16="http://schemas.microsoft.com/office/drawing/2014/main" id="{B2EA8B1F-C9E3-4840-8298-B51A2DE53B19}"/>
              </a:ext>
            </a:extLst>
          </p:cNvPr>
          <p:cNvSpPr>
            <a:spLocks noGrp="1"/>
          </p:cNvSpPr>
          <p:nvPr/>
        </p:nvSpPr>
        <p:spPr>
          <a:xfrm>
            <a:off x="1714500" y="4876800"/>
            <a:ext cx="114300" cy="114300"/>
          </a:xfrm>
          <a:prstGeom prst="ellipse">
            <a:avLst/>
          </a:prstGeom>
          <a:solidFill>
            <a:srgbClr val="65D44A"/>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9C87012E-83F7-48D1-A30E-90792F390254}"/>
              </a:ext>
            </a:extLst>
          </p:cNvPr>
          <p:cNvSpPr>
            <a:spLocks noGrp="1"/>
          </p:cNvSpPr>
          <p:nvPr/>
        </p:nvSpPr>
        <p:spPr>
          <a:xfrm>
            <a:off x="1981200" y="480060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Choose timing for conventional or sexed semen</a:t>
            </a:r>
          </a:p>
        </p:txBody>
      </p:sp>
      <p:sp>
        <p:nvSpPr>
          <p:cNvPr id="23" name="타원 22">
            <a:extLst>
              <a:ext uri="{FF2B5EF4-FFF2-40B4-BE49-F238E27FC236}">
                <a16:creationId xmlns:a16="http://schemas.microsoft.com/office/drawing/2014/main" id="{567A600C-7E04-47E1-AFB4-79F1E0F60A8A}"/>
              </a:ext>
            </a:extLst>
          </p:cNvPr>
          <p:cNvSpPr>
            <a:spLocks noGrp="1"/>
          </p:cNvSpPr>
          <p:nvPr/>
        </p:nvSpPr>
        <p:spPr>
          <a:xfrm>
            <a:off x="1714500" y="5353050"/>
            <a:ext cx="114300" cy="114300"/>
          </a:xfrm>
          <a:prstGeom prst="ellipse">
            <a:avLst/>
          </a:prstGeom>
          <a:solidFill>
            <a:srgbClr val="65D44A"/>
          </a:solidFill>
          <a:ln w="0">
            <a:noFill/>
            <a:prstDash val="solid"/>
          </a:ln>
        </p:spPr>
        <p:txBody>
          <a:bodyPr/>
          <a:lstStyle/>
          <a:p>
            <a:endParaRPr lang="ko-KR" altLang="en-US"/>
          </a:p>
        </p:txBody>
      </p:sp>
      <p:sp>
        <p:nvSpPr>
          <p:cNvPr id="24" name="직사각형 23">
            <a:extLst>
              <a:ext uri="{FF2B5EF4-FFF2-40B4-BE49-F238E27FC236}">
                <a16:creationId xmlns:a16="http://schemas.microsoft.com/office/drawing/2014/main" id="{5CB4A401-00C1-4B47-A5F9-B52ED1F5F62D}"/>
              </a:ext>
            </a:extLst>
          </p:cNvPr>
          <p:cNvSpPr>
            <a:spLocks noGrp="1"/>
          </p:cNvSpPr>
          <p:nvPr/>
        </p:nvSpPr>
        <p:spPr>
          <a:xfrm>
            <a:off x="1981200" y="527685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Enter insemination in the app immediately</a:t>
            </a:r>
          </a:p>
        </p:txBody>
      </p:sp>
    </p:spTree>
    <p:extLst>
      <p:ext uri="{BB962C8B-B14F-4D97-AF65-F5344CB8AC3E}">
        <p14:creationId xmlns:p14="http://schemas.microsoft.com/office/powerpoint/2010/main" val="1232921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B6E6EA97-CC9C-4303-B69A-FD2E35FA0D56}"/>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CALVING</a:t>
            </a:r>
          </a:p>
        </p:txBody>
      </p:sp>
      <p:sp>
        <p:nvSpPr>
          <p:cNvPr id="2" name="직사각형 1">
            <a:extLst>
              <a:ext uri="{FF2B5EF4-FFF2-40B4-BE49-F238E27FC236}">
                <a16:creationId xmlns:a16="http://schemas.microsoft.com/office/drawing/2014/main" id="{E45C7CD7-6B2B-49C2-8B66-54B3C088439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A calving alert creates preparation time</a:t>
            </a:r>
          </a:p>
        </p:txBody>
      </p:sp>
      <p:sp>
        <p:nvSpPr>
          <p:cNvPr id="3" name="직사각형 2">
            <a:extLst>
              <a:ext uri="{FF2B5EF4-FFF2-40B4-BE49-F238E27FC236}">
                <a16:creationId xmlns:a16="http://schemas.microsoft.com/office/drawing/2014/main" id="{D4ECE1CD-2798-4578-9C56-A6053E78E5E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7467E4CC-F47F-4C96-BC53-28BCF07B42BB}"/>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22</a:t>
            </a:r>
          </a:p>
        </p:txBody>
      </p:sp>
      <p:sp>
        <p:nvSpPr>
          <p:cNvPr id="5" name="직사각형 4">
            <a:extLst>
              <a:ext uri="{FF2B5EF4-FFF2-40B4-BE49-F238E27FC236}">
                <a16:creationId xmlns:a16="http://schemas.microsoft.com/office/drawing/2014/main" id="{4D63E324-272E-40E5-A26C-24036086E498}"/>
              </a:ext>
            </a:extLst>
          </p:cNvPr>
          <p:cNvSpPr>
            <a:spLocks noGrp="1"/>
          </p:cNvSpPr>
          <p:nvPr/>
        </p:nvSpPr>
        <p:spPr>
          <a:xfrm>
            <a:off x="685800" y="1790700"/>
            <a:ext cx="3238500" cy="609600"/>
          </a:xfrm>
          <a:prstGeom prst="rect">
            <a:avLst/>
          </a:prstGeom>
          <a:noFill/>
          <a:ln w="0">
            <a:noFill/>
            <a:prstDash val="solid"/>
          </a:ln>
        </p:spPr>
        <p:txBody>
          <a:bodyPr/>
          <a:lstStyle/>
          <a:p>
            <a:pPr algn="l">
              <a:buNone/>
              <a:defRPr sz="3600" b="1">
                <a:solidFill>
                  <a:srgbClr val="65D44A"/>
                </a:solidFill>
              </a:defRPr>
            </a:pPr>
            <a:r>
              <a:rPr sz="3600" b="1">
                <a:solidFill>
                  <a:srgbClr val="65D44A"/>
                </a:solidFill>
              </a:rPr>
              <a:t>≈15 hours</a:t>
            </a:r>
          </a:p>
        </p:txBody>
      </p:sp>
      <p:sp>
        <p:nvSpPr>
          <p:cNvPr id="6" name="직사각형 5">
            <a:extLst>
              <a:ext uri="{FF2B5EF4-FFF2-40B4-BE49-F238E27FC236}">
                <a16:creationId xmlns:a16="http://schemas.microsoft.com/office/drawing/2014/main" id="{8F7EF1EA-1D1F-41B9-AEB8-0A8ABB8E363D}"/>
              </a:ext>
            </a:extLst>
          </p:cNvPr>
          <p:cNvSpPr>
            <a:spLocks noGrp="1"/>
          </p:cNvSpPr>
          <p:nvPr/>
        </p:nvSpPr>
        <p:spPr>
          <a:xfrm>
            <a:off x="685800" y="2381250"/>
            <a:ext cx="3238500" cy="533400"/>
          </a:xfrm>
          <a:prstGeom prst="rect">
            <a:avLst/>
          </a:prstGeom>
          <a:noFill/>
          <a:ln w="0">
            <a:noFill/>
            <a:prstDash val="solid"/>
          </a:ln>
        </p:spPr>
        <p:txBody>
          <a:bodyPr/>
          <a:lstStyle/>
          <a:p>
            <a:pPr algn="l">
              <a:buNone/>
              <a:defRPr sz="1275" b="0">
                <a:solidFill>
                  <a:srgbClr val="66746F"/>
                </a:solidFill>
              </a:defRPr>
            </a:pPr>
            <a:r>
              <a:rPr sz="1275" b="0">
                <a:solidFill>
                  <a:srgbClr val="66746F"/>
                </a:solidFill>
              </a:rPr>
              <a:t>Average advance notice stated by the manufacturer</a:t>
            </a:r>
          </a:p>
        </p:txBody>
      </p:sp>
      <p:sp>
        <p:nvSpPr>
          <p:cNvPr id="7" name="모서리가 둥근 직사각형 6">
            <a:extLst>
              <a:ext uri="{FF2B5EF4-FFF2-40B4-BE49-F238E27FC236}">
                <a16:creationId xmlns:a16="http://schemas.microsoft.com/office/drawing/2014/main" id="{791AF62D-B36B-44A0-B16B-41A303F69598}"/>
              </a:ext>
            </a:extLst>
          </p:cNvPr>
          <p:cNvSpPr>
            <a:spLocks noGrp="1"/>
          </p:cNvSpPr>
          <p:nvPr/>
        </p:nvSpPr>
        <p:spPr>
          <a:xfrm>
            <a:off x="4095750" y="1809750"/>
            <a:ext cx="3333750" cy="1428750"/>
          </a:xfrm>
          <a:prstGeom prst="roundRect">
            <a:avLst>
              <a:gd name="adj" fmla="val 8000"/>
            </a:avLst>
          </a:prstGeom>
          <a:solidFill>
            <a:srgbClr val="65D44A"/>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20C07D45-55F5-4FA5-9AB2-6A4E534742DB}"/>
              </a:ext>
            </a:extLst>
          </p:cNvPr>
          <p:cNvSpPr>
            <a:spLocks noGrp="1"/>
          </p:cNvSpPr>
          <p:nvPr/>
        </p:nvSpPr>
        <p:spPr>
          <a:xfrm>
            <a:off x="4305300" y="203835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SEPARATE</a:t>
            </a:r>
          </a:p>
        </p:txBody>
      </p:sp>
      <p:sp>
        <p:nvSpPr>
          <p:cNvPr id="9" name="직사각형 8">
            <a:extLst>
              <a:ext uri="{FF2B5EF4-FFF2-40B4-BE49-F238E27FC236}">
                <a16:creationId xmlns:a16="http://schemas.microsoft.com/office/drawing/2014/main" id="{B20271BD-33BC-48CA-8B9C-AEB57D523519}"/>
              </a:ext>
            </a:extLst>
          </p:cNvPr>
          <p:cNvSpPr>
            <a:spLocks noGrp="1"/>
          </p:cNvSpPr>
          <p:nvPr/>
        </p:nvSpPr>
        <p:spPr>
          <a:xfrm>
            <a:off x="4305300" y="243840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rPr>
              <a:t>Clean, safe calving area</a:t>
            </a:r>
          </a:p>
        </p:txBody>
      </p:sp>
      <p:sp>
        <p:nvSpPr>
          <p:cNvPr id="10" name="모서리가 둥근 직사각형 9">
            <a:extLst>
              <a:ext uri="{FF2B5EF4-FFF2-40B4-BE49-F238E27FC236}">
                <a16:creationId xmlns:a16="http://schemas.microsoft.com/office/drawing/2014/main" id="{2FF64159-947B-4618-9F49-1F7BE681C178}"/>
              </a:ext>
            </a:extLst>
          </p:cNvPr>
          <p:cNvSpPr>
            <a:spLocks noGrp="1"/>
          </p:cNvSpPr>
          <p:nvPr/>
        </p:nvSpPr>
        <p:spPr>
          <a:xfrm>
            <a:off x="7715250" y="1809750"/>
            <a:ext cx="3333750" cy="1428750"/>
          </a:xfrm>
          <a:prstGeom prst="roundRect">
            <a:avLst>
              <a:gd name="adj" fmla="val 8000"/>
            </a:avLst>
          </a:prstGeom>
          <a:solidFill>
            <a:srgbClr val="FFFFFF"/>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02DA2976-DCFA-4FE8-82B6-D11BF89F4443}"/>
              </a:ext>
            </a:extLst>
          </p:cNvPr>
          <p:cNvSpPr>
            <a:spLocks noGrp="1"/>
          </p:cNvSpPr>
          <p:nvPr/>
        </p:nvSpPr>
        <p:spPr>
          <a:xfrm>
            <a:off x="7924800" y="203835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PREPARE</a:t>
            </a:r>
          </a:p>
        </p:txBody>
      </p:sp>
      <p:sp>
        <p:nvSpPr>
          <p:cNvPr id="12" name="직사각형 11">
            <a:extLst>
              <a:ext uri="{FF2B5EF4-FFF2-40B4-BE49-F238E27FC236}">
                <a16:creationId xmlns:a16="http://schemas.microsoft.com/office/drawing/2014/main" id="{EAB3D864-BF03-4D5B-B33C-8F5C1275897B}"/>
              </a:ext>
            </a:extLst>
          </p:cNvPr>
          <p:cNvSpPr>
            <a:spLocks noGrp="1"/>
          </p:cNvSpPr>
          <p:nvPr/>
        </p:nvSpPr>
        <p:spPr>
          <a:xfrm>
            <a:off x="7924800" y="243840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rPr>
              <a:t>Staff, equipment, calcium and records</a:t>
            </a:r>
          </a:p>
        </p:txBody>
      </p:sp>
      <p:sp>
        <p:nvSpPr>
          <p:cNvPr id="13" name="모서리가 둥근 직사각형 12">
            <a:extLst>
              <a:ext uri="{FF2B5EF4-FFF2-40B4-BE49-F238E27FC236}">
                <a16:creationId xmlns:a16="http://schemas.microsoft.com/office/drawing/2014/main" id="{2A041659-4029-415C-B7B1-52C58D277B82}"/>
              </a:ext>
            </a:extLst>
          </p:cNvPr>
          <p:cNvSpPr>
            <a:spLocks noGrp="1"/>
          </p:cNvSpPr>
          <p:nvPr/>
        </p:nvSpPr>
        <p:spPr>
          <a:xfrm>
            <a:off x="4095750" y="3619500"/>
            <a:ext cx="3333750" cy="1428750"/>
          </a:xfrm>
          <a:prstGeom prst="roundRect">
            <a:avLst>
              <a:gd name="adj" fmla="val 8000"/>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2BD6FD14-3E77-421A-95D3-000B5AF0C24E}"/>
              </a:ext>
            </a:extLst>
          </p:cNvPr>
          <p:cNvSpPr>
            <a:spLocks noGrp="1"/>
          </p:cNvSpPr>
          <p:nvPr/>
        </p:nvSpPr>
        <p:spPr>
          <a:xfrm>
            <a:off x="4305300" y="384810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MONITOR</a:t>
            </a:r>
          </a:p>
        </p:txBody>
      </p:sp>
      <p:sp>
        <p:nvSpPr>
          <p:cNvPr id="15" name="직사각형 14">
            <a:extLst>
              <a:ext uri="{FF2B5EF4-FFF2-40B4-BE49-F238E27FC236}">
                <a16:creationId xmlns:a16="http://schemas.microsoft.com/office/drawing/2014/main" id="{D85A11F0-9FAE-42DC-93EC-6017C2BCB376}"/>
              </a:ext>
            </a:extLst>
          </p:cNvPr>
          <p:cNvSpPr>
            <a:spLocks noGrp="1"/>
          </p:cNvSpPr>
          <p:nvPr/>
        </p:nvSpPr>
        <p:spPr>
          <a:xfrm>
            <a:off x="4305300" y="424815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rPr>
              <a:t>Temperature, activity and calving progress</a:t>
            </a:r>
          </a:p>
        </p:txBody>
      </p:sp>
      <p:sp>
        <p:nvSpPr>
          <p:cNvPr id="16" name="모서리가 둥근 직사각형 15">
            <a:extLst>
              <a:ext uri="{FF2B5EF4-FFF2-40B4-BE49-F238E27FC236}">
                <a16:creationId xmlns:a16="http://schemas.microsoft.com/office/drawing/2014/main" id="{114B6647-AB19-4A72-A259-51FC69924292}"/>
              </a:ext>
            </a:extLst>
          </p:cNvPr>
          <p:cNvSpPr>
            <a:spLocks noGrp="1"/>
          </p:cNvSpPr>
          <p:nvPr/>
        </p:nvSpPr>
        <p:spPr>
          <a:xfrm>
            <a:off x="7715250" y="3619500"/>
            <a:ext cx="3333750" cy="1428750"/>
          </a:xfrm>
          <a:prstGeom prst="roundRect">
            <a:avLst>
              <a:gd name="adj" fmla="val 8000"/>
            </a:avLst>
          </a:prstGeom>
          <a:solidFill>
            <a:srgbClr val="FFFFFF"/>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724BE61D-56C3-42CD-9D01-85944E86CD50}"/>
              </a:ext>
            </a:extLst>
          </p:cNvPr>
          <p:cNvSpPr>
            <a:spLocks noGrp="1"/>
          </p:cNvSpPr>
          <p:nvPr/>
        </p:nvSpPr>
        <p:spPr>
          <a:xfrm>
            <a:off x="7924800" y="384810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AFTER</a:t>
            </a:r>
          </a:p>
        </p:txBody>
      </p:sp>
      <p:sp>
        <p:nvSpPr>
          <p:cNvPr id="18" name="직사각형 17">
            <a:extLst>
              <a:ext uri="{FF2B5EF4-FFF2-40B4-BE49-F238E27FC236}">
                <a16:creationId xmlns:a16="http://schemas.microsoft.com/office/drawing/2014/main" id="{A83876B0-691C-4DC7-B2BA-4FAEB1D8ED69}"/>
              </a:ext>
            </a:extLst>
          </p:cNvPr>
          <p:cNvSpPr>
            <a:spLocks noGrp="1"/>
          </p:cNvSpPr>
          <p:nvPr/>
        </p:nvSpPr>
        <p:spPr>
          <a:xfrm>
            <a:off x="7924800" y="424815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rPr>
              <a:t>Placenta, drinking, rumination and recovery</a:t>
            </a:r>
          </a:p>
        </p:txBody>
      </p:sp>
    </p:spTree>
    <p:extLst>
      <p:ext uri="{BB962C8B-B14F-4D97-AF65-F5344CB8AC3E}">
        <p14:creationId xmlns:p14="http://schemas.microsoft.com/office/powerpoint/2010/main" val="1645052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C5D54BC1-845C-4461-A99B-1D339BED03E3}"/>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ABORTION / PREGNANCY LOSS</a:t>
            </a:r>
          </a:p>
        </p:txBody>
      </p:sp>
      <p:sp>
        <p:nvSpPr>
          <p:cNvPr id="2" name="직사각형 1">
            <a:extLst>
              <a:ext uri="{FF2B5EF4-FFF2-40B4-BE49-F238E27FC236}">
                <a16:creationId xmlns:a16="http://schemas.microsoft.com/office/drawing/2014/main" id="{818A62E2-4AF3-4C9C-84BD-DE6935EE565A}"/>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An abortion alert requires a high-priority check</a:t>
            </a:r>
          </a:p>
        </p:txBody>
      </p:sp>
      <p:sp>
        <p:nvSpPr>
          <p:cNvPr id="3" name="직사각형 2">
            <a:extLst>
              <a:ext uri="{FF2B5EF4-FFF2-40B4-BE49-F238E27FC236}">
                <a16:creationId xmlns:a16="http://schemas.microsoft.com/office/drawing/2014/main" id="{45F34BFE-A502-4CAE-8556-C48C90BCACFA}"/>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397D6DE9-910E-40AF-BDAE-4D6AC864376E}"/>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23</a:t>
            </a:r>
          </a:p>
        </p:txBody>
      </p:sp>
      <p:sp>
        <p:nvSpPr>
          <p:cNvPr id="5" name="모서리가 둥근 직사각형 4">
            <a:extLst>
              <a:ext uri="{FF2B5EF4-FFF2-40B4-BE49-F238E27FC236}">
                <a16:creationId xmlns:a16="http://schemas.microsoft.com/office/drawing/2014/main" id="{A2BCABAF-D138-422C-A406-D67766DDC5F5}"/>
              </a:ext>
            </a:extLst>
          </p:cNvPr>
          <p:cNvSpPr>
            <a:spLocks noGrp="1"/>
          </p:cNvSpPr>
          <p:nvPr/>
        </p:nvSpPr>
        <p:spPr>
          <a:xfrm>
            <a:off x="685800" y="1809750"/>
            <a:ext cx="4476750" cy="3333750"/>
          </a:xfrm>
          <a:prstGeom prst="roundRect">
            <a:avLst>
              <a:gd name="adj" fmla="val 4571"/>
            </a:avLst>
          </a:prstGeom>
          <a:solidFill>
            <a:srgbClr val="E96155"/>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E4C5CEE0-DC99-46C5-89FF-F39306706EB8}"/>
              </a:ext>
            </a:extLst>
          </p:cNvPr>
          <p:cNvSpPr>
            <a:spLocks noGrp="1"/>
          </p:cNvSpPr>
          <p:nvPr/>
        </p:nvSpPr>
        <p:spPr>
          <a:xfrm>
            <a:off x="1047750" y="2114550"/>
            <a:ext cx="3714750" cy="400050"/>
          </a:xfrm>
          <a:prstGeom prst="rect">
            <a:avLst/>
          </a:prstGeom>
          <a:noFill/>
          <a:ln w="0">
            <a:noFill/>
            <a:prstDash val="solid"/>
          </a:ln>
        </p:spPr>
        <p:txBody>
          <a:bodyPr/>
          <a:lstStyle/>
          <a:p>
            <a:pPr algn="l">
              <a:buNone/>
              <a:defRPr sz="2100" b="1">
                <a:solidFill>
                  <a:srgbClr val="FFFFFF"/>
                </a:solidFill>
              </a:defRPr>
            </a:pPr>
            <a:r>
              <a:rPr sz="2100" b="1">
                <a:solidFill>
                  <a:srgbClr val="FFFFFF"/>
                </a:solidFill>
              </a:rPr>
              <a:t>IMMEDIATELY</a:t>
            </a:r>
          </a:p>
        </p:txBody>
      </p:sp>
      <p:sp>
        <p:nvSpPr>
          <p:cNvPr id="7" name="직사각형 6">
            <a:extLst>
              <a:ext uri="{FF2B5EF4-FFF2-40B4-BE49-F238E27FC236}">
                <a16:creationId xmlns:a16="http://schemas.microsoft.com/office/drawing/2014/main" id="{278B21D1-7AEE-48BF-B17E-B062766E2343}"/>
              </a:ext>
            </a:extLst>
          </p:cNvPr>
          <p:cNvSpPr>
            <a:spLocks noGrp="1"/>
          </p:cNvSpPr>
          <p:nvPr/>
        </p:nvSpPr>
        <p:spPr>
          <a:xfrm>
            <a:off x="1047750" y="2838450"/>
            <a:ext cx="3714750" cy="1809750"/>
          </a:xfrm>
          <a:prstGeom prst="rect">
            <a:avLst/>
          </a:prstGeom>
          <a:noFill/>
          <a:ln w="0">
            <a:noFill/>
            <a:prstDash val="solid"/>
          </a:ln>
        </p:spPr>
        <p:txBody>
          <a:bodyPr/>
          <a:lstStyle/>
          <a:p>
            <a:pPr algn="l">
              <a:buNone/>
              <a:defRPr sz="1650" b="0">
                <a:solidFill>
                  <a:srgbClr val="FFFFFF"/>
                </a:solidFill>
              </a:defRPr>
            </a:pPr>
            <a:r>
              <a:rPr sz="1650" b="0">
                <a:solidFill>
                  <a:srgbClr val="FFFFFF"/>
                </a:solidFill>
              </a:rPr>
              <a:t>• Locate the cow and check her condition</a:t>
            </a:r>
          </a:p>
          <a:p>
            <a:pPr algn="l">
              <a:buNone/>
              <a:defRPr sz="1650" b="0">
                <a:solidFill>
                  <a:srgbClr val="FFFFFF"/>
                </a:solidFill>
              </a:defRPr>
            </a:pPr>
            <a:r>
              <a:rPr sz="1650" b="0">
                <a:solidFill>
                  <a:srgbClr val="FFFFFF"/>
                </a:solidFill>
              </a:rPr>
              <a:t>• Notify the veterinarian and responsible person</a:t>
            </a:r>
          </a:p>
          <a:p>
            <a:pPr algn="l">
              <a:buNone/>
              <a:defRPr sz="1650" b="0">
                <a:solidFill>
                  <a:srgbClr val="FFFFFF"/>
                </a:solidFill>
              </a:defRPr>
            </a:pPr>
            <a:r>
              <a:rPr sz="1650" b="0">
                <a:solidFill>
                  <a:srgbClr val="FFFFFF"/>
                </a:solidFill>
              </a:rPr>
              <a:t>• Follow biosafety and sampling SOPs</a:t>
            </a:r>
          </a:p>
          <a:p>
            <a:pPr algn="l">
              <a:buNone/>
              <a:defRPr sz="1650" b="0">
                <a:solidFill>
                  <a:srgbClr val="FFFFFF"/>
                </a:solidFill>
              </a:defRPr>
            </a:pPr>
            <a:r>
              <a:rPr sz="1650" b="0">
                <a:solidFill>
                  <a:srgbClr val="FFFFFF"/>
                </a:solidFill>
              </a:rPr>
              <a:t>• Record the event time and findings</a:t>
            </a:r>
          </a:p>
        </p:txBody>
      </p:sp>
      <p:sp>
        <p:nvSpPr>
          <p:cNvPr id="8" name="모서리가 둥근 직사각형 7">
            <a:extLst>
              <a:ext uri="{FF2B5EF4-FFF2-40B4-BE49-F238E27FC236}">
                <a16:creationId xmlns:a16="http://schemas.microsoft.com/office/drawing/2014/main" id="{2E9A4230-E09C-4A0B-91D5-C4FB4424000F}"/>
              </a:ext>
            </a:extLst>
          </p:cNvPr>
          <p:cNvSpPr>
            <a:spLocks noGrp="1"/>
          </p:cNvSpPr>
          <p:nvPr/>
        </p:nvSpPr>
        <p:spPr>
          <a:xfrm>
            <a:off x="5619750" y="1809750"/>
            <a:ext cx="5886450" cy="3333750"/>
          </a:xfrm>
          <a:prstGeom prst="roundRect">
            <a:avLst>
              <a:gd name="adj" fmla="val 4571"/>
            </a:avLst>
          </a:prstGeom>
          <a:solidFill>
            <a:srgbClr val="FFFFFF"/>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DD821F10-65FC-429B-9289-42E6D7695E0F}"/>
              </a:ext>
            </a:extLst>
          </p:cNvPr>
          <p:cNvSpPr>
            <a:spLocks noGrp="1"/>
          </p:cNvSpPr>
          <p:nvPr/>
        </p:nvSpPr>
        <p:spPr>
          <a:xfrm>
            <a:off x="5981700" y="2114550"/>
            <a:ext cx="4953000" cy="400050"/>
          </a:xfrm>
          <a:prstGeom prst="rect">
            <a:avLst/>
          </a:prstGeom>
          <a:noFill/>
          <a:ln w="0">
            <a:noFill/>
            <a:prstDash val="solid"/>
          </a:ln>
        </p:spPr>
        <p:txBody>
          <a:bodyPr/>
          <a:lstStyle/>
          <a:p>
            <a:pPr algn="l">
              <a:buNone/>
              <a:defRPr sz="2025" b="1">
                <a:solidFill>
                  <a:srgbClr val="10251F"/>
                </a:solidFill>
              </a:defRPr>
            </a:pPr>
            <a:r>
              <a:rPr sz="2025" b="1">
                <a:solidFill>
                  <a:srgbClr val="10251F"/>
                </a:solidFill>
              </a:rPr>
              <a:t>What do we check on the graph?</a:t>
            </a:r>
          </a:p>
        </p:txBody>
      </p:sp>
      <p:sp>
        <p:nvSpPr>
          <p:cNvPr id="10" name="타원 9">
            <a:extLst>
              <a:ext uri="{FF2B5EF4-FFF2-40B4-BE49-F238E27FC236}">
                <a16:creationId xmlns:a16="http://schemas.microsoft.com/office/drawing/2014/main" id="{540C78A7-2786-4006-BAD7-76082BD26C0A}"/>
              </a:ext>
            </a:extLst>
          </p:cNvPr>
          <p:cNvSpPr>
            <a:spLocks noGrp="1"/>
          </p:cNvSpPr>
          <p:nvPr/>
        </p:nvSpPr>
        <p:spPr>
          <a:xfrm>
            <a:off x="5981700" y="2914650"/>
            <a:ext cx="114300" cy="114300"/>
          </a:xfrm>
          <a:prstGeom prst="ellipse">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4C7D98FB-55A0-4242-8BEF-755DA728B6A2}"/>
              </a:ext>
            </a:extLst>
          </p:cNvPr>
          <p:cNvSpPr>
            <a:spLocks noGrp="1"/>
          </p:cNvSpPr>
          <p:nvPr/>
        </p:nvSpPr>
        <p:spPr>
          <a:xfrm>
            <a:off x="6248400" y="283845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rPr>
              <a:t>Temperature change and duration</a:t>
            </a:r>
          </a:p>
        </p:txBody>
      </p:sp>
      <p:sp>
        <p:nvSpPr>
          <p:cNvPr id="12" name="타원 11">
            <a:extLst>
              <a:ext uri="{FF2B5EF4-FFF2-40B4-BE49-F238E27FC236}">
                <a16:creationId xmlns:a16="http://schemas.microsoft.com/office/drawing/2014/main" id="{83A122FA-1A9E-46B7-BAEB-14CD15AF634B}"/>
              </a:ext>
            </a:extLst>
          </p:cNvPr>
          <p:cNvSpPr>
            <a:spLocks noGrp="1"/>
          </p:cNvSpPr>
          <p:nvPr/>
        </p:nvSpPr>
        <p:spPr>
          <a:xfrm>
            <a:off x="5981700" y="3429000"/>
            <a:ext cx="114300" cy="114300"/>
          </a:xfrm>
          <a:prstGeom prst="ellipse">
            <a:avLst/>
          </a:prstGeom>
          <a:solidFill>
            <a:srgbClr val="65D44A"/>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FFFA3EFB-6236-4D3A-A6B0-09A889895184}"/>
              </a:ext>
            </a:extLst>
          </p:cNvPr>
          <p:cNvSpPr>
            <a:spLocks noGrp="1"/>
          </p:cNvSpPr>
          <p:nvPr/>
        </p:nvSpPr>
        <p:spPr>
          <a:xfrm>
            <a:off x="6248400" y="335280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rPr>
              <a:t>Abrupt activity change</a:t>
            </a:r>
          </a:p>
        </p:txBody>
      </p:sp>
      <p:sp>
        <p:nvSpPr>
          <p:cNvPr id="14" name="타원 13">
            <a:extLst>
              <a:ext uri="{FF2B5EF4-FFF2-40B4-BE49-F238E27FC236}">
                <a16:creationId xmlns:a16="http://schemas.microsoft.com/office/drawing/2014/main" id="{3882A656-3F70-4B34-957C-B09B41F2905A}"/>
              </a:ext>
            </a:extLst>
          </p:cNvPr>
          <p:cNvSpPr>
            <a:spLocks noGrp="1"/>
          </p:cNvSpPr>
          <p:nvPr/>
        </p:nvSpPr>
        <p:spPr>
          <a:xfrm>
            <a:off x="5981700" y="3943350"/>
            <a:ext cx="114300" cy="114300"/>
          </a:xfrm>
          <a:prstGeom prst="ellipse">
            <a:avLst/>
          </a:prstGeom>
          <a:solidFill>
            <a:srgbClr val="65D44A"/>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337C228F-6F95-4BBB-B2EA-4AD372FF8471}"/>
              </a:ext>
            </a:extLst>
          </p:cNvPr>
          <p:cNvSpPr>
            <a:spLocks noGrp="1"/>
          </p:cNvSpPr>
          <p:nvPr/>
        </p:nvSpPr>
        <p:spPr>
          <a:xfrm>
            <a:off x="6248400" y="386715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rPr>
              <a:t>Combined drop in rumination and drinking</a:t>
            </a:r>
          </a:p>
        </p:txBody>
      </p:sp>
      <p:sp>
        <p:nvSpPr>
          <p:cNvPr id="16" name="타원 15">
            <a:extLst>
              <a:ext uri="{FF2B5EF4-FFF2-40B4-BE49-F238E27FC236}">
                <a16:creationId xmlns:a16="http://schemas.microsoft.com/office/drawing/2014/main" id="{63A62ECC-2C18-4722-8579-BEB248C382DE}"/>
              </a:ext>
            </a:extLst>
          </p:cNvPr>
          <p:cNvSpPr>
            <a:spLocks noGrp="1"/>
          </p:cNvSpPr>
          <p:nvPr/>
        </p:nvSpPr>
        <p:spPr>
          <a:xfrm>
            <a:off x="5981700" y="4457700"/>
            <a:ext cx="114300" cy="114300"/>
          </a:xfrm>
          <a:prstGeom prst="ellipse">
            <a:avLst/>
          </a:prstGeom>
          <a:solidFill>
            <a:srgbClr val="65D44A"/>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8E03D4BC-F922-4523-830B-5E938BDEFA9F}"/>
              </a:ext>
            </a:extLst>
          </p:cNvPr>
          <p:cNvSpPr>
            <a:spLocks noGrp="1"/>
          </p:cNvSpPr>
          <p:nvPr/>
        </p:nvSpPr>
        <p:spPr>
          <a:xfrm>
            <a:off x="6248400" y="438150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rPr>
              <a:t>Previous reproduction and health events</a:t>
            </a:r>
          </a:p>
        </p:txBody>
      </p:sp>
    </p:spTree>
    <p:extLst>
      <p:ext uri="{BB962C8B-B14F-4D97-AF65-F5344CB8AC3E}">
        <p14:creationId xmlns:p14="http://schemas.microsoft.com/office/powerpoint/2010/main" val="1422412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A3535A58-2713-44A6-B5E4-177F2054AD28}"/>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rPr>
              <a:t>05</a:t>
            </a:r>
          </a:p>
        </p:txBody>
      </p:sp>
      <p:sp>
        <p:nvSpPr>
          <p:cNvPr id="2" name="직사각형 1">
            <a:extLst>
              <a:ext uri="{FF2B5EF4-FFF2-40B4-BE49-F238E27FC236}">
                <a16:creationId xmlns:a16="http://schemas.microsoft.com/office/drawing/2014/main" id="{99DB36B7-D883-4FAB-BAA4-943E0DE285FF}"/>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rPr>
              <a:t>Feeding</a:t>
            </a:r>
          </a:p>
        </p:txBody>
      </p:sp>
      <p:sp>
        <p:nvSpPr>
          <p:cNvPr id="3" name="직사각형 2">
            <a:extLst>
              <a:ext uri="{FF2B5EF4-FFF2-40B4-BE49-F238E27FC236}">
                <a16:creationId xmlns:a16="http://schemas.microsoft.com/office/drawing/2014/main" id="{1B20F671-FA63-40DB-B764-2FB197A5F8F4}"/>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rPr>
              <a:t>The Feeding Tool turns individual noise into group signals and ration decisions.</a:t>
            </a:r>
          </a:p>
        </p:txBody>
      </p:sp>
      <p:sp>
        <p:nvSpPr>
          <p:cNvPr id="5" name="타원 4">
            <a:extLst>
              <a:ext uri="{FF2B5EF4-FFF2-40B4-BE49-F238E27FC236}">
                <a16:creationId xmlns:a16="http://schemas.microsoft.com/office/drawing/2014/main" id="{33623E51-B518-4B67-B70F-92087C41DA70}"/>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EABE8989-4780-4AFE-B0B5-7F77F69ABCE8}"/>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76C9664F-DF40-45D9-AB70-8D0F8D5C7DF1}"/>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CCB97422-1FA8-4E90-A3B0-34344B7DBE6C}"/>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23D8075D-5884-4256-983D-8DB5FA4F1CFA}"/>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37CFD8CB-E318-469E-A758-35440D3EF14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11" name="직사각형 10">
            <a:extLst>
              <a:ext uri="{FF2B5EF4-FFF2-40B4-BE49-F238E27FC236}">
                <a16:creationId xmlns:a16="http://schemas.microsoft.com/office/drawing/2014/main" id="{1F1A9E65-2DF3-4847-8794-227DDA1E1DA3}"/>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24</a:t>
            </a:r>
          </a:p>
        </p:txBody>
      </p:sp>
      <p:pic>
        <p:nvPicPr>
          <p:cNvPr id="24" name="그림 23"/>
          <p:cNvPicPr>
            <a:picLocks noChangeAspect="1"/>
          </p:cNvPicPr>
          <p:nvPr/>
        </p:nvPicPr>
        <p:blipFill>
          <a:blip r:embed="rId3"/>
          <a:srcRect l="9022" r="9022"/>
          <a:stretch>
            <a:fillRect/>
          </a:stretch>
        </p:blipFill>
        <p:spPr>
          <a:xfrm>
            <a:off x="9906000" y="0"/>
            <a:ext cx="2286000" cy="6858000"/>
          </a:xfrm>
          <a:prstGeom prst="rect">
            <a:avLst/>
          </a:prstGeom>
        </p:spPr>
      </p:pic>
    </p:spTree>
    <p:extLst>
      <p:ext uri="{BB962C8B-B14F-4D97-AF65-F5344CB8AC3E}">
        <p14:creationId xmlns:p14="http://schemas.microsoft.com/office/powerpoint/2010/main" val="661796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id="{D9B7DCE1-C291-49B1-981D-21184A8C9E45}"/>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FEEDING TOOL</a:t>
            </a:r>
          </a:p>
        </p:txBody>
      </p:sp>
      <p:sp>
        <p:nvSpPr>
          <p:cNvPr id="2" name="직사각형 1">
            <a:extLst>
              <a:ext uri="{FF2B5EF4-FFF2-40B4-BE49-F238E27FC236}">
                <a16:creationId xmlns:a16="http://schemas.microsoft.com/office/drawing/2014/main" id="{B2068148-3C25-4020-9FE2-158742CECBA3}"/>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Ration groups create a clean context for comparison</a:t>
            </a:r>
          </a:p>
        </p:txBody>
      </p:sp>
      <p:sp>
        <p:nvSpPr>
          <p:cNvPr id="3" name="직사각형 2">
            <a:extLst>
              <a:ext uri="{FF2B5EF4-FFF2-40B4-BE49-F238E27FC236}">
                <a16:creationId xmlns:a16="http://schemas.microsoft.com/office/drawing/2014/main" id="{7CCAFED7-AC40-40A8-831F-6EC40BA104B5}"/>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97C9B908-0916-4870-80D4-CC21398A93DA}"/>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25</a:t>
            </a:r>
          </a:p>
        </p:txBody>
      </p:sp>
      <p:sp>
        <p:nvSpPr>
          <p:cNvPr id="5" name="모서리가 둥근 직사각형 4">
            <a:extLst>
              <a:ext uri="{FF2B5EF4-FFF2-40B4-BE49-F238E27FC236}">
                <a16:creationId xmlns:a16="http://schemas.microsoft.com/office/drawing/2014/main" id="{1312ED6B-B2E9-45D2-90E7-BD834A4C925D}"/>
              </a:ext>
            </a:extLst>
          </p:cNvPr>
          <p:cNvSpPr>
            <a:spLocks noGrp="1"/>
          </p:cNvSpPr>
          <p:nvPr/>
        </p:nvSpPr>
        <p:spPr>
          <a:xfrm>
            <a:off x="68580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F2BBA17F-CB6E-4208-9EEB-8B667772F1C6}"/>
              </a:ext>
            </a:extLst>
          </p:cNvPr>
          <p:cNvSpPr>
            <a:spLocks noGrp="1"/>
          </p:cNvSpPr>
          <p:nvPr/>
        </p:nvSpPr>
        <p:spPr>
          <a:xfrm>
            <a:off x="685800" y="1809750"/>
            <a:ext cx="2457450" cy="95250"/>
          </a:xfrm>
          <a:prstGeom prst="rect">
            <a:avLst/>
          </a:prstGeom>
          <a:solidFill>
            <a:srgbClr val="E96155"/>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15F82760-A392-48C6-A0A4-58FCF674A47F}"/>
              </a:ext>
            </a:extLst>
          </p:cNvPr>
          <p:cNvSpPr>
            <a:spLocks noGrp="1"/>
          </p:cNvSpPr>
          <p:nvPr/>
        </p:nvSpPr>
        <p:spPr>
          <a:xfrm>
            <a:off x="89535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rPr>
              <a:t>Fresh cows</a:t>
            </a:r>
          </a:p>
        </p:txBody>
      </p:sp>
      <p:sp>
        <p:nvSpPr>
          <p:cNvPr id="8" name="직사각형 7">
            <a:extLst>
              <a:ext uri="{FF2B5EF4-FFF2-40B4-BE49-F238E27FC236}">
                <a16:creationId xmlns:a16="http://schemas.microsoft.com/office/drawing/2014/main" id="{F80B45CF-FA5F-41F9-984F-469F74C48B0F}"/>
              </a:ext>
            </a:extLst>
          </p:cNvPr>
          <p:cNvSpPr>
            <a:spLocks noGrp="1"/>
          </p:cNvSpPr>
          <p:nvPr/>
        </p:nvSpPr>
        <p:spPr>
          <a:xfrm>
            <a:off x="895350" y="2895600"/>
            <a:ext cx="2038350" cy="285750"/>
          </a:xfrm>
          <a:prstGeom prst="rect">
            <a:avLst/>
          </a:prstGeom>
          <a:noFill/>
          <a:ln w="0">
            <a:noFill/>
            <a:prstDash val="solid"/>
          </a:ln>
        </p:spPr>
        <p:txBody>
          <a:bodyPr/>
          <a:lstStyle/>
          <a:p>
            <a:pPr algn="l">
              <a:buNone/>
              <a:defRPr sz="1350" b="1">
                <a:solidFill>
                  <a:srgbClr val="E96155"/>
                </a:solidFill>
              </a:defRPr>
            </a:pPr>
            <a:r>
              <a:rPr sz="1350" b="1">
                <a:solidFill>
                  <a:srgbClr val="E96155"/>
                </a:solidFill>
              </a:rPr>
              <a:t>0–21 DIM</a:t>
            </a:r>
          </a:p>
        </p:txBody>
      </p:sp>
      <p:sp>
        <p:nvSpPr>
          <p:cNvPr id="9" name="모서리가 둥근 직사각형 8">
            <a:extLst>
              <a:ext uri="{FF2B5EF4-FFF2-40B4-BE49-F238E27FC236}">
                <a16:creationId xmlns:a16="http://schemas.microsoft.com/office/drawing/2014/main" id="{FDF132E2-15DD-48DD-BAB2-6F8F8DD1FFF6}"/>
              </a:ext>
            </a:extLst>
          </p:cNvPr>
          <p:cNvSpPr>
            <a:spLocks noGrp="1"/>
          </p:cNvSpPr>
          <p:nvPr/>
        </p:nvSpPr>
        <p:spPr>
          <a:xfrm>
            <a:off x="337185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1A6BD9A7-CA6E-4E7C-A72B-6F5337E3B57A}"/>
              </a:ext>
            </a:extLst>
          </p:cNvPr>
          <p:cNvSpPr>
            <a:spLocks noGrp="1"/>
          </p:cNvSpPr>
          <p:nvPr/>
        </p:nvSpPr>
        <p:spPr>
          <a:xfrm>
            <a:off x="3371850" y="1809750"/>
            <a:ext cx="2457450" cy="95250"/>
          </a:xfrm>
          <a:prstGeom prst="rect">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DF4D7F4A-E243-43A5-8C46-15B46B95609E}"/>
              </a:ext>
            </a:extLst>
          </p:cNvPr>
          <p:cNvSpPr>
            <a:spLocks noGrp="1"/>
          </p:cNvSpPr>
          <p:nvPr/>
        </p:nvSpPr>
        <p:spPr>
          <a:xfrm>
            <a:off x="358140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rPr>
              <a:t>High production</a:t>
            </a:r>
          </a:p>
        </p:txBody>
      </p:sp>
      <p:sp>
        <p:nvSpPr>
          <p:cNvPr id="12" name="직사각형 11">
            <a:extLst>
              <a:ext uri="{FF2B5EF4-FFF2-40B4-BE49-F238E27FC236}">
                <a16:creationId xmlns:a16="http://schemas.microsoft.com/office/drawing/2014/main" id="{6A16D436-F7AF-475C-BF0E-301CB130FCC7}"/>
              </a:ext>
            </a:extLst>
          </p:cNvPr>
          <p:cNvSpPr>
            <a:spLocks noGrp="1"/>
          </p:cNvSpPr>
          <p:nvPr/>
        </p:nvSpPr>
        <p:spPr>
          <a:xfrm>
            <a:off x="3581400" y="2895600"/>
            <a:ext cx="2038350" cy="285750"/>
          </a:xfrm>
          <a:prstGeom prst="rect">
            <a:avLst/>
          </a:prstGeom>
          <a:noFill/>
          <a:ln w="0">
            <a:noFill/>
            <a:prstDash val="solid"/>
          </a:ln>
        </p:spPr>
        <p:txBody>
          <a:bodyPr/>
          <a:lstStyle/>
          <a:p>
            <a:pPr algn="l">
              <a:buNone/>
              <a:defRPr sz="1350" b="1">
                <a:solidFill>
                  <a:srgbClr val="65D44A"/>
                </a:solidFill>
              </a:defRPr>
            </a:pPr>
            <a:r>
              <a:rPr sz="1350" b="1">
                <a:solidFill>
                  <a:srgbClr val="65D44A"/>
                </a:solidFill>
              </a:rPr>
              <a:t>22–150 DIM</a:t>
            </a:r>
          </a:p>
        </p:txBody>
      </p:sp>
      <p:sp>
        <p:nvSpPr>
          <p:cNvPr id="13" name="모서리가 둥근 직사각형 12">
            <a:extLst>
              <a:ext uri="{FF2B5EF4-FFF2-40B4-BE49-F238E27FC236}">
                <a16:creationId xmlns:a16="http://schemas.microsoft.com/office/drawing/2014/main" id="{DC5B8D31-59E8-4251-9709-F68BF84E80BB}"/>
              </a:ext>
            </a:extLst>
          </p:cNvPr>
          <p:cNvSpPr>
            <a:spLocks noGrp="1"/>
          </p:cNvSpPr>
          <p:nvPr/>
        </p:nvSpPr>
        <p:spPr>
          <a:xfrm>
            <a:off x="605790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DD0A84DC-6598-4FFF-B90D-78BA3D075E78}"/>
              </a:ext>
            </a:extLst>
          </p:cNvPr>
          <p:cNvSpPr>
            <a:spLocks noGrp="1"/>
          </p:cNvSpPr>
          <p:nvPr/>
        </p:nvSpPr>
        <p:spPr>
          <a:xfrm>
            <a:off x="6057900" y="1809750"/>
            <a:ext cx="2457450" cy="95250"/>
          </a:xfrm>
          <a:prstGeom prst="rect">
            <a:avLst/>
          </a:prstGeom>
          <a:solidFill>
            <a:srgbClr val="4C8DD9"/>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C12D8F9B-A70A-493A-B410-8B5B17BBAA5A}"/>
              </a:ext>
            </a:extLst>
          </p:cNvPr>
          <p:cNvSpPr>
            <a:spLocks noGrp="1"/>
          </p:cNvSpPr>
          <p:nvPr/>
        </p:nvSpPr>
        <p:spPr>
          <a:xfrm>
            <a:off x="626745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rPr>
              <a:t>Late lactation</a:t>
            </a:r>
          </a:p>
        </p:txBody>
      </p:sp>
      <p:sp>
        <p:nvSpPr>
          <p:cNvPr id="16" name="직사각형 15">
            <a:extLst>
              <a:ext uri="{FF2B5EF4-FFF2-40B4-BE49-F238E27FC236}">
                <a16:creationId xmlns:a16="http://schemas.microsoft.com/office/drawing/2014/main" id="{C6906519-C1D1-455D-99AF-A209EA5988D3}"/>
              </a:ext>
            </a:extLst>
          </p:cNvPr>
          <p:cNvSpPr>
            <a:spLocks noGrp="1"/>
          </p:cNvSpPr>
          <p:nvPr/>
        </p:nvSpPr>
        <p:spPr>
          <a:xfrm>
            <a:off x="6267450" y="2895600"/>
            <a:ext cx="2038350" cy="285750"/>
          </a:xfrm>
          <a:prstGeom prst="rect">
            <a:avLst/>
          </a:prstGeom>
          <a:noFill/>
          <a:ln w="0">
            <a:noFill/>
            <a:prstDash val="solid"/>
          </a:ln>
        </p:spPr>
        <p:txBody>
          <a:bodyPr/>
          <a:lstStyle/>
          <a:p>
            <a:pPr algn="l">
              <a:buNone/>
              <a:defRPr sz="1350" b="1">
                <a:solidFill>
                  <a:srgbClr val="4C8DD9"/>
                </a:solidFill>
              </a:defRPr>
            </a:pPr>
            <a:r>
              <a:rPr sz="1350" b="1">
                <a:solidFill>
                  <a:srgbClr val="4C8DD9"/>
                </a:solidFill>
              </a:rPr>
              <a:t>&gt;150 DIM</a:t>
            </a:r>
          </a:p>
        </p:txBody>
      </p:sp>
      <p:sp>
        <p:nvSpPr>
          <p:cNvPr id="17" name="모서리가 둥근 직사각형 16">
            <a:extLst>
              <a:ext uri="{FF2B5EF4-FFF2-40B4-BE49-F238E27FC236}">
                <a16:creationId xmlns:a16="http://schemas.microsoft.com/office/drawing/2014/main" id="{57E9BE0E-9C33-4F3B-B951-B2E16CFEB670}"/>
              </a:ext>
            </a:extLst>
          </p:cNvPr>
          <p:cNvSpPr>
            <a:spLocks noGrp="1"/>
          </p:cNvSpPr>
          <p:nvPr/>
        </p:nvSpPr>
        <p:spPr>
          <a:xfrm>
            <a:off x="874395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41CA4C86-6990-4901-9453-3AB084F7BEFB}"/>
              </a:ext>
            </a:extLst>
          </p:cNvPr>
          <p:cNvSpPr>
            <a:spLocks noGrp="1"/>
          </p:cNvSpPr>
          <p:nvPr/>
        </p:nvSpPr>
        <p:spPr>
          <a:xfrm>
            <a:off x="8743950" y="1809750"/>
            <a:ext cx="2457450" cy="95250"/>
          </a:xfrm>
          <a:prstGeom prst="rect">
            <a:avLst/>
          </a:prstGeom>
          <a:solidFill>
            <a:srgbClr val="F6B846"/>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63B599A5-A75D-4944-8CD2-8FF8DB053147}"/>
              </a:ext>
            </a:extLst>
          </p:cNvPr>
          <p:cNvSpPr>
            <a:spLocks noGrp="1"/>
          </p:cNvSpPr>
          <p:nvPr/>
        </p:nvSpPr>
        <p:spPr>
          <a:xfrm>
            <a:off x="895350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rPr>
              <a:t>Dry / transition</a:t>
            </a:r>
          </a:p>
        </p:txBody>
      </p:sp>
      <p:sp>
        <p:nvSpPr>
          <p:cNvPr id="20" name="직사각형 19">
            <a:extLst>
              <a:ext uri="{FF2B5EF4-FFF2-40B4-BE49-F238E27FC236}">
                <a16:creationId xmlns:a16="http://schemas.microsoft.com/office/drawing/2014/main" id="{194807DE-8BBE-4591-8C3C-9B3B7DAC4684}"/>
              </a:ext>
            </a:extLst>
          </p:cNvPr>
          <p:cNvSpPr>
            <a:spLocks noGrp="1"/>
          </p:cNvSpPr>
          <p:nvPr/>
        </p:nvSpPr>
        <p:spPr>
          <a:xfrm>
            <a:off x="8953500" y="2895600"/>
            <a:ext cx="2038350" cy="285750"/>
          </a:xfrm>
          <a:prstGeom prst="rect">
            <a:avLst/>
          </a:prstGeom>
          <a:noFill/>
          <a:ln w="0">
            <a:noFill/>
            <a:prstDash val="solid"/>
          </a:ln>
        </p:spPr>
        <p:txBody>
          <a:bodyPr/>
          <a:lstStyle/>
          <a:p>
            <a:pPr algn="l">
              <a:buNone/>
              <a:defRPr sz="1350" b="1">
                <a:solidFill>
                  <a:srgbClr val="F6B846"/>
                </a:solidFill>
              </a:defRPr>
            </a:pPr>
            <a:r>
              <a:rPr sz="1350" b="1">
                <a:solidFill>
                  <a:srgbClr val="F6B846"/>
                </a:solidFill>
              </a:rPr>
              <a:t>Around calving</a:t>
            </a:r>
          </a:p>
        </p:txBody>
      </p:sp>
      <p:sp>
        <p:nvSpPr>
          <p:cNvPr id="21" name="직사각형 20">
            <a:extLst>
              <a:ext uri="{FF2B5EF4-FFF2-40B4-BE49-F238E27FC236}">
                <a16:creationId xmlns:a16="http://schemas.microsoft.com/office/drawing/2014/main" id="{33ED58B4-5CEF-4735-96AF-A1CC1933F28B}"/>
              </a:ext>
            </a:extLst>
          </p:cNvPr>
          <p:cNvSpPr>
            <a:spLocks noGrp="1"/>
          </p:cNvSpPr>
          <p:nvPr/>
        </p:nvSpPr>
        <p:spPr>
          <a:xfrm>
            <a:off x="857250" y="4495800"/>
            <a:ext cx="10477500" cy="552450"/>
          </a:xfrm>
          <a:prstGeom prst="rect">
            <a:avLst/>
          </a:prstGeom>
          <a:noFill/>
          <a:ln w="0">
            <a:noFill/>
            <a:prstDash val="solid"/>
          </a:ln>
        </p:spPr>
        <p:txBody>
          <a:bodyPr/>
          <a:lstStyle/>
          <a:p>
            <a:pPr algn="ctr">
              <a:buNone/>
              <a:defRPr sz="1875" b="1">
                <a:solidFill>
                  <a:srgbClr val="15A98C"/>
                </a:solidFill>
              </a:defRPr>
            </a:pPr>
            <a:r>
              <a:rPr sz="1875" b="1">
                <a:solidFill>
                  <a:srgbClr val="15A98C"/>
                </a:solidFill>
              </a:rPr>
              <a:t>A group should share the same ration, similar physiological stage and clear dates.</a:t>
            </a:r>
          </a:p>
        </p:txBody>
      </p:sp>
      <p:sp>
        <p:nvSpPr>
          <p:cNvPr id="22" name="직사각형 21">
            <a:extLst>
              <a:ext uri="{FF2B5EF4-FFF2-40B4-BE49-F238E27FC236}">
                <a16:creationId xmlns:a16="http://schemas.microsoft.com/office/drawing/2014/main" id="{FF249DE8-36FA-4915-A156-38B2DCD6468B}"/>
              </a:ext>
            </a:extLst>
          </p:cNvPr>
          <p:cNvSpPr>
            <a:spLocks noGrp="1"/>
          </p:cNvSpPr>
          <p:nvPr/>
        </p:nvSpPr>
        <p:spPr>
          <a:xfrm>
            <a:off x="685800" y="5429250"/>
            <a:ext cx="10820400" cy="228600"/>
          </a:xfrm>
          <a:prstGeom prst="rect">
            <a:avLst/>
          </a:prstGeom>
          <a:noFill/>
          <a:ln w="0">
            <a:noFill/>
            <a:prstDash val="solid"/>
          </a:ln>
        </p:spPr>
        <p:txBody>
          <a:bodyPr/>
          <a:lstStyle/>
          <a:p>
            <a:pPr algn="ctr">
              <a:buNone/>
              <a:defRPr sz="1125" b="0">
                <a:solidFill>
                  <a:srgbClr val="66746F"/>
                </a:solidFill>
              </a:defRPr>
            </a:pPr>
            <a:r>
              <a:rPr sz="1125" b="0">
                <a:solidFill>
                  <a:srgbClr val="66746F"/>
                </a:solidFill>
              </a:rPr>
              <a:t>DIM examples—adapt to the farm protocol</a:t>
            </a:r>
          </a:p>
        </p:txBody>
      </p:sp>
    </p:spTree>
    <p:extLst>
      <p:ext uri="{BB962C8B-B14F-4D97-AF65-F5344CB8AC3E}">
        <p14:creationId xmlns:p14="http://schemas.microsoft.com/office/powerpoint/2010/main" val="1672944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A31C1718-EB02-4932-9193-33A2E32B957D}"/>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RATION ANALYSIS</a:t>
            </a:r>
          </a:p>
        </p:txBody>
      </p:sp>
      <p:sp>
        <p:nvSpPr>
          <p:cNvPr id="2" name="직사각형 1">
            <a:extLst>
              <a:ext uri="{FF2B5EF4-FFF2-40B4-BE49-F238E27FC236}">
                <a16:creationId xmlns:a16="http://schemas.microsoft.com/office/drawing/2014/main" id="{599E9104-6332-481F-8DE6-89FB3FEA42A7}"/>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Evaluate a ration change in four layers</a:t>
            </a:r>
          </a:p>
        </p:txBody>
      </p:sp>
      <p:sp>
        <p:nvSpPr>
          <p:cNvPr id="3" name="직사각형 2">
            <a:extLst>
              <a:ext uri="{FF2B5EF4-FFF2-40B4-BE49-F238E27FC236}">
                <a16:creationId xmlns:a16="http://schemas.microsoft.com/office/drawing/2014/main" id="{03F5306E-0CAB-4B56-B1A6-3E53E9CB534B}"/>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42CC4E26-76FC-4FC1-B978-E13E4EA36474}"/>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26</a:t>
            </a:r>
          </a:p>
        </p:txBody>
      </p:sp>
      <p:sp>
        <p:nvSpPr>
          <p:cNvPr id="5" name="모서리가 둥근 직사각형 4">
            <a:extLst>
              <a:ext uri="{FF2B5EF4-FFF2-40B4-BE49-F238E27FC236}">
                <a16:creationId xmlns:a16="http://schemas.microsoft.com/office/drawing/2014/main" id="{1D73946B-272B-455C-9C75-752FD66A5304}"/>
              </a:ext>
            </a:extLst>
          </p:cNvPr>
          <p:cNvSpPr>
            <a:spLocks noGrp="1"/>
          </p:cNvSpPr>
          <p:nvPr/>
        </p:nvSpPr>
        <p:spPr>
          <a:xfrm>
            <a:off x="685800" y="1752600"/>
            <a:ext cx="10820400" cy="704850"/>
          </a:xfrm>
          <a:prstGeom prst="roundRect">
            <a:avLst>
              <a:gd name="adj" fmla="val 16216"/>
            </a:avLst>
          </a:prstGeom>
          <a:solidFill>
            <a:srgbClr val="ECF1EE"/>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DB0E1CA0-9935-4CCC-8E71-912B839F5CF2}"/>
              </a:ext>
            </a:extLst>
          </p:cNvPr>
          <p:cNvSpPr>
            <a:spLocks noGrp="1"/>
          </p:cNvSpPr>
          <p:nvPr/>
        </p:nvSpPr>
        <p:spPr>
          <a:xfrm>
            <a:off x="933450" y="1943100"/>
            <a:ext cx="2095500" cy="28575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1. INPUT</a:t>
            </a:r>
          </a:p>
        </p:txBody>
      </p:sp>
      <p:sp>
        <p:nvSpPr>
          <p:cNvPr id="7" name="직사각형 6">
            <a:extLst>
              <a:ext uri="{FF2B5EF4-FFF2-40B4-BE49-F238E27FC236}">
                <a16:creationId xmlns:a16="http://schemas.microsoft.com/office/drawing/2014/main" id="{514CBBBD-8BD0-4357-BA58-9C3F4E044A36}"/>
              </a:ext>
            </a:extLst>
          </p:cNvPr>
          <p:cNvSpPr>
            <a:spLocks noGrp="1"/>
          </p:cNvSpPr>
          <p:nvPr/>
        </p:nvSpPr>
        <p:spPr>
          <a:xfrm>
            <a:off x="3333750" y="1943100"/>
            <a:ext cx="7810500" cy="3238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Recipe, DM, ingredient lot, mixing</a:t>
            </a:r>
          </a:p>
        </p:txBody>
      </p:sp>
      <p:sp>
        <p:nvSpPr>
          <p:cNvPr id="8" name="모서리가 둥근 직사각형 7">
            <a:extLst>
              <a:ext uri="{FF2B5EF4-FFF2-40B4-BE49-F238E27FC236}">
                <a16:creationId xmlns:a16="http://schemas.microsoft.com/office/drawing/2014/main" id="{AB213A16-6D2E-45C1-B1FE-E8D50E96AC09}"/>
              </a:ext>
            </a:extLst>
          </p:cNvPr>
          <p:cNvSpPr>
            <a:spLocks noGrp="1"/>
          </p:cNvSpPr>
          <p:nvPr/>
        </p:nvSpPr>
        <p:spPr>
          <a:xfrm>
            <a:off x="685800" y="2647950"/>
            <a:ext cx="10820400" cy="704850"/>
          </a:xfrm>
          <a:prstGeom prst="roundRect">
            <a:avLst>
              <a:gd name="adj" fmla="val 16216"/>
            </a:avLst>
          </a:prstGeom>
          <a:solidFill>
            <a:srgbClr val="FFFFFF"/>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B99B2BB5-833A-4748-A913-9E7A24BFD9F3}"/>
              </a:ext>
            </a:extLst>
          </p:cNvPr>
          <p:cNvSpPr>
            <a:spLocks noGrp="1"/>
          </p:cNvSpPr>
          <p:nvPr/>
        </p:nvSpPr>
        <p:spPr>
          <a:xfrm>
            <a:off x="933450" y="2838450"/>
            <a:ext cx="2095500" cy="28575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2. DELIVERY</a:t>
            </a:r>
          </a:p>
        </p:txBody>
      </p:sp>
      <p:sp>
        <p:nvSpPr>
          <p:cNvPr id="10" name="직사각형 9">
            <a:extLst>
              <a:ext uri="{FF2B5EF4-FFF2-40B4-BE49-F238E27FC236}">
                <a16:creationId xmlns:a16="http://schemas.microsoft.com/office/drawing/2014/main" id="{B6B89250-2EC5-4F71-866E-FC8FF2DE7F5D}"/>
              </a:ext>
            </a:extLst>
          </p:cNvPr>
          <p:cNvSpPr>
            <a:spLocks noGrp="1"/>
          </p:cNvSpPr>
          <p:nvPr/>
        </p:nvSpPr>
        <p:spPr>
          <a:xfrm>
            <a:off x="3333750" y="2838450"/>
            <a:ext cx="7810500" cy="3238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Timing, push-up, sorting, bunk space</a:t>
            </a:r>
          </a:p>
        </p:txBody>
      </p:sp>
      <p:sp>
        <p:nvSpPr>
          <p:cNvPr id="11" name="모서리가 둥근 직사각형 10">
            <a:extLst>
              <a:ext uri="{FF2B5EF4-FFF2-40B4-BE49-F238E27FC236}">
                <a16:creationId xmlns:a16="http://schemas.microsoft.com/office/drawing/2014/main" id="{CD416FE0-FE7F-4456-B496-1FE36FF1621F}"/>
              </a:ext>
            </a:extLst>
          </p:cNvPr>
          <p:cNvSpPr>
            <a:spLocks noGrp="1"/>
          </p:cNvSpPr>
          <p:nvPr/>
        </p:nvSpPr>
        <p:spPr>
          <a:xfrm>
            <a:off x="685800" y="3543300"/>
            <a:ext cx="10820400" cy="704850"/>
          </a:xfrm>
          <a:prstGeom prst="roundRect">
            <a:avLst>
              <a:gd name="adj" fmla="val 16216"/>
            </a:avLst>
          </a:prstGeom>
          <a:solidFill>
            <a:srgbClr val="65D44A"/>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601EEEB1-875A-43AC-A4C0-06ACC50C111D}"/>
              </a:ext>
            </a:extLst>
          </p:cNvPr>
          <p:cNvSpPr>
            <a:spLocks noGrp="1"/>
          </p:cNvSpPr>
          <p:nvPr/>
        </p:nvSpPr>
        <p:spPr>
          <a:xfrm>
            <a:off x="933450" y="3733800"/>
            <a:ext cx="2095500" cy="285750"/>
          </a:xfrm>
          <a:prstGeom prst="rect">
            <a:avLst/>
          </a:prstGeom>
          <a:noFill/>
          <a:ln w="0">
            <a:noFill/>
            <a:prstDash val="solid"/>
          </a:ln>
        </p:spPr>
        <p:txBody>
          <a:bodyPr/>
          <a:lstStyle/>
          <a:p>
            <a:pPr algn="l">
              <a:buNone/>
              <a:defRPr sz="1350" b="1">
                <a:solidFill>
                  <a:srgbClr val="0A1B17"/>
                </a:solidFill>
              </a:defRPr>
            </a:pPr>
            <a:r>
              <a:rPr sz="1350" b="1">
                <a:solidFill>
                  <a:srgbClr val="0A1B17"/>
                </a:solidFill>
              </a:rPr>
              <a:t>3. COW RESPONSE</a:t>
            </a:r>
          </a:p>
        </p:txBody>
      </p:sp>
      <p:sp>
        <p:nvSpPr>
          <p:cNvPr id="13" name="직사각형 12">
            <a:extLst>
              <a:ext uri="{FF2B5EF4-FFF2-40B4-BE49-F238E27FC236}">
                <a16:creationId xmlns:a16="http://schemas.microsoft.com/office/drawing/2014/main" id="{0CF0F39C-46C0-43E0-938C-1643DC80EDF4}"/>
              </a:ext>
            </a:extLst>
          </p:cNvPr>
          <p:cNvSpPr>
            <a:spLocks noGrp="1"/>
          </p:cNvSpPr>
          <p:nvPr/>
        </p:nvSpPr>
        <p:spPr>
          <a:xfrm>
            <a:off x="3333750" y="3733800"/>
            <a:ext cx="7810500" cy="323850"/>
          </a:xfrm>
          <a:prstGeom prst="rect">
            <a:avLst/>
          </a:prstGeom>
          <a:noFill/>
          <a:ln w="0">
            <a:noFill/>
            <a:prstDash val="solid"/>
          </a:ln>
        </p:spPr>
        <p:txBody>
          <a:bodyPr/>
          <a:lstStyle/>
          <a:p>
            <a:pPr algn="l">
              <a:buNone/>
              <a:defRPr sz="1500" b="1">
                <a:solidFill>
                  <a:srgbClr val="10251F"/>
                </a:solidFill>
              </a:defRPr>
            </a:pPr>
            <a:r>
              <a:rPr sz="1500" b="1">
                <a:solidFill>
                  <a:srgbClr val="10251F"/>
                </a:solidFill>
              </a:rPr>
              <a:t>pH, rumination, drinking, activity</a:t>
            </a:r>
          </a:p>
        </p:txBody>
      </p:sp>
      <p:sp>
        <p:nvSpPr>
          <p:cNvPr id="14" name="모서리가 둥근 직사각형 13">
            <a:extLst>
              <a:ext uri="{FF2B5EF4-FFF2-40B4-BE49-F238E27FC236}">
                <a16:creationId xmlns:a16="http://schemas.microsoft.com/office/drawing/2014/main" id="{FCA163A8-2122-4C9F-AAF0-ABAEAE71B42C}"/>
              </a:ext>
            </a:extLst>
          </p:cNvPr>
          <p:cNvSpPr>
            <a:spLocks noGrp="1"/>
          </p:cNvSpPr>
          <p:nvPr/>
        </p:nvSpPr>
        <p:spPr>
          <a:xfrm>
            <a:off x="685800" y="4438650"/>
            <a:ext cx="10820400" cy="704850"/>
          </a:xfrm>
          <a:prstGeom prst="roundRect">
            <a:avLst>
              <a:gd name="adj" fmla="val 16216"/>
            </a:avLst>
          </a:prstGeom>
          <a:solidFill>
            <a:srgbClr val="FFFFF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6297E040-C5AD-4C68-8DEC-801F24AAE65F}"/>
              </a:ext>
            </a:extLst>
          </p:cNvPr>
          <p:cNvSpPr>
            <a:spLocks noGrp="1"/>
          </p:cNvSpPr>
          <p:nvPr/>
        </p:nvSpPr>
        <p:spPr>
          <a:xfrm>
            <a:off x="933450" y="4629150"/>
            <a:ext cx="2095500" cy="28575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4. OUTCOME</a:t>
            </a:r>
          </a:p>
        </p:txBody>
      </p:sp>
      <p:sp>
        <p:nvSpPr>
          <p:cNvPr id="16" name="직사각형 15">
            <a:extLst>
              <a:ext uri="{FF2B5EF4-FFF2-40B4-BE49-F238E27FC236}">
                <a16:creationId xmlns:a16="http://schemas.microsoft.com/office/drawing/2014/main" id="{10BF9DF5-C4CF-4ADF-8289-79449FE5A902}"/>
              </a:ext>
            </a:extLst>
          </p:cNvPr>
          <p:cNvSpPr>
            <a:spLocks noGrp="1"/>
          </p:cNvSpPr>
          <p:nvPr/>
        </p:nvSpPr>
        <p:spPr>
          <a:xfrm>
            <a:off x="3333750" y="4629150"/>
            <a:ext cx="7810500" cy="32385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Milk, components, health events</a:t>
            </a:r>
          </a:p>
        </p:txBody>
      </p:sp>
    </p:spTree>
    <p:extLst>
      <p:ext uri="{BB962C8B-B14F-4D97-AF65-F5344CB8AC3E}">
        <p14:creationId xmlns:p14="http://schemas.microsoft.com/office/powerpoint/2010/main" val="942303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9BC0EF4C-6973-4A0B-A08C-725D06217D6A}"/>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pH + FEEDING</a:t>
            </a:r>
          </a:p>
        </p:txBody>
      </p:sp>
      <p:sp>
        <p:nvSpPr>
          <p:cNvPr id="2" name="직사각형 1">
            <a:extLst>
              <a:ext uri="{FF2B5EF4-FFF2-40B4-BE49-F238E27FC236}">
                <a16:creationId xmlns:a16="http://schemas.microsoft.com/office/drawing/2014/main" id="{8A8FFC39-E726-406E-920B-839D72B8C89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The pH profile shows ration stability</a:t>
            </a:r>
          </a:p>
        </p:txBody>
      </p:sp>
      <p:sp>
        <p:nvSpPr>
          <p:cNvPr id="3" name="직사각형 2">
            <a:extLst>
              <a:ext uri="{FF2B5EF4-FFF2-40B4-BE49-F238E27FC236}">
                <a16:creationId xmlns:a16="http://schemas.microsoft.com/office/drawing/2014/main" id="{E15D1325-AF05-4617-B8E4-11F17490EE86}"/>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C9F165A2-C3E7-4689-9F10-D3916394A6D7}"/>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27</a:t>
            </a:r>
          </a:p>
        </p:txBody>
      </p:sp>
      <p:graphicFrame>
        <p:nvGraphicFramePr>
          <p:cNvPr id="22" name="Chart"/>
          <p:cNvGraphicFramePr/>
          <p:nvPr/>
        </p:nvGraphicFramePr>
        <p:xfrm>
          <a:off x="685800" y="18478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모서리가 둥근 직사각형 5">
            <a:extLst>
              <a:ext uri="{FF2B5EF4-FFF2-40B4-BE49-F238E27FC236}">
                <a16:creationId xmlns:a16="http://schemas.microsoft.com/office/drawing/2014/main" id="{11DFD3A7-14A8-487B-AD07-41E83FFB9A91}"/>
              </a:ext>
            </a:extLst>
          </p:cNvPr>
          <p:cNvSpPr>
            <a:spLocks noGrp="1"/>
          </p:cNvSpPr>
          <p:nvPr/>
        </p:nvSpPr>
        <p:spPr>
          <a:xfrm>
            <a:off x="8763000" y="1771650"/>
            <a:ext cx="1524000" cy="323850"/>
          </a:xfrm>
          <a:prstGeom prst="roundRect">
            <a:avLst>
              <a:gd name="adj" fmla="val 50000"/>
            </a:avLst>
          </a:prstGeom>
          <a:solidFill>
            <a:srgbClr val="F6B846"/>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895329B-C4F8-49AD-8C5D-E6A992DE7232}"/>
              </a:ext>
            </a:extLst>
          </p:cNvPr>
          <p:cNvSpPr>
            <a:spLocks noGrp="1"/>
          </p:cNvSpPr>
          <p:nvPr/>
        </p:nvSpPr>
        <p:spPr>
          <a:xfrm>
            <a:off x="8858250" y="1828800"/>
            <a:ext cx="1333500" cy="190500"/>
          </a:xfrm>
          <a:prstGeom prst="rect">
            <a:avLst/>
          </a:prstGeom>
          <a:noFill/>
          <a:ln w="0">
            <a:noFill/>
            <a:prstDash val="solid"/>
          </a:ln>
        </p:spPr>
        <p:txBody>
          <a:bodyPr/>
          <a:lstStyle/>
          <a:p>
            <a:pPr algn="ctr">
              <a:buNone/>
              <a:defRPr sz="975" b="1">
                <a:solidFill>
                  <a:srgbClr val="0A1B17"/>
                </a:solidFill>
              </a:defRPr>
            </a:pPr>
            <a:r>
              <a:rPr sz="975" b="1">
                <a:solidFill>
                  <a:srgbClr val="0A1B17"/>
                </a:solidFill>
              </a:rPr>
              <a:t>Training example</a:t>
            </a:r>
          </a:p>
        </p:txBody>
      </p:sp>
      <p:sp>
        <p:nvSpPr>
          <p:cNvPr id="8" name="타원 7">
            <a:extLst>
              <a:ext uri="{FF2B5EF4-FFF2-40B4-BE49-F238E27FC236}">
                <a16:creationId xmlns:a16="http://schemas.microsoft.com/office/drawing/2014/main" id="{162A66A2-2771-4D7E-AF97-D87D31BD2373}"/>
              </a:ext>
            </a:extLst>
          </p:cNvPr>
          <p:cNvSpPr>
            <a:spLocks noGrp="1"/>
          </p:cNvSpPr>
          <p:nvPr/>
        </p:nvSpPr>
        <p:spPr>
          <a:xfrm>
            <a:off x="8572500" y="2457450"/>
            <a:ext cx="114300" cy="114300"/>
          </a:xfrm>
          <a:prstGeom prst="ellipse">
            <a:avLst/>
          </a:prstGeom>
          <a:solidFill>
            <a:srgbClr val="65D44A"/>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630B9749-A60D-47E5-9E3D-3A72BB3E0BB0}"/>
              </a:ext>
            </a:extLst>
          </p:cNvPr>
          <p:cNvSpPr>
            <a:spLocks noGrp="1"/>
          </p:cNvSpPr>
          <p:nvPr/>
        </p:nvSpPr>
        <p:spPr>
          <a:xfrm>
            <a:off x="8839200" y="23812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rPr>
              <a:t>Focus on time spent low—not only the lowest point</a:t>
            </a:r>
          </a:p>
        </p:txBody>
      </p:sp>
      <p:sp>
        <p:nvSpPr>
          <p:cNvPr id="10" name="타원 9">
            <a:extLst>
              <a:ext uri="{FF2B5EF4-FFF2-40B4-BE49-F238E27FC236}">
                <a16:creationId xmlns:a16="http://schemas.microsoft.com/office/drawing/2014/main" id="{84ECABA3-0248-4D32-9E45-8F55F751F880}"/>
              </a:ext>
            </a:extLst>
          </p:cNvPr>
          <p:cNvSpPr>
            <a:spLocks noGrp="1"/>
          </p:cNvSpPr>
          <p:nvPr/>
        </p:nvSpPr>
        <p:spPr>
          <a:xfrm>
            <a:off x="8572500" y="3105150"/>
            <a:ext cx="114300" cy="114300"/>
          </a:xfrm>
          <a:prstGeom prst="ellipse">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DCB5FEE8-212C-4DF6-910E-4555371529FC}"/>
              </a:ext>
            </a:extLst>
          </p:cNvPr>
          <p:cNvSpPr>
            <a:spLocks noGrp="1"/>
          </p:cNvSpPr>
          <p:nvPr/>
        </p:nvSpPr>
        <p:spPr>
          <a:xfrm>
            <a:off x="8839200" y="30289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rPr>
              <a:t>Connect feeding time to the graph</a:t>
            </a:r>
          </a:p>
        </p:txBody>
      </p:sp>
      <p:sp>
        <p:nvSpPr>
          <p:cNvPr id="12" name="타원 11">
            <a:extLst>
              <a:ext uri="{FF2B5EF4-FFF2-40B4-BE49-F238E27FC236}">
                <a16:creationId xmlns:a16="http://schemas.microsoft.com/office/drawing/2014/main" id="{690D2E54-A833-45E7-BB70-21118006B41C}"/>
              </a:ext>
            </a:extLst>
          </p:cNvPr>
          <p:cNvSpPr>
            <a:spLocks noGrp="1"/>
          </p:cNvSpPr>
          <p:nvPr/>
        </p:nvSpPr>
        <p:spPr>
          <a:xfrm>
            <a:off x="8572500" y="3752850"/>
            <a:ext cx="114300" cy="114300"/>
          </a:xfrm>
          <a:prstGeom prst="ellipse">
            <a:avLst/>
          </a:prstGeom>
          <a:solidFill>
            <a:srgbClr val="65D44A"/>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35662032-E3CA-4CF6-A16A-1F6932A9E3AA}"/>
              </a:ext>
            </a:extLst>
          </p:cNvPr>
          <p:cNvSpPr>
            <a:spLocks noGrp="1"/>
          </p:cNvSpPr>
          <p:nvPr/>
        </p:nvSpPr>
        <p:spPr>
          <a:xfrm>
            <a:off x="8839200" y="36766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rPr>
              <a:t>Add rumination and drinking trends</a:t>
            </a:r>
          </a:p>
        </p:txBody>
      </p:sp>
      <p:sp>
        <p:nvSpPr>
          <p:cNvPr id="14" name="타원 13">
            <a:extLst>
              <a:ext uri="{FF2B5EF4-FFF2-40B4-BE49-F238E27FC236}">
                <a16:creationId xmlns:a16="http://schemas.microsoft.com/office/drawing/2014/main" id="{27F02442-9587-4852-A9CC-B521484C80AC}"/>
              </a:ext>
            </a:extLst>
          </p:cNvPr>
          <p:cNvSpPr>
            <a:spLocks noGrp="1"/>
          </p:cNvSpPr>
          <p:nvPr/>
        </p:nvSpPr>
        <p:spPr>
          <a:xfrm>
            <a:off x="8572500" y="4400550"/>
            <a:ext cx="114300" cy="114300"/>
          </a:xfrm>
          <a:prstGeom prst="ellipse">
            <a:avLst/>
          </a:prstGeom>
          <a:solidFill>
            <a:srgbClr val="65D44A"/>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53EC4BC6-5707-4697-8A37-D58ECB4F62AB}"/>
              </a:ext>
            </a:extLst>
          </p:cNvPr>
          <p:cNvSpPr>
            <a:spLocks noGrp="1"/>
          </p:cNvSpPr>
          <p:nvPr/>
        </p:nvSpPr>
        <p:spPr>
          <a:xfrm>
            <a:off x="8839200" y="43243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rPr>
              <a:t>Compare before and after a ration change</a:t>
            </a:r>
          </a:p>
        </p:txBody>
      </p:sp>
    </p:spTree>
    <p:extLst>
      <p:ext uri="{BB962C8B-B14F-4D97-AF65-F5344CB8AC3E}">
        <p14:creationId xmlns:p14="http://schemas.microsoft.com/office/powerpoint/2010/main" val="10521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2499479C-E58B-43C2-A63C-58EDD3085460}"/>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rPr>
              <a:t>06</a:t>
            </a:r>
          </a:p>
        </p:txBody>
      </p:sp>
      <p:sp>
        <p:nvSpPr>
          <p:cNvPr id="2" name="직사각형 1">
            <a:extLst>
              <a:ext uri="{FF2B5EF4-FFF2-40B4-BE49-F238E27FC236}">
                <a16:creationId xmlns:a16="http://schemas.microsoft.com/office/drawing/2014/main" id="{F90FD44F-EA2C-4C58-8BBB-AFB6E36CA702}"/>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rPr>
              <a:t>Assistant, worklists and SOPs</a:t>
            </a:r>
          </a:p>
        </p:txBody>
      </p:sp>
      <p:sp>
        <p:nvSpPr>
          <p:cNvPr id="3" name="직사각형 2">
            <a:extLst>
              <a:ext uri="{FF2B5EF4-FFF2-40B4-BE49-F238E27FC236}">
                <a16:creationId xmlns:a16="http://schemas.microsoft.com/office/drawing/2014/main" id="{A52C29F5-1C58-4016-92B3-2E1C6362A4F3}"/>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rPr>
              <a:t>A strong system asks the same questions in the same order every shift—and leaves none unanswered.</a:t>
            </a:r>
          </a:p>
        </p:txBody>
      </p:sp>
      <p:sp>
        <p:nvSpPr>
          <p:cNvPr id="5" name="타원 4">
            <a:extLst>
              <a:ext uri="{FF2B5EF4-FFF2-40B4-BE49-F238E27FC236}">
                <a16:creationId xmlns:a16="http://schemas.microsoft.com/office/drawing/2014/main" id="{D36ED3EE-DCC9-4C75-9C7C-CC695E577F82}"/>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B698144F-FA38-4939-BB6A-BA51174C9AA7}"/>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520F7B29-11BD-4769-9FDD-357623D04CED}"/>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1CB4DB2D-B295-4E09-8C18-77FF32C12AEF}"/>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54F86704-9A8A-406D-84EA-28A35C86F934}"/>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E6AE3FE6-325D-4227-ACAA-94307D5D398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11" name="직사각형 10">
            <a:extLst>
              <a:ext uri="{FF2B5EF4-FFF2-40B4-BE49-F238E27FC236}">
                <a16:creationId xmlns:a16="http://schemas.microsoft.com/office/drawing/2014/main" id="{E2EC874F-BC0D-425C-9C2C-2C3CF240EF4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28</a:t>
            </a:r>
          </a:p>
        </p:txBody>
      </p:sp>
      <p:pic>
        <p:nvPicPr>
          <p:cNvPr id="24" name="그림 23"/>
          <p:cNvPicPr>
            <a:picLocks noChangeAspect="1"/>
          </p:cNvPicPr>
          <p:nvPr/>
        </p:nvPicPr>
        <p:blipFill>
          <a:blip r:embed="rId3"/>
          <a:srcRect l="11439" r="11439"/>
          <a:stretch>
            <a:fillRect/>
          </a:stretch>
        </p:blipFill>
        <p:spPr>
          <a:xfrm>
            <a:off x="9906000" y="0"/>
            <a:ext cx="2286000" cy="6858000"/>
          </a:xfrm>
          <a:prstGeom prst="rect">
            <a:avLst/>
          </a:prstGeom>
        </p:spPr>
      </p:pic>
    </p:spTree>
    <p:extLst>
      <p:ext uri="{BB962C8B-B14F-4D97-AF65-F5344CB8AC3E}">
        <p14:creationId xmlns:p14="http://schemas.microsoft.com/office/powerpoint/2010/main" val="106441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62EBAE00-C080-4E68-AEC7-D6D5C3D3BAA2}"/>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ASSISTANT</a:t>
            </a:r>
          </a:p>
        </p:txBody>
      </p:sp>
      <p:sp>
        <p:nvSpPr>
          <p:cNvPr id="2" name="직사각형 1">
            <a:extLst>
              <a:ext uri="{FF2B5EF4-FFF2-40B4-BE49-F238E27FC236}">
                <a16:creationId xmlns:a16="http://schemas.microsoft.com/office/drawing/2014/main" id="{EFACA3D7-E2AC-4F75-8801-3EE71F76DED8}"/>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Digital Assistant directs attention where it is needed</a:t>
            </a:r>
          </a:p>
        </p:txBody>
      </p:sp>
      <p:sp>
        <p:nvSpPr>
          <p:cNvPr id="3" name="직사각형 2">
            <a:extLst>
              <a:ext uri="{FF2B5EF4-FFF2-40B4-BE49-F238E27FC236}">
                <a16:creationId xmlns:a16="http://schemas.microsoft.com/office/drawing/2014/main" id="{DD796619-7785-4109-BC34-7EA451258B75}"/>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1CB8AC95-84D7-4F4A-B16A-BFD3ABD81E1A}"/>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29</a:t>
            </a:r>
          </a:p>
        </p:txBody>
      </p:sp>
      <p:sp>
        <p:nvSpPr>
          <p:cNvPr id="5" name="오른쪽 화살표[R] 4">
            <a:extLst>
              <a:ext uri="{FF2B5EF4-FFF2-40B4-BE49-F238E27FC236}">
                <a16:creationId xmlns:a16="http://schemas.microsoft.com/office/drawing/2014/main" id="{1C1546C2-3A08-4D6A-B3E8-9BBE35B967BB}"/>
              </a:ext>
            </a:extLst>
          </p:cNvPr>
          <p:cNvSpPr>
            <a:spLocks noGrp="1"/>
          </p:cNvSpPr>
          <p:nvPr/>
        </p:nvSpPr>
        <p:spPr>
          <a:xfrm>
            <a:off x="2419350" y="2905125"/>
            <a:ext cx="514350" cy="323850"/>
          </a:xfrm>
          <a:prstGeom prst="rightArrow">
            <a:avLst/>
          </a:prstGeom>
          <a:solidFill>
            <a:srgbClr val="DFF4E8"/>
          </a:solidFill>
          <a:ln w="0">
            <a:noFill/>
            <a:prstDash val="solid"/>
          </a:ln>
        </p:spPr>
        <p:txBody>
          <a:bodyPr/>
          <a:lstStyle/>
          <a:p>
            <a:endParaRPr lang="ko-KR" altLang="en-US"/>
          </a:p>
        </p:txBody>
      </p:sp>
      <p:sp>
        <p:nvSpPr>
          <p:cNvPr id="6" name="모서리가 둥근 직사각형 5">
            <a:extLst>
              <a:ext uri="{FF2B5EF4-FFF2-40B4-BE49-F238E27FC236}">
                <a16:creationId xmlns:a16="http://schemas.microsoft.com/office/drawing/2014/main" id="{1EC771F9-5EEF-4144-8063-FB7295FA55F5}"/>
              </a:ext>
            </a:extLst>
          </p:cNvPr>
          <p:cNvSpPr>
            <a:spLocks noGrp="1"/>
          </p:cNvSpPr>
          <p:nvPr/>
        </p:nvSpPr>
        <p:spPr>
          <a:xfrm>
            <a:off x="60960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C358779-8A1E-4EC1-A4FB-0CE31ED83305}"/>
              </a:ext>
            </a:extLst>
          </p:cNvPr>
          <p:cNvSpPr>
            <a:spLocks noGrp="1"/>
          </p:cNvSpPr>
          <p:nvPr/>
        </p:nvSpPr>
        <p:spPr>
          <a:xfrm>
            <a:off x="78105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rPr>
              <a:t>ALERT</a:t>
            </a:r>
          </a:p>
        </p:txBody>
      </p:sp>
      <p:sp>
        <p:nvSpPr>
          <p:cNvPr id="8" name="직사각형 7">
            <a:extLst>
              <a:ext uri="{FF2B5EF4-FFF2-40B4-BE49-F238E27FC236}">
                <a16:creationId xmlns:a16="http://schemas.microsoft.com/office/drawing/2014/main" id="{0C6BC542-AE43-47E3-85D3-86E1250B4A23}"/>
              </a:ext>
            </a:extLst>
          </p:cNvPr>
          <p:cNvSpPr>
            <a:spLocks noGrp="1"/>
          </p:cNvSpPr>
          <p:nvPr/>
        </p:nvSpPr>
        <p:spPr>
          <a:xfrm>
            <a:off x="78105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rPr>
              <a:t>What happened?</a:t>
            </a:r>
          </a:p>
        </p:txBody>
      </p:sp>
      <p:sp>
        <p:nvSpPr>
          <p:cNvPr id="9" name="오른쪽 화살표[R] 8">
            <a:extLst>
              <a:ext uri="{FF2B5EF4-FFF2-40B4-BE49-F238E27FC236}">
                <a16:creationId xmlns:a16="http://schemas.microsoft.com/office/drawing/2014/main" id="{9FA8235B-038E-4EB9-8873-F3ED69A961CE}"/>
              </a:ext>
            </a:extLst>
          </p:cNvPr>
          <p:cNvSpPr>
            <a:spLocks noGrp="1"/>
          </p:cNvSpPr>
          <p:nvPr/>
        </p:nvSpPr>
        <p:spPr>
          <a:xfrm>
            <a:off x="4724400" y="2905125"/>
            <a:ext cx="514350" cy="323850"/>
          </a:xfrm>
          <a:prstGeom prst="rightArrow">
            <a:avLst/>
          </a:prstGeom>
          <a:solidFill>
            <a:srgbClr val="DFF4E8"/>
          </a:solidFill>
          <a:ln w="0">
            <a:noFill/>
            <a:prstDash val="solid"/>
          </a:ln>
        </p:spPr>
        <p:txBody>
          <a:bodyPr/>
          <a:lstStyle/>
          <a:p>
            <a:endParaRPr lang="ko-KR" altLang="en-US"/>
          </a:p>
        </p:txBody>
      </p:sp>
      <p:sp>
        <p:nvSpPr>
          <p:cNvPr id="10" name="모서리가 둥근 직사각형 9">
            <a:extLst>
              <a:ext uri="{FF2B5EF4-FFF2-40B4-BE49-F238E27FC236}">
                <a16:creationId xmlns:a16="http://schemas.microsoft.com/office/drawing/2014/main" id="{A75B7CEF-1635-4CA5-8559-9CFDBAF97437}"/>
              </a:ext>
            </a:extLst>
          </p:cNvPr>
          <p:cNvSpPr>
            <a:spLocks noGrp="1"/>
          </p:cNvSpPr>
          <p:nvPr/>
        </p:nvSpPr>
        <p:spPr>
          <a:xfrm>
            <a:off x="2914650" y="2381250"/>
            <a:ext cx="1924050" cy="1390650"/>
          </a:xfrm>
          <a:prstGeom prst="roundRect">
            <a:avLst>
              <a:gd name="adj" fmla="val 10959"/>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9002F2A7-0FFD-4B8F-B4D4-CD80320E20BC}"/>
              </a:ext>
            </a:extLst>
          </p:cNvPr>
          <p:cNvSpPr>
            <a:spLocks noGrp="1"/>
          </p:cNvSpPr>
          <p:nvPr/>
        </p:nvSpPr>
        <p:spPr>
          <a:xfrm>
            <a:off x="308610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rPr>
              <a:t>PRIORITY</a:t>
            </a:r>
          </a:p>
        </p:txBody>
      </p:sp>
      <p:sp>
        <p:nvSpPr>
          <p:cNvPr id="12" name="직사각형 11">
            <a:extLst>
              <a:ext uri="{FF2B5EF4-FFF2-40B4-BE49-F238E27FC236}">
                <a16:creationId xmlns:a16="http://schemas.microsoft.com/office/drawing/2014/main" id="{EA5AB830-4256-423C-A106-08D8D87D4F8D}"/>
              </a:ext>
            </a:extLst>
          </p:cNvPr>
          <p:cNvSpPr>
            <a:spLocks noGrp="1"/>
          </p:cNvSpPr>
          <p:nvPr/>
        </p:nvSpPr>
        <p:spPr>
          <a:xfrm>
            <a:off x="308610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rPr>
              <a:t>When?</a:t>
            </a:r>
          </a:p>
        </p:txBody>
      </p:sp>
      <p:sp>
        <p:nvSpPr>
          <p:cNvPr id="13" name="오른쪽 화살표[R] 12">
            <a:extLst>
              <a:ext uri="{FF2B5EF4-FFF2-40B4-BE49-F238E27FC236}">
                <a16:creationId xmlns:a16="http://schemas.microsoft.com/office/drawing/2014/main" id="{F9E649DF-D2D4-4F09-95A0-6A278D4EA7EA}"/>
              </a:ext>
            </a:extLst>
          </p:cNvPr>
          <p:cNvSpPr>
            <a:spLocks noGrp="1"/>
          </p:cNvSpPr>
          <p:nvPr/>
        </p:nvSpPr>
        <p:spPr>
          <a:xfrm>
            <a:off x="7029450" y="2905125"/>
            <a:ext cx="514350" cy="323850"/>
          </a:xfrm>
          <a:prstGeom prst="rightArrow">
            <a:avLst/>
          </a:prstGeom>
          <a:solidFill>
            <a:srgbClr val="DFF4E8"/>
          </a:solidFill>
          <a:ln w="0">
            <a:noFill/>
            <a:prstDash val="solid"/>
          </a:ln>
        </p:spPr>
        <p:txBody>
          <a:bodyPr/>
          <a:lstStyle/>
          <a:p>
            <a:endParaRPr lang="ko-KR" altLang="en-US"/>
          </a:p>
        </p:txBody>
      </p:sp>
      <p:sp>
        <p:nvSpPr>
          <p:cNvPr id="14" name="모서리가 둥근 직사각형 13">
            <a:extLst>
              <a:ext uri="{FF2B5EF4-FFF2-40B4-BE49-F238E27FC236}">
                <a16:creationId xmlns:a16="http://schemas.microsoft.com/office/drawing/2014/main" id="{FA787666-FF09-4289-8851-B4B36BC4F868}"/>
              </a:ext>
            </a:extLst>
          </p:cNvPr>
          <p:cNvSpPr>
            <a:spLocks noGrp="1"/>
          </p:cNvSpPr>
          <p:nvPr/>
        </p:nvSpPr>
        <p:spPr>
          <a:xfrm>
            <a:off x="521970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A21C247C-B08A-4123-BE51-244B2C68C0CB}"/>
              </a:ext>
            </a:extLst>
          </p:cNvPr>
          <p:cNvSpPr>
            <a:spLocks noGrp="1"/>
          </p:cNvSpPr>
          <p:nvPr/>
        </p:nvSpPr>
        <p:spPr>
          <a:xfrm>
            <a:off x="539115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rPr>
              <a:t>OWNER</a:t>
            </a:r>
          </a:p>
        </p:txBody>
      </p:sp>
      <p:sp>
        <p:nvSpPr>
          <p:cNvPr id="16" name="직사각형 15">
            <a:extLst>
              <a:ext uri="{FF2B5EF4-FFF2-40B4-BE49-F238E27FC236}">
                <a16:creationId xmlns:a16="http://schemas.microsoft.com/office/drawing/2014/main" id="{CC130763-027B-48DD-9D66-07A95AF7D392}"/>
              </a:ext>
            </a:extLst>
          </p:cNvPr>
          <p:cNvSpPr>
            <a:spLocks noGrp="1"/>
          </p:cNvSpPr>
          <p:nvPr/>
        </p:nvSpPr>
        <p:spPr>
          <a:xfrm>
            <a:off x="539115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rPr>
              <a:t>Who?</a:t>
            </a:r>
          </a:p>
        </p:txBody>
      </p:sp>
      <p:sp>
        <p:nvSpPr>
          <p:cNvPr id="17" name="오른쪽 화살표[R] 16">
            <a:extLst>
              <a:ext uri="{FF2B5EF4-FFF2-40B4-BE49-F238E27FC236}">
                <a16:creationId xmlns:a16="http://schemas.microsoft.com/office/drawing/2014/main" id="{933A934C-8232-404F-84E0-67C38DCC217A}"/>
              </a:ext>
            </a:extLst>
          </p:cNvPr>
          <p:cNvSpPr>
            <a:spLocks noGrp="1"/>
          </p:cNvSpPr>
          <p:nvPr/>
        </p:nvSpPr>
        <p:spPr>
          <a:xfrm>
            <a:off x="9334500" y="2905125"/>
            <a:ext cx="514350" cy="323850"/>
          </a:xfrm>
          <a:prstGeom prst="rightArrow">
            <a:avLst/>
          </a:prstGeom>
          <a:solidFill>
            <a:srgbClr val="DFF4E8"/>
          </a:solidFill>
          <a:ln w="0">
            <a:noFill/>
            <a:prstDash val="solid"/>
          </a:ln>
        </p:spPr>
        <p:txBody>
          <a:bodyPr/>
          <a:lstStyle/>
          <a:p>
            <a:endParaRPr lang="ko-KR" altLang="en-US"/>
          </a:p>
        </p:txBody>
      </p:sp>
      <p:sp>
        <p:nvSpPr>
          <p:cNvPr id="18" name="모서리가 둥근 직사각형 17">
            <a:extLst>
              <a:ext uri="{FF2B5EF4-FFF2-40B4-BE49-F238E27FC236}">
                <a16:creationId xmlns:a16="http://schemas.microsoft.com/office/drawing/2014/main" id="{71DEC8AA-0669-40E2-B945-D49332BE3999}"/>
              </a:ext>
            </a:extLst>
          </p:cNvPr>
          <p:cNvSpPr>
            <a:spLocks noGrp="1"/>
          </p:cNvSpPr>
          <p:nvPr/>
        </p:nvSpPr>
        <p:spPr>
          <a:xfrm>
            <a:off x="752475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AC9AADFB-8102-489B-8A83-8B1E8F152D66}"/>
              </a:ext>
            </a:extLst>
          </p:cNvPr>
          <p:cNvSpPr>
            <a:spLocks noGrp="1"/>
          </p:cNvSpPr>
          <p:nvPr/>
        </p:nvSpPr>
        <p:spPr>
          <a:xfrm>
            <a:off x="769620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rPr>
              <a:t>ACTION</a:t>
            </a:r>
          </a:p>
        </p:txBody>
      </p:sp>
      <p:sp>
        <p:nvSpPr>
          <p:cNvPr id="20" name="직사각형 19">
            <a:extLst>
              <a:ext uri="{FF2B5EF4-FFF2-40B4-BE49-F238E27FC236}">
                <a16:creationId xmlns:a16="http://schemas.microsoft.com/office/drawing/2014/main" id="{9F4A39BE-2B18-4A35-856C-9942941E01FD}"/>
              </a:ext>
            </a:extLst>
          </p:cNvPr>
          <p:cNvSpPr>
            <a:spLocks noGrp="1"/>
          </p:cNvSpPr>
          <p:nvPr/>
        </p:nvSpPr>
        <p:spPr>
          <a:xfrm>
            <a:off x="769620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rPr>
              <a:t>What was done?</a:t>
            </a:r>
          </a:p>
        </p:txBody>
      </p:sp>
      <p:sp>
        <p:nvSpPr>
          <p:cNvPr id="21" name="모서리가 둥근 직사각형 20">
            <a:extLst>
              <a:ext uri="{FF2B5EF4-FFF2-40B4-BE49-F238E27FC236}">
                <a16:creationId xmlns:a16="http://schemas.microsoft.com/office/drawing/2014/main" id="{F79354C5-228D-4337-9E4C-70F52BF5F2EA}"/>
              </a:ext>
            </a:extLst>
          </p:cNvPr>
          <p:cNvSpPr>
            <a:spLocks noGrp="1"/>
          </p:cNvSpPr>
          <p:nvPr/>
        </p:nvSpPr>
        <p:spPr>
          <a:xfrm>
            <a:off x="982980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5CAF9F54-078E-45DC-9BF3-9630A05F68AB}"/>
              </a:ext>
            </a:extLst>
          </p:cNvPr>
          <p:cNvSpPr>
            <a:spLocks noGrp="1"/>
          </p:cNvSpPr>
          <p:nvPr/>
        </p:nvSpPr>
        <p:spPr>
          <a:xfrm>
            <a:off x="1000125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rPr>
              <a:t>OUTCOME</a:t>
            </a:r>
          </a:p>
        </p:txBody>
      </p:sp>
      <p:sp>
        <p:nvSpPr>
          <p:cNvPr id="23" name="직사각형 22">
            <a:extLst>
              <a:ext uri="{FF2B5EF4-FFF2-40B4-BE49-F238E27FC236}">
                <a16:creationId xmlns:a16="http://schemas.microsoft.com/office/drawing/2014/main" id="{6DED756F-DC8F-4854-A239-EC4C8296E16A}"/>
              </a:ext>
            </a:extLst>
          </p:cNvPr>
          <p:cNvSpPr>
            <a:spLocks noGrp="1"/>
          </p:cNvSpPr>
          <p:nvPr/>
        </p:nvSpPr>
        <p:spPr>
          <a:xfrm>
            <a:off x="1000125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rPr>
              <a:t>Closed?</a:t>
            </a:r>
          </a:p>
        </p:txBody>
      </p:sp>
      <p:sp>
        <p:nvSpPr>
          <p:cNvPr id="24" name="모서리가 둥근 직사각형 23">
            <a:extLst>
              <a:ext uri="{FF2B5EF4-FFF2-40B4-BE49-F238E27FC236}">
                <a16:creationId xmlns:a16="http://schemas.microsoft.com/office/drawing/2014/main" id="{DE68C2A2-63F6-4197-AF36-722D70B4FF89}"/>
              </a:ext>
            </a:extLst>
          </p:cNvPr>
          <p:cNvSpPr>
            <a:spLocks noGrp="1"/>
          </p:cNvSpPr>
          <p:nvPr/>
        </p:nvSpPr>
        <p:spPr>
          <a:xfrm>
            <a:off x="1543050" y="4495800"/>
            <a:ext cx="9105900" cy="800100"/>
          </a:xfrm>
          <a:prstGeom prst="roundRect">
            <a:avLst>
              <a:gd name="adj" fmla="val 14286"/>
            </a:avLst>
          </a:prstGeom>
          <a:solidFill>
            <a:srgbClr val="10251F"/>
          </a:solidFill>
          <a:ln w="0">
            <a:noFill/>
            <a:prstDash val="solid"/>
          </a:ln>
        </p:spPr>
        <p:txBody>
          <a:bodyPr/>
          <a:lstStyle/>
          <a:p>
            <a:endParaRPr lang="ko-KR" altLang="en-US"/>
          </a:p>
        </p:txBody>
      </p:sp>
      <p:sp>
        <p:nvSpPr>
          <p:cNvPr id="25" name="직사각형 24">
            <a:extLst>
              <a:ext uri="{FF2B5EF4-FFF2-40B4-BE49-F238E27FC236}">
                <a16:creationId xmlns:a16="http://schemas.microsoft.com/office/drawing/2014/main" id="{C1261454-ABE3-4FFB-A164-364EAE2031CA}"/>
              </a:ext>
            </a:extLst>
          </p:cNvPr>
          <p:cNvSpPr>
            <a:spLocks noGrp="1"/>
          </p:cNvSpPr>
          <p:nvPr/>
        </p:nvSpPr>
        <p:spPr>
          <a:xfrm>
            <a:off x="1847850" y="4743450"/>
            <a:ext cx="8496300" cy="342900"/>
          </a:xfrm>
          <a:prstGeom prst="rect">
            <a:avLst/>
          </a:prstGeom>
          <a:noFill/>
          <a:ln w="0">
            <a:noFill/>
            <a:prstDash val="solid"/>
          </a:ln>
        </p:spPr>
        <p:txBody>
          <a:bodyPr/>
          <a:lstStyle/>
          <a:p>
            <a:pPr algn="ctr">
              <a:buNone/>
              <a:defRPr sz="1725" b="1">
                <a:solidFill>
                  <a:srgbClr val="FFFFFF"/>
                </a:solidFill>
              </a:defRPr>
            </a:pPr>
            <a:r>
              <a:rPr sz="1725" b="1">
                <a:solidFill>
                  <a:srgbClr val="FFFFFF"/>
                </a:solidFill>
              </a:rPr>
              <a:t>Push notification → worklist → check → event record → follow-up</a:t>
            </a:r>
          </a:p>
        </p:txBody>
      </p:sp>
    </p:spTree>
    <p:extLst>
      <p:ext uri="{BB962C8B-B14F-4D97-AF65-F5344CB8AC3E}">
        <p14:creationId xmlns:p14="http://schemas.microsoft.com/office/powerpoint/2010/main" val="1570658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7BADED25-E282-41F1-9EE5-241708A5432A}"/>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WORKLIST RHYTHM</a:t>
            </a:r>
          </a:p>
        </p:txBody>
      </p:sp>
      <p:sp>
        <p:nvSpPr>
          <p:cNvPr id="2" name="직사각형 1">
            <a:extLst>
              <a:ext uri="{FF2B5EF4-FFF2-40B4-BE49-F238E27FC236}">
                <a16:creationId xmlns:a16="http://schemas.microsoft.com/office/drawing/2014/main" id="{B53402E6-9F3A-42F7-80D3-ACB3401D6C7B}"/>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A daily rhythm turns data into habit</a:t>
            </a:r>
          </a:p>
        </p:txBody>
      </p:sp>
      <p:sp>
        <p:nvSpPr>
          <p:cNvPr id="3" name="직사각형 2">
            <a:extLst>
              <a:ext uri="{FF2B5EF4-FFF2-40B4-BE49-F238E27FC236}">
                <a16:creationId xmlns:a16="http://schemas.microsoft.com/office/drawing/2014/main" id="{CF84B531-7B02-48A7-95A5-294F3EE41AC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644FADDC-D265-4EB1-9CF4-71EC873643BF}"/>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30</a:t>
            </a:r>
          </a:p>
        </p:txBody>
      </p:sp>
      <p:sp>
        <p:nvSpPr>
          <p:cNvPr id="5" name="직사각형 4">
            <a:extLst>
              <a:ext uri="{FF2B5EF4-FFF2-40B4-BE49-F238E27FC236}">
                <a16:creationId xmlns:a16="http://schemas.microsoft.com/office/drawing/2014/main" id="{3E7D595F-74A3-4C7A-B3CF-FA91EE335CA1}"/>
              </a:ext>
            </a:extLst>
          </p:cNvPr>
          <p:cNvSpPr>
            <a:spLocks noGrp="1"/>
          </p:cNvSpPr>
          <p:nvPr/>
        </p:nvSpPr>
        <p:spPr>
          <a:xfrm>
            <a:off x="704850" y="180975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1</a:t>
            </a:r>
          </a:p>
        </p:txBody>
      </p:sp>
      <p:sp>
        <p:nvSpPr>
          <p:cNvPr id="6" name="직사각형 5">
            <a:extLst>
              <a:ext uri="{FF2B5EF4-FFF2-40B4-BE49-F238E27FC236}">
                <a16:creationId xmlns:a16="http://schemas.microsoft.com/office/drawing/2014/main" id="{1FB0059D-BEE0-4602-888D-4250A84E0192}"/>
              </a:ext>
            </a:extLst>
          </p:cNvPr>
          <p:cNvSpPr>
            <a:spLocks noGrp="1"/>
          </p:cNvSpPr>
          <p:nvPr/>
        </p:nvSpPr>
        <p:spPr>
          <a:xfrm>
            <a:off x="1200150" y="2019300"/>
            <a:ext cx="685800" cy="28575"/>
          </a:xfrm>
          <a:prstGeom prst="rect">
            <a:avLst/>
          </a:prstGeom>
          <a:solidFill>
            <a:srgbClr val="15A98C"/>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729E4473-DAEA-4C66-979F-C02DC3A450EE}"/>
              </a:ext>
            </a:extLst>
          </p:cNvPr>
          <p:cNvSpPr>
            <a:spLocks noGrp="1"/>
          </p:cNvSpPr>
          <p:nvPr/>
        </p:nvSpPr>
        <p:spPr>
          <a:xfrm>
            <a:off x="2114550" y="180975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SHIFT START</a:t>
            </a:r>
          </a:p>
        </p:txBody>
      </p:sp>
      <p:sp>
        <p:nvSpPr>
          <p:cNvPr id="8" name="직사각형 7">
            <a:extLst>
              <a:ext uri="{FF2B5EF4-FFF2-40B4-BE49-F238E27FC236}">
                <a16:creationId xmlns:a16="http://schemas.microsoft.com/office/drawing/2014/main" id="{68D23430-71B6-4232-94F8-7C008238E088}"/>
              </a:ext>
            </a:extLst>
          </p:cNvPr>
          <p:cNvSpPr>
            <a:spLocks noGrp="1"/>
          </p:cNvSpPr>
          <p:nvPr/>
        </p:nvSpPr>
        <p:spPr>
          <a:xfrm>
            <a:off x="4857750" y="180975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New critical and overdue tasks</a:t>
            </a:r>
          </a:p>
        </p:txBody>
      </p:sp>
      <p:sp>
        <p:nvSpPr>
          <p:cNvPr id="9" name="직사각형 8">
            <a:extLst>
              <a:ext uri="{FF2B5EF4-FFF2-40B4-BE49-F238E27FC236}">
                <a16:creationId xmlns:a16="http://schemas.microsoft.com/office/drawing/2014/main" id="{BEB9710D-4044-451B-91AD-6FFA2DF751A5}"/>
              </a:ext>
            </a:extLst>
          </p:cNvPr>
          <p:cNvSpPr>
            <a:spLocks noGrp="1"/>
          </p:cNvSpPr>
          <p:nvPr/>
        </p:nvSpPr>
        <p:spPr>
          <a:xfrm>
            <a:off x="704850" y="259080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2</a:t>
            </a:r>
          </a:p>
        </p:txBody>
      </p:sp>
      <p:sp>
        <p:nvSpPr>
          <p:cNvPr id="10" name="직사각형 9">
            <a:extLst>
              <a:ext uri="{FF2B5EF4-FFF2-40B4-BE49-F238E27FC236}">
                <a16:creationId xmlns:a16="http://schemas.microsoft.com/office/drawing/2014/main" id="{3AA2CA6D-B477-4F14-8C8C-58822710C93E}"/>
              </a:ext>
            </a:extLst>
          </p:cNvPr>
          <p:cNvSpPr>
            <a:spLocks noGrp="1"/>
          </p:cNvSpPr>
          <p:nvPr/>
        </p:nvSpPr>
        <p:spPr>
          <a:xfrm>
            <a:off x="1200150" y="2800350"/>
            <a:ext cx="685800" cy="28575"/>
          </a:xfrm>
          <a:prstGeom prst="rect">
            <a:avLst/>
          </a:prstGeom>
          <a:solidFill>
            <a:srgbClr val="15A98C"/>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09D61BFD-D890-48DC-8837-31152B4F5DAC}"/>
              </a:ext>
            </a:extLst>
          </p:cNvPr>
          <p:cNvSpPr>
            <a:spLocks noGrp="1"/>
          </p:cNvSpPr>
          <p:nvPr/>
        </p:nvSpPr>
        <p:spPr>
          <a:xfrm>
            <a:off x="2114550" y="259080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MORNING ROUND</a:t>
            </a:r>
          </a:p>
        </p:txBody>
      </p:sp>
      <p:sp>
        <p:nvSpPr>
          <p:cNvPr id="12" name="직사각형 11">
            <a:extLst>
              <a:ext uri="{FF2B5EF4-FFF2-40B4-BE49-F238E27FC236}">
                <a16:creationId xmlns:a16="http://schemas.microsoft.com/office/drawing/2014/main" id="{A60F2BDE-8D2F-4207-8D67-F7845E9F9F31}"/>
              </a:ext>
            </a:extLst>
          </p:cNvPr>
          <p:cNvSpPr>
            <a:spLocks noGrp="1"/>
          </p:cNvSpPr>
          <p:nvPr/>
        </p:nvSpPr>
        <p:spPr>
          <a:xfrm>
            <a:off x="4857750" y="259080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Health and calving checks</a:t>
            </a:r>
          </a:p>
        </p:txBody>
      </p:sp>
      <p:sp>
        <p:nvSpPr>
          <p:cNvPr id="13" name="직사각형 12">
            <a:extLst>
              <a:ext uri="{FF2B5EF4-FFF2-40B4-BE49-F238E27FC236}">
                <a16:creationId xmlns:a16="http://schemas.microsoft.com/office/drawing/2014/main" id="{FB6A84B9-A5D8-4E4E-9530-F9DA4DE92A93}"/>
              </a:ext>
            </a:extLst>
          </p:cNvPr>
          <p:cNvSpPr>
            <a:spLocks noGrp="1"/>
          </p:cNvSpPr>
          <p:nvPr/>
        </p:nvSpPr>
        <p:spPr>
          <a:xfrm>
            <a:off x="704850" y="337185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3</a:t>
            </a:r>
          </a:p>
        </p:txBody>
      </p:sp>
      <p:sp>
        <p:nvSpPr>
          <p:cNvPr id="14" name="직사각형 13">
            <a:extLst>
              <a:ext uri="{FF2B5EF4-FFF2-40B4-BE49-F238E27FC236}">
                <a16:creationId xmlns:a16="http://schemas.microsoft.com/office/drawing/2014/main" id="{0B95EF92-FED9-4888-986D-25363417D8B2}"/>
              </a:ext>
            </a:extLst>
          </p:cNvPr>
          <p:cNvSpPr>
            <a:spLocks noGrp="1"/>
          </p:cNvSpPr>
          <p:nvPr/>
        </p:nvSpPr>
        <p:spPr>
          <a:xfrm>
            <a:off x="1200150" y="3581400"/>
            <a:ext cx="685800" cy="28575"/>
          </a:xfrm>
          <a:prstGeom prst="rect">
            <a:avLst/>
          </a:prstGeom>
          <a:solidFill>
            <a:srgbClr val="15A98C"/>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A3A6B503-8302-4B86-8952-276DA103D849}"/>
              </a:ext>
            </a:extLst>
          </p:cNvPr>
          <p:cNvSpPr>
            <a:spLocks noGrp="1"/>
          </p:cNvSpPr>
          <p:nvPr/>
        </p:nvSpPr>
        <p:spPr>
          <a:xfrm>
            <a:off x="2114550" y="337185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INSEMINATION</a:t>
            </a:r>
          </a:p>
        </p:txBody>
      </p:sp>
      <p:sp>
        <p:nvSpPr>
          <p:cNvPr id="16" name="직사각형 15">
            <a:extLst>
              <a:ext uri="{FF2B5EF4-FFF2-40B4-BE49-F238E27FC236}">
                <a16:creationId xmlns:a16="http://schemas.microsoft.com/office/drawing/2014/main" id="{81AC5C52-10F6-4377-8C63-18C6D28BFCA6}"/>
              </a:ext>
            </a:extLst>
          </p:cNvPr>
          <p:cNvSpPr>
            <a:spLocks noGrp="1"/>
          </p:cNvSpPr>
          <p:nvPr/>
        </p:nvSpPr>
        <p:spPr>
          <a:xfrm>
            <a:off x="4857750" y="337185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Confirm window and status</a:t>
            </a:r>
          </a:p>
        </p:txBody>
      </p:sp>
      <p:sp>
        <p:nvSpPr>
          <p:cNvPr id="17" name="직사각형 16">
            <a:extLst>
              <a:ext uri="{FF2B5EF4-FFF2-40B4-BE49-F238E27FC236}">
                <a16:creationId xmlns:a16="http://schemas.microsoft.com/office/drawing/2014/main" id="{B740F65A-01B8-42F4-A5E9-71CF4E4A8785}"/>
              </a:ext>
            </a:extLst>
          </p:cNvPr>
          <p:cNvSpPr>
            <a:spLocks noGrp="1"/>
          </p:cNvSpPr>
          <p:nvPr/>
        </p:nvSpPr>
        <p:spPr>
          <a:xfrm>
            <a:off x="704850" y="415290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4</a:t>
            </a:r>
          </a:p>
        </p:txBody>
      </p:sp>
      <p:sp>
        <p:nvSpPr>
          <p:cNvPr id="18" name="직사각형 17">
            <a:extLst>
              <a:ext uri="{FF2B5EF4-FFF2-40B4-BE49-F238E27FC236}">
                <a16:creationId xmlns:a16="http://schemas.microsoft.com/office/drawing/2014/main" id="{E534522D-6B7E-4959-8692-ABF148101B7E}"/>
              </a:ext>
            </a:extLst>
          </p:cNvPr>
          <p:cNvSpPr>
            <a:spLocks noGrp="1"/>
          </p:cNvSpPr>
          <p:nvPr/>
        </p:nvSpPr>
        <p:spPr>
          <a:xfrm>
            <a:off x="1200150" y="4362450"/>
            <a:ext cx="685800" cy="28575"/>
          </a:xfrm>
          <a:prstGeom prst="rect">
            <a:avLst/>
          </a:prstGeom>
          <a:solidFill>
            <a:srgbClr val="15A98C"/>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11B04A10-2458-4268-A00C-F8E958C14BE7}"/>
              </a:ext>
            </a:extLst>
          </p:cNvPr>
          <p:cNvSpPr>
            <a:spLocks noGrp="1"/>
          </p:cNvSpPr>
          <p:nvPr/>
        </p:nvSpPr>
        <p:spPr>
          <a:xfrm>
            <a:off x="2114550" y="415290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FEEDING</a:t>
            </a:r>
          </a:p>
        </p:txBody>
      </p:sp>
      <p:sp>
        <p:nvSpPr>
          <p:cNvPr id="20" name="직사각형 19">
            <a:extLst>
              <a:ext uri="{FF2B5EF4-FFF2-40B4-BE49-F238E27FC236}">
                <a16:creationId xmlns:a16="http://schemas.microsoft.com/office/drawing/2014/main" id="{08A8E1F4-1F6E-4C25-8E00-EBD4684205A5}"/>
              </a:ext>
            </a:extLst>
          </p:cNvPr>
          <p:cNvSpPr>
            <a:spLocks noGrp="1"/>
          </p:cNvSpPr>
          <p:nvPr/>
        </p:nvSpPr>
        <p:spPr>
          <a:xfrm>
            <a:off x="4857750" y="415290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Group trend and ration events</a:t>
            </a:r>
          </a:p>
        </p:txBody>
      </p:sp>
      <p:sp>
        <p:nvSpPr>
          <p:cNvPr id="21" name="직사각형 20">
            <a:extLst>
              <a:ext uri="{FF2B5EF4-FFF2-40B4-BE49-F238E27FC236}">
                <a16:creationId xmlns:a16="http://schemas.microsoft.com/office/drawing/2014/main" id="{D0F45A12-1ABC-4353-B957-FBFC57087292}"/>
              </a:ext>
            </a:extLst>
          </p:cNvPr>
          <p:cNvSpPr>
            <a:spLocks noGrp="1"/>
          </p:cNvSpPr>
          <p:nvPr/>
        </p:nvSpPr>
        <p:spPr>
          <a:xfrm>
            <a:off x="704850" y="493395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rPr>
              <a:t>5</a:t>
            </a:r>
          </a:p>
        </p:txBody>
      </p:sp>
      <p:sp>
        <p:nvSpPr>
          <p:cNvPr id="22" name="직사각형 21">
            <a:extLst>
              <a:ext uri="{FF2B5EF4-FFF2-40B4-BE49-F238E27FC236}">
                <a16:creationId xmlns:a16="http://schemas.microsoft.com/office/drawing/2014/main" id="{2A759443-4832-4ED6-B339-F15829F7C819}"/>
              </a:ext>
            </a:extLst>
          </p:cNvPr>
          <p:cNvSpPr>
            <a:spLocks noGrp="1"/>
          </p:cNvSpPr>
          <p:nvPr/>
        </p:nvSpPr>
        <p:spPr>
          <a:xfrm>
            <a:off x="1200150" y="5143500"/>
            <a:ext cx="685800" cy="28575"/>
          </a:xfrm>
          <a:prstGeom prst="rect">
            <a:avLst/>
          </a:prstGeom>
          <a:solidFill>
            <a:srgbClr val="15A98C"/>
          </a:solidFill>
          <a:ln w="0">
            <a:noFill/>
            <a:prstDash val="solid"/>
          </a:ln>
        </p:spPr>
        <p:txBody>
          <a:bodyPr/>
          <a:lstStyle/>
          <a:p>
            <a:endParaRPr lang="ko-KR" altLang="en-US"/>
          </a:p>
        </p:txBody>
      </p:sp>
      <p:sp>
        <p:nvSpPr>
          <p:cNvPr id="23" name="직사각형 22">
            <a:extLst>
              <a:ext uri="{FF2B5EF4-FFF2-40B4-BE49-F238E27FC236}">
                <a16:creationId xmlns:a16="http://schemas.microsoft.com/office/drawing/2014/main" id="{621894A7-CA01-40E7-90BC-1ECE85563B9F}"/>
              </a:ext>
            </a:extLst>
          </p:cNvPr>
          <p:cNvSpPr>
            <a:spLocks noGrp="1"/>
          </p:cNvSpPr>
          <p:nvPr/>
        </p:nvSpPr>
        <p:spPr>
          <a:xfrm>
            <a:off x="2114550" y="493395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rPr>
              <a:t>SHIFT END</a:t>
            </a:r>
          </a:p>
        </p:txBody>
      </p:sp>
      <p:sp>
        <p:nvSpPr>
          <p:cNvPr id="24" name="직사각형 23">
            <a:extLst>
              <a:ext uri="{FF2B5EF4-FFF2-40B4-BE49-F238E27FC236}">
                <a16:creationId xmlns:a16="http://schemas.microsoft.com/office/drawing/2014/main" id="{24A7B3E7-89C9-433D-A67A-5A4FFC7AC5A3}"/>
              </a:ext>
            </a:extLst>
          </p:cNvPr>
          <p:cNvSpPr>
            <a:spLocks noGrp="1"/>
          </p:cNvSpPr>
          <p:nvPr/>
        </p:nvSpPr>
        <p:spPr>
          <a:xfrm>
            <a:off x="4857750" y="493395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rPr>
              <a:t>Open tasks and handover</a:t>
            </a:r>
          </a:p>
        </p:txBody>
      </p:sp>
    </p:spTree>
    <p:extLst>
      <p:ext uri="{BB962C8B-B14F-4D97-AF65-F5344CB8AC3E}">
        <p14:creationId xmlns:p14="http://schemas.microsoft.com/office/powerpoint/2010/main" val="140494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ADDAA919-8B5D-4E3A-BFC1-5505AA0AB97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PERFORMANCE OVERVIEW</a:t>
            </a:r>
          </a:p>
        </p:txBody>
      </p:sp>
      <p:sp>
        <p:nvSpPr>
          <p:cNvPr id="2" name="직사각형 1">
            <a:extLst>
              <a:ext uri="{FF2B5EF4-FFF2-40B4-BE49-F238E27FC236}">
                <a16:creationId xmlns:a16="http://schemas.microsoft.com/office/drawing/2014/main" id="{3C13D4C8-0666-4461-B668-BE37D31A1DC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Performance overview measures process as well as outcomes</a:t>
            </a:r>
          </a:p>
        </p:txBody>
      </p:sp>
      <p:sp>
        <p:nvSpPr>
          <p:cNvPr id="3" name="직사각형 2">
            <a:extLst>
              <a:ext uri="{FF2B5EF4-FFF2-40B4-BE49-F238E27FC236}">
                <a16:creationId xmlns:a16="http://schemas.microsoft.com/office/drawing/2014/main" id="{02DDDF15-954A-4E40-8137-4A45C8D2119F}"/>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6038B62D-8F73-4612-B875-10AF78066814}"/>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31</a:t>
            </a:r>
          </a:p>
        </p:txBody>
      </p:sp>
      <p:sp>
        <p:nvSpPr>
          <p:cNvPr id="5" name="모서리가 둥근 직사각형 4">
            <a:extLst>
              <a:ext uri="{FF2B5EF4-FFF2-40B4-BE49-F238E27FC236}">
                <a16:creationId xmlns:a16="http://schemas.microsoft.com/office/drawing/2014/main" id="{4F57A8C6-AB59-4A57-82A7-CD745D558DEA}"/>
              </a:ext>
            </a:extLst>
          </p:cNvPr>
          <p:cNvSpPr>
            <a:spLocks noGrp="1"/>
          </p:cNvSpPr>
          <p:nvPr/>
        </p:nvSpPr>
        <p:spPr>
          <a:xfrm>
            <a:off x="685800" y="175260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7C60BF2A-827C-4C31-8498-316D2D526D54}"/>
              </a:ext>
            </a:extLst>
          </p:cNvPr>
          <p:cNvSpPr>
            <a:spLocks noGrp="1"/>
          </p:cNvSpPr>
          <p:nvPr/>
        </p:nvSpPr>
        <p:spPr>
          <a:xfrm>
            <a:off x="914400" y="196215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RESPONSE</a:t>
            </a:r>
          </a:p>
        </p:txBody>
      </p:sp>
      <p:sp>
        <p:nvSpPr>
          <p:cNvPr id="7" name="직사각형 6">
            <a:extLst>
              <a:ext uri="{FF2B5EF4-FFF2-40B4-BE49-F238E27FC236}">
                <a16:creationId xmlns:a16="http://schemas.microsoft.com/office/drawing/2014/main" id="{4B2DEEB3-9048-486D-9B0F-7F619A236818}"/>
              </a:ext>
            </a:extLst>
          </p:cNvPr>
          <p:cNvSpPr>
            <a:spLocks noGrp="1"/>
          </p:cNvSpPr>
          <p:nvPr/>
        </p:nvSpPr>
        <p:spPr>
          <a:xfrm>
            <a:off x="914400" y="240030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rPr>
              <a:t>Time from alert to check</a:t>
            </a:r>
          </a:p>
        </p:txBody>
      </p:sp>
      <p:sp>
        <p:nvSpPr>
          <p:cNvPr id="8" name="모서리가 둥근 직사각형 7">
            <a:extLst>
              <a:ext uri="{FF2B5EF4-FFF2-40B4-BE49-F238E27FC236}">
                <a16:creationId xmlns:a16="http://schemas.microsoft.com/office/drawing/2014/main" id="{0F648B8A-57B3-4CED-915F-9CBDA832A24A}"/>
              </a:ext>
            </a:extLst>
          </p:cNvPr>
          <p:cNvSpPr>
            <a:spLocks noGrp="1"/>
          </p:cNvSpPr>
          <p:nvPr/>
        </p:nvSpPr>
        <p:spPr>
          <a:xfrm>
            <a:off x="4286250" y="175260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4A962DBA-04DA-4C93-B4E3-362DF49E17BD}"/>
              </a:ext>
            </a:extLst>
          </p:cNvPr>
          <p:cNvSpPr>
            <a:spLocks noGrp="1"/>
          </p:cNvSpPr>
          <p:nvPr/>
        </p:nvSpPr>
        <p:spPr>
          <a:xfrm>
            <a:off x="4514850" y="196215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CLOSURE</a:t>
            </a:r>
          </a:p>
        </p:txBody>
      </p:sp>
      <p:sp>
        <p:nvSpPr>
          <p:cNvPr id="10" name="직사각형 9">
            <a:extLst>
              <a:ext uri="{FF2B5EF4-FFF2-40B4-BE49-F238E27FC236}">
                <a16:creationId xmlns:a16="http://schemas.microsoft.com/office/drawing/2014/main" id="{44C1B504-BE41-48BF-81FB-EAAE13287BF5}"/>
              </a:ext>
            </a:extLst>
          </p:cNvPr>
          <p:cNvSpPr>
            <a:spLocks noGrp="1"/>
          </p:cNvSpPr>
          <p:nvPr/>
        </p:nvSpPr>
        <p:spPr>
          <a:xfrm>
            <a:off x="4514850" y="240030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rPr>
              <a:t>Tasks completed according to SOP</a:t>
            </a:r>
          </a:p>
        </p:txBody>
      </p:sp>
      <p:sp>
        <p:nvSpPr>
          <p:cNvPr id="11" name="모서리가 둥근 직사각형 10">
            <a:extLst>
              <a:ext uri="{FF2B5EF4-FFF2-40B4-BE49-F238E27FC236}">
                <a16:creationId xmlns:a16="http://schemas.microsoft.com/office/drawing/2014/main" id="{08920D8F-DB3C-40CF-A22D-46720A422D61}"/>
              </a:ext>
            </a:extLst>
          </p:cNvPr>
          <p:cNvSpPr>
            <a:spLocks noGrp="1"/>
          </p:cNvSpPr>
          <p:nvPr/>
        </p:nvSpPr>
        <p:spPr>
          <a:xfrm>
            <a:off x="7886700" y="175260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8BEBD680-3FE7-4F8C-8DF4-255A1358169A}"/>
              </a:ext>
            </a:extLst>
          </p:cNvPr>
          <p:cNvSpPr>
            <a:spLocks noGrp="1"/>
          </p:cNvSpPr>
          <p:nvPr/>
        </p:nvSpPr>
        <p:spPr>
          <a:xfrm>
            <a:off x="8115300" y="196215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HEALTH</a:t>
            </a:r>
          </a:p>
        </p:txBody>
      </p:sp>
      <p:sp>
        <p:nvSpPr>
          <p:cNvPr id="13" name="직사각형 12">
            <a:extLst>
              <a:ext uri="{FF2B5EF4-FFF2-40B4-BE49-F238E27FC236}">
                <a16:creationId xmlns:a16="http://schemas.microsoft.com/office/drawing/2014/main" id="{703DA19F-1416-4E4F-A449-D4E6289009EA}"/>
              </a:ext>
            </a:extLst>
          </p:cNvPr>
          <p:cNvSpPr>
            <a:spLocks noGrp="1"/>
          </p:cNvSpPr>
          <p:nvPr/>
        </p:nvSpPr>
        <p:spPr>
          <a:xfrm>
            <a:off x="8115300" y="240030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rPr>
              <a:t>Early checks and repeat cases</a:t>
            </a:r>
          </a:p>
        </p:txBody>
      </p:sp>
      <p:sp>
        <p:nvSpPr>
          <p:cNvPr id="14" name="모서리가 둥근 직사각형 13">
            <a:extLst>
              <a:ext uri="{FF2B5EF4-FFF2-40B4-BE49-F238E27FC236}">
                <a16:creationId xmlns:a16="http://schemas.microsoft.com/office/drawing/2014/main" id="{1F75FEAD-49BA-4FCA-BD47-55480E162EF0}"/>
              </a:ext>
            </a:extLst>
          </p:cNvPr>
          <p:cNvSpPr>
            <a:spLocks noGrp="1"/>
          </p:cNvSpPr>
          <p:nvPr/>
        </p:nvSpPr>
        <p:spPr>
          <a:xfrm>
            <a:off x="685800" y="356235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4A024307-00B5-4053-A749-55536B3AA1C4}"/>
              </a:ext>
            </a:extLst>
          </p:cNvPr>
          <p:cNvSpPr>
            <a:spLocks noGrp="1"/>
          </p:cNvSpPr>
          <p:nvPr/>
        </p:nvSpPr>
        <p:spPr>
          <a:xfrm>
            <a:off x="914400" y="377190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REPRO</a:t>
            </a:r>
          </a:p>
        </p:txBody>
      </p:sp>
      <p:sp>
        <p:nvSpPr>
          <p:cNvPr id="16" name="직사각형 15">
            <a:extLst>
              <a:ext uri="{FF2B5EF4-FFF2-40B4-BE49-F238E27FC236}">
                <a16:creationId xmlns:a16="http://schemas.microsoft.com/office/drawing/2014/main" id="{6B0C608C-2CC3-48B1-B225-AADA666846CE}"/>
              </a:ext>
            </a:extLst>
          </p:cNvPr>
          <p:cNvSpPr>
            <a:spLocks noGrp="1"/>
          </p:cNvSpPr>
          <p:nvPr/>
        </p:nvSpPr>
        <p:spPr>
          <a:xfrm>
            <a:off x="914400" y="421005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rPr>
              <a:t>Heat → insemination → result</a:t>
            </a:r>
          </a:p>
        </p:txBody>
      </p:sp>
      <p:sp>
        <p:nvSpPr>
          <p:cNvPr id="17" name="모서리가 둥근 직사각형 16">
            <a:extLst>
              <a:ext uri="{FF2B5EF4-FFF2-40B4-BE49-F238E27FC236}">
                <a16:creationId xmlns:a16="http://schemas.microsoft.com/office/drawing/2014/main" id="{48D84633-3286-4F71-9117-7CE74664FE73}"/>
              </a:ext>
            </a:extLst>
          </p:cNvPr>
          <p:cNvSpPr>
            <a:spLocks noGrp="1"/>
          </p:cNvSpPr>
          <p:nvPr/>
        </p:nvSpPr>
        <p:spPr>
          <a:xfrm>
            <a:off x="4286250" y="356235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518DBF5D-76BB-4CD5-9264-399BD6387A34}"/>
              </a:ext>
            </a:extLst>
          </p:cNvPr>
          <p:cNvSpPr>
            <a:spLocks noGrp="1"/>
          </p:cNvSpPr>
          <p:nvPr/>
        </p:nvSpPr>
        <p:spPr>
          <a:xfrm>
            <a:off x="4514850" y="377190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FEEDING</a:t>
            </a:r>
          </a:p>
        </p:txBody>
      </p:sp>
      <p:sp>
        <p:nvSpPr>
          <p:cNvPr id="19" name="직사각형 18">
            <a:extLst>
              <a:ext uri="{FF2B5EF4-FFF2-40B4-BE49-F238E27FC236}">
                <a16:creationId xmlns:a16="http://schemas.microsoft.com/office/drawing/2014/main" id="{9DB8F042-6E8D-4931-8E62-4AF6BB564D39}"/>
              </a:ext>
            </a:extLst>
          </p:cNvPr>
          <p:cNvSpPr>
            <a:spLocks noGrp="1"/>
          </p:cNvSpPr>
          <p:nvPr/>
        </p:nvSpPr>
        <p:spPr>
          <a:xfrm>
            <a:off x="4514850" y="421005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rPr>
              <a:t>Group trends and ration events</a:t>
            </a:r>
          </a:p>
        </p:txBody>
      </p:sp>
      <p:sp>
        <p:nvSpPr>
          <p:cNvPr id="20" name="모서리가 둥근 직사각형 19">
            <a:extLst>
              <a:ext uri="{FF2B5EF4-FFF2-40B4-BE49-F238E27FC236}">
                <a16:creationId xmlns:a16="http://schemas.microsoft.com/office/drawing/2014/main" id="{39460E52-8644-4155-B930-C402B4E7C34D}"/>
              </a:ext>
            </a:extLst>
          </p:cNvPr>
          <p:cNvSpPr>
            <a:spLocks noGrp="1"/>
          </p:cNvSpPr>
          <p:nvPr/>
        </p:nvSpPr>
        <p:spPr>
          <a:xfrm>
            <a:off x="7886700" y="356235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21" name="직사각형 20">
            <a:extLst>
              <a:ext uri="{FF2B5EF4-FFF2-40B4-BE49-F238E27FC236}">
                <a16:creationId xmlns:a16="http://schemas.microsoft.com/office/drawing/2014/main" id="{6C9B2E90-4B7C-4F53-8758-ABA12133A917}"/>
              </a:ext>
            </a:extLst>
          </p:cNvPr>
          <p:cNvSpPr>
            <a:spLocks noGrp="1"/>
          </p:cNvSpPr>
          <p:nvPr/>
        </p:nvSpPr>
        <p:spPr>
          <a:xfrm>
            <a:off x="8115300" y="377190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DATA</a:t>
            </a:r>
          </a:p>
        </p:txBody>
      </p:sp>
      <p:sp>
        <p:nvSpPr>
          <p:cNvPr id="22" name="직사각형 21">
            <a:extLst>
              <a:ext uri="{FF2B5EF4-FFF2-40B4-BE49-F238E27FC236}">
                <a16:creationId xmlns:a16="http://schemas.microsoft.com/office/drawing/2014/main" id="{799BB975-F114-4530-8489-C3D88C8A0D60}"/>
              </a:ext>
            </a:extLst>
          </p:cNvPr>
          <p:cNvSpPr>
            <a:spLocks noGrp="1"/>
          </p:cNvSpPr>
          <p:nvPr/>
        </p:nvSpPr>
        <p:spPr>
          <a:xfrm>
            <a:off x="8115300" y="421005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rPr>
              <a:t>Bolus, base station and event-record quality</a:t>
            </a:r>
          </a:p>
        </p:txBody>
      </p:sp>
      <p:sp>
        <p:nvSpPr>
          <p:cNvPr id="23" name="직사각형 22">
            <a:extLst>
              <a:ext uri="{FF2B5EF4-FFF2-40B4-BE49-F238E27FC236}">
                <a16:creationId xmlns:a16="http://schemas.microsoft.com/office/drawing/2014/main" id="{6364785A-40CD-40EC-9C97-B2674E37638C}"/>
              </a:ext>
            </a:extLst>
          </p:cNvPr>
          <p:cNvSpPr>
            <a:spLocks noGrp="1"/>
          </p:cNvSpPr>
          <p:nvPr/>
        </p:nvSpPr>
        <p:spPr>
          <a:xfrm>
            <a:off x="685800" y="5429250"/>
            <a:ext cx="10820400" cy="285750"/>
          </a:xfrm>
          <a:prstGeom prst="rect">
            <a:avLst/>
          </a:prstGeom>
          <a:noFill/>
          <a:ln w="0">
            <a:noFill/>
            <a:prstDash val="solid"/>
          </a:ln>
        </p:spPr>
        <p:txBody>
          <a:bodyPr/>
          <a:lstStyle/>
          <a:p>
            <a:pPr algn="ctr">
              <a:buNone/>
              <a:defRPr sz="1575" b="1">
                <a:solidFill>
                  <a:srgbClr val="15A98C"/>
                </a:solidFill>
              </a:defRPr>
            </a:pPr>
            <a:r>
              <a:rPr sz="1575" b="1">
                <a:solidFill>
                  <a:srgbClr val="15A98C"/>
                </a:solidFill>
              </a:rPr>
              <a:t>Measure the baseline → set a target → review weekly</a:t>
            </a:r>
          </a:p>
        </p:txBody>
      </p:sp>
    </p:spTree>
    <p:extLst>
      <p:ext uri="{BB962C8B-B14F-4D97-AF65-F5344CB8AC3E}">
        <p14:creationId xmlns:p14="http://schemas.microsoft.com/office/powerpoint/2010/main" val="1698215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4C67A8ED-A47D-490A-A1D0-AFE80451BDBB}"/>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CUSTOMER SERVICE</a:t>
            </a:r>
          </a:p>
        </p:txBody>
      </p:sp>
      <p:sp>
        <p:nvSpPr>
          <p:cNvPr id="2" name="직사각형 1">
            <a:extLst>
              <a:ext uri="{FF2B5EF4-FFF2-40B4-BE49-F238E27FC236}">
                <a16:creationId xmlns:a16="http://schemas.microsoft.com/office/drawing/2014/main" id="{05A9E47F-455B-466C-9D26-79544D0E4207}"/>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Evidence helps customer service solve problems faster</a:t>
            </a:r>
          </a:p>
        </p:txBody>
      </p:sp>
      <p:sp>
        <p:nvSpPr>
          <p:cNvPr id="3" name="직사각형 2">
            <a:extLst>
              <a:ext uri="{FF2B5EF4-FFF2-40B4-BE49-F238E27FC236}">
                <a16:creationId xmlns:a16="http://schemas.microsoft.com/office/drawing/2014/main" id="{B14874AB-E2CE-42F3-BE20-BFE598C471C5}"/>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D76E0B52-AC93-4CFE-BE89-6C236494CC21}"/>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32</a:t>
            </a:r>
          </a:p>
        </p:txBody>
      </p:sp>
      <p:sp>
        <p:nvSpPr>
          <p:cNvPr id="5" name="모서리가 둥근 직사각형 4">
            <a:extLst>
              <a:ext uri="{FF2B5EF4-FFF2-40B4-BE49-F238E27FC236}">
                <a16:creationId xmlns:a16="http://schemas.microsoft.com/office/drawing/2014/main" id="{C923175D-43F6-4149-9B87-2FDE38AB063A}"/>
              </a:ext>
            </a:extLst>
          </p:cNvPr>
          <p:cNvSpPr>
            <a:spLocks noGrp="1"/>
          </p:cNvSpPr>
          <p:nvPr/>
        </p:nvSpPr>
        <p:spPr>
          <a:xfrm>
            <a:off x="685800" y="1638300"/>
            <a:ext cx="10820400" cy="647700"/>
          </a:xfrm>
          <a:prstGeom prst="roundRect">
            <a:avLst>
              <a:gd name="adj" fmla="val 17647"/>
            </a:avLst>
          </a:prstGeom>
          <a:solidFill>
            <a:srgbClr val="ECF1EE"/>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A59D3DD1-9206-4C3E-BEF3-21D41C6996B0}"/>
              </a:ext>
            </a:extLst>
          </p:cNvPr>
          <p:cNvSpPr>
            <a:spLocks noGrp="1"/>
          </p:cNvSpPr>
          <p:nvPr/>
        </p:nvSpPr>
        <p:spPr>
          <a:xfrm>
            <a:off x="895350" y="18002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rPr>
              <a:t>1</a:t>
            </a:r>
          </a:p>
        </p:txBody>
      </p:sp>
      <p:sp>
        <p:nvSpPr>
          <p:cNvPr id="7" name="직사각형 6">
            <a:extLst>
              <a:ext uri="{FF2B5EF4-FFF2-40B4-BE49-F238E27FC236}">
                <a16:creationId xmlns:a16="http://schemas.microsoft.com/office/drawing/2014/main" id="{22196847-3EA1-4DFA-970B-4AD1C40F21B4}"/>
              </a:ext>
            </a:extLst>
          </p:cNvPr>
          <p:cNvSpPr>
            <a:spLocks noGrp="1"/>
          </p:cNvSpPr>
          <p:nvPr/>
        </p:nvSpPr>
        <p:spPr>
          <a:xfrm>
            <a:off x="1447800" y="18002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FARM</a:t>
            </a:r>
          </a:p>
        </p:txBody>
      </p:sp>
      <p:sp>
        <p:nvSpPr>
          <p:cNvPr id="8" name="직사각형 7">
            <a:extLst>
              <a:ext uri="{FF2B5EF4-FFF2-40B4-BE49-F238E27FC236}">
                <a16:creationId xmlns:a16="http://schemas.microsoft.com/office/drawing/2014/main" id="{57C204BA-4E4E-4675-AD23-3F1E2E799A73}"/>
              </a:ext>
            </a:extLst>
          </p:cNvPr>
          <p:cNvSpPr>
            <a:spLocks noGrp="1"/>
          </p:cNvSpPr>
          <p:nvPr/>
        </p:nvSpPr>
        <p:spPr>
          <a:xfrm>
            <a:off x="4095750" y="18002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Issue, time, animal/group ID</a:t>
            </a:r>
          </a:p>
        </p:txBody>
      </p:sp>
      <p:sp>
        <p:nvSpPr>
          <p:cNvPr id="9" name="모서리가 둥근 직사각형 8">
            <a:extLst>
              <a:ext uri="{FF2B5EF4-FFF2-40B4-BE49-F238E27FC236}">
                <a16:creationId xmlns:a16="http://schemas.microsoft.com/office/drawing/2014/main" id="{957D9589-177B-4765-B64B-D3BB3A104673}"/>
              </a:ext>
            </a:extLst>
          </p:cNvPr>
          <p:cNvSpPr>
            <a:spLocks noGrp="1"/>
          </p:cNvSpPr>
          <p:nvPr/>
        </p:nvSpPr>
        <p:spPr>
          <a:xfrm>
            <a:off x="685800" y="2438400"/>
            <a:ext cx="10820400" cy="647700"/>
          </a:xfrm>
          <a:prstGeom prst="roundRect">
            <a:avLst>
              <a:gd name="adj" fmla="val 17647"/>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97E52150-6DAD-4EEB-BC8F-AE30006FA090}"/>
              </a:ext>
            </a:extLst>
          </p:cNvPr>
          <p:cNvSpPr>
            <a:spLocks noGrp="1"/>
          </p:cNvSpPr>
          <p:nvPr/>
        </p:nvSpPr>
        <p:spPr>
          <a:xfrm>
            <a:off x="895350" y="26003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rPr>
              <a:t>2</a:t>
            </a:r>
          </a:p>
        </p:txBody>
      </p:sp>
      <p:sp>
        <p:nvSpPr>
          <p:cNvPr id="11" name="직사각형 10">
            <a:extLst>
              <a:ext uri="{FF2B5EF4-FFF2-40B4-BE49-F238E27FC236}">
                <a16:creationId xmlns:a16="http://schemas.microsoft.com/office/drawing/2014/main" id="{DA2ED382-6A56-4D42-BC1D-89FD994AD076}"/>
              </a:ext>
            </a:extLst>
          </p:cNvPr>
          <p:cNvSpPr>
            <a:spLocks noGrp="1"/>
          </p:cNvSpPr>
          <p:nvPr/>
        </p:nvSpPr>
        <p:spPr>
          <a:xfrm>
            <a:off x="1447800" y="26003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FIRST CHECK</a:t>
            </a:r>
          </a:p>
        </p:txBody>
      </p:sp>
      <p:sp>
        <p:nvSpPr>
          <p:cNvPr id="12" name="직사각형 11">
            <a:extLst>
              <a:ext uri="{FF2B5EF4-FFF2-40B4-BE49-F238E27FC236}">
                <a16:creationId xmlns:a16="http://schemas.microsoft.com/office/drawing/2014/main" id="{A6B7E833-C09A-4B45-A120-2CBAD3C01F10}"/>
              </a:ext>
            </a:extLst>
          </p:cNvPr>
          <p:cNvSpPr>
            <a:spLocks noGrp="1"/>
          </p:cNvSpPr>
          <p:nvPr/>
        </p:nvSpPr>
        <p:spPr>
          <a:xfrm>
            <a:off x="4095750" y="26003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Power, connection, base station, app</a:t>
            </a:r>
          </a:p>
        </p:txBody>
      </p:sp>
      <p:sp>
        <p:nvSpPr>
          <p:cNvPr id="13" name="모서리가 둥근 직사각형 12">
            <a:extLst>
              <a:ext uri="{FF2B5EF4-FFF2-40B4-BE49-F238E27FC236}">
                <a16:creationId xmlns:a16="http://schemas.microsoft.com/office/drawing/2014/main" id="{0DFAF8A9-761E-47F5-BF4A-1A834BE64D74}"/>
              </a:ext>
            </a:extLst>
          </p:cNvPr>
          <p:cNvSpPr>
            <a:spLocks noGrp="1"/>
          </p:cNvSpPr>
          <p:nvPr/>
        </p:nvSpPr>
        <p:spPr>
          <a:xfrm>
            <a:off x="685800" y="3238500"/>
            <a:ext cx="10820400" cy="647700"/>
          </a:xfrm>
          <a:prstGeom prst="roundRect">
            <a:avLst>
              <a:gd name="adj" fmla="val 17647"/>
            </a:avLst>
          </a:prstGeom>
          <a:solidFill>
            <a:srgbClr val="ECF1EE"/>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6824DA03-FFC6-41F3-AD36-F65A158BC4D1}"/>
              </a:ext>
            </a:extLst>
          </p:cNvPr>
          <p:cNvSpPr>
            <a:spLocks noGrp="1"/>
          </p:cNvSpPr>
          <p:nvPr/>
        </p:nvSpPr>
        <p:spPr>
          <a:xfrm>
            <a:off x="895350" y="34004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rPr>
              <a:t>3</a:t>
            </a:r>
          </a:p>
        </p:txBody>
      </p:sp>
      <p:sp>
        <p:nvSpPr>
          <p:cNvPr id="15" name="직사각형 14">
            <a:extLst>
              <a:ext uri="{FF2B5EF4-FFF2-40B4-BE49-F238E27FC236}">
                <a16:creationId xmlns:a16="http://schemas.microsoft.com/office/drawing/2014/main" id="{F07D25B1-F50C-4ACE-BC0C-757421F63868}"/>
              </a:ext>
            </a:extLst>
          </p:cNvPr>
          <p:cNvSpPr>
            <a:spLocks noGrp="1"/>
          </p:cNvSpPr>
          <p:nvPr/>
        </p:nvSpPr>
        <p:spPr>
          <a:xfrm>
            <a:off x="1447800" y="34004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EVIDENCE PACKAGE</a:t>
            </a:r>
          </a:p>
        </p:txBody>
      </p:sp>
      <p:sp>
        <p:nvSpPr>
          <p:cNvPr id="16" name="직사각형 15">
            <a:extLst>
              <a:ext uri="{FF2B5EF4-FFF2-40B4-BE49-F238E27FC236}">
                <a16:creationId xmlns:a16="http://schemas.microsoft.com/office/drawing/2014/main" id="{63340C96-882C-4A9C-881A-2303A78C10EA}"/>
              </a:ext>
            </a:extLst>
          </p:cNvPr>
          <p:cNvSpPr>
            <a:spLocks noGrp="1"/>
          </p:cNvSpPr>
          <p:nvPr/>
        </p:nvSpPr>
        <p:spPr>
          <a:xfrm>
            <a:off x="4095750" y="34004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Screenshot, graph range, event record</a:t>
            </a:r>
          </a:p>
        </p:txBody>
      </p:sp>
      <p:sp>
        <p:nvSpPr>
          <p:cNvPr id="17" name="모서리가 둥근 직사각형 16">
            <a:extLst>
              <a:ext uri="{FF2B5EF4-FFF2-40B4-BE49-F238E27FC236}">
                <a16:creationId xmlns:a16="http://schemas.microsoft.com/office/drawing/2014/main" id="{232F8FE7-ECAF-4C58-8DCE-076A8F24439A}"/>
              </a:ext>
            </a:extLst>
          </p:cNvPr>
          <p:cNvSpPr>
            <a:spLocks noGrp="1"/>
          </p:cNvSpPr>
          <p:nvPr/>
        </p:nvSpPr>
        <p:spPr>
          <a:xfrm>
            <a:off x="685800" y="4038600"/>
            <a:ext cx="10820400" cy="647700"/>
          </a:xfrm>
          <a:prstGeom prst="roundRect">
            <a:avLst>
              <a:gd name="adj" fmla="val 17647"/>
            </a:avLst>
          </a:prstGeom>
          <a:solidFill>
            <a:srgbClr val="65D44A"/>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EC24EF5E-077C-4426-894F-CDD02BA1E0C5}"/>
              </a:ext>
            </a:extLst>
          </p:cNvPr>
          <p:cNvSpPr>
            <a:spLocks noGrp="1"/>
          </p:cNvSpPr>
          <p:nvPr/>
        </p:nvSpPr>
        <p:spPr>
          <a:xfrm>
            <a:off x="895350" y="42005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rPr>
              <a:t>4</a:t>
            </a:r>
          </a:p>
        </p:txBody>
      </p:sp>
      <p:sp>
        <p:nvSpPr>
          <p:cNvPr id="19" name="직사각형 18">
            <a:extLst>
              <a:ext uri="{FF2B5EF4-FFF2-40B4-BE49-F238E27FC236}">
                <a16:creationId xmlns:a16="http://schemas.microsoft.com/office/drawing/2014/main" id="{8FEE8FB7-FEFC-4809-AA23-D921F3D5A413}"/>
              </a:ext>
            </a:extLst>
          </p:cNvPr>
          <p:cNvSpPr>
            <a:spLocks noGrp="1"/>
          </p:cNvSpPr>
          <p:nvPr/>
        </p:nvSpPr>
        <p:spPr>
          <a:xfrm>
            <a:off x="1447800" y="42005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ESCALATION</a:t>
            </a:r>
          </a:p>
        </p:txBody>
      </p:sp>
      <p:sp>
        <p:nvSpPr>
          <p:cNvPr id="20" name="직사각형 19">
            <a:extLst>
              <a:ext uri="{FF2B5EF4-FFF2-40B4-BE49-F238E27FC236}">
                <a16:creationId xmlns:a16="http://schemas.microsoft.com/office/drawing/2014/main" id="{B7DA7775-279D-48AF-9EB1-B027656D9592}"/>
              </a:ext>
            </a:extLst>
          </p:cNvPr>
          <p:cNvSpPr>
            <a:spLocks noGrp="1"/>
          </p:cNvSpPr>
          <p:nvPr/>
        </p:nvSpPr>
        <p:spPr>
          <a:xfrm>
            <a:off x="4095750" y="42005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Local partner / smaXtec Support</a:t>
            </a:r>
          </a:p>
        </p:txBody>
      </p:sp>
      <p:sp>
        <p:nvSpPr>
          <p:cNvPr id="21" name="모서리가 둥근 직사각형 20">
            <a:extLst>
              <a:ext uri="{FF2B5EF4-FFF2-40B4-BE49-F238E27FC236}">
                <a16:creationId xmlns:a16="http://schemas.microsoft.com/office/drawing/2014/main" id="{F429A3BA-F182-4DF2-B374-6C57164AEDB4}"/>
              </a:ext>
            </a:extLst>
          </p:cNvPr>
          <p:cNvSpPr>
            <a:spLocks noGrp="1"/>
          </p:cNvSpPr>
          <p:nvPr/>
        </p:nvSpPr>
        <p:spPr>
          <a:xfrm>
            <a:off x="685800" y="4838700"/>
            <a:ext cx="10820400" cy="647700"/>
          </a:xfrm>
          <a:prstGeom prst="roundRect">
            <a:avLst>
              <a:gd name="adj" fmla="val 17647"/>
            </a:avLst>
          </a:prstGeom>
          <a:solidFill>
            <a:srgbClr val="ECF1EE"/>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8AC6B855-5DC9-44A8-B3C9-36D0E72BB8EC}"/>
              </a:ext>
            </a:extLst>
          </p:cNvPr>
          <p:cNvSpPr>
            <a:spLocks noGrp="1"/>
          </p:cNvSpPr>
          <p:nvPr/>
        </p:nvSpPr>
        <p:spPr>
          <a:xfrm>
            <a:off x="895350" y="50006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rPr>
              <a:t>5</a:t>
            </a:r>
          </a:p>
        </p:txBody>
      </p:sp>
      <p:sp>
        <p:nvSpPr>
          <p:cNvPr id="23" name="직사각형 22">
            <a:extLst>
              <a:ext uri="{FF2B5EF4-FFF2-40B4-BE49-F238E27FC236}">
                <a16:creationId xmlns:a16="http://schemas.microsoft.com/office/drawing/2014/main" id="{C4CE059A-2039-4E45-BD78-2F54E02B2145}"/>
              </a:ext>
            </a:extLst>
          </p:cNvPr>
          <p:cNvSpPr>
            <a:spLocks noGrp="1"/>
          </p:cNvSpPr>
          <p:nvPr/>
        </p:nvSpPr>
        <p:spPr>
          <a:xfrm>
            <a:off x="1447800" y="50006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rPr>
              <a:t>CLOSURE</a:t>
            </a:r>
          </a:p>
        </p:txBody>
      </p:sp>
      <p:sp>
        <p:nvSpPr>
          <p:cNvPr id="24" name="직사각형 23">
            <a:extLst>
              <a:ext uri="{FF2B5EF4-FFF2-40B4-BE49-F238E27FC236}">
                <a16:creationId xmlns:a16="http://schemas.microsoft.com/office/drawing/2014/main" id="{FD16375A-841F-461D-A18B-B2D098C78C59}"/>
              </a:ext>
            </a:extLst>
          </p:cNvPr>
          <p:cNvSpPr>
            <a:spLocks noGrp="1"/>
          </p:cNvSpPr>
          <p:nvPr/>
        </p:nvSpPr>
        <p:spPr>
          <a:xfrm>
            <a:off x="4095750" y="50006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Cause, correction, prevention, confirmation</a:t>
            </a:r>
          </a:p>
        </p:txBody>
      </p:sp>
    </p:spTree>
    <p:extLst>
      <p:ext uri="{BB962C8B-B14F-4D97-AF65-F5344CB8AC3E}">
        <p14:creationId xmlns:p14="http://schemas.microsoft.com/office/powerpoint/2010/main" val="496362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2" name="직사각형 21">
            <a:extLst>
              <a:ext uri="{FF2B5EF4-FFF2-40B4-BE49-F238E27FC236}">
                <a16:creationId xmlns:a16="http://schemas.microsoft.com/office/drawing/2014/main" id="{BD453577-7AA1-4C44-93AB-AC83B2891A3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IMPLEMENTATION</a:t>
            </a:r>
          </a:p>
        </p:txBody>
      </p:sp>
      <p:sp>
        <p:nvSpPr>
          <p:cNvPr id="2" name="직사각형 1">
            <a:extLst>
              <a:ext uri="{FF2B5EF4-FFF2-40B4-BE49-F238E27FC236}">
                <a16:creationId xmlns:a16="http://schemas.microsoft.com/office/drawing/2014/main" id="{B55AEDD6-32F7-4710-A638-0898F2FF1D1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Embed the system into daily management in 30 days</a:t>
            </a:r>
          </a:p>
        </p:txBody>
      </p:sp>
      <p:sp>
        <p:nvSpPr>
          <p:cNvPr id="3" name="직사각형 2">
            <a:extLst>
              <a:ext uri="{FF2B5EF4-FFF2-40B4-BE49-F238E27FC236}">
                <a16:creationId xmlns:a16="http://schemas.microsoft.com/office/drawing/2014/main" id="{6E0770E5-F99C-47BB-888A-6CB115F2B25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B0A47846-6D0C-458E-83C9-14F8AAC94508}"/>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33</a:t>
            </a:r>
          </a:p>
        </p:txBody>
      </p:sp>
      <p:sp>
        <p:nvSpPr>
          <p:cNvPr id="5" name="모서리가 둥근 직사각형 4">
            <a:extLst>
              <a:ext uri="{FF2B5EF4-FFF2-40B4-BE49-F238E27FC236}">
                <a16:creationId xmlns:a16="http://schemas.microsoft.com/office/drawing/2014/main" id="{705B03AD-A4F3-4C5E-8D24-522605FFC240}"/>
              </a:ext>
            </a:extLst>
          </p:cNvPr>
          <p:cNvSpPr>
            <a:spLocks noGrp="1"/>
          </p:cNvSpPr>
          <p:nvPr/>
        </p:nvSpPr>
        <p:spPr>
          <a:xfrm>
            <a:off x="685800" y="1828800"/>
            <a:ext cx="2457450" cy="2781300"/>
          </a:xfrm>
          <a:prstGeom prst="roundRect">
            <a:avLst>
              <a:gd name="adj" fmla="val 6202"/>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6801548-3C2A-46D0-BC68-5FE3FB15BF15}"/>
              </a:ext>
            </a:extLst>
          </p:cNvPr>
          <p:cNvSpPr>
            <a:spLocks noGrp="1"/>
          </p:cNvSpPr>
          <p:nvPr/>
        </p:nvSpPr>
        <p:spPr>
          <a:xfrm>
            <a:off x="89535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WEEK 1</a:t>
            </a:r>
          </a:p>
        </p:txBody>
      </p:sp>
      <p:sp>
        <p:nvSpPr>
          <p:cNvPr id="7" name="직사각형 6">
            <a:extLst>
              <a:ext uri="{FF2B5EF4-FFF2-40B4-BE49-F238E27FC236}">
                <a16:creationId xmlns:a16="http://schemas.microsoft.com/office/drawing/2014/main" id="{DFC6FD9B-46AE-43B6-B32A-74D7141413BE}"/>
              </a:ext>
            </a:extLst>
          </p:cNvPr>
          <p:cNvSpPr>
            <a:spLocks noGrp="1"/>
          </p:cNvSpPr>
          <p:nvPr/>
        </p:nvSpPr>
        <p:spPr>
          <a:xfrm>
            <a:off x="89535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rPr>
              <a:t>Set up</a:t>
            </a:r>
          </a:p>
        </p:txBody>
      </p:sp>
      <p:sp>
        <p:nvSpPr>
          <p:cNvPr id="8" name="직사각형 7">
            <a:extLst>
              <a:ext uri="{FF2B5EF4-FFF2-40B4-BE49-F238E27FC236}">
                <a16:creationId xmlns:a16="http://schemas.microsoft.com/office/drawing/2014/main" id="{E13D2EDD-CA70-4144-A46A-5F4EEB957A21}"/>
              </a:ext>
            </a:extLst>
          </p:cNvPr>
          <p:cNvSpPr>
            <a:spLocks noGrp="1"/>
          </p:cNvSpPr>
          <p:nvPr/>
        </p:nvSpPr>
        <p:spPr>
          <a:xfrm>
            <a:off x="89535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Groups, roles, alerts, basic SOP</a:t>
            </a:r>
          </a:p>
        </p:txBody>
      </p:sp>
      <p:sp>
        <p:nvSpPr>
          <p:cNvPr id="9" name="모서리가 둥근 직사각형 8">
            <a:extLst>
              <a:ext uri="{FF2B5EF4-FFF2-40B4-BE49-F238E27FC236}">
                <a16:creationId xmlns:a16="http://schemas.microsoft.com/office/drawing/2014/main" id="{7D6AD7B7-914B-4BE3-9A58-AE5D9F7D8441}"/>
              </a:ext>
            </a:extLst>
          </p:cNvPr>
          <p:cNvSpPr>
            <a:spLocks noGrp="1"/>
          </p:cNvSpPr>
          <p:nvPr/>
        </p:nvSpPr>
        <p:spPr>
          <a:xfrm>
            <a:off x="3371850" y="1828800"/>
            <a:ext cx="2457450" cy="2781300"/>
          </a:xfrm>
          <a:prstGeom prst="roundRect">
            <a:avLst>
              <a:gd name="adj" fmla="val 6202"/>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36ED95CE-4D6C-4032-9626-6A621AB323DB}"/>
              </a:ext>
            </a:extLst>
          </p:cNvPr>
          <p:cNvSpPr>
            <a:spLocks noGrp="1"/>
          </p:cNvSpPr>
          <p:nvPr/>
        </p:nvSpPr>
        <p:spPr>
          <a:xfrm>
            <a:off x="358140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WEEK 2</a:t>
            </a:r>
          </a:p>
        </p:txBody>
      </p:sp>
      <p:sp>
        <p:nvSpPr>
          <p:cNvPr id="11" name="직사각형 10">
            <a:extLst>
              <a:ext uri="{FF2B5EF4-FFF2-40B4-BE49-F238E27FC236}">
                <a16:creationId xmlns:a16="http://schemas.microsoft.com/office/drawing/2014/main" id="{2C3304A8-69DE-40FA-98C1-FFD457A057D4}"/>
              </a:ext>
            </a:extLst>
          </p:cNvPr>
          <p:cNvSpPr>
            <a:spLocks noGrp="1"/>
          </p:cNvSpPr>
          <p:nvPr/>
        </p:nvSpPr>
        <p:spPr>
          <a:xfrm>
            <a:off x="358140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rPr>
              <a:t>Train</a:t>
            </a:r>
          </a:p>
        </p:txBody>
      </p:sp>
      <p:sp>
        <p:nvSpPr>
          <p:cNvPr id="12" name="직사각형 11">
            <a:extLst>
              <a:ext uri="{FF2B5EF4-FFF2-40B4-BE49-F238E27FC236}">
                <a16:creationId xmlns:a16="http://schemas.microsoft.com/office/drawing/2014/main" id="{2BC6D3BB-8278-475A-BC7C-7963C4154CE5}"/>
              </a:ext>
            </a:extLst>
          </p:cNvPr>
          <p:cNvSpPr>
            <a:spLocks noGrp="1"/>
          </p:cNvSpPr>
          <p:nvPr/>
        </p:nvSpPr>
        <p:spPr>
          <a:xfrm>
            <a:off x="358140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Graphs, triage, records, handover</a:t>
            </a:r>
          </a:p>
        </p:txBody>
      </p:sp>
      <p:sp>
        <p:nvSpPr>
          <p:cNvPr id="13" name="모서리가 둥근 직사각형 12">
            <a:extLst>
              <a:ext uri="{FF2B5EF4-FFF2-40B4-BE49-F238E27FC236}">
                <a16:creationId xmlns:a16="http://schemas.microsoft.com/office/drawing/2014/main" id="{42893184-0389-45C5-B9D2-0853390629A9}"/>
              </a:ext>
            </a:extLst>
          </p:cNvPr>
          <p:cNvSpPr>
            <a:spLocks noGrp="1"/>
          </p:cNvSpPr>
          <p:nvPr/>
        </p:nvSpPr>
        <p:spPr>
          <a:xfrm>
            <a:off x="6057900" y="1828800"/>
            <a:ext cx="2457450" cy="2781300"/>
          </a:xfrm>
          <a:prstGeom prst="roundRect">
            <a:avLst>
              <a:gd name="adj" fmla="val 6202"/>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9F776E04-B2EB-4ADA-8C18-B012CCADC80C}"/>
              </a:ext>
            </a:extLst>
          </p:cNvPr>
          <p:cNvSpPr>
            <a:spLocks noGrp="1"/>
          </p:cNvSpPr>
          <p:nvPr/>
        </p:nvSpPr>
        <p:spPr>
          <a:xfrm>
            <a:off x="626745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WEEK 3</a:t>
            </a:r>
          </a:p>
        </p:txBody>
      </p:sp>
      <p:sp>
        <p:nvSpPr>
          <p:cNvPr id="15" name="직사각형 14">
            <a:extLst>
              <a:ext uri="{FF2B5EF4-FFF2-40B4-BE49-F238E27FC236}">
                <a16:creationId xmlns:a16="http://schemas.microsoft.com/office/drawing/2014/main" id="{49DCC4F0-E996-48AB-B542-B3FA6FC0B1A6}"/>
              </a:ext>
            </a:extLst>
          </p:cNvPr>
          <p:cNvSpPr>
            <a:spLocks noGrp="1"/>
          </p:cNvSpPr>
          <p:nvPr/>
        </p:nvSpPr>
        <p:spPr>
          <a:xfrm>
            <a:off x="626745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rPr>
              <a:t>Observe</a:t>
            </a:r>
          </a:p>
        </p:txBody>
      </p:sp>
      <p:sp>
        <p:nvSpPr>
          <p:cNvPr id="16" name="직사각형 15">
            <a:extLst>
              <a:ext uri="{FF2B5EF4-FFF2-40B4-BE49-F238E27FC236}">
                <a16:creationId xmlns:a16="http://schemas.microsoft.com/office/drawing/2014/main" id="{231E05F0-1AF3-4AFC-BE1E-B9D1AE99DBAE}"/>
              </a:ext>
            </a:extLst>
          </p:cNvPr>
          <p:cNvSpPr>
            <a:spLocks noGrp="1"/>
          </p:cNvSpPr>
          <p:nvPr/>
        </p:nvSpPr>
        <p:spPr>
          <a:xfrm>
            <a:off x="626745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Response time, open tasks, data quality</a:t>
            </a:r>
          </a:p>
        </p:txBody>
      </p:sp>
      <p:sp>
        <p:nvSpPr>
          <p:cNvPr id="17" name="모서리가 둥근 직사각형 16">
            <a:extLst>
              <a:ext uri="{FF2B5EF4-FFF2-40B4-BE49-F238E27FC236}">
                <a16:creationId xmlns:a16="http://schemas.microsoft.com/office/drawing/2014/main" id="{A03E1363-8681-4E50-BF3F-8AFBA3940A6C}"/>
              </a:ext>
            </a:extLst>
          </p:cNvPr>
          <p:cNvSpPr>
            <a:spLocks noGrp="1"/>
          </p:cNvSpPr>
          <p:nvPr/>
        </p:nvSpPr>
        <p:spPr>
          <a:xfrm>
            <a:off x="8743950" y="1828800"/>
            <a:ext cx="2457450" cy="2781300"/>
          </a:xfrm>
          <a:prstGeom prst="roundRect">
            <a:avLst>
              <a:gd name="adj" fmla="val 6202"/>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15D8B8A5-8714-415F-8CD8-728D1861EEC3}"/>
              </a:ext>
            </a:extLst>
          </p:cNvPr>
          <p:cNvSpPr>
            <a:spLocks noGrp="1"/>
          </p:cNvSpPr>
          <p:nvPr/>
        </p:nvSpPr>
        <p:spPr>
          <a:xfrm>
            <a:off x="895350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rPr>
              <a:t>WEEK 4</a:t>
            </a:r>
          </a:p>
        </p:txBody>
      </p:sp>
      <p:sp>
        <p:nvSpPr>
          <p:cNvPr id="19" name="직사각형 18">
            <a:extLst>
              <a:ext uri="{FF2B5EF4-FFF2-40B4-BE49-F238E27FC236}">
                <a16:creationId xmlns:a16="http://schemas.microsoft.com/office/drawing/2014/main" id="{0ECE057C-B8C4-408E-8C0E-298EFEBC1B73}"/>
              </a:ext>
            </a:extLst>
          </p:cNvPr>
          <p:cNvSpPr>
            <a:spLocks noGrp="1"/>
          </p:cNvSpPr>
          <p:nvPr/>
        </p:nvSpPr>
        <p:spPr>
          <a:xfrm>
            <a:off x="895350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rPr>
              <a:t>Improve</a:t>
            </a:r>
          </a:p>
        </p:txBody>
      </p:sp>
      <p:sp>
        <p:nvSpPr>
          <p:cNvPr id="20" name="직사각형 19">
            <a:extLst>
              <a:ext uri="{FF2B5EF4-FFF2-40B4-BE49-F238E27FC236}">
                <a16:creationId xmlns:a16="http://schemas.microsoft.com/office/drawing/2014/main" id="{9224F303-61A4-4BCA-A242-40C1007FE3D4}"/>
              </a:ext>
            </a:extLst>
          </p:cNvPr>
          <p:cNvSpPr>
            <a:spLocks noGrp="1"/>
          </p:cNvSpPr>
          <p:nvPr/>
        </p:nvSpPr>
        <p:spPr>
          <a:xfrm>
            <a:off x="895350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rPr>
              <a:t>Review unnecessary alerts, roles, thresholds and SOPs</a:t>
            </a:r>
          </a:p>
        </p:txBody>
      </p:sp>
      <p:sp>
        <p:nvSpPr>
          <p:cNvPr id="21" name="직사각형 20">
            <a:extLst>
              <a:ext uri="{FF2B5EF4-FFF2-40B4-BE49-F238E27FC236}">
                <a16:creationId xmlns:a16="http://schemas.microsoft.com/office/drawing/2014/main" id="{F7879EC5-8284-4ECB-80F9-321A49A388D0}"/>
              </a:ext>
            </a:extLst>
          </p:cNvPr>
          <p:cNvSpPr>
            <a:spLocks noGrp="1"/>
          </p:cNvSpPr>
          <p:nvPr/>
        </p:nvSpPr>
        <p:spPr>
          <a:xfrm>
            <a:off x="685800" y="5238750"/>
            <a:ext cx="10820400" cy="419100"/>
          </a:xfrm>
          <a:prstGeom prst="rect">
            <a:avLst/>
          </a:prstGeom>
          <a:noFill/>
          <a:ln w="0">
            <a:noFill/>
            <a:prstDash val="solid"/>
          </a:ln>
        </p:spPr>
        <p:txBody>
          <a:bodyPr/>
          <a:lstStyle/>
          <a:p>
            <a:pPr algn="ctr">
              <a:buNone/>
              <a:defRPr sz="1800" b="1">
                <a:solidFill>
                  <a:srgbClr val="15A98C"/>
                </a:solidFill>
              </a:defRPr>
            </a:pPr>
            <a:r>
              <a:rPr sz="1800" b="1">
                <a:solidFill>
                  <a:srgbClr val="15A98C"/>
                </a:solidFill>
              </a:rPr>
              <a:t>Ask weekly: which alerts became actions—and which did not?</a:t>
            </a:r>
          </a:p>
        </p:txBody>
      </p:sp>
    </p:spTree>
    <p:extLst>
      <p:ext uri="{BB962C8B-B14F-4D97-AF65-F5344CB8AC3E}">
        <p14:creationId xmlns:p14="http://schemas.microsoft.com/office/powerpoint/2010/main" val="1080435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760320D5-1E71-4E47-8BBA-46619BCE11E1}"/>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65D44A"/>
                </a:solidFill>
              </a:defRPr>
            </a:pPr>
            <a:r>
              <a:rPr sz="1050" b="1">
                <a:solidFill>
                  <a:srgbClr val="65D44A"/>
                </a:solidFill>
              </a:rPr>
              <a:t>KEY TAKEAWAYS</a:t>
            </a:r>
          </a:p>
        </p:txBody>
      </p:sp>
      <p:sp>
        <p:nvSpPr>
          <p:cNvPr id="2" name="직사각형 1">
            <a:extLst>
              <a:ext uri="{FF2B5EF4-FFF2-40B4-BE49-F238E27FC236}">
                <a16:creationId xmlns:a16="http://schemas.microsoft.com/office/drawing/2014/main" id="{2A180481-8CC4-478A-AEC1-47A927F567E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FFFFFF"/>
                </a:solidFill>
              </a:defRPr>
            </a:pPr>
            <a:r>
              <a:rPr sz="3000" b="1">
                <a:solidFill>
                  <a:srgbClr val="FFFFFF"/>
                </a:solidFill>
              </a:rPr>
              <a:t>Three habits connect every function</a:t>
            </a:r>
          </a:p>
        </p:txBody>
      </p:sp>
      <p:sp>
        <p:nvSpPr>
          <p:cNvPr id="3" name="직사각형 2">
            <a:extLst>
              <a:ext uri="{FF2B5EF4-FFF2-40B4-BE49-F238E27FC236}">
                <a16:creationId xmlns:a16="http://schemas.microsoft.com/office/drawing/2014/main" id="{7AAA04C1-2775-4098-918E-7A50C512D46F}"/>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rPr>
              <a:t>smaXtec × CowTalk | Universal training material</a:t>
            </a:r>
          </a:p>
        </p:txBody>
      </p:sp>
      <p:sp>
        <p:nvSpPr>
          <p:cNvPr id="4" name="직사각형 3">
            <a:extLst>
              <a:ext uri="{FF2B5EF4-FFF2-40B4-BE49-F238E27FC236}">
                <a16:creationId xmlns:a16="http://schemas.microsoft.com/office/drawing/2014/main" id="{7005FA33-6E95-4147-8250-E747B01B6A4F}"/>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rPr>
              <a:t>34</a:t>
            </a:r>
          </a:p>
        </p:txBody>
      </p:sp>
      <p:sp>
        <p:nvSpPr>
          <p:cNvPr id="5" name="모서리가 둥근 직사각형 4">
            <a:extLst>
              <a:ext uri="{FF2B5EF4-FFF2-40B4-BE49-F238E27FC236}">
                <a16:creationId xmlns:a16="http://schemas.microsoft.com/office/drawing/2014/main" id="{F8BB3F71-D427-497D-95FE-93F15FD37B63}"/>
              </a:ext>
            </a:extLst>
          </p:cNvPr>
          <p:cNvSpPr>
            <a:spLocks noGrp="1"/>
          </p:cNvSpPr>
          <p:nvPr/>
        </p:nvSpPr>
        <p:spPr>
          <a:xfrm>
            <a:off x="685800" y="1962150"/>
            <a:ext cx="3333750" cy="2724150"/>
          </a:xfrm>
          <a:prstGeom prst="roundRect">
            <a:avLst>
              <a:gd name="adj" fmla="val 5594"/>
            </a:avLst>
          </a:prstGeom>
          <a:solidFill>
            <a:srgbClr val="17342B"/>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88142B71-6983-4F64-A71F-00ED9EA0E8BE}"/>
              </a:ext>
            </a:extLst>
          </p:cNvPr>
          <p:cNvSpPr>
            <a:spLocks noGrp="1"/>
          </p:cNvSpPr>
          <p:nvPr/>
        </p:nvSpPr>
        <p:spPr>
          <a:xfrm>
            <a:off x="952500" y="2209800"/>
            <a:ext cx="571500" cy="571500"/>
          </a:xfrm>
          <a:prstGeom prst="rect">
            <a:avLst/>
          </a:prstGeom>
          <a:noFill/>
          <a:ln w="0">
            <a:noFill/>
            <a:prstDash val="solid"/>
          </a:ln>
        </p:spPr>
        <p:txBody>
          <a:bodyPr/>
          <a:lstStyle/>
          <a:p>
            <a:pPr algn="l">
              <a:buNone/>
              <a:defRPr sz="3150" b="1">
                <a:solidFill>
                  <a:srgbClr val="65D44A"/>
                </a:solidFill>
              </a:defRPr>
            </a:pPr>
            <a:r>
              <a:rPr sz="3150" b="1">
                <a:solidFill>
                  <a:srgbClr val="65D44A"/>
                </a:solidFill>
              </a:rPr>
              <a:t>1</a:t>
            </a:r>
          </a:p>
        </p:txBody>
      </p:sp>
      <p:sp>
        <p:nvSpPr>
          <p:cNvPr id="7" name="직사각형 6">
            <a:extLst>
              <a:ext uri="{FF2B5EF4-FFF2-40B4-BE49-F238E27FC236}">
                <a16:creationId xmlns:a16="http://schemas.microsoft.com/office/drawing/2014/main" id="{FE5D00BC-DFA6-471F-9F89-873D6D7C3E40}"/>
              </a:ext>
            </a:extLst>
          </p:cNvPr>
          <p:cNvSpPr>
            <a:spLocks noGrp="1"/>
          </p:cNvSpPr>
          <p:nvPr/>
        </p:nvSpPr>
        <p:spPr>
          <a:xfrm>
            <a:off x="952500" y="3105150"/>
            <a:ext cx="2800350" cy="438150"/>
          </a:xfrm>
          <a:prstGeom prst="rect">
            <a:avLst/>
          </a:prstGeom>
          <a:noFill/>
          <a:ln w="0">
            <a:noFill/>
            <a:prstDash val="solid"/>
          </a:ln>
        </p:spPr>
        <p:txBody>
          <a:bodyPr/>
          <a:lstStyle/>
          <a:p>
            <a:pPr algn="l">
              <a:buNone/>
              <a:defRPr sz="2100" b="1">
                <a:solidFill>
                  <a:srgbClr val="FFFFFF"/>
                </a:solidFill>
              </a:defRPr>
            </a:pPr>
            <a:r>
              <a:rPr sz="2100" b="1">
                <a:solidFill>
                  <a:srgbClr val="FFFFFF"/>
                </a:solidFill>
              </a:rPr>
              <a:t>See the trend</a:t>
            </a:r>
          </a:p>
        </p:txBody>
      </p:sp>
      <p:sp>
        <p:nvSpPr>
          <p:cNvPr id="8" name="직사각형 7">
            <a:extLst>
              <a:ext uri="{FF2B5EF4-FFF2-40B4-BE49-F238E27FC236}">
                <a16:creationId xmlns:a16="http://schemas.microsoft.com/office/drawing/2014/main" id="{EA928A99-FFAB-4684-960B-CC0B88E11D67}"/>
              </a:ext>
            </a:extLst>
          </p:cNvPr>
          <p:cNvSpPr>
            <a:spLocks noGrp="1"/>
          </p:cNvSpPr>
          <p:nvPr/>
        </p:nvSpPr>
        <p:spPr>
          <a:xfrm>
            <a:off x="952500" y="3810000"/>
            <a:ext cx="2800350" cy="323850"/>
          </a:xfrm>
          <a:prstGeom prst="rect">
            <a:avLst/>
          </a:prstGeom>
          <a:noFill/>
          <a:ln w="0">
            <a:noFill/>
            <a:prstDash val="solid"/>
          </a:ln>
        </p:spPr>
        <p:txBody>
          <a:bodyPr/>
          <a:lstStyle/>
          <a:p>
            <a:pPr algn="l">
              <a:buNone/>
              <a:defRPr sz="1500" b="0">
                <a:solidFill>
                  <a:srgbClr val="C9D8D2"/>
                </a:solidFill>
              </a:defRPr>
            </a:pPr>
            <a:r>
              <a:rPr sz="1500" b="0">
                <a:solidFill>
                  <a:srgbClr val="C9D8D2"/>
                </a:solidFill>
              </a:rPr>
              <a:t>Not a single point</a:t>
            </a:r>
          </a:p>
        </p:txBody>
      </p:sp>
      <p:sp>
        <p:nvSpPr>
          <p:cNvPr id="9" name="모서리가 둥근 직사각형 8">
            <a:extLst>
              <a:ext uri="{FF2B5EF4-FFF2-40B4-BE49-F238E27FC236}">
                <a16:creationId xmlns:a16="http://schemas.microsoft.com/office/drawing/2014/main" id="{38F7B3E8-6588-45AC-AE60-C30336969DE1}"/>
              </a:ext>
            </a:extLst>
          </p:cNvPr>
          <p:cNvSpPr>
            <a:spLocks noGrp="1"/>
          </p:cNvSpPr>
          <p:nvPr/>
        </p:nvSpPr>
        <p:spPr>
          <a:xfrm>
            <a:off x="4286250" y="1962150"/>
            <a:ext cx="3333750" cy="2724150"/>
          </a:xfrm>
          <a:prstGeom prst="roundRect">
            <a:avLst>
              <a:gd name="adj" fmla="val 5594"/>
            </a:avLst>
          </a:prstGeom>
          <a:solidFill>
            <a:srgbClr val="65D44A"/>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5D34467D-47F6-48AC-B427-7C2886FF403A}"/>
              </a:ext>
            </a:extLst>
          </p:cNvPr>
          <p:cNvSpPr>
            <a:spLocks noGrp="1"/>
          </p:cNvSpPr>
          <p:nvPr/>
        </p:nvSpPr>
        <p:spPr>
          <a:xfrm>
            <a:off x="4552950" y="2209800"/>
            <a:ext cx="571500" cy="571500"/>
          </a:xfrm>
          <a:prstGeom prst="rect">
            <a:avLst/>
          </a:prstGeom>
          <a:noFill/>
          <a:ln w="0">
            <a:noFill/>
            <a:prstDash val="solid"/>
          </a:ln>
        </p:spPr>
        <p:txBody>
          <a:bodyPr/>
          <a:lstStyle/>
          <a:p>
            <a:pPr algn="l">
              <a:buNone/>
              <a:defRPr sz="3150" b="1">
                <a:solidFill>
                  <a:srgbClr val="0A1B17"/>
                </a:solidFill>
              </a:defRPr>
            </a:pPr>
            <a:r>
              <a:rPr sz="3150" b="1">
                <a:solidFill>
                  <a:srgbClr val="0A1B17"/>
                </a:solidFill>
              </a:rPr>
              <a:t>2</a:t>
            </a:r>
          </a:p>
        </p:txBody>
      </p:sp>
      <p:sp>
        <p:nvSpPr>
          <p:cNvPr id="11" name="직사각형 10">
            <a:extLst>
              <a:ext uri="{FF2B5EF4-FFF2-40B4-BE49-F238E27FC236}">
                <a16:creationId xmlns:a16="http://schemas.microsoft.com/office/drawing/2014/main" id="{32C9032F-B29A-4006-9788-3A9EDD21ECD6}"/>
              </a:ext>
            </a:extLst>
          </p:cNvPr>
          <p:cNvSpPr>
            <a:spLocks noGrp="1"/>
          </p:cNvSpPr>
          <p:nvPr/>
        </p:nvSpPr>
        <p:spPr>
          <a:xfrm>
            <a:off x="4552950" y="3105150"/>
            <a:ext cx="2800350" cy="438150"/>
          </a:xfrm>
          <a:prstGeom prst="rect">
            <a:avLst/>
          </a:prstGeom>
          <a:noFill/>
          <a:ln w="0">
            <a:noFill/>
            <a:prstDash val="solid"/>
          </a:ln>
        </p:spPr>
        <p:txBody>
          <a:bodyPr/>
          <a:lstStyle/>
          <a:p>
            <a:pPr algn="l">
              <a:buNone/>
              <a:defRPr sz="2100" b="1">
                <a:solidFill>
                  <a:srgbClr val="0A1B17"/>
                </a:solidFill>
              </a:defRPr>
            </a:pPr>
            <a:r>
              <a:rPr sz="2100" b="1">
                <a:solidFill>
                  <a:srgbClr val="0A1B17"/>
                </a:solidFill>
              </a:rPr>
              <a:t>Add context</a:t>
            </a:r>
          </a:p>
        </p:txBody>
      </p:sp>
      <p:sp>
        <p:nvSpPr>
          <p:cNvPr id="12" name="직사각형 11">
            <a:extLst>
              <a:ext uri="{FF2B5EF4-FFF2-40B4-BE49-F238E27FC236}">
                <a16:creationId xmlns:a16="http://schemas.microsoft.com/office/drawing/2014/main" id="{A7D5668D-1612-40E1-A4CF-996AE655DD98}"/>
              </a:ext>
            </a:extLst>
          </p:cNvPr>
          <p:cNvSpPr>
            <a:spLocks noGrp="1"/>
          </p:cNvSpPr>
          <p:nvPr/>
        </p:nvSpPr>
        <p:spPr>
          <a:xfrm>
            <a:off x="4552950" y="3810000"/>
            <a:ext cx="2800350" cy="323850"/>
          </a:xfrm>
          <a:prstGeom prst="rect">
            <a:avLst/>
          </a:prstGeom>
          <a:noFill/>
          <a:ln w="0">
            <a:noFill/>
            <a:prstDash val="solid"/>
          </a:ln>
        </p:spPr>
        <p:txBody>
          <a:bodyPr/>
          <a:lstStyle/>
          <a:p>
            <a:pPr algn="l">
              <a:buNone/>
              <a:defRPr sz="1500" b="0">
                <a:solidFill>
                  <a:srgbClr val="0A1B17"/>
                </a:solidFill>
              </a:defRPr>
            </a:pPr>
            <a:r>
              <a:rPr sz="1500" b="0">
                <a:solidFill>
                  <a:srgbClr val="0A1B17"/>
                </a:solidFill>
              </a:rPr>
              <a:t>Cow + group + event</a:t>
            </a:r>
          </a:p>
        </p:txBody>
      </p:sp>
      <p:sp>
        <p:nvSpPr>
          <p:cNvPr id="13" name="모서리가 둥근 직사각형 12">
            <a:extLst>
              <a:ext uri="{FF2B5EF4-FFF2-40B4-BE49-F238E27FC236}">
                <a16:creationId xmlns:a16="http://schemas.microsoft.com/office/drawing/2014/main" id="{EE96923E-7105-4DAC-90D5-F115E99D0135}"/>
              </a:ext>
            </a:extLst>
          </p:cNvPr>
          <p:cNvSpPr>
            <a:spLocks noGrp="1"/>
          </p:cNvSpPr>
          <p:nvPr/>
        </p:nvSpPr>
        <p:spPr>
          <a:xfrm>
            <a:off x="7886700" y="1962150"/>
            <a:ext cx="3333750" cy="2724150"/>
          </a:xfrm>
          <a:prstGeom prst="roundRect">
            <a:avLst>
              <a:gd name="adj" fmla="val 5594"/>
            </a:avLst>
          </a:prstGeom>
          <a:solidFill>
            <a:srgbClr val="17342B"/>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55DE22EE-23DD-41A8-8E3E-50EAB1E1673D}"/>
              </a:ext>
            </a:extLst>
          </p:cNvPr>
          <p:cNvSpPr>
            <a:spLocks noGrp="1"/>
          </p:cNvSpPr>
          <p:nvPr/>
        </p:nvSpPr>
        <p:spPr>
          <a:xfrm>
            <a:off x="8153400" y="2209800"/>
            <a:ext cx="571500" cy="571500"/>
          </a:xfrm>
          <a:prstGeom prst="rect">
            <a:avLst/>
          </a:prstGeom>
          <a:noFill/>
          <a:ln w="0">
            <a:noFill/>
            <a:prstDash val="solid"/>
          </a:ln>
        </p:spPr>
        <p:txBody>
          <a:bodyPr/>
          <a:lstStyle/>
          <a:p>
            <a:pPr algn="l">
              <a:buNone/>
              <a:defRPr sz="3150" b="1">
                <a:solidFill>
                  <a:srgbClr val="65D44A"/>
                </a:solidFill>
              </a:defRPr>
            </a:pPr>
            <a:r>
              <a:rPr sz="3150" b="1">
                <a:solidFill>
                  <a:srgbClr val="65D44A"/>
                </a:solidFill>
              </a:rPr>
              <a:t>3</a:t>
            </a:r>
          </a:p>
        </p:txBody>
      </p:sp>
      <p:sp>
        <p:nvSpPr>
          <p:cNvPr id="15" name="직사각형 14">
            <a:extLst>
              <a:ext uri="{FF2B5EF4-FFF2-40B4-BE49-F238E27FC236}">
                <a16:creationId xmlns:a16="http://schemas.microsoft.com/office/drawing/2014/main" id="{31F5E4D5-9BA6-4B42-9F6F-DFF2B8196018}"/>
              </a:ext>
            </a:extLst>
          </p:cNvPr>
          <p:cNvSpPr>
            <a:spLocks noGrp="1"/>
          </p:cNvSpPr>
          <p:nvPr/>
        </p:nvSpPr>
        <p:spPr>
          <a:xfrm>
            <a:off x="8153400" y="3105150"/>
            <a:ext cx="2800350" cy="438150"/>
          </a:xfrm>
          <a:prstGeom prst="rect">
            <a:avLst/>
          </a:prstGeom>
          <a:noFill/>
          <a:ln w="0">
            <a:noFill/>
            <a:prstDash val="solid"/>
          </a:ln>
        </p:spPr>
        <p:txBody>
          <a:bodyPr/>
          <a:lstStyle/>
          <a:p>
            <a:pPr algn="l">
              <a:buNone/>
              <a:defRPr sz="2100" b="1">
                <a:solidFill>
                  <a:srgbClr val="FFFFFF"/>
                </a:solidFill>
              </a:defRPr>
            </a:pPr>
            <a:r>
              <a:rPr sz="2100" b="1">
                <a:solidFill>
                  <a:srgbClr val="FFFFFF"/>
                </a:solidFill>
              </a:rPr>
              <a:t>Close the task</a:t>
            </a:r>
          </a:p>
        </p:txBody>
      </p:sp>
      <p:sp>
        <p:nvSpPr>
          <p:cNvPr id="16" name="직사각형 15">
            <a:extLst>
              <a:ext uri="{FF2B5EF4-FFF2-40B4-BE49-F238E27FC236}">
                <a16:creationId xmlns:a16="http://schemas.microsoft.com/office/drawing/2014/main" id="{1D8CC1C0-F581-449C-A94B-191ACCF5F613}"/>
              </a:ext>
            </a:extLst>
          </p:cNvPr>
          <p:cNvSpPr>
            <a:spLocks noGrp="1"/>
          </p:cNvSpPr>
          <p:nvPr/>
        </p:nvSpPr>
        <p:spPr>
          <a:xfrm>
            <a:off x="8153400" y="3810000"/>
            <a:ext cx="2800350" cy="323850"/>
          </a:xfrm>
          <a:prstGeom prst="rect">
            <a:avLst/>
          </a:prstGeom>
          <a:noFill/>
          <a:ln w="0">
            <a:noFill/>
            <a:prstDash val="solid"/>
          </a:ln>
        </p:spPr>
        <p:txBody>
          <a:bodyPr/>
          <a:lstStyle/>
          <a:p>
            <a:pPr algn="l">
              <a:buNone/>
              <a:defRPr sz="1500" b="0">
                <a:solidFill>
                  <a:srgbClr val="C9D8D2"/>
                </a:solidFill>
              </a:defRPr>
            </a:pPr>
            <a:r>
              <a:rPr sz="1500" b="0">
                <a:solidFill>
                  <a:srgbClr val="C9D8D2"/>
                </a:solidFill>
              </a:rPr>
              <a:t>Check + record + follow-up</a:t>
            </a:r>
          </a:p>
        </p:txBody>
      </p:sp>
      <p:sp>
        <p:nvSpPr>
          <p:cNvPr id="17" name="직사각형 16">
            <a:extLst>
              <a:ext uri="{FF2B5EF4-FFF2-40B4-BE49-F238E27FC236}">
                <a16:creationId xmlns:a16="http://schemas.microsoft.com/office/drawing/2014/main" id="{CC216C0D-E76E-402D-9F35-9E0EE37E3898}"/>
              </a:ext>
            </a:extLst>
          </p:cNvPr>
          <p:cNvSpPr>
            <a:spLocks noGrp="1"/>
          </p:cNvSpPr>
          <p:nvPr/>
        </p:nvSpPr>
        <p:spPr>
          <a:xfrm>
            <a:off x="685800" y="5391150"/>
            <a:ext cx="10820400" cy="400050"/>
          </a:xfrm>
          <a:prstGeom prst="rect">
            <a:avLst/>
          </a:prstGeom>
          <a:noFill/>
          <a:ln w="0">
            <a:noFill/>
            <a:prstDash val="solid"/>
          </a:ln>
        </p:spPr>
        <p:txBody>
          <a:bodyPr/>
          <a:lstStyle/>
          <a:p>
            <a:pPr algn="ctr">
              <a:buNone/>
              <a:defRPr sz="1800" b="1">
                <a:solidFill>
                  <a:srgbClr val="65D44A"/>
                </a:solidFill>
              </a:defRPr>
            </a:pPr>
            <a:r>
              <a:rPr sz="1800" b="1">
                <a:solidFill>
                  <a:srgbClr val="65D44A"/>
                </a:solidFill>
              </a:rPr>
              <a:t>Internal data → earlier insight → organized action → a healthier herd</a:t>
            </a:r>
          </a:p>
        </p:txBody>
      </p:sp>
    </p:spTree>
    <p:extLst>
      <p:ext uri="{BB962C8B-B14F-4D97-AF65-F5344CB8AC3E}">
        <p14:creationId xmlns:p14="http://schemas.microsoft.com/office/powerpoint/2010/main" val="981229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4B8F83D7-3357-4ECA-B2A3-5DC17CCDE36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rPr>
              <a:t>SOURCES</a:t>
            </a:r>
          </a:p>
        </p:txBody>
      </p:sp>
      <p:sp>
        <p:nvSpPr>
          <p:cNvPr id="2" name="직사각형 1">
            <a:extLst>
              <a:ext uri="{FF2B5EF4-FFF2-40B4-BE49-F238E27FC236}">
                <a16:creationId xmlns:a16="http://schemas.microsoft.com/office/drawing/2014/main" id="{48EA99D4-1EEE-4521-A21F-CBD694E6B59E}"/>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rPr>
              <a:t>Sources and limits of educational use</a:t>
            </a:r>
          </a:p>
        </p:txBody>
      </p:sp>
      <p:sp>
        <p:nvSpPr>
          <p:cNvPr id="3" name="직사각형 2">
            <a:extLst>
              <a:ext uri="{FF2B5EF4-FFF2-40B4-BE49-F238E27FC236}">
                <a16:creationId xmlns:a16="http://schemas.microsoft.com/office/drawing/2014/main" id="{E2C5E1E6-901C-4B50-92FA-E235CFA34EA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rPr>
              <a:t>smaXtec × CowTalk | Universal training material</a:t>
            </a:r>
          </a:p>
        </p:txBody>
      </p:sp>
      <p:sp>
        <p:nvSpPr>
          <p:cNvPr id="4" name="직사각형 3">
            <a:extLst>
              <a:ext uri="{FF2B5EF4-FFF2-40B4-BE49-F238E27FC236}">
                <a16:creationId xmlns:a16="http://schemas.microsoft.com/office/drawing/2014/main" id="{72512754-89C6-47A7-897B-D77276EA0B9C}"/>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rPr>
              <a:t>35</a:t>
            </a:r>
          </a:p>
        </p:txBody>
      </p:sp>
      <p:sp>
        <p:nvSpPr>
          <p:cNvPr id="5" name="직사각형 4">
            <a:extLst>
              <a:ext uri="{FF2B5EF4-FFF2-40B4-BE49-F238E27FC236}">
                <a16:creationId xmlns:a16="http://schemas.microsoft.com/office/drawing/2014/main" id="{3726DA59-3A83-49A7-AF4E-3BDD4F42EC23}"/>
              </a:ext>
            </a:extLst>
          </p:cNvPr>
          <p:cNvSpPr>
            <a:spLocks noGrp="1"/>
          </p:cNvSpPr>
          <p:nvPr/>
        </p:nvSpPr>
        <p:spPr>
          <a:xfrm>
            <a:off x="685800" y="1695450"/>
            <a:ext cx="4762500" cy="323850"/>
          </a:xfrm>
          <a:prstGeom prst="rect">
            <a:avLst/>
          </a:prstGeom>
          <a:noFill/>
          <a:ln w="0">
            <a:noFill/>
            <a:prstDash val="solid"/>
          </a:ln>
        </p:spPr>
        <p:txBody>
          <a:bodyPr/>
          <a:lstStyle/>
          <a:p>
            <a:pPr algn="l">
              <a:buNone/>
              <a:defRPr sz="1800" b="1">
                <a:solidFill>
                  <a:srgbClr val="15A98C"/>
                </a:solidFill>
              </a:defRPr>
            </a:pPr>
            <a:r>
              <a:rPr sz="1800" b="1">
                <a:solidFill>
                  <a:srgbClr val="15A98C"/>
                </a:solidFill>
              </a:rPr>
              <a:t>Official + global references</a:t>
            </a:r>
          </a:p>
        </p:txBody>
      </p:sp>
      <p:sp>
        <p:nvSpPr>
          <p:cNvPr id="6" name="직사각형 5">
            <a:extLst>
              <a:ext uri="{FF2B5EF4-FFF2-40B4-BE49-F238E27FC236}">
                <a16:creationId xmlns:a16="http://schemas.microsoft.com/office/drawing/2014/main" id="{F999C9EB-4485-4CC0-AC18-6EE1F615D28C}"/>
              </a:ext>
            </a:extLst>
          </p:cNvPr>
          <p:cNvSpPr>
            <a:spLocks noGrp="1"/>
          </p:cNvSpPr>
          <p:nvPr/>
        </p:nvSpPr>
        <p:spPr>
          <a:xfrm>
            <a:off x="685800" y="2209800"/>
            <a:ext cx="4953000" cy="2190750"/>
          </a:xfrm>
          <a:prstGeom prst="rect">
            <a:avLst/>
          </a:prstGeom>
          <a:noFill/>
          <a:ln w="0">
            <a:noFill/>
            <a:prstDash val="solid"/>
          </a:ln>
        </p:spPr>
        <p:txBody>
          <a:bodyPr/>
          <a:lstStyle/>
          <a:p>
            <a:pPr algn="l">
              <a:buNone/>
              <a:defRPr sz="1275" b="0">
                <a:solidFill>
                  <a:srgbClr val="10251F"/>
                </a:solidFill>
              </a:defRPr>
            </a:pPr>
            <a:r>
              <a:rPr sz="1275" b="0">
                <a:solidFill>
                  <a:srgbClr val="10251F"/>
                </a:solidFill>
              </a:rPr>
              <a:t>smaxtec.com/en/technical-components/</a:t>
            </a:r>
          </a:p>
          <a:p>
            <a:pPr algn="l">
              <a:buNone/>
              <a:defRPr sz="1275" b="0">
                <a:solidFill>
                  <a:srgbClr val="10251F"/>
                </a:solidFill>
              </a:defRPr>
            </a:pPr>
            <a:r>
              <a:rPr sz="1275" b="0">
                <a:solidFill>
                  <a:srgbClr val="10251F"/>
                </a:solidFill>
              </a:rPr>
              <a:t>smaxtec.com/us/software/</a:t>
            </a:r>
          </a:p>
          <a:p>
            <a:pPr algn="l">
              <a:buNone/>
              <a:defRPr sz="1275" b="0">
                <a:solidFill>
                  <a:srgbClr val="10251F"/>
                </a:solidFill>
              </a:defRPr>
            </a:pPr>
            <a:r>
              <a:rPr sz="1275" b="0">
                <a:solidFill>
                  <a:srgbClr val="10251F"/>
                </a:solidFill>
              </a:rPr>
              <a:t>smaxtec.com/en/profit-in-dairy-farming…</a:t>
            </a:r>
          </a:p>
          <a:p>
            <a:pPr algn="l">
              <a:buNone/>
              <a:defRPr sz="1275" b="0">
                <a:solidFill>
                  <a:srgbClr val="10251F"/>
                </a:solidFill>
              </a:defRPr>
            </a:pPr>
            <a:r>
              <a:rPr sz="1275" b="0">
                <a:solidFill>
                  <a:srgbClr val="10251F"/>
                </a:solidFill>
              </a:rPr>
              <a:t>Stygar et al. (2021), Front. Vet. Sci.</a:t>
            </a:r>
          </a:p>
          <a:p>
            <a:pPr algn="l">
              <a:buNone/>
              <a:defRPr sz="1275" b="0">
                <a:solidFill>
                  <a:srgbClr val="10251F"/>
                </a:solidFill>
              </a:defRPr>
            </a:pPr>
            <a:r>
              <a:rPr sz="1275" b="0">
                <a:solidFill>
                  <a:srgbClr val="10251F"/>
                </a:solidFill>
              </a:rPr>
              <a:t>Adams et al. (2013), J. Dairy Sci.</a:t>
            </a:r>
          </a:p>
          <a:p>
            <a:pPr algn="l">
              <a:buNone/>
              <a:defRPr sz="1275" b="0">
                <a:solidFill>
                  <a:srgbClr val="10251F"/>
                </a:solidFill>
              </a:defRPr>
            </a:pPr>
            <a:r>
              <a:rPr sz="1275" b="0">
                <a:solidFill>
                  <a:srgbClr val="10251F"/>
                </a:solidFill>
              </a:rPr>
              <a:t>Liu et al. (2023), Agriculture</a:t>
            </a:r>
          </a:p>
        </p:txBody>
      </p:sp>
      <p:sp>
        <p:nvSpPr>
          <p:cNvPr id="7" name="직사각형 6">
            <a:extLst>
              <a:ext uri="{FF2B5EF4-FFF2-40B4-BE49-F238E27FC236}">
                <a16:creationId xmlns:a16="http://schemas.microsoft.com/office/drawing/2014/main" id="{79408CE4-3AD4-4EC5-9B98-DF59CAD14151}"/>
              </a:ext>
            </a:extLst>
          </p:cNvPr>
          <p:cNvSpPr>
            <a:spLocks noGrp="1"/>
          </p:cNvSpPr>
          <p:nvPr/>
        </p:nvSpPr>
        <p:spPr>
          <a:xfrm>
            <a:off x="6191250" y="1695450"/>
            <a:ext cx="4762500" cy="323850"/>
          </a:xfrm>
          <a:prstGeom prst="rect">
            <a:avLst/>
          </a:prstGeom>
          <a:noFill/>
          <a:ln w="0">
            <a:noFill/>
            <a:prstDash val="solid"/>
          </a:ln>
        </p:spPr>
        <p:txBody>
          <a:bodyPr/>
          <a:lstStyle/>
          <a:p>
            <a:pPr algn="l">
              <a:buNone/>
              <a:defRPr sz="1800" b="1">
                <a:solidFill>
                  <a:srgbClr val="E96155"/>
                </a:solidFill>
              </a:defRPr>
            </a:pPr>
            <a:r>
              <a:rPr sz="1800" b="1">
                <a:solidFill>
                  <a:srgbClr val="E96155"/>
                </a:solidFill>
              </a:rPr>
              <a:t>Important note</a:t>
            </a:r>
          </a:p>
        </p:txBody>
      </p:sp>
      <p:sp>
        <p:nvSpPr>
          <p:cNvPr id="8" name="직사각형 7">
            <a:extLst>
              <a:ext uri="{FF2B5EF4-FFF2-40B4-BE49-F238E27FC236}">
                <a16:creationId xmlns:a16="http://schemas.microsoft.com/office/drawing/2014/main" id="{1738D9EF-248D-4803-9DD1-54F0BE1341FD}"/>
              </a:ext>
            </a:extLst>
          </p:cNvPr>
          <p:cNvSpPr>
            <a:spLocks noGrp="1"/>
          </p:cNvSpPr>
          <p:nvPr/>
        </p:nvSpPr>
        <p:spPr>
          <a:xfrm>
            <a:off x="6191250" y="2209800"/>
            <a:ext cx="4953000" cy="2190750"/>
          </a:xfrm>
          <a:prstGeom prst="rect">
            <a:avLst/>
          </a:prstGeom>
          <a:noFill/>
          <a:ln w="0">
            <a:noFill/>
            <a:prstDash val="solid"/>
          </a:ln>
        </p:spPr>
        <p:txBody>
          <a:bodyPr/>
          <a:lstStyle/>
          <a:p>
            <a:pPr algn="l">
              <a:buNone/>
              <a:defRPr sz="1425" b="0">
                <a:solidFill>
                  <a:srgbClr val="10251F"/>
                </a:solidFill>
              </a:defRPr>
            </a:pPr>
            <a:r>
              <a:rPr sz="1425" b="0">
                <a:solidFill>
                  <a:srgbClr val="10251F"/>
                </a:solidFill>
              </a:rPr>
              <a:t>Manufacturer claims and customer case results are context-specific. Independent reviews support continuous monitoring, while also showing that commercial sensors differ in external validation. Use alerts to prioritize checks; local veterinary protocols remain decisive.</a:t>
            </a:r>
          </a:p>
        </p:txBody>
      </p:sp>
      <p:sp>
        <p:nvSpPr>
          <p:cNvPr id="9" name="직사각형 8">
            <a:extLst>
              <a:ext uri="{FF2B5EF4-FFF2-40B4-BE49-F238E27FC236}">
                <a16:creationId xmlns:a16="http://schemas.microsoft.com/office/drawing/2014/main" id="{42CFD62E-4FFE-4D17-BADE-13ECAAF1BAB5}"/>
              </a:ext>
            </a:extLst>
          </p:cNvPr>
          <p:cNvSpPr>
            <a:spLocks noGrp="1"/>
          </p:cNvSpPr>
          <p:nvPr/>
        </p:nvSpPr>
        <p:spPr>
          <a:xfrm>
            <a:off x="685800" y="5429250"/>
            <a:ext cx="10820400" cy="266700"/>
          </a:xfrm>
          <a:prstGeom prst="rect">
            <a:avLst/>
          </a:prstGeom>
          <a:noFill/>
          <a:ln w="0">
            <a:noFill/>
            <a:prstDash val="solid"/>
          </a:ln>
        </p:spPr>
        <p:txBody>
          <a:bodyPr/>
          <a:lstStyle/>
          <a:p>
            <a:pPr algn="ctr">
              <a:buNone/>
              <a:defRPr sz="1200" b="0">
                <a:solidFill>
                  <a:srgbClr val="66746F"/>
                </a:solidFill>
              </a:defRPr>
            </a:pPr>
            <a:r>
              <a:rPr sz="1200" b="0">
                <a:solidFill>
                  <a:srgbClr val="66746F"/>
                </a:solidFill>
              </a:rPr>
              <a:t>Version: 2026-08 | Global evidence &amp; visual upgrade | Country-neutral</a:t>
            </a:r>
          </a:p>
        </p:txBody>
      </p:sp>
    </p:spTree>
    <p:extLst>
      <p:ext uri="{BB962C8B-B14F-4D97-AF65-F5344CB8AC3E}">
        <p14:creationId xmlns:p14="http://schemas.microsoft.com/office/powerpoint/2010/main" val="1706982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023" name="s1023"/>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FROM SENSOR TO SYSTEM</a:t>
            </a:r>
          </a:p>
        </p:txBody>
      </p:sp>
      <p:sp>
        <p:nvSpPr>
          <p:cNvPr id="1024" name="s1024"/>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alert is where smaXtec ends and CowTalk begins</a:t>
            </a:r>
          </a:p>
        </p:txBody>
      </p:sp>
      <p:sp>
        <p:nvSpPr>
          <p:cNvPr id="1001" name="s1001"/>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002" name="s1002"/>
          <p:cNvSpPr>
            <a:spLocks noGrp="1"/>
          </p:cNvSpPr>
          <p:nvPr/>
        </p:nvSpPr>
        <p:spPr>
          <a:xfrm>
            <a:off x="685800" y="1883664"/>
            <a:ext cx="5212080" cy="109728"/>
          </a:xfrm>
          <a:prstGeom prst="rect">
            <a:avLst/>
          </a:prstGeom>
          <a:solidFill>
            <a:srgbClr val="15A98C"/>
          </a:solidFill>
          <a:ln w="0">
            <a:noFill/>
            <a:prstDash val="solid"/>
          </a:ln>
        </p:spPr>
        <p:txBody>
          <a:bodyPr wrap="square" lIns="0" tIns="0" rIns="0" bIns="0" anchor="t"/>
          <a:lstStyle/>
          <a:p>
            <a:endParaRPr lang="en-US"/>
          </a:p>
        </p:txBody>
      </p:sp>
      <p:sp>
        <p:nvSpPr>
          <p:cNvPr id="1003" name="s1003"/>
          <p:cNvSpPr>
            <a:spLocks noGrp="1"/>
          </p:cNvSpPr>
          <p:nvPr/>
        </p:nvSpPr>
        <p:spPr>
          <a:xfrm>
            <a:off x="960120"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15A98C"/>
                </a:solidFill>
              </a:rPr>
              <a:t>WHAT THE SENSOR GIVES YOU</a:t>
            </a:r>
          </a:p>
        </p:txBody>
      </p:sp>
      <p:sp>
        <p:nvSpPr>
          <p:cNvPr id="1004" name="s1004"/>
          <p:cNvSpPr>
            <a:spLocks noGrp="1"/>
          </p:cNvSpPr>
          <p:nvPr/>
        </p:nvSpPr>
        <p:spPr>
          <a:xfrm>
            <a:off x="960120"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A reliable event</a:t>
            </a:r>
          </a:p>
        </p:txBody>
      </p:sp>
      <p:sp>
        <p:nvSpPr>
          <p:cNvPr id="1005" name="s1005"/>
          <p:cNvSpPr>
            <a:spLocks noGrp="1"/>
          </p:cNvSpPr>
          <p:nvPr/>
        </p:nvSpPr>
        <p:spPr>
          <a:xfrm>
            <a:off x="978408" y="3127248"/>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006" name="s1006"/>
          <p:cNvSpPr>
            <a:spLocks noGrp="1"/>
          </p:cNvSpPr>
          <p:nvPr/>
        </p:nvSpPr>
        <p:spPr>
          <a:xfrm>
            <a:off x="1216152" y="3072384"/>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A physiological deviation, detected inside the cow</a:t>
            </a:r>
          </a:p>
        </p:txBody>
      </p:sp>
      <p:sp>
        <p:nvSpPr>
          <p:cNvPr id="1007" name="s1007"/>
          <p:cNvSpPr>
            <a:spLocks noGrp="1"/>
          </p:cNvSpPr>
          <p:nvPr/>
        </p:nvSpPr>
        <p:spPr>
          <a:xfrm>
            <a:off x="978408" y="3657600"/>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008" name="s1008"/>
          <p:cNvSpPr>
            <a:spLocks noGrp="1"/>
          </p:cNvSpPr>
          <p:nvPr/>
        </p:nvSpPr>
        <p:spPr>
          <a:xfrm>
            <a:off x="1216152" y="3602736"/>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Time-stamped and validated by the manufacturer</a:t>
            </a:r>
          </a:p>
        </p:txBody>
      </p:sp>
      <p:sp>
        <p:nvSpPr>
          <p:cNvPr id="1009" name="s1009"/>
          <p:cNvSpPr>
            <a:spLocks noGrp="1"/>
          </p:cNvSpPr>
          <p:nvPr/>
        </p:nvSpPr>
        <p:spPr>
          <a:xfrm>
            <a:off x="978408" y="4187952"/>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010" name="s1010"/>
          <p:cNvSpPr>
            <a:spLocks noGrp="1"/>
          </p:cNvSpPr>
          <p:nvPr/>
        </p:nvSpPr>
        <p:spPr>
          <a:xfrm>
            <a:off x="1216152" y="4133088"/>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The same quality on every farm, every day</a:t>
            </a:r>
          </a:p>
        </p:txBody>
      </p:sp>
      <p:sp>
        <p:nvSpPr>
          <p:cNvPr id="1011" name="s1011"/>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012" name="s1012"/>
          <p:cNvSpPr>
            <a:spLocks noGrp="1"/>
          </p:cNvSpPr>
          <p:nvPr/>
        </p:nvSpPr>
        <p:spPr>
          <a:xfrm>
            <a:off x="6291072" y="1883664"/>
            <a:ext cx="5212080" cy="109728"/>
          </a:xfrm>
          <a:prstGeom prst="rect">
            <a:avLst/>
          </a:prstGeom>
          <a:solidFill>
            <a:srgbClr val="E96155"/>
          </a:solidFill>
          <a:ln w="0">
            <a:noFill/>
            <a:prstDash val="solid"/>
          </a:ln>
        </p:spPr>
        <p:txBody>
          <a:bodyPr wrap="square" lIns="0" tIns="0" rIns="0" bIns="0" anchor="t"/>
          <a:lstStyle/>
          <a:p>
            <a:endParaRPr lang="en-US"/>
          </a:p>
        </p:txBody>
      </p:sp>
      <p:sp>
        <p:nvSpPr>
          <p:cNvPr id="1013" name="s1013"/>
          <p:cNvSpPr>
            <a:spLocks noGrp="1"/>
          </p:cNvSpPr>
          <p:nvPr/>
        </p:nvSpPr>
        <p:spPr>
          <a:xfrm>
            <a:off x="6565392"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WHAT STILL HAS TO HAPPEN</a:t>
            </a:r>
          </a:p>
        </p:txBody>
      </p:sp>
      <p:sp>
        <p:nvSpPr>
          <p:cNvPr id="1014" name="s1014"/>
          <p:cNvSpPr>
            <a:spLocks noGrp="1"/>
          </p:cNvSpPr>
          <p:nvPr/>
        </p:nvSpPr>
        <p:spPr>
          <a:xfrm>
            <a:off x="6565392"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A decision, by a person</a:t>
            </a:r>
          </a:p>
        </p:txBody>
      </p:sp>
      <p:sp>
        <p:nvSpPr>
          <p:cNvPr id="1015" name="s1015"/>
          <p:cNvSpPr>
            <a:spLocks noGrp="1"/>
          </p:cNvSpPr>
          <p:nvPr/>
        </p:nvSpPr>
        <p:spPr>
          <a:xfrm>
            <a:off x="6583680" y="3127248"/>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016" name="s1016"/>
          <p:cNvSpPr>
            <a:spLocks noGrp="1"/>
          </p:cNvSpPr>
          <p:nvPr/>
        </p:nvSpPr>
        <p:spPr>
          <a:xfrm>
            <a:off x="6821424" y="3072384"/>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Which cow do I check first, out of eleven alerts?</a:t>
            </a:r>
          </a:p>
        </p:txBody>
      </p:sp>
      <p:sp>
        <p:nvSpPr>
          <p:cNvPr id="1017" name="s1017"/>
          <p:cNvSpPr>
            <a:spLocks noGrp="1"/>
          </p:cNvSpPr>
          <p:nvPr/>
        </p:nvSpPr>
        <p:spPr>
          <a:xfrm>
            <a:off x="6583680" y="3657600"/>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018" name="s1018"/>
          <p:cNvSpPr>
            <a:spLocks noGrp="1"/>
          </p:cNvSpPr>
          <p:nvPr/>
        </p:nvSpPr>
        <p:spPr>
          <a:xfrm>
            <a:off x="6821424" y="3602736"/>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What is her history — treatments, parity, days in milk?</a:t>
            </a:r>
          </a:p>
        </p:txBody>
      </p:sp>
      <p:sp>
        <p:nvSpPr>
          <p:cNvPr id="1019" name="s1019"/>
          <p:cNvSpPr>
            <a:spLocks noGrp="1"/>
          </p:cNvSpPr>
          <p:nvPr/>
        </p:nvSpPr>
        <p:spPr>
          <a:xfrm>
            <a:off x="6583680" y="4187952"/>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020" name="s1020"/>
          <p:cNvSpPr>
            <a:spLocks noGrp="1"/>
          </p:cNvSpPr>
          <p:nvPr/>
        </p:nvSpPr>
        <p:spPr>
          <a:xfrm>
            <a:off x="6821424" y="4133088"/>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Who acts, and with what? Was it actually done?</a:t>
            </a:r>
          </a:p>
        </p:txBody>
      </p:sp>
      <p:sp>
        <p:nvSpPr>
          <p:cNvPr id="1021" name="s1021"/>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022" name="s1022"/>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The gap between an alert and an action is where most of the value is lost.</a:t>
            </a:r>
          </a:p>
        </p:txBody>
      </p:sp>
      <p:sp>
        <p:nvSpPr>
          <p:cNvPr id="1025" name="s1025"/>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026" name="s1026"/>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027" name="s1027"/>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07</a:t>
            </a:r>
          </a:p>
        </p:txBody>
      </p:sp>
      <p:sp>
        <p:nvSpPr>
          <p:cNvPr id="1028" name="s1028"/>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The layer above the sensor</a:t>
            </a:r>
          </a:p>
        </p:txBody>
      </p:sp>
      <p:sp>
        <p:nvSpPr>
          <p:cNvPr id="1029" name="s1029"/>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CowTalk adds context, interpretation and role-based action on top of the sensor event. It does not re-judge the event itself.</a:t>
            </a:r>
          </a:p>
        </p:txBody>
      </p:sp>
      <p:sp>
        <p:nvSpPr>
          <p:cNvPr id="1030" name="s1030"/>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031" name="s1031"/>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032" name="s1032"/>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033" name="s1033"/>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034" name="s1034"/>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035" name="s1035"/>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036" name="s1036"/>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037" name="s1037"/>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060" name="s1060"/>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ARCHITECTURE</a:t>
            </a:r>
          </a:p>
        </p:txBody>
      </p:sp>
      <p:sp>
        <p:nvSpPr>
          <p:cNvPr id="1061" name="s1061"/>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Four layers turn a signal into a decision</a:t>
            </a:r>
          </a:p>
        </p:txBody>
      </p:sp>
      <p:sp>
        <p:nvSpPr>
          <p:cNvPr id="1038" name="s1038"/>
          <p:cNvSpPr>
            <a:spLocks noGrp="1"/>
          </p:cNvSpPr>
          <p:nvPr/>
        </p:nvSpPr>
        <p:spPr>
          <a:xfrm>
            <a:off x="685800" y="1792224"/>
            <a:ext cx="10817352" cy="640080"/>
          </a:xfrm>
          <a:prstGeom prst="roundRect">
            <a:avLst/>
          </a:prstGeom>
          <a:solidFill>
            <a:srgbClr val="FFFFFF"/>
          </a:solidFill>
          <a:ln w="0">
            <a:noFill/>
            <a:prstDash val="solid"/>
          </a:ln>
        </p:spPr>
        <p:txBody>
          <a:bodyPr wrap="square" lIns="0" tIns="0" rIns="0" bIns="0" anchor="t"/>
          <a:lstStyle/>
          <a:p>
            <a:endParaRPr lang="en-US"/>
          </a:p>
        </p:txBody>
      </p:sp>
      <p:sp>
        <p:nvSpPr>
          <p:cNvPr id="1039" name="s1039"/>
          <p:cNvSpPr>
            <a:spLocks noGrp="1"/>
          </p:cNvSpPr>
          <p:nvPr/>
        </p:nvSpPr>
        <p:spPr>
          <a:xfrm>
            <a:off x="685800" y="1792224"/>
            <a:ext cx="109728" cy="640080"/>
          </a:xfrm>
          <a:prstGeom prst="rect">
            <a:avLst/>
          </a:prstGeom>
          <a:solidFill>
            <a:srgbClr val="F6B846"/>
          </a:solidFill>
          <a:ln w="0">
            <a:noFill/>
            <a:prstDash val="solid"/>
          </a:ln>
        </p:spPr>
        <p:txBody>
          <a:bodyPr wrap="square" lIns="0" tIns="0" rIns="0" bIns="0" anchor="t"/>
          <a:lstStyle/>
          <a:p>
            <a:endParaRPr lang="en-US"/>
          </a:p>
        </p:txBody>
      </p:sp>
      <p:sp>
        <p:nvSpPr>
          <p:cNvPr id="1040" name="s1040"/>
          <p:cNvSpPr>
            <a:spLocks noGrp="1"/>
          </p:cNvSpPr>
          <p:nvPr/>
        </p:nvSpPr>
        <p:spPr>
          <a:xfrm>
            <a:off x="996696" y="1901952"/>
            <a:ext cx="1417320" cy="237744"/>
          </a:xfrm>
          <a:prstGeom prst="rect">
            <a:avLst/>
          </a:prstGeom>
          <a:noFill/>
          <a:ln w="0">
            <a:noFill/>
            <a:prstDash val="solid"/>
          </a:ln>
        </p:spPr>
        <p:txBody>
          <a:bodyPr wrap="square" lIns="0" tIns="0" rIns="0" bIns="0" anchor="t"/>
          <a:lstStyle/>
          <a:p>
            <a:pPr algn="l">
              <a:buNone/>
              <a:defRPr sz="1125"/>
            </a:pPr>
            <a:r>
              <a:rPr lang="en-US" sz="1125" b="1">
                <a:solidFill>
                  <a:srgbClr val="F6B846"/>
                </a:solidFill>
              </a:rPr>
              <a:t>LAYER 4</a:t>
            </a:r>
          </a:p>
        </p:txBody>
      </p:sp>
      <p:sp>
        <p:nvSpPr>
          <p:cNvPr id="1041" name="s1041"/>
          <p:cNvSpPr>
            <a:spLocks noGrp="1"/>
          </p:cNvSpPr>
          <p:nvPr/>
        </p:nvSpPr>
        <p:spPr>
          <a:xfrm>
            <a:off x="2514600" y="1874520"/>
            <a:ext cx="3246120" cy="292608"/>
          </a:xfrm>
          <a:prstGeom prst="rect">
            <a:avLst/>
          </a:prstGeom>
          <a:noFill/>
          <a:ln w="0">
            <a:noFill/>
            <a:prstDash val="solid"/>
          </a:ln>
        </p:spPr>
        <p:txBody>
          <a:bodyPr wrap="square" lIns="0" tIns="0" rIns="0" bIns="0" anchor="t"/>
          <a:lstStyle/>
          <a:p>
            <a:pPr algn="l">
              <a:buNone/>
              <a:defRPr sz="1575"/>
            </a:pPr>
            <a:r>
              <a:rPr lang="en-US" sz="1575" b="1">
                <a:solidFill>
                  <a:srgbClr val="10251F"/>
                </a:solidFill>
              </a:rPr>
              <a:t>Learning loop</a:t>
            </a:r>
          </a:p>
        </p:txBody>
      </p:sp>
      <p:sp>
        <p:nvSpPr>
          <p:cNvPr id="1042" name="s1042"/>
          <p:cNvSpPr>
            <a:spLocks noGrp="1"/>
          </p:cNvSpPr>
          <p:nvPr/>
        </p:nvSpPr>
        <p:spPr>
          <a:xfrm>
            <a:off x="5943600" y="1892808"/>
            <a:ext cx="5285232" cy="457200"/>
          </a:xfrm>
          <a:prstGeom prst="rect">
            <a:avLst/>
          </a:prstGeom>
          <a:noFill/>
          <a:ln w="0">
            <a:noFill/>
            <a:prstDash val="solid"/>
          </a:ln>
        </p:spPr>
        <p:txBody>
          <a:bodyPr wrap="square" lIns="0" tIns="0" rIns="0" bIns="0" anchor="t"/>
          <a:lstStyle/>
          <a:p>
            <a:pPr algn="l">
              <a:buNone/>
              <a:defRPr sz="1350"/>
            </a:pPr>
            <a:r>
              <a:rPr lang="en-US" sz="1350">
                <a:solidFill>
                  <a:srgbClr val="66746F"/>
                </a:solidFill>
              </a:rPr>
              <a:t>Expert labels, alarm statistics and treatment outcomes improve the next judgement</a:t>
            </a:r>
          </a:p>
        </p:txBody>
      </p:sp>
      <p:sp>
        <p:nvSpPr>
          <p:cNvPr id="1043" name="s1043"/>
          <p:cNvSpPr>
            <a:spLocks noGrp="1"/>
          </p:cNvSpPr>
          <p:nvPr/>
        </p:nvSpPr>
        <p:spPr>
          <a:xfrm>
            <a:off x="685800" y="2514600"/>
            <a:ext cx="10817352" cy="640080"/>
          </a:xfrm>
          <a:prstGeom prst="roundRect">
            <a:avLst/>
          </a:prstGeom>
          <a:solidFill>
            <a:srgbClr val="FFFFFF"/>
          </a:solidFill>
          <a:ln w="0">
            <a:noFill/>
            <a:prstDash val="solid"/>
          </a:ln>
        </p:spPr>
        <p:txBody>
          <a:bodyPr wrap="square" lIns="0" tIns="0" rIns="0" bIns="0" anchor="t"/>
          <a:lstStyle/>
          <a:p>
            <a:endParaRPr lang="en-US"/>
          </a:p>
        </p:txBody>
      </p:sp>
      <p:sp>
        <p:nvSpPr>
          <p:cNvPr id="1044" name="s1044"/>
          <p:cNvSpPr>
            <a:spLocks noGrp="1"/>
          </p:cNvSpPr>
          <p:nvPr/>
        </p:nvSpPr>
        <p:spPr>
          <a:xfrm>
            <a:off x="685800" y="2514600"/>
            <a:ext cx="109728" cy="640080"/>
          </a:xfrm>
          <a:prstGeom prst="rect">
            <a:avLst/>
          </a:prstGeom>
          <a:solidFill>
            <a:srgbClr val="4C8DD9"/>
          </a:solidFill>
          <a:ln w="0">
            <a:noFill/>
            <a:prstDash val="solid"/>
          </a:ln>
        </p:spPr>
        <p:txBody>
          <a:bodyPr wrap="square" lIns="0" tIns="0" rIns="0" bIns="0" anchor="t"/>
          <a:lstStyle/>
          <a:p>
            <a:endParaRPr lang="en-US"/>
          </a:p>
        </p:txBody>
      </p:sp>
      <p:sp>
        <p:nvSpPr>
          <p:cNvPr id="1045" name="s1045"/>
          <p:cNvSpPr>
            <a:spLocks noGrp="1"/>
          </p:cNvSpPr>
          <p:nvPr/>
        </p:nvSpPr>
        <p:spPr>
          <a:xfrm>
            <a:off x="996696" y="2624328"/>
            <a:ext cx="1417320" cy="237744"/>
          </a:xfrm>
          <a:prstGeom prst="rect">
            <a:avLst/>
          </a:prstGeom>
          <a:noFill/>
          <a:ln w="0">
            <a:noFill/>
            <a:prstDash val="solid"/>
          </a:ln>
        </p:spPr>
        <p:txBody>
          <a:bodyPr wrap="square" lIns="0" tIns="0" rIns="0" bIns="0" anchor="t"/>
          <a:lstStyle/>
          <a:p>
            <a:pPr algn="l">
              <a:buNone/>
              <a:defRPr sz="1125"/>
            </a:pPr>
            <a:r>
              <a:rPr lang="en-US" sz="1125" b="1">
                <a:solidFill>
                  <a:srgbClr val="4C8DD9"/>
                </a:solidFill>
              </a:rPr>
              <a:t>LAYER 3</a:t>
            </a:r>
          </a:p>
        </p:txBody>
      </p:sp>
      <p:sp>
        <p:nvSpPr>
          <p:cNvPr id="1046" name="s1046"/>
          <p:cNvSpPr>
            <a:spLocks noGrp="1"/>
          </p:cNvSpPr>
          <p:nvPr/>
        </p:nvSpPr>
        <p:spPr>
          <a:xfrm>
            <a:off x="2514600" y="2596896"/>
            <a:ext cx="3246120" cy="292608"/>
          </a:xfrm>
          <a:prstGeom prst="rect">
            <a:avLst/>
          </a:prstGeom>
          <a:noFill/>
          <a:ln w="0">
            <a:noFill/>
            <a:prstDash val="solid"/>
          </a:ln>
        </p:spPr>
        <p:txBody>
          <a:bodyPr wrap="square" lIns="0" tIns="0" rIns="0" bIns="0" anchor="t"/>
          <a:lstStyle/>
          <a:p>
            <a:pPr algn="l">
              <a:buNone/>
              <a:defRPr sz="1575"/>
            </a:pPr>
            <a:r>
              <a:rPr lang="en-US" sz="1575" b="1">
                <a:solidFill>
                  <a:srgbClr val="10251F"/>
                </a:solidFill>
              </a:rPr>
              <a:t>Role-based serving</a:t>
            </a:r>
          </a:p>
        </p:txBody>
      </p:sp>
      <p:sp>
        <p:nvSpPr>
          <p:cNvPr id="1047" name="s1047"/>
          <p:cNvSpPr>
            <a:spLocks noGrp="1"/>
          </p:cNvSpPr>
          <p:nvPr/>
        </p:nvSpPr>
        <p:spPr>
          <a:xfrm>
            <a:off x="5943600" y="2615184"/>
            <a:ext cx="5285232" cy="457200"/>
          </a:xfrm>
          <a:prstGeom prst="rect">
            <a:avLst/>
          </a:prstGeom>
          <a:noFill/>
          <a:ln w="0">
            <a:noFill/>
            <a:prstDash val="solid"/>
          </a:ln>
        </p:spPr>
        <p:txBody>
          <a:bodyPr wrap="square" lIns="0" tIns="0" rIns="0" bIns="0" anchor="t"/>
          <a:lstStyle/>
          <a:p>
            <a:pPr algn="l">
              <a:buNone/>
              <a:defRPr sz="1350"/>
            </a:pPr>
            <a:r>
              <a:rPr lang="en-US" sz="1350">
                <a:solidFill>
                  <a:srgbClr val="66746F"/>
                </a:solidFill>
              </a:rPr>
              <a:t>The same data reaches farmer, veterinarian, biosecurity officer and administration differently</a:t>
            </a:r>
          </a:p>
        </p:txBody>
      </p:sp>
      <p:sp>
        <p:nvSpPr>
          <p:cNvPr id="1048" name="s1048"/>
          <p:cNvSpPr>
            <a:spLocks noGrp="1"/>
          </p:cNvSpPr>
          <p:nvPr/>
        </p:nvSpPr>
        <p:spPr>
          <a:xfrm>
            <a:off x="685800" y="3236976"/>
            <a:ext cx="10817352" cy="640080"/>
          </a:xfrm>
          <a:prstGeom prst="roundRect">
            <a:avLst/>
          </a:prstGeom>
          <a:solidFill>
            <a:srgbClr val="FFFFFF"/>
          </a:solidFill>
          <a:ln w="0">
            <a:noFill/>
            <a:prstDash val="solid"/>
          </a:ln>
        </p:spPr>
        <p:txBody>
          <a:bodyPr wrap="square" lIns="0" tIns="0" rIns="0" bIns="0" anchor="t"/>
          <a:lstStyle/>
          <a:p>
            <a:endParaRPr lang="en-US"/>
          </a:p>
        </p:txBody>
      </p:sp>
      <p:sp>
        <p:nvSpPr>
          <p:cNvPr id="1049" name="s1049"/>
          <p:cNvSpPr>
            <a:spLocks noGrp="1"/>
          </p:cNvSpPr>
          <p:nvPr/>
        </p:nvSpPr>
        <p:spPr>
          <a:xfrm>
            <a:off x="685800" y="3236976"/>
            <a:ext cx="109728" cy="640080"/>
          </a:xfrm>
          <a:prstGeom prst="rect">
            <a:avLst/>
          </a:prstGeom>
          <a:solidFill>
            <a:srgbClr val="15A98C"/>
          </a:solidFill>
          <a:ln w="0">
            <a:noFill/>
            <a:prstDash val="solid"/>
          </a:ln>
        </p:spPr>
        <p:txBody>
          <a:bodyPr wrap="square" lIns="0" tIns="0" rIns="0" bIns="0" anchor="t"/>
          <a:lstStyle/>
          <a:p>
            <a:endParaRPr lang="en-US"/>
          </a:p>
        </p:txBody>
      </p:sp>
      <p:sp>
        <p:nvSpPr>
          <p:cNvPr id="1050" name="s1050"/>
          <p:cNvSpPr>
            <a:spLocks noGrp="1"/>
          </p:cNvSpPr>
          <p:nvPr/>
        </p:nvSpPr>
        <p:spPr>
          <a:xfrm>
            <a:off x="996696" y="3346704"/>
            <a:ext cx="1417320" cy="237744"/>
          </a:xfrm>
          <a:prstGeom prst="rect">
            <a:avLst/>
          </a:prstGeom>
          <a:noFill/>
          <a:ln w="0">
            <a:noFill/>
            <a:prstDash val="solid"/>
          </a:ln>
        </p:spPr>
        <p:txBody>
          <a:bodyPr wrap="square" lIns="0" tIns="0" rIns="0" bIns="0" anchor="t"/>
          <a:lstStyle/>
          <a:p>
            <a:pPr algn="l">
              <a:buNone/>
              <a:defRPr sz="1125"/>
            </a:pPr>
            <a:r>
              <a:rPr lang="en-US" sz="1125" b="1">
                <a:solidFill>
                  <a:srgbClr val="15A98C"/>
                </a:solidFill>
              </a:rPr>
              <a:t>LAYER 2</a:t>
            </a:r>
          </a:p>
        </p:txBody>
      </p:sp>
      <p:sp>
        <p:nvSpPr>
          <p:cNvPr id="1051" name="s1051"/>
          <p:cNvSpPr>
            <a:spLocks noGrp="1"/>
          </p:cNvSpPr>
          <p:nvPr/>
        </p:nvSpPr>
        <p:spPr>
          <a:xfrm>
            <a:off x="2514600" y="3319272"/>
            <a:ext cx="3246120" cy="292608"/>
          </a:xfrm>
          <a:prstGeom prst="rect">
            <a:avLst/>
          </a:prstGeom>
          <a:noFill/>
          <a:ln w="0">
            <a:noFill/>
            <a:prstDash val="solid"/>
          </a:ln>
        </p:spPr>
        <p:txBody>
          <a:bodyPr wrap="square" lIns="0" tIns="0" rIns="0" bIns="0" anchor="t"/>
          <a:lstStyle/>
          <a:p>
            <a:pPr algn="l">
              <a:buNone/>
              <a:defRPr sz="1575"/>
            </a:pPr>
            <a:r>
              <a:rPr lang="en-US" sz="1575" b="1">
                <a:solidFill>
                  <a:srgbClr val="10251F"/>
                </a:solidFill>
              </a:rPr>
              <a:t>Interpretation</a:t>
            </a:r>
          </a:p>
        </p:txBody>
      </p:sp>
      <p:sp>
        <p:nvSpPr>
          <p:cNvPr id="1052" name="s1052"/>
          <p:cNvSpPr>
            <a:spLocks noGrp="1"/>
          </p:cNvSpPr>
          <p:nvPr/>
        </p:nvSpPr>
        <p:spPr>
          <a:xfrm>
            <a:off x="5943600" y="3337560"/>
            <a:ext cx="5285232" cy="457200"/>
          </a:xfrm>
          <a:prstGeom prst="rect">
            <a:avLst/>
          </a:prstGeom>
          <a:noFill/>
          <a:ln w="0">
            <a:noFill/>
            <a:prstDash val="solid"/>
          </a:ln>
        </p:spPr>
        <p:txBody>
          <a:bodyPr wrap="square" lIns="0" tIns="0" rIns="0" bIns="0" anchor="t"/>
          <a:lstStyle/>
          <a:p>
            <a:pPr algn="l">
              <a:buNone/>
              <a:defRPr sz="1350"/>
            </a:pPr>
            <a:r>
              <a:rPr lang="en-US" sz="1350">
                <a:solidFill>
                  <a:srgbClr val="66746F"/>
                </a:solidFill>
              </a:rPr>
              <a:t>Context is added to the event; every judgement carries its reasoning and its sources</a:t>
            </a:r>
          </a:p>
        </p:txBody>
      </p:sp>
      <p:sp>
        <p:nvSpPr>
          <p:cNvPr id="1053" name="s1053"/>
          <p:cNvSpPr>
            <a:spLocks noGrp="1"/>
          </p:cNvSpPr>
          <p:nvPr/>
        </p:nvSpPr>
        <p:spPr>
          <a:xfrm>
            <a:off x="685800" y="3959352"/>
            <a:ext cx="10817352" cy="640080"/>
          </a:xfrm>
          <a:prstGeom prst="roundRect">
            <a:avLst/>
          </a:prstGeom>
          <a:solidFill>
            <a:srgbClr val="FFFFFF"/>
          </a:solidFill>
          <a:ln w="0">
            <a:noFill/>
            <a:prstDash val="solid"/>
          </a:ln>
        </p:spPr>
        <p:txBody>
          <a:bodyPr wrap="square" lIns="0" tIns="0" rIns="0" bIns="0" anchor="t"/>
          <a:lstStyle/>
          <a:p>
            <a:endParaRPr lang="en-US"/>
          </a:p>
        </p:txBody>
      </p:sp>
      <p:sp>
        <p:nvSpPr>
          <p:cNvPr id="1054" name="s1054"/>
          <p:cNvSpPr>
            <a:spLocks noGrp="1"/>
          </p:cNvSpPr>
          <p:nvPr/>
        </p:nvSpPr>
        <p:spPr>
          <a:xfrm>
            <a:off x="685800" y="3959352"/>
            <a:ext cx="109728" cy="640080"/>
          </a:xfrm>
          <a:prstGeom prst="rect">
            <a:avLst/>
          </a:prstGeom>
          <a:solidFill>
            <a:srgbClr val="65D44A"/>
          </a:solidFill>
          <a:ln w="0">
            <a:noFill/>
            <a:prstDash val="solid"/>
          </a:ln>
        </p:spPr>
        <p:txBody>
          <a:bodyPr wrap="square" lIns="0" tIns="0" rIns="0" bIns="0" anchor="t"/>
          <a:lstStyle/>
          <a:p>
            <a:endParaRPr lang="en-US"/>
          </a:p>
        </p:txBody>
      </p:sp>
      <p:sp>
        <p:nvSpPr>
          <p:cNvPr id="1055" name="s1055"/>
          <p:cNvSpPr>
            <a:spLocks noGrp="1"/>
          </p:cNvSpPr>
          <p:nvPr/>
        </p:nvSpPr>
        <p:spPr>
          <a:xfrm>
            <a:off x="996696" y="4069080"/>
            <a:ext cx="1417320" cy="237744"/>
          </a:xfrm>
          <a:prstGeom prst="rect">
            <a:avLst/>
          </a:prstGeom>
          <a:noFill/>
          <a:ln w="0">
            <a:noFill/>
            <a:prstDash val="solid"/>
          </a:ln>
        </p:spPr>
        <p:txBody>
          <a:bodyPr wrap="square" lIns="0" tIns="0" rIns="0" bIns="0" anchor="t"/>
          <a:lstStyle/>
          <a:p>
            <a:pPr algn="l">
              <a:buNone/>
              <a:defRPr sz="1125"/>
            </a:pPr>
            <a:r>
              <a:rPr lang="en-US" sz="1125" b="1">
                <a:solidFill>
                  <a:srgbClr val="65D44A"/>
                </a:solidFill>
              </a:rPr>
              <a:t>LAYER 1</a:t>
            </a:r>
          </a:p>
        </p:txBody>
      </p:sp>
      <p:sp>
        <p:nvSpPr>
          <p:cNvPr id="1056" name="s1056"/>
          <p:cNvSpPr>
            <a:spLocks noGrp="1"/>
          </p:cNvSpPr>
          <p:nvPr/>
        </p:nvSpPr>
        <p:spPr>
          <a:xfrm>
            <a:off x="2514600" y="4041648"/>
            <a:ext cx="3246120" cy="292608"/>
          </a:xfrm>
          <a:prstGeom prst="rect">
            <a:avLst/>
          </a:prstGeom>
          <a:noFill/>
          <a:ln w="0">
            <a:noFill/>
            <a:prstDash val="solid"/>
          </a:ln>
        </p:spPr>
        <p:txBody>
          <a:bodyPr wrap="square" lIns="0" tIns="0" rIns="0" bIns="0" anchor="t"/>
          <a:lstStyle/>
          <a:p>
            <a:pPr algn="l">
              <a:buNone/>
              <a:defRPr sz="1575"/>
            </a:pPr>
            <a:r>
              <a:rPr lang="en-US" sz="1575" b="1">
                <a:solidFill>
                  <a:srgbClr val="10251F"/>
                </a:solidFill>
              </a:rPr>
              <a:t>Data integration</a:t>
            </a:r>
          </a:p>
        </p:txBody>
      </p:sp>
      <p:sp>
        <p:nvSpPr>
          <p:cNvPr id="1057" name="s1057"/>
          <p:cNvSpPr>
            <a:spLocks noGrp="1"/>
          </p:cNvSpPr>
          <p:nvPr/>
        </p:nvSpPr>
        <p:spPr>
          <a:xfrm>
            <a:off x="5943600" y="4059936"/>
            <a:ext cx="5285232" cy="457200"/>
          </a:xfrm>
          <a:prstGeom prst="rect">
            <a:avLst/>
          </a:prstGeom>
          <a:noFill/>
          <a:ln w="0">
            <a:noFill/>
            <a:prstDash val="solid"/>
          </a:ln>
        </p:spPr>
        <p:txBody>
          <a:bodyPr wrap="square" lIns="0" tIns="0" rIns="0" bIns="0" anchor="t"/>
          <a:lstStyle/>
          <a:p>
            <a:pPr algn="l">
              <a:buNone/>
              <a:defRPr sz="1350"/>
            </a:pPr>
            <a:r>
              <a:rPr lang="en-US" sz="1350">
                <a:solidFill>
                  <a:srgbClr val="66746F"/>
                </a:solidFill>
              </a:rPr>
              <a:t>Sensor events, national records, farm history and weather are joined onto one animal</a:t>
            </a:r>
          </a:p>
        </p:txBody>
      </p:sp>
      <p:sp>
        <p:nvSpPr>
          <p:cNvPr id="1058" name="s105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059" name="s1059"/>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The sensor event is trusted, not re-judged. CowTalk adds what the sensor cannot know.</a:t>
            </a:r>
          </a:p>
        </p:txBody>
      </p:sp>
      <p:sp>
        <p:nvSpPr>
          <p:cNvPr id="1062" name="s1062"/>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063" name="s1063"/>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086" name="s1086"/>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CONTEXT</a:t>
            </a:r>
          </a:p>
        </p:txBody>
      </p:sp>
      <p:sp>
        <p:nvSpPr>
          <p:cNvPr id="1087" name="s1087"/>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One cow carries four numbers that used to live apart</a:t>
            </a:r>
          </a:p>
        </p:txBody>
      </p:sp>
      <p:sp>
        <p:nvSpPr>
          <p:cNvPr id="1064" name="s1064"/>
          <p:cNvSpPr>
            <a:spLocks noGrp="1"/>
          </p:cNvSpPr>
          <p:nvPr/>
        </p:nvSpPr>
        <p:spPr>
          <a:xfrm>
            <a:off x="685800"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065" name="s1065"/>
          <p:cNvSpPr>
            <a:spLocks noGrp="1"/>
          </p:cNvSpPr>
          <p:nvPr/>
        </p:nvSpPr>
        <p:spPr>
          <a:xfrm>
            <a:off x="685800" y="1901952"/>
            <a:ext cx="2471166" cy="109728"/>
          </a:xfrm>
          <a:prstGeom prst="rect">
            <a:avLst/>
          </a:prstGeom>
          <a:solidFill>
            <a:srgbClr val="E96155"/>
          </a:solidFill>
          <a:ln w="0">
            <a:noFill/>
            <a:prstDash val="solid"/>
          </a:ln>
        </p:spPr>
        <p:txBody>
          <a:bodyPr wrap="square" lIns="0" tIns="0" rIns="0" bIns="0" anchor="t"/>
          <a:lstStyle/>
          <a:p>
            <a:endParaRPr lang="en-US"/>
          </a:p>
        </p:txBody>
      </p:sp>
      <p:sp>
        <p:nvSpPr>
          <p:cNvPr id="1066" name="s1066"/>
          <p:cNvSpPr>
            <a:spLocks noGrp="1"/>
          </p:cNvSpPr>
          <p:nvPr/>
        </p:nvSpPr>
        <p:spPr>
          <a:xfrm>
            <a:off x="950976"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NATIONAL ID</a:t>
            </a:r>
          </a:p>
        </p:txBody>
      </p:sp>
      <p:sp>
        <p:nvSpPr>
          <p:cNvPr id="1067" name="s1067"/>
          <p:cNvSpPr>
            <a:spLocks noGrp="1"/>
          </p:cNvSpPr>
          <p:nvPr/>
        </p:nvSpPr>
        <p:spPr>
          <a:xfrm>
            <a:off x="950976"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Traceability number</a:t>
            </a:r>
          </a:p>
        </p:txBody>
      </p:sp>
      <p:sp>
        <p:nvSpPr>
          <p:cNvPr id="1068" name="s1068"/>
          <p:cNvSpPr>
            <a:spLocks noGrp="1"/>
          </p:cNvSpPr>
          <p:nvPr/>
        </p:nvSpPr>
        <p:spPr>
          <a:xfrm>
            <a:off x="950976"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Issued by the state within two weeks of birth. The key that unlocks national records.</a:t>
            </a:r>
          </a:p>
        </p:txBody>
      </p:sp>
      <p:sp>
        <p:nvSpPr>
          <p:cNvPr id="1069" name="s1069"/>
          <p:cNvSpPr>
            <a:spLocks noGrp="1"/>
          </p:cNvSpPr>
          <p:nvPr/>
        </p:nvSpPr>
        <p:spPr>
          <a:xfrm>
            <a:off x="3467862"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070" name="s1070"/>
          <p:cNvSpPr>
            <a:spLocks noGrp="1"/>
          </p:cNvSpPr>
          <p:nvPr/>
        </p:nvSpPr>
        <p:spPr>
          <a:xfrm>
            <a:off x="3467862" y="1901952"/>
            <a:ext cx="2471166" cy="109728"/>
          </a:xfrm>
          <a:prstGeom prst="rect">
            <a:avLst/>
          </a:prstGeom>
          <a:solidFill>
            <a:srgbClr val="15A98C"/>
          </a:solidFill>
          <a:ln w="0">
            <a:noFill/>
            <a:prstDash val="solid"/>
          </a:ln>
        </p:spPr>
        <p:txBody>
          <a:bodyPr wrap="square" lIns="0" tIns="0" rIns="0" bIns="0" anchor="t"/>
          <a:lstStyle/>
          <a:p>
            <a:endParaRPr lang="en-US"/>
          </a:p>
        </p:txBody>
      </p:sp>
      <p:sp>
        <p:nvSpPr>
          <p:cNvPr id="1071" name="s1071"/>
          <p:cNvSpPr>
            <a:spLocks noGrp="1"/>
          </p:cNvSpPr>
          <p:nvPr/>
        </p:nvSpPr>
        <p:spPr>
          <a:xfrm>
            <a:off x="3733038"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15A98C"/>
                </a:solidFill>
              </a:rPr>
              <a:t>FARM TAG</a:t>
            </a:r>
          </a:p>
        </p:txBody>
      </p:sp>
      <p:sp>
        <p:nvSpPr>
          <p:cNvPr id="1072" name="s1072"/>
          <p:cNvSpPr>
            <a:spLocks noGrp="1"/>
          </p:cNvSpPr>
          <p:nvPr/>
        </p:nvSpPr>
        <p:spPr>
          <a:xfrm>
            <a:off x="3733038"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Management number</a:t>
            </a:r>
          </a:p>
        </p:txBody>
      </p:sp>
      <p:sp>
        <p:nvSpPr>
          <p:cNvPr id="1073" name="s1073"/>
          <p:cNvSpPr>
            <a:spLocks noGrp="1"/>
          </p:cNvSpPr>
          <p:nvPr/>
        </p:nvSpPr>
        <p:spPr>
          <a:xfrm>
            <a:off x="3733038"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What the farm actually calls her. The number used in every conversation on the yard.</a:t>
            </a:r>
          </a:p>
        </p:txBody>
      </p:sp>
      <p:sp>
        <p:nvSpPr>
          <p:cNvPr id="1074" name="s1074"/>
          <p:cNvSpPr>
            <a:spLocks noGrp="1"/>
          </p:cNvSpPr>
          <p:nvPr/>
        </p:nvSpPr>
        <p:spPr>
          <a:xfrm>
            <a:off x="6249924"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075" name="s1075"/>
          <p:cNvSpPr>
            <a:spLocks noGrp="1"/>
          </p:cNvSpPr>
          <p:nvPr/>
        </p:nvSpPr>
        <p:spPr>
          <a:xfrm>
            <a:off x="6249924" y="1901952"/>
            <a:ext cx="2471166" cy="109728"/>
          </a:xfrm>
          <a:prstGeom prst="rect">
            <a:avLst/>
          </a:prstGeom>
          <a:solidFill>
            <a:srgbClr val="4C8DD9"/>
          </a:solidFill>
          <a:ln w="0">
            <a:noFill/>
            <a:prstDash val="solid"/>
          </a:ln>
        </p:spPr>
        <p:txBody>
          <a:bodyPr wrap="square" lIns="0" tIns="0" rIns="0" bIns="0" anchor="t"/>
          <a:lstStyle/>
          <a:p>
            <a:endParaRPr lang="en-US"/>
          </a:p>
        </p:txBody>
      </p:sp>
      <p:sp>
        <p:nvSpPr>
          <p:cNvPr id="1076" name="s1076"/>
          <p:cNvSpPr>
            <a:spLocks noGrp="1"/>
          </p:cNvSpPr>
          <p:nvPr/>
        </p:nvSpPr>
        <p:spPr>
          <a:xfrm>
            <a:off x="6515100"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PEDIGREE ID</a:t>
            </a:r>
          </a:p>
        </p:txBody>
      </p:sp>
      <p:sp>
        <p:nvSpPr>
          <p:cNvPr id="1077" name="s1077"/>
          <p:cNvSpPr>
            <a:spLocks noGrp="1"/>
          </p:cNvSpPr>
          <p:nvPr/>
        </p:nvSpPr>
        <p:spPr>
          <a:xfrm>
            <a:off x="6515100"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Breeding registry</a:t>
            </a:r>
          </a:p>
        </p:txBody>
      </p:sp>
      <p:sp>
        <p:nvSpPr>
          <p:cNvPr id="1078" name="s1078"/>
          <p:cNvSpPr>
            <a:spLocks noGrp="1"/>
          </p:cNvSpPr>
          <p:nvPr/>
        </p:nvSpPr>
        <p:spPr>
          <a:xfrm>
            <a:off x="6515100"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Ancestry and genetic merit. Needed for inbreeding checks and semen selection.</a:t>
            </a:r>
          </a:p>
        </p:txBody>
      </p:sp>
      <p:sp>
        <p:nvSpPr>
          <p:cNvPr id="1079" name="s1079"/>
          <p:cNvSpPr>
            <a:spLocks noGrp="1"/>
          </p:cNvSpPr>
          <p:nvPr/>
        </p:nvSpPr>
        <p:spPr>
          <a:xfrm>
            <a:off x="9031986"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080" name="s1080"/>
          <p:cNvSpPr>
            <a:spLocks noGrp="1"/>
          </p:cNvSpPr>
          <p:nvPr/>
        </p:nvSpPr>
        <p:spPr>
          <a:xfrm>
            <a:off x="9031986" y="1901952"/>
            <a:ext cx="2471166" cy="109728"/>
          </a:xfrm>
          <a:prstGeom prst="rect">
            <a:avLst/>
          </a:prstGeom>
          <a:solidFill>
            <a:srgbClr val="F6B846"/>
          </a:solidFill>
          <a:ln w="0">
            <a:noFill/>
            <a:prstDash val="solid"/>
          </a:ln>
        </p:spPr>
        <p:txBody>
          <a:bodyPr wrap="square" lIns="0" tIns="0" rIns="0" bIns="0" anchor="t"/>
          <a:lstStyle/>
          <a:p>
            <a:endParaRPr lang="en-US"/>
          </a:p>
        </p:txBody>
      </p:sp>
      <p:sp>
        <p:nvSpPr>
          <p:cNvPr id="1081" name="s1081"/>
          <p:cNvSpPr>
            <a:spLocks noGrp="1"/>
          </p:cNvSpPr>
          <p:nvPr/>
        </p:nvSpPr>
        <p:spPr>
          <a:xfrm>
            <a:off x="9297162"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F6B846"/>
                </a:solidFill>
              </a:rPr>
              <a:t>DEVICE SERIAL</a:t>
            </a:r>
          </a:p>
        </p:txBody>
      </p:sp>
      <p:sp>
        <p:nvSpPr>
          <p:cNvPr id="1082" name="s1082"/>
          <p:cNvSpPr>
            <a:spLocks noGrp="1"/>
          </p:cNvSpPr>
          <p:nvPr/>
        </p:nvSpPr>
        <p:spPr>
          <a:xfrm>
            <a:off x="9297162"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Sensor identity</a:t>
            </a:r>
          </a:p>
        </p:txBody>
      </p:sp>
      <p:sp>
        <p:nvSpPr>
          <p:cNvPr id="1083" name="s1083"/>
          <p:cNvSpPr>
            <a:spLocks noGrp="1"/>
          </p:cNvSpPr>
          <p:nvPr/>
        </p:nvSpPr>
        <p:spPr>
          <a:xfrm>
            <a:off x="9297162"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The bolus inside her. Links the physiological stream to everything above.</a:t>
            </a:r>
          </a:p>
        </p:txBody>
      </p:sp>
      <p:sp>
        <p:nvSpPr>
          <p:cNvPr id="1084" name="s108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085" name="s1085"/>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Joining these four is what turns “this cow has a fever” into a priority and a cost.</a:t>
            </a:r>
          </a:p>
        </p:txBody>
      </p:sp>
      <p:sp>
        <p:nvSpPr>
          <p:cNvPr id="1088" name="s1088"/>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089" name="s1089"/>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16" name="s1116"/>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BOUNDARIES</a:t>
            </a:r>
          </a:p>
        </p:txBody>
      </p:sp>
      <p:sp>
        <p:nvSpPr>
          <p:cNvPr id="1117" name="s1117"/>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What the assistant does and does not do</a:t>
            </a:r>
          </a:p>
        </p:txBody>
      </p:sp>
      <p:sp>
        <p:nvSpPr>
          <p:cNvPr id="1090" name="s1090"/>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091" name="s1091"/>
          <p:cNvSpPr>
            <a:spLocks noGrp="1"/>
          </p:cNvSpPr>
          <p:nvPr/>
        </p:nvSpPr>
        <p:spPr>
          <a:xfrm>
            <a:off x="685800" y="1883664"/>
            <a:ext cx="5212080" cy="109728"/>
          </a:xfrm>
          <a:prstGeom prst="rect">
            <a:avLst/>
          </a:prstGeom>
          <a:solidFill>
            <a:srgbClr val="15A98C"/>
          </a:solidFill>
          <a:ln w="0">
            <a:noFill/>
            <a:prstDash val="solid"/>
          </a:ln>
        </p:spPr>
        <p:txBody>
          <a:bodyPr wrap="square" lIns="0" tIns="0" rIns="0" bIns="0" anchor="t"/>
          <a:lstStyle/>
          <a:p>
            <a:endParaRPr lang="en-US"/>
          </a:p>
        </p:txBody>
      </p:sp>
      <p:sp>
        <p:nvSpPr>
          <p:cNvPr id="1092" name="s1092"/>
          <p:cNvSpPr>
            <a:spLocks noGrp="1"/>
          </p:cNvSpPr>
          <p:nvPr/>
        </p:nvSpPr>
        <p:spPr>
          <a:xfrm>
            <a:off x="960120"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15A98C"/>
                </a:solidFill>
              </a:rPr>
              <a:t>IT DOES</a:t>
            </a:r>
          </a:p>
        </p:txBody>
      </p:sp>
      <p:sp>
        <p:nvSpPr>
          <p:cNvPr id="1093" name="s1093"/>
          <p:cNvSpPr>
            <a:spLocks noGrp="1"/>
          </p:cNvSpPr>
          <p:nvPr/>
        </p:nvSpPr>
        <p:spPr>
          <a:xfrm>
            <a:off x="960120"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Organise and evidence</a:t>
            </a:r>
          </a:p>
        </p:txBody>
      </p:sp>
      <p:sp>
        <p:nvSpPr>
          <p:cNvPr id="1094" name="s1094"/>
          <p:cNvSpPr>
            <a:spLocks noGrp="1"/>
          </p:cNvSpPr>
          <p:nvPr/>
        </p:nvSpPr>
        <p:spPr>
          <a:xfrm>
            <a:off x="978408" y="3127248"/>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095" name="s1095"/>
          <p:cNvSpPr>
            <a:spLocks noGrp="1"/>
          </p:cNvSpPr>
          <p:nvPr/>
        </p:nvSpPr>
        <p:spPr>
          <a:xfrm>
            <a:off x="1216152" y="3072384"/>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Gather the animal’s full context in one place</a:t>
            </a:r>
          </a:p>
        </p:txBody>
      </p:sp>
      <p:sp>
        <p:nvSpPr>
          <p:cNvPr id="1096" name="s1096"/>
          <p:cNvSpPr>
            <a:spLocks noGrp="1"/>
          </p:cNvSpPr>
          <p:nvPr/>
        </p:nvSpPr>
        <p:spPr>
          <a:xfrm>
            <a:off x="978408" y="3529584"/>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097" name="s1097"/>
          <p:cNvSpPr>
            <a:spLocks noGrp="1"/>
          </p:cNvSpPr>
          <p:nvPr/>
        </p:nvSpPr>
        <p:spPr>
          <a:xfrm>
            <a:off x="1216152" y="3474720"/>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Rank candidate explanations with the evidence for each</a:t>
            </a:r>
          </a:p>
        </p:txBody>
      </p:sp>
      <p:sp>
        <p:nvSpPr>
          <p:cNvPr id="1098" name="s1098"/>
          <p:cNvSpPr>
            <a:spLocks noGrp="1"/>
          </p:cNvSpPr>
          <p:nvPr/>
        </p:nvSpPr>
        <p:spPr>
          <a:xfrm>
            <a:off x="978408" y="3931920"/>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099" name="s1099"/>
          <p:cNvSpPr>
            <a:spLocks noGrp="1"/>
          </p:cNvSpPr>
          <p:nvPr/>
        </p:nvSpPr>
        <p:spPr>
          <a:xfrm>
            <a:off x="1216152" y="3877056"/>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Propose the next check and the expected timing</a:t>
            </a:r>
          </a:p>
        </p:txBody>
      </p:sp>
      <p:sp>
        <p:nvSpPr>
          <p:cNvPr id="1100" name="s1100"/>
          <p:cNvSpPr>
            <a:spLocks noGrp="1"/>
          </p:cNvSpPr>
          <p:nvPr/>
        </p:nvSpPr>
        <p:spPr>
          <a:xfrm>
            <a:off x="978408" y="4334256"/>
            <a:ext cx="100584" cy="100584"/>
          </a:xfrm>
          <a:prstGeom prst="ellipse">
            <a:avLst/>
          </a:prstGeom>
          <a:solidFill>
            <a:srgbClr val="15A98C"/>
          </a:solidFill>
          <a:ln w="0">
            <a:noFill/>
            <a:prstDash val="solid"/>
          </a:ln>
        </p:spPr>
        <p:txBody>
          <a:bodyPr wrap="square" lIns="0" tIns="0" rIns="0" bIns="0" anchor="t"/>
          <a:lstStyle/>
          <a:p>
            <a:endParaRPr lang="en-US"/>
          </a:p>
        </p:txBody>
      </p:sp>
      <p:sp>
        <p:nvSpPr>
          <p:cNvPr id="1101" name="s1101"/>
          <p:cNvSpPr>
            <a:spLocks noGrp="1"/>
          </p:cNvSpPr>
          <p:nvPr/>
        </p:nvSpPr>
        <p:spPr>
          <a:xfrm>
            <a:off x="1216152" y="4279392"/>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Write the record once the person has acted</a:t>
            </a:r>
          </a:p>
        </p:txBody>
      </p:sp>
      <p:sp>
        <p:nvSpPr>
          <p:cNvPr id="1102" name="s1102"/>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103" name="s1103"/>
          <p:cNvSpPr>
            <a:spLocks noGrp="1"/>
          </p:cNvSpPr>
          <p:nvPr/>
        </p:nvSpPr>
        <p:spPr>
          <a:xfrm>
            <a:off x="6291072" y="1883664"/>
            <a:ext cx="5212080" cy="109728"/>
          </a:xfrm>
          <a:prstGeom prst="rect">
            <a:avLst/>
          </a:prstGeom>
          <a:solidFill>
            <a:srgbClr val="E96155"/>
          </a:solidFill>
          <a:ln w="0">
            <a:noFill/>
            <a:prstDash val="solid"/>
          </a:ln>
        </p:spPr>
        <p:txBody>
          <a:bodyPr wrap="square" lIns="0" tIns="0" rIns="0" bIns="0" anchor="t"/>
          <a:lstStyle/>
          <a:p>
            <a:endParaRPr lang="en-US"/>
          </a:p>
        </p:txBody>
      </p:sp>
      <p:sp>
        <p:nvSpPr>
          <p:cNvPr id="1104" name="s1104"/>
          <p:cNvSpPr>
            <a:spLocks noGrp="1"/>
          </p:cNvSpPr>
          <p:nvPr/>
        </p:nvSpPr>
        <p:spPr>
          <a:xfrm>
            <a:off x="6565392"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IT DOES NOT</a:t>
            </a:r>
          </a:p>
        </p:txBody>
      </p:sp>
      <p:sp>
        <p:nvSpPr>
          <p:cNvPr id="1105" name="s1105"/>
          <p:cNvSpPr>
            <a:spLocks noGrp="1"/>
          </p:cNvSpPr>
          <p:nvPr/>
        </p:nvSpPr>
        <p:spPr>
          <a:xfrm>
            <a:off x="6565392"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Decide or prescribe</a:t>
            </a:r>
          </a:p>
        </p:txBody>
      </p:sp>
      <p:sp>
        <p:nvSpPr>
          <p:cNvPr id="1106" name="s1106"/>
          <p:cNvSpPr>
            <a:spLocks noGrp="1"/>
          </p:cNvSpPr>
          <p:nvPr/>
        </p:nvSpPr>
        <p:spPr>
          <a:xfrm>
            <a:off x="6583680" y="3127248"/>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107" name="s1107"/>
          <p:cNvSpPr>
            <a:spLocks noGrp="1"/>
          </p:cNvSpPr>
          <p:nvPr/>
        </p:nvSpPr>
        <p:spPr>
          <a:xfrm>
            <a:off x="6821424" y="3072384"/>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It does not diagnose — it presents candidates</a:t>
            </a:r>
          </a:p>
        </p:txBody>
      </p:sp>
      <p:sp>
        <p:nvSpPr>
          <p:cNvPr id="1108" name="s1108"/>
          <p:cNvSpPr>
            <a:spLocks noGrp="1"/>
          </p:cNvSpPr>
          <p:nvPr/>
        </p:nvSpPr>
        <p:spPr>
          <a:xfrm>
            <a:off x="6583680" y="3529584"/>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109" name="s1109"/>
          <p:cNvSpPr>
            <a:spLocks noGrp="1"/>
          </p:cNvSpPr>
          <p:nvPr/>
        </p:nvSpPr>
        <p:spPr>
          <a:xfrm>
            <a:off x="6821424" y="3474720"/>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It does not prescribe — that stays with the veterinarian</a:t>
            </a:r>
          </a:p>
        </p:txBody>
      </p:sp>
      <p:sp>
        <p:nvSpPr>
          <p:cNvPr id="1110" name="s1110"/>
          <p:cNvSpPr>
            <a:spLocks noGrp="1"/>
          </p:cNvSpPr>
          <p:nvPr/>
        </p:nvSpPr>
        <p:spPr>
          <a:xfrm>
            <a:off x="6583680" y="3931920"/>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111" name="s1111"/>
          <p:cNvSpPr>
            <a:spLocks noGrp="1"/>
          </p:cNvSpPr>
          <p:nvPr/>
        </p:nvSpPr>
        <p:spPr>
          <a:xfrm>
            <a:off x="6821424" y="3877056"/>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It does not act without approval — no silent execution</a:t>
            </a:r>
          </a:p>
        </p:txBody>
      </p:sp>
      <p:sp>
        <p:nvSpPr>
          <p:cNvPr id="1112" name="s1112"/>
          <p:cNvSpPr>
            <a:spLocks noGrp="1"/>
          </p:cNvSpPr>
          <p:nvPr/>
        </p:nvSpPr>
        <p:spPr>
          <a:xfrm>
            <a:off x="6583680" y="4334256"/>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113" name="s1113"/>
          <p:cNvSpPr>
            <a:spLocks noGrp="1"/>
          </p:cNvSpPr>
          <p:nvPr/>
        </p:nvSpPr>
        <p:spPr>
          <a:xfrm>
            <a:off x="6821424" y="4279392"/>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It does not answer without data — “no data” is a valid answer</a:t>
            </a:r>
          </a:p>
        </p:txBody>
      </p:sp>
      <p:sp>
        <p:nvSpPr>
          <p:cNvPr id="1114" name="s111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115" name="s1115"/>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Every output records its sources. An answer without evidence is treated as a failure, not a result.</a:t>
            </a:r>
          </a:p>
        </p:txBody>
      </p:sp>
      <p:sp>
        <p:nvSpPr>
          <p:cNvPr id="1118" name="s1118"/>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119" name="s1119"/>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120" name="s1120"/>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08</a:t>
            </a:r>
          </a:p>
        </p:txBody>
      </p:sp>
      <p:sp>
        <p:nvSpPr>
          <p:cNvPr id="1121" name="s1121"/>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The assistant</a:t>
            </a:r>
          </a:p>
        </p:txBody>
      </p:sp>
      <p:sp>
        <p:nvSpPr>
          <p:cNvPr id="1122" name="s1122"/>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Ask in plain language. The system answers from your own farm data — and shows where every number came from.</a:t>
            </a:r>
          </a:p>
        </p:txBody>
      </p:sp>
      <p:sp>
        <p:nvSpPr>
          <p:cNvPr id="1123" name="s1123"/>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124" name="s1124"/>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125" name="s1125"/>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126" name="s1126"/>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127" name="s1127"/>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128" name="s1128"/>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129" name="s1129"/>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130" name="s1130"/>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58" name="s1158"/>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TOOLS</a:t>
            </a:r>
          </a:p>
        </p:txBody>
      </p:sp>
      <p:sp>
        <p:nvSpPr>
          <p:cNvPr id="1159" name="s1159"/>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assistant works only through a fixed set of permitted tools</a:t>
            </a:r>
          </a:p>
        </p:txBody>
      </p:sp>
      <p:sp>
        <p:nvSpPr>
          <p:cNvPr id="1131" name="s1131"/>
          <p:cNvSpPr>
            <a:spLocks noGrp="1"/>
          </p:cNvSpPr>
          <p:nvPr/>
        </p:nvSpPr>
        <p:spPr>
          <a:xfrm>
            <a:off x="685800" y="1901952"/>
            <a:ext cx="2002536" cy="2788920"/>
          </a:xfrm>
          <a:prstGeom prst="roundRect">
            <a:avLst/>
          </a:prstGeom>
          <a:solidFill>
            <a:srgbClr val="FFFFFF"/>
          </a:solidFill>
          <a:ln w="0">
            <a:noFill/>
            <a:prstDash val="solid"/>
          </a:ln>
        </p:spPr>
        <p:txBody>
          <a:bodyPr wrap="square" lIns="0" tIns="0" rIns="0" bIns="0" anchor="t"/>
          <a:lstStyle/>
          <a:p>
            <a:endParaRPr lang="en-US"/>
          </a:p>
        </p:txBody>
      </p:sp>
      <p:sp>
        <p:nvSpPr>
          <p:cNvPr id="1132" name="s1132"/>
          <p:cNvSpPr>
            <a:spLocks noGrp="1"/>
          </p:cNvSpPr>
          <p:nvPr/>
        </p:nvSpPr>
        <p:spPr>
          <a:xfrm>
            <a:off x="685800" y="1901952"/>
            <a:ext cx="2002536" cy="109728"/>
          </a:xfrm>
          <a:prstGeom prst="rect">
            <a:avLst/>
          </a:prstGeom>
          <a:solidFill>
            <a:srgbClr val="15A98C"/>
          </a:solidFill>
          <a:ln w="0">
            <a:noFill/>
            <a:prstDash val="solid"/>
          </a:ln>
        </p:spPr>
        <p:txBody>
          <a:bodyPr wrap="square" lIns="0" tIns="0" rIns="0" bIns="0" anchor="t"/>
          <a:lstStyle/>
          <a:p>
            <a:endParaRPr lang="en-US"/>
          </a:p>
        </p:txBody>
      </p:sp>
      <p:sp>
        <p:nvSpPr>
          <p:cNvPr id="1133" name="s1133"/>
          <p:cNvSpPr>
            <a:spLocks noGrp="1"/>
          </p:cNvSpPr>
          <p:nvPr/>
        </p:nvSpPr>
        <p:spPr>
          <a:xfrm>
            <a:off x="950976" y="2249424"/>
            <a:ext cx="1472184" cy="274320"/>
          </a:xfrm>
          <a:prstGeom prst="rect">
            <a:avLst/>
          </a:prstGeom>
          <a:noFill/>
          <a:ln w="0">
            <a:noFill/>
            <a:prstDash val="solid"/>
          </a:ln>
        </p:spPr>
        <p:txBody>
          <a:bodyPr wrap="square" lIns="0" tIns="0" rIns="0" bIns="0" anchor="t"/>
          <a:lstStyle/>
          <a:p>
            <a:pPr algn="l">
              <a:buNone/>
              <a:defRPr sz="1275"/>
            </a:pPr>
            <a:r>
              <a:rPr lang="en-US" sz="1275" b="1">
                <a:solidFill>
                  <a:srgbClr val="15A98C"/>
                </a:solidFill>
              </a:rPr>
              <a:t>SENSOR</a:t>
            </a:r>
          </a:p>
        </p:txBody>
      </p:sp>
      <p:sp>
        <p:nvSpPr>
          <p:cNvPr id="1134" name="s1134"/>
          <p:cNvSpPr>
            <a:spLocks noGrp="1"/>
          </p:cNvSpPr>
          <p:nvPr/>
        </p:nvSpPr>
        <p:spPr>
          <a:xfrm>
            <a:off x="950976" y="2670048"/>
            <a:ext cx="147218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Animal &amp; signal</a:t>
            </a:r>
          </a:p>
        </p:txBody>
      </p:sp>
      <p:sp>
        <p:nvSpPr>
          <p:cNvPr id="1135" name="s1135"/>
          <p:cNvSpPr>
            <a:spLocks noGrp="1"/>
          </p:cNvSpPr>
          <p:nvPr/>
        </p:nvSpPr>
        <p:spPr>
          <a:xfrm>
            <a:off x="950976" y="3438144"/>
            <a:ext cx="1472184" cy="1005840"/>
          </a:xfrm>
          <a:prstGeom prst="rect">
            <a:avLst/>
          </a:prstGeom>
          <a:noFill/>
          <a:ln w="0">
            <a:noFill/>
            <a:prstDash val="solid"/>
          </a:ln>
        </p:spPr>
        <p:txBody>
          <a:bodyPr wrap="square" lIns="0" tIns="0" rIns="0" bIns="0" anchor="t"/>
          <a:lstStyle/>
          <a:p>
            <a:pPr algn="l">
              <a:buNone/>
              <a:defRPr sz="1150"/>
            </a:pPr>
            <a:r>
              <a:rPr lang="en-US" sz="1150">
                <a:solidFill>
                  <a:srgbClr val="66746F"/>
                </a:solidFill>
              </a:rPr>
              <a:t>Profile, event history, temperature and activity series, weather and heat index</a:t>
            </a:r>
          </a:p>
        </p:txBody>
      </p:sp>
      <p:sp>
        <p:nvSpPr>
          <p:cNvPr id="1136" name="s1136"/>
          <p:cNvSpPr>
            <a:spLocks noGrp="1"/>
          </p:cNvSpPr>
          <p:nvPr/>
        </p:nvSpPr>
        <p:spPr>
          <a:xfrm>
            <a:off x="2889504" y="1901952"/>
            <a:ext cx="2002536" cy="2788920"/>
          </a:xfrm>
          <a:prstGeom prst="roundRect">
            <a:avLst/>
          </a:prstGeom>
          <a:solidFill>
            <a:srgbClr val="FFFFFF"/>
          </a:solidFill>
          <a:ln w="0">
            <a:noFill/>
            <a:prstDash val="solid"/>
          </a:ln>
        </p:spPr>
        <p:txBody>
          <a:bodyPr wrap="square" lIns="0" tIns="0" rIns="0" bIns="0" anchor="t"/>
          <a:lstStyle/>
          <a:p>
            <a:endParaRPr lang="en-US"/>
          </a:p>
        </p:txBody>
      </p:sp>
      <p:sp>
        <p:nvSpPr>
          <p:cNvPr id="1137" name="s1137"/>
          <p:cNvSpPr>
            <a:spLocks noGrp="1"/>
          </p:cNvSpPr>
          <p:nvPr/>
        </p:nvSpPr>
        <p:spPr>
          <a:xfrm>
            <a:off x="2889504" y="1901952"/>
            <a:ext cx="2002536" cy="109728"/>
          </a:xfrm>
          <a:prstGeom prst="rect">
            <a:avLst/>
          </a:prstGeom>
          <a:solidFill>
            <a:srgbClr val="65D44A"/>
          </a:solidFill>
          <a:ln w="0">
            <a:noFill/>
            <a:prstDash val="solid"/>
          </a:ln>
        </p:spPr>
        <p:txBody>
          <a:bodyPr wrap="square" lIns="0" tIns="0" rIns="0" bIns="0" anchor="t"/>
          <a:lstStyle/>
          <a:p>
            <a:endParaRPr lang="en-US"/>
          </a:p>
        </p:txBody>
      </p:sp>
      <p:sp>
        <p:nvSpPr>
          <p:cNvPr id="1138" name="s1138"/>
          <p:cNvSpPr>
            <a:spLocks noGrp="1"/>
          </p:cNvSpPr>
          <p:nvPr/>
        </p:nvSpPr>
        <p:spPr>
          <a:xfrm>
            <a:off x="3154680" y="2249424"/>
            <a:ext cx="1472184" cy="274320"/>
          </a:xfrm>
          <a:prstGeom prst="rect">
            <a:avLst/>
          </a:prstGeom>
          <a:noFill/>
          <a:ln w="0">
            <a:noFill/>
            <a:prstDash val="solid"/>
          </a:ln>
        </p:spPr>
        <p:txBody>
          <a:bodyPr wrap="square" lIns="0" tIns="0" rIns="0" bIns="0" anchor="t"/>
          <a:lstStyle/>
          <a:p>
            <a:pPr algn="l">
              <a:buNone/>
              <a:defRPr sz="1275"/>
            </a:pPr>
            <a:r>
              <a:rPr lang="en-US" sz="1275" b="1">
                <a:solidFill>
                  <a:srgbClr val="65D44A"/>
                </a:solidFill>
              </a:rPr>
              <a:t>FARM</a:t>
            </a:r>
          </a:p>
        </p:txBody>
      </p:sp>
      <p:sp>
        <p:nvSpPr>
          <p:cNvPr id="1139" name="s1139"/>
          <p:cNvSpPr>
            <a:spLocks noGrp="1"/>
          </p:cNvSpPr>
          <p:nvPr/>
        </p:nvSpPr>
        <p:spPr>
          <a:xfrm>
            <a:off x="3154680" y="2670048"/>
            <a:ext cx="147218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Herd &amp; records</a:t>
            </a:r>
          </a:p>
        </p:txBody>
      </p:sp>
      <p:sp>
        <p:nvSpPr>
          <p:cNvPr id="1140" name="s1140"/>
          <p:cNvSpPr>
            <a:spLocks noGrp="1"/>
          </p:cNvSpPr>
          <p:nvPr/>
        </p:nvSpPr>
        <p:spPr>
          <a:xfrm>
            <a:off x="3154680" y="3438144"/>
            <a:ext cx="1472184" cy="1005840"/>
          </a:xfrm>
          <a:prstGeom prst="rect">
            <a:avLst/>
          </a:prstGeom>
          <a:noFill/>
          <a:ln w="0">
            <a:noFill/>
            <a:prstDash val="solid"/>
          </a:ln>
        </p:spPr>
        <p:txBody>
          <a:bodyPr wrap="square" lIns="0" tIns="0" rIns="0" bIns="0" anchor="t"/>
          <a:lstStyle/>
          <a:p>
            <a:pPr algn="l">
              <a:buNone/>
              <a:defRPr sz="1150"/>
            </a:pPr>
            <a:r>
              <a:rPr lang="en-US" sz="1150">
                <a:solidFill>
                  <a:srgbClr val="66746F"/>
                </a:solidFill>
              </a:rPr>
              <a:t>Herd summary, key indicators, treatment and milk yield entry</a:t>
            </a:r>
          </a:p>
        </p:txBody>
      </p:sp>
      <p:sp>
        <p:nvSpPr>
          <p:cNvPr id="1141" name="s1141"/>
          <p:cNvSpPr>
            <a:spLocks noGrp="1"/>
          </p:cNvSpPr>
          <p:nvPr/>
        </p:nvSpPr>
        <p:spPr>
          <a:xfrm>
            <a:off x="5093208" y="1901952"/>
            <a:ext cx="2002536" cy="2788920"/>
          </a:xfrm>
          <a:prstGeom prst="roundRect">
            <a:avLst/>
          </a:prstGeom>
          <a:solidFill>
            <a:srgbClr val="FFFFFF"/>
          </a:solidFill>
          <a:ln w="0">
            <a:noFill/>
            <a:prstDash val="solid"/>
          </a:ln>
        </p:spPr>
        <p:txBody>
          <a:bodyPr wrap="square" lIns="0" tIns="0" rIns="0" bIns="0" anchor="t"/>
          <a:lstStyle/>
          <a:p>
            <a:endParaRPr lang="en-US"/>
          </a:p>
        </p:txBody>
      </p:sp>
      <p:sp>
        <p:nvSpPr>
          <p:cNvPr id="1142" name="s1142"/>
          <p:cNvSpPr>
            <a:spLocks noGrp="1"/>
          </p:cNvSpPr>
          <p:nvPr/>
        </p:nvSpPr>
        <p:spPr>
          <a:xfrm>
            <a:off x="5093208" y="1901952"/>
            <a:ext cx="2002536" cy="109728"/>
          </a:xfrm>
          <a:prstGeom prst="rect">
            <a:avLst/>
          </a:prstGeom>
          <a:solidFill>
            <a:srgbClr val="4C8DD9"/>
          </a:solidFill>
          <a:ln w="0">
            <a:noFill/>
            <a:prstDash val="solid"/>
          </a:ln>
        </p:spPr>
        <p:txBody>
          <a:bodyPr wrap="square" lIns="0" tIns="0" rIns="0" bIns="0" anchor="t"/>
          <a:lstStyle/>
          <a:p>
            <a:endParaRPr lang="en-US"/>
          </a:p>
        </p:txBody>
      </p:sp>
      <p:sp>
        <p:nvSpPr>
          <p:cNvPr id="1143" name="s1143"/>
          <p:cNvSpPr>
            <a:spLocks noGrp="1"/>
          </p:cNvSpPr>
          <p:nvPr/>
        </p:nvSpPr>
        <p:spPr>
          <a:xfrm>
            <a:off x="5358384" y="2249424"/>
            <a:ext cx="1472184" cy="274320"/>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REPRODUCTION</a:t>
            </a:r>
          </a:p>
        </p:txBody>
      </p:sp>
      <p:sp>
        <p:nvSpPr>
          <p:cNvPr id="1144" name="s1144"/>
          <p:cNvSpPr>
            <a:spLocks noGrp="1"/>
          </p:cNvSpPr>
          <p:nvPr/>
        </p:nvSpPr>
        <p:spPr>
          <a:xfrm>
            <a:off x="5358384" y="2670048"/>
            <a:ext cx="147218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Breeding cycle</a:t>
            </a:r>
          </a:p>
        </p:txBody>
      </p:sp>
      <p:sp>
        <p:nvSpPr>
          <p:cNvPr id="1145" name="s1145"/>
          <p:cNvSpPr>
            <a:spLocks noGrp="1"/>
          </p:cNvSpPr>
          <p:nvPr/>
        </p:nvSpPr>
        <p:spPr>
          <a:xfrm>
            <a:off x="5358384" y="3438144"/>
            <a:ext cx="1472184" cy="1005840"/>
          </a:xfrm>
          <a:prstGeom prst="rect">
            <a:avLst/>
          </a:prstGeom>
          <a:noFill/>
          <a:ln w="0">
            <a:noFill/>
            <a:prstDash val="solid"/>
          </a:ln>
        </p:spPr>
        <p:txBody>
          <a:bodyPr wrap="square" lIns="0" tIns="0" rIns="0" bIns="0" anchor="t"/>
          <a:lstStyle/>
          <a:p>
            <a:pPr algn="l">
              <a:buNone/>
              <a:defRPr sz="1150"/>
            </a:pPr>
            <a:r>
              <a:rPr lang="en-US" sz="1150">
                <a:solidFill>
                  <a:srgbClr val="66746F"/>
                </a:solidFill>
              </a:rPr>
              <a:t>Breeding statistics, insemination window, semen advice, sync protocols</a:t>
            </a:r>
          </a:p>
        </p:txBody>
      </p:sp>
      <p:sp>
        <p:nvSpPr>
          <p:cNvPr id="1146" name="s1146"/>
          <p:cNvSpPr>
            <a:spLocks noGrp="1"/>
          </p:cNvSpPr>
          <p:nvPr/>
        </p:nvSpPr>
        <p:spPr>
          <a:xfrm>
            <a:off x="7296912" y="1901952"/>
            <a:ext cx="2002536" cy="2788920"/>
          </a:xfrm>
          <a:prstGeom prst="roundRect">
            <a:avLst/>
          </a:prstGeom>
          <a:solidFill>
            <a:srgbClr val="FFFFFF"/>
          </a:solidFill>
          <a:ln w="0">
            <a:noFill/>
            <a:prstDash val="solid"/>
          </a:ln>
        </p:spPr>
        <p:txBody>
          <a:bodyPr wrap="square" lIns="0" tIns="0" rIns="0" bIns="0" anchor="t"/>
          <a:lstStyle/>
          <a:p>
            <a:endParaRPr lang="en-US"/>
          </a:p>
        </p:txBody>
      </p:sp>
      <p:sp>
        <p:nvSpPr>
          <p:cNvPr id="1147" name="s1147"/>
          <p:cNvSpPr>
            <a:spLocks noGrp="1"/>
          </p:cNvSpPr>
          <p:nvPr/>
        </p:nvSpPr>
        <p:spPr>
          <a:xfrm>
            <a:off x="7296912" y="1901952"/>
            <a:ext cx="2002536" cy="109728"/>
          </a:xfrm>
          <a:prstGeom prst="rect">
            <a:avLst/>
          </a:prstGeom>
          <a:solidFill>
            <a:srgbClr val="F6B846"/>
          </a:solidFill>
          <a:ln w="0">
            <a:noFill/>
            <a:prstDash val="solid"/>
          </a:ln>
        </p:spPr>
        <p:txBody>
          <a:bodyPr wrap="square" lIns="0" tIns="0" rIns="0" bIns="0" anchor="t"/>
          <a:lstStyle/>
          <a:p>
            <a:endParaRPr lang="en-US"/>
          </a:p>
        </p:txBody>
      </p:sp>
      <p:sp>
        <p:nvSpPr>
          <p:cNvPr id="1148" name="s1148"/>
          <p:cNvSpPr>
            <a:spLocks noGrp="1"/>
          </p:cNvSpPr>
          <p:nvPr/>
        </p:nvSpPr>
        <p:spPr>
          <a:xfrm>
            <a:off x="7562088" y="2249424"/>
            <a:ext cx="1472184" cy="274320"/>
          </a:xfrm>
          <a:prstGeom prst="rect">
            <a:avLst/>
          </a:prstGeom>
          <a:noFill/>
          <a:ln w="0">
            <a:noFill/>
            <a:prstDash val="solid"/>
          </a:ln>
        </p:spPr>
        <p:txBody>
          <a:bodyPr wrap="square" lIns="0" tIns="0" rIns="0" bIns="0" anchor="t"/>
          <a:lstStyle/>
          <a:p>
            <a:pPr algn="l">
              <a:buNone/>
              <a:defRPr sz="1275"/>
            </a:pPr>
            <a:r>
              <a:rPr lang="en-US" sz="1275" b="1">
                <a:solidFill>
                  <a:srgbClr val="F6B846"/>
                </a:solidFill>
              </a:rPr>
              <a:t>PUBLIC DATA</a:t>
            </a:r>
          </a:p>
        </p:txBody>
      </p:sp>
      <p:sp>
        <p:nvSpPr>
          <p:cNvPr id="1149" name="s1149"/>
          <p:cNvSpPr>
            <a:spLocks noGrp="1"/>
          </p:cNvSpPr>
          <p:nvPr/>
        </p:nvSpPr>
        <p:spPr>
          <a:xfrm>
            <a:off x="7562088" y="2670048"/>
            <a:ext cx="147218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National records</a:t>
            </a:r>
          </a:p>
        </p:txBody>
      </p:sp>
      <p:sp>
        <p:nvSpPr>
          <p:cNvPr id="1150" name="s1150"/>
          <p:cNvSpPr>
            <a:spLocks noGrp="1"/>
          </p:cNvSpPr>
          <p:nvPr/>
        </p:nvSpPr>
        <p:spPr>
          <a:xfrm>
            <a:off x="7562088" y="3438144"/>
            <a:ext cx="1472184" cy="1005840"/>
          </a:xfrm>
          <a:prstGeom prst="rect">
            <a:avLst/>
          </a:prstGeom>
          <a:noFill/>
          <a:ln w="0">
            <a:noFill/>
            <a:prstDash val="solid"/>
          </a:ln>
        </p:spPr>
        <p:txBody>
          <a:bodyPr wrap="square" lIns="0" tIns="0" rIns="0" bIns="0" anchor="t"/>
          <a:lstStyle/>
          <a:p>
            <a:pPr algn="l">
              <a:buNone/>
              <a:defRPr sz="1150"/>
            </a:pPr>
            <a:r>
              <a:rPr lang="en-US" sz="1150">
                <a:solidFill>
                  <a:srgbClr val="66746F"/>
                </a:solidFill>
              </a:rPr>
              <a:t>Traceability, carcass grading, auction prices, regional disease status</a:t>
            </a:r>
          </a:p>
        </p:txBody>
      </p:sp>
      <p:sp>
        <p:nvSpPr>
          <p:cNvPr id="1151" name="s1151"/>
          <p:cNvSpPr>
            <a:spLocks noGrp="1"/>
          </p:cNvSpPr>
          <p:nvPr/>
        </p:nvSpPr>
        <p:spPr>
          <a:xfrm>
            <a:off x="9500616" y="1901952"/>
            <a:ext cx="2002536" cy="2788920"/>
          </a:xfrm>
          <a:prstGeom prst="roundRect">
            <a:avLst/>
          </a:prstGeom>
          <a:solidFill>
            <a:srgbClr val="FFFFFF"/>
          </a:solidFill>
          <a:ln w="0">
            <a:noFill/>
            <a:prstDash val="solid"/>
          </a:ln>
        </p:spPr>
        <p:txBody>
          <a:bodyPr wrap="square" lIns="0" tIns="0" rIns="0" bIns="0" anchor="t"/>
          <a:lstStyle/>
          <a:p>
            <a:endParaRPr lang="en-US"/>
          </a:p>
        </p:txBody>
      </p:sp>
      <p:sp>
        <p:nvSpPr>
          <p:cNvPr id="1152" name="s1152"/>
          <p:cNvSpPr>
            <a:spLocks noGrp="1"/>
          </p:cNvSpPr>
          <p:nvPr/>
        </p:nvSpPr>
        <p:spPr>
          <a:xfrm>
            <a:off x="9500616" y="1901952"/>
            <a:ext cx="2002536" cy="109728"/>
          </a:xfrm>
          <a:prstGeom prst="rect">
            <a:avLst/>
          </a:prstGeom>
          <a:solidFill>
            <a:srgbClr val="E96155"/>
          </a:solidFill>
          <a:ln w="0">
            <a:noFill/>
            <a:prstDash val="solid"/>
          </a:ln>
        </p:spPr>
        <p:txBody>
          <a:bodyPr wrap="square" lIns="0" tIns="0" rIns="0" bIns="0" anchor="t"/>
          <a:lstStyle/>
          <a:p>
            <a:endParaRPr lang="en-US"/>
          </a:p>
        </p:txBody>
      </p:sp>
      <p:sp>
        <p:nvSpPr>
          <p:cNvPr id="1153" name="s1153"/>
          <p:cNvSpPr>
            <a:spLocks noGrp="1"/>
          </p:cNvSpPr>
          <p:nvPr/>
        </p:nvSpPr>
        <p:spPr>
          <a:xfrm>
            <a:off x="9765792" y="2249424"/>
            <a:ext cx="1472184" cy="274320"/>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VETERINARY</a:t>
            </a:r>
          </a:p>
        </p:txBody>
      </p:sp>
      <p:sp>
        <p:nvSpPr>
          <p:cNvPr id="1154" name="s1154"/>
          <p:cNvSpPr>
            <a:spLocks noGrp="1"/>
          </p:cNvSpPr>
          <p:nvPr/>
        </p:nvSpPr>
        <p:spPr>
          <a:xfrm>
            <a:off x="9765792" y="2670048"/>
            <a:ext cx="147218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Clinical support</a:t>
            </a:r>
          </a:p>
        </p:txBody>
      </p:sp>
      <p:sp>
        <p:nvSpPr>
          <p:cNvPr id="1155" name="s1155"/>
          <p:cNvSpPr>
            <a:spLocks noGrp="1"/>
          </p:cNvSpPr>
          <p:nvPr/>
        </p:nvSpPr>
        <p:spPr>
          <a:xfrm>
            <a:off x="9765792" y="3438144"/>
            <a:ext cx="1472184" cy="1005840"/>
          </a:xfrm>
          <a:prstGeom prst="rect">
            <a:avLst/>
          </a:prstGeom>
          <a:noFill/>
          <a:ln w="0">
            <a:noFill/>
            <a:prstDash val="solid"/>
          </a:ln>
        </p:spPr>
        <p:txBody>
          <a:bodyPr wrap="square" lIns="0" tIns="0" rIns="0" bIns="0" anchor="t"/>
          <a:lstStyle/>
          <a:p>
            <a:pPr algn="l">
              <a:buNone/>
              <a:defRPr sz="1150"/>
            </a:pPr>
            <a:r>
              <a:rPr lang="en-US" sz="1150">
                <a:solidFill>
                  <a:srgbClr val="66746F"/>
                </a:solidFill>
              </a:rPr>
              <a:t>Differential candidates, treatment outcome confirmation, expert labelling</a:t>
            </a:r>
          </a:p>
        </p:txBody>
      </p:sp>
      <p:sp>
        <p:nvSpPr>
          <p:cNvPr id="1156" name="s1156"/>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157" name="s1157"/>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Every tool call is written to an audit log — who asked, when, and what was returned.</a:t>
            </a:r>
          </a:p>
        </p:txBody>
      </p:sp>
      <p:sp>
        <p:nvSpPr>
          <p:cNvPr id="1160" name="s1160"/>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161" name="s1161"/>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84" name="s1184"/>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EVIDENCE</a:t>
            </a:r>
          </a:p>
        </p:txBody>
      </p:sp>
      <p:sp>
        <p:nvSpPr>
          <p:cNvPr id="1185" name="s1185"/>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Every answer shows where the number came from</a:t>
            </a:r>
          </a:p>
        </p:txBody>
      </p:sp>
      <p:sp>
        <p:nvSpPr>
          <p:cNvPr id="1162" name="s1162"/>
          <p:cNvSpPr>
            <a:spLocks noGrp="1"/>
          </p:cNvSpPr>
          <p:nvPr/>
        </p:nvSpPr>
        <p:spPr>
          <a:xfrm>
            <a:off x="68580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163" name="s1163"/>
          <p:cNvSpPr>
            <a:spLocks noGrp="1"/>
          </p:cNvSpPr>
          <p:nvPr/>
        </p:nvSpPr>
        <p:spPr>
          <a:xfrm>
            <a:off x="92354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164" name="s1164"/>
          <p:cNvSpPr>
            <a:spLocks noGrp="1"/>
          </p:cNvSpPr>
          <p:nvPr/>
        </p:nvSpPr>
        <p:spPr>
          <a:xfrm>
            <a:off x="92354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1</a:t>
            </a:r>
          </a:p>
        </p:txBody>
      </p:sp>
      <p:sp>
        <p:nvSpPr>
          <p:cNvPr id="1165" name="s1165"/>
          <p:cNvSpPr>
            <a:spLocks noGrp="1"/>
          </p:cNvSpPr>
          <p:nvPr/>
        </p:nvSpPr>
        <p:spPr>
          <a:xfrm>
            <a:off x="92354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A question in plain language</a:t>
            </a:r>
          </a:p>
        </p:txBody>
      </p:sp>
      <p:sp>
        <p:nvSpPr>
          <p:cNvPr id="1166" name="s1166"/>
          <p:cNvSpPr>
            <a:spLocks noGrp="1"/>
          </p:cNvSpPr>
          <p:nvPr/>
        </p:nvSpPr>
        <p:spPr>
          <a:xfrm>
            <a:off x="923544" y="3474720"/>
            <a:ext cx="2077974" cy="731520"/>
          </a:xfrm>
          <a:prstGeom prst="rect">
            <a:avLst/>
          </a:prstGeom>
          <a:noFill/>
          <a:ln w="0">
            <a:noFill/>
            <a:prstDash val="solid"/>
          </a:ln>
        </p:spPr>
        <p:txBody>
          <a:bodyPr wrap="square" lIns="0" tIns="0" rIns="0" bIns="0" anchor="t"/>
          <a:lstStyle/>
          <a:p>
            <a:pPr algn="l">
              <a:buNone/>
              <a:defRPr sz="1350"/>
            </a:pPr>
            <a:r>
              <a:rPr lang="en-US" sz="1350">
                <a:solidFill>
                  <a:srgbClr val="66746F"/>
                </a:solidFill>
              </a:rPr>
              <a:t>“How is 423 doing?” — typed or spoken, in the user’s own language</a:t>
            </a:r>
          </a:p>
        </p:txBody>
      </p:sp>
      <p:sp>
        <p:nvSpPr>
          <p:cNvPr id="1167" name="s1167"/>
          <p:cNvSpPr>
            <a:spLocks noGrp="1"/>
          </p:cNvSpPr>
          <p:nvPr/>
        </p:nvSpPr>
        <p:spPr>
          <a:xfrm>
            <a:off x="344043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168" name="s1168"/>
          <p:cNvSpPr>
            <a:spLocks noGrp="1"/>
          </p:cNvSpPr>
          <p:nvPr/>
        </p:nvSpPr>
        <p:spPr>
          <a:xfrm>
            <a:off x="367817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169" name="s1169"/>
          <p:cNvSpPr>
            <a:spLocks noGrp="1"/>
          </p:cNvSpPr>
          <p:nvPr/>
        </p:nvSpPr>
        <p:spPr>
          <a:xfrm>
            <a:off x="367817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2</a:t>
            </a:r>
          </a:p>
        </p:txBody>
      </p:sp>
      <p:sp>
        <p:nvSpPr>
          <p:cNvPr id="1170" name="s1170"/>
          <p:cNvSpPr>
            <a:spLocks noGrp="1"/>
          </p:cNvSpPr>
          <p:nvPr/>
        </p:nvSpPr>
        <p:spPr>
          <a:xfrm>
            <a:off x="367817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Permitted tools are called</a:t>
            </a:r>
          </a:p>
        </p:txBody>
      </p:sp>
      <p:sp>
        <p:nvSpPr>
          <p:cNvPr id="1171" name="s1171"/>
          <p:cNvSpPr>
            <a:spLocks noGrp="1"/>
          </p:cNvSpPr>
          <p:nvPr/>
        </p:nvSpPr>
        <p:spPr>
          <a:xfrm>
            <a:off x="3678174" y="3474720"/>
            <a:ext cx="2077974" cy="731520"/>
          </a:xfrm>
          <a:prstGeom prst="rect">
            <a:avLst/>
          </a:prstGeom>
          <a:noFill/>
          <a:ln w="0">
            <a:noFill/>
            <a:prstDash val="solid"/>
          </a:ln>
        </p:spPr>
        <p:txBody>
          <a:bodyPr wrap="square" lIns="0" tIns="0" rIns="0" bIns="0" anchor="t"/>
          <a:lstStyle/>
          <a:p>
            <a:pPr algn="l">
              <a:buNone/>
              <a:defRPr sz="1350"/>
            </a:pPr>
            <a:r>
              <a:rPr lang="en-US" sz="1350">
                <a:solidFill>
                  <a:srgbClr val="66746F"/>
                </a:solidFill>
              </a:rPr>
              <a:t>Only tools this role may use, only for animals in this scope</a:t>
            </a:r>
          </a:p>
        </p:txBody>
      </p:sp>
      <p:sp>
        <p:nvSpPr>
          <p:cNvPr id="1172" name="s1172"/>
          <p:cNvSpPr>
            <a:spLocks noGrp="1"/>
          </p:cNvSpPr>
          <p:nvPr/>
        </p:nvSpPr>
        <p:spPr>
          <a:xfrm>
            <a:off x="619506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173" name="s1173"/>
          <p:cNvSpPr>
            <a:spLocks noGrp="1"/>
          </p:cNvSpPr>
          <p:nvPr/>
        </p:nvSpPr>
        <p:spPr>
          <a:xfrm>
            <a:off x="643280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174" name="s1174"/>
          <p:cNvSpPr>
            <a:spLocks noGrp="1"/>
          </p:cNvSpPr>
          <p:nvPr/>
        </p:nvSpPr>
        <p:spPr>
          <a:xfrm>
            <a:off x="643280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3</a:t>
            </a:r>
          </a:p>
        </p:txBody>
      </p:sp>
      <p:sp>
        <p:nvSpPr>
          <p:cNvPr id="1175" name="s1175"/>
          <p:cNvSpPr>
            <a:spLocks noGrp="1"/>
          </p:cNvSpPr>
          <p:nvPr/>
        </p:nvSpPr>
        <p:spPr>
          <a:xfrm>
            <a:off x="643280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Data is read from the record</a:t>
            </a:r>
          </a:p>
        </p:txBody>
      </p:sp>
      <p:sp>
        <p:nvSpPr>
          <p:cNvPr id="1176" name="s1176"/>
          <p:cNvSpPr>
            <a:spLocks noGrp="1"/>
          </p:cNvSpPr>
          <p:nvPr/>
        </p:nvSpPr>
        <p:spPr>
          <a:xfrm>
            <a:off x="6432804" y="3474720"/>
            <a:ext cx="2077974" cy="731520"/>
          </a:xfrm>
          <a:prstGeom prst="rect">
            <a:avLst/>
          </a:prstGeom>
          <a:noFill/>
          <a:ln w="0">
            <a:noFill/>
            <a:prstDash val="solid"/>
          </a:ln>
        </p:spPr>
        <p:txBody>
          <a:bodyPr wrap="square" lIns="0" tIns="0" rIns="0" bIns="0" anchor="t"/>
          <a:lstStyle/>
          <a:p>
            <a:pPr algn="l">
              <a:buNone/>
              <a:defRPr sz="1350"/>
            </a:pPr>
            <a:r>
              <a:rPr lang="en-US" sz="1350">
                <a:solidFill>
                  <a:srgbClr val="66746F"/>
                </a:solidFill>
              </a:rPr>
              <a:t>Live values from the database — never a recollection or an estimate</a:t>
            </a:r>
          </a:p>
        </p:txBody>
      </p:sp>
      <p:sp>
        <p:nvSpPr>
          <p:cNvPr id="1177" name="s1177"/>
          <p:cNvSpPr>
            <a:spLocks noGrp="1"/>
          </p:cNvSpPr>
          <p:nvPr/>
        </p:nvSpPr>
        <p:spPr>
          <a:xfrm>
            <a:off x="894969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178" name="s1178"/>
          <p:cNvSpPr>
            <a:spLocks noGrp="1"/>
          </p:cNvSpPr>
          <p:nvPr/>
        </p:nvSpPr>
        <p:spPr>
          <a:xfrm>
            <a:off x="918743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179" name="s1179"/>
          <p:cNvSpPr>
            <a:spLocks noGrp="1"/>
          </p:cNvSpPr>
          <p:nvPr/>
        </p:nvSpPr>
        <p:spPr>
          <a:xfrm>
            <a:off x="918743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4</a:t>
            </a:r>
          </a:p>
        </p:txBody>
      </p:sp>
      <p:sp>
        <p:nvSpPr>
          <p:cNvPr id="1180" name="s1180"/>
          <p:cNvSpPr>
            <a:spLocks noGrp="1"/>
          </p:cNvSpPr>
          <p:nvPr/>
        </p:nvSpPr>
        <p:spPr>
          <a:xfrm>
            <a:off x="918743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The answer carries citations</a:t>
            </a:r>
          </a:p>
        </p:txBody>
      </p:sp>
      <p:sp>
        <p:nvSpPr>
          <p:cNvPr id="1181" name="s1181"/>
          <p:cNvSpPr>
            <a:spLocks noGrp="1"/>
          </p:cNvSpPr>
          <p:nvPr/>
        </p:nvSpPr>
        <p:spPr>
          <a:xfrm>
            <a:off x="9187434" y="3474720"/>
            <a:ext cx="2077974" cy="731520"/>
          </a:xfrm>
          <a:prstGeom prst="rect">
            <a:avLst/>
          </a:prstGeom>
          <a:noFill/>
          <a:ln w="0">
            <a:noFill/>
            <a:prstDash val="solid"/>
          </a:ln>
        </p:spPr>
        <p:txBody>
          <a:bodyPr wrap="square" lIns="0" tIns="0" rIns="0" bIns="0" anchor="t"/>
          <a:lstStyle/>
          <a:p>
            <a:pPr algn="l">
              <a:buNone/>
              <a:defRPr sz="1350"/>
            </a:pPr>
            <a:r>
              <a:rPr lang="en-US" sz="1350">
                <a:solidFill>
                  <a:srgbClr val="66746F"/>
                </a:solidFill>
              </a:rPr>
              <a:t>Each figure is tied to its source, its timestamp and its confidence</a:t>
            </a:r>
          </a:p>
        </p:txBody>
      </p:sp>
      <p:sp>
        <p:nvSpPr>
          <p:cNvPr id="1182" name="s1182"/>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183" name="s1183"/>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If the data is missing, the correct answer is “no data” — not a plausible guess.</a:t>
            </a:r>
          </a:p>
        </p:txBody>
      </p:sp>
      <p:sp>
        <p:nvSpPr>
          <p:cNvPr id="1186" name="s1186"/>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187" name="s1187"/>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210" name="s1210"/>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ROLES</a:t>
            </a:r>
          </a:p>
        </p:txBody>
      </p:sp>
      <p:sp>
        <p:nvSpPr>
          <p:cNvPr id="1211" name="s1211"/>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One dataset, four different questions</a:t>
            </a:r>
          </a:p>
        </p:txBody>
      </p:sp>
      <p:sp>
        <p:nvSpPr>
          <p:cNvPr id="1188" name="s1188"/>
          <p:cNvSpPr>
            <a:spLocks noGrp="1"/>
          </p:cNvSpPr>
          <p:nvPr/>
        </p:nvSpPr>
        <p:spPr>
          <a:xfrm>
            <a:off x="685800"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189" name="s1189"/>
          <p:cNvSpPr>
            <a:spLocks noGrp="1"/>
          </p:cNvSpPr>
          <p:nvPr/>
        </p:nvSpPr>
        <p:spPr>
          <a:xfrm>
            <a:off x="685800" y="1901952"/>
            <a:ext cx="2471166" cy="109728"/>
          </a:xfrm>
          <a:prstGeom prst="rect">
            <a:avLst/>
          </a:prstGeom>
          <a:solidFill>
            <a:srgbClr val="65D44A"/>
          </a:solidFill>
          <a:ln w="0">
            <a:noFill/>
            <a:prstDash val="solid"/>
          </a:ln>
        </p:spPr>
        <p:txBody>
          <a:bodyPr wrap="square" lIns="0" tIns="0" rIns="0" bIns="0" anchor="t"/>
          <a:lstStyle/>
          <a:p>
            <a:endParaRPr lang="en-US"/>
          </a:p>
        </p:txBody>
      </p:sp>
      <p:sp>
        <p:nvSpPr>
          <p:cNvPr id="1190" name="s1190"/>
          <p:cNvSpPr>
            <a:spLocks noGrp="1"/>
          </p:cNvSpPr>
          <p:nvPr/>
        </p:nvSpPr>
        <p:spPr>
          <a:xfrm>
            <a:off x="950976"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65D44A"/>
                </a:solidFill>
              </a:rPr>
              <a:t>FARMER</a:t>
            </a:r>
          </a:p>
        </p:txBody>
      </p:sp>
      <p:sp>
        <p:nvSpPr>
          <p:cNvPr id="1191" name="s1191"/>
          <p:cNvSpPr>
            <a:spLocks noGrp="1"/>
          </p:cNvSpPr>
          <p:nvPr/>
        </p:nvSpPr>
        <p:spPr>
          <a:xfrm>
            <a:off x="950976"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What do I do today?</a:t>
            </a:r>
          </a:p>
        </p:txBody>
      </p:sp>
      <p:sp>
        <p:nvSpPr>
          <p:cNvPr id="1192" name="s1192"/>
          <p:cNvSpPr>
            <a:spLocks noGrp="1"/>
          </p:cNvSpPr>
          <p:nvPr/>
        </p:nvSpPr>
        <p:spPr>
          <a:xfrm>
            <a:off x="950976"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Today’s tasks, heat and calving alerts, the margin each cow returns.</a:t>
            </a:r>
          </a:p>
        </p:txBody>
      </p:sp>
      <p:sp>
        <p:nvSpPr>
          <p:cNvPr id="1193" name="s1193"/>
          <p:cNvSpPr>
            <a:spLocks noGrp="1"/>
          </p:cNvSpPr>
          <p:nvPr/>
        </p:nvSpPr>
        <p:spPr>
          <a:xfrm>
            <a:off x="3467862"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194" name="s1194"/>
          <p:cNvSpPr>
            <a:spLocks noGrp="1"/>
          </p:cNvSpPr>
          <p:nvPr/>
        </p:nvSpPr>
        <p:spPr>
          <a:xfrm>
            <a:off x="3467862" y="1901952"/>
            <a:ext cx="2471166" cy="109728"/>
          </a:xfrm>
          <a:prstGeom prst="rect">
            <a:avLst/>
          </a:prstGeom>
          <a:solidFill>
            <a:srgbClr val="E96155"/>
          </a:solidFill>
          <a:ln w="0">
            <a:noFill/>
            <a:prstDash val="solid"/>
          </a:ln>
        </p:spPr>
        <p:txBody>
          <a:bodyPr wrap="square" lIns="0" tIns="0" rIns="0" bIns="0" anchor="t"/>
          <a:lstStyle/>
          <a:p>
            <a:endParaRPr lang="en-US"/>
          </a:p>
        </p:txBody>
      </p:sp>
      <p:sp>
        <p:nvSpPr>
          <p:cNvPr id="1195" name="s1195"/>
          <p:cNvSpPr>
            <a:spLocks noGrp="1"/>
          </p:cNvSpPr>
          <p:nvPr/>
        </p:nvSpPr>
        <p:spPr>
          <a:xfrm>
            <a:off x="3733038"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VETERINARIAN</a:t>
            </a:r>
          </a:p>
        </p:txBody>
      </p:sp>
      <p:sp>
        <p:nvSpPr>
          <p:cNvPr id="1196" name="s1196"/>
          <p:cNvSpPr>
            <a:spLocks noGrp="1"/>
          </p:cNvSpPr>
          <p:nvPr/>
        </p:nvSpPr>
        <p:spPr>
          <a:xfrm>
            <a:off x="3733038"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Who do I visit first?</a:t>
            </a:r>
          </a:p>
        </p:txBody>
      </p:sp>
      <p:sp>
        <p:nvSpPr>
          <p:cNvPr id="1197" name="s1197"/>
          <p:cNvSpPr>
            <a:spLocks noGrp="1"/>
          </p:cNvSpPr>
          <p:nvPr/>
        </p:nvSpPr>
        <p:spPr>
          <a:xfrm>
            <a:off x="3733038"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Case queue across all client farms, differential evidence, route and records.</a:t>
            </a:r>
          </a:p>
        </p:txBody>
      </p:sp>
      <p:sp>
        <p:nvSpPr>
          <p:cNvPr id="1198" name="s1198"/>
          <p:cNvSpPr>
            <a:spLocks noGrp="1"/>
          </p:cNvSpPr>
          <p:nvPr/>
        </p:nvSpPr>
        <p:spPr>
          <a:xfrm>
            <a:off x="6249924"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199" name="s1199"/>
          <p:cNvSpPr>
            <a:spLocks noGrp="1"/>
          </p:cNvSpPr>
          <p:nvPr/>
        </p:nvSpPr>
        <p:spPr>
          <a:xfrm>
            <a:off x="6249924" y="1901952"/>
            <a:ext cx="2471166" cy="109728"/>
          </a:xfrm>
          <a:prstGeom prst="rect">
            <a:avLst/>
          </a:prstGeom>
          <a:solidFill>
            <a:srgbClr val="4C8DD9"/>
          </a:solidFill>
          <a:ln w="0">
            <a:noFill/>
            <a:prstDash val="solid"/>
          </a:ln>
        </p:spPr>
        <p:txBody>
          <a:bodyPr wrap="square" lIns="0" tIns="0" rIns="0" bIns="0" anchor="t"/>
          <a:lstStyle/>
          <a:p>
            <a:endParaRPr lang="en-US"/>
          </a:p>
        </p:txBody>
      </p:sp>
      <p:sp>
        <p:nvSpPr>
          <p:cNvPr id="1200" name="s1200"/>
          <p:cNvSpPr>
            <a:spLocks noGrp="1"/>
          </p:cNvSpPr>
          <p:nvPr/>
        </p:nvSpPr>
        <p:spPr>
          <a:xfrm>
            <a:off x="6515100"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BIOSECURITY OFFICER</a:t>
            </a:r>
          </a:p>
        </p:txBody>
      </p:sp>
      <p:sp>
        <p:nvSpPr>
          <p:cNvPr id="1201" name="s1201"/>
          <p:cNvSpPr>
            <a:spLocks noGrp="1"/>
          </p:cNvSpPr>
          <p:nvPr/>
        </p:nvSpPr>
        <p:spPr>
          <a:xfrm>
            <a:off x="6515100"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Is anything spreading?</a:t>
            </a:r>
          </a:p>
        </p:txBody>
      </p:sp>
      <p:sp>
        <p:nvSpPr>
          <p:cNvPr id="1202" name="s1202"/>
          <p:cNvSpPr>
            <a:spLocks noGrp="1"/>
          </p:cNvSpPr>
          <p:nvPr/>
        </p:nvSpPr>
        <p:spPr>
          <a:xfrm>
            <a:off x="6515100"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Cluster detection, contact tracing, spread scenarios, investigation records.</a:t>
            </a:r>
          </a:p>
        </p:txBody>
      </p:sp>
      <p:sp>
        <p:nvSpPr>
          <p:cNvPr id="1203" name="s1203"/>
          <p:cNvSpPr>
            <a:spLocks noGrp="1"/>
          </p:cNvSpPr>
          <p:nvPr/>
        </p:nvSpPr>
        <p:spPr>
          <a:xfrm>
            <a:off x="9031986"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204" name="s1204"/>
          <p:cNvSpPr>
            <a:spLocks noGrp="1"/>
          </p:cNvSpPr>
          <p:nvPr/>
        </p:nvSpPr>
        <p:spPr>
          <a:xfrm>
            <a:off x="9031986" y="1901952"/>
            <a:ext cx="2471166" cy="109728"/>
          </a:xfrm>
          <a:prstGeom prst="rect">
            <a:avLst/>
          </a:prstGeom>
          <a:solidFill>
            <a:srgbClr val="F6B846"/>
          </a:solidFill>
          <a:ln w="0">
            <a:noFill/>
            <a:prstDash val="solid"/>
          </a:ln>
        </p:spPr>
        <p:txBody>
          <a:bodyPr wrap="square" lIns="0" tIns="0" rIns="0" bIns="0" anchor="t"/>
          <a:lstStyle/>
          <a:p>
            <a:endParaRPr lang="en-US"/>
          </a:p>
        </p:txBody>
      </p:sp>
      <p:sp>
        <p:nvSpPr>
          <p:cNvPr id="1205" name="s1205"/>
          <p:cNvSpPr>
            <a:spLocks noGrp="1"/>
          </p:cNvSpPr>
          <p:nvPr/>
        </p:nvSpPr>
        <p:spPr>
          <a:xfrm>
            <a:off x="9297162"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F6B846"/>
                </a:solidFill>
              </a:rPr>
              <a:t>ADMINISTRATION</a:t>
            </a:r>
          </a:p>
        </p:txBody>
      </p:sp>
      <p:sp>
        <p:nvSpPr>
          <p:cNvPr id="1206" name="s1206"/>
          <p:cNvSpPr>
            <a:spLocks noGrp="1"/>
          </p:cNvSpPr>
          <p:nvPr/>
        </p:nvSpPr>
        <p:spPr>
          <a:xfrm>
            <a:off x="9297162"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What is the regional picture?</a:t>
            </a:r>
          </a:p>
        </p:txBody>
      </p:sp>
      <p:sp>
        <p:nvSpPr>
          <p:cNvPr id="1207" name="s1207"/>
          <p:cNvSpPr>
            <a:spLocks noGrp="1"/>
          </p:cNvSpPr>
          <p:nvPr/>
        </p:nvSpPr>
        <p:spPr>
          <a:xfrm>
            <a:off x="9297162"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Coverage, performance indicators, policy briefing and budget evidence.</a:t>
            </a:r>
          </a:p>
        </p:txBody>
      </p:sp>
      <p:sp>
        <p:nvSpPr>
          <p:cNvPr id="1208" name="s120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209" name="s1209"/>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Permission is enforced on the server. Data outside your scope is not hidden — it is refused.</a:t>
            </a:r>
          </a:p>
        </p:txBody>
      </p:sp>
      <p:sp>
        <p:nvSpPr>
          <p:cNvPr id="1212" name="s1212"/>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213" name="s1213"/>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14" name="s1214"/>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09</a:t>
            </a:r>
          </a:p>
        </p:txBody>
      </p:sp>
      <p:sp>
        <p:nvSpPr>
          <p:cNvPr id="1215" name="s1215"/>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Veterinary intelligence</a:t>
            </a:r>
          </a:p>
        </p:txBody>
      </p:sp>
      <p:sp>
        <p:nvSpPr>
          <p:cNvPr id="1216" name="s1216"/>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The system organises candidates and the evidence behind them. Diagnosis and prescription remain with the veterinarian.</a:t>
            </a:r>
          </a:p>
        </p:txBody>
      </p:sp>
      <p:sp>
        <p:nvSpPr>
          <p:cNvPr id="1217" name="s1217"/>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218" name="s1218"/>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219" name="s1219"/>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220" name="s1220"/>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221" name="s1221"/>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222" name="s1222"/>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223" name="s1223"/>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224" name="s1224"/>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237" name="s1237"/>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DIFFERENTIAL</a:t>
            </a:r>
          </a:p>
        </p:txBody>
      </p:sp>
      <p:sp>
        <p:nvSpPr>
          <p:cNvPr id="1238" name="s1238"/>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A probability is useless without the evidence behind it</a:t>
            </a:r>
          </a:p>
        </p:txBody>
      </p:sp>
      <p:sp>
        <p:nvSpPr>
          <p:cNvPr id="1225" name="s1225"/>
          <p:cNvSpPr>
            <a:spLocks noGrp="1"/>
          </p:cNvSpPr>
          <p:nvPr/>
        </p:nvSpPr>
        <p:spPr>
          <a:xfrm>
            <a:off x="685800" y="1883664"/>
            <a:ext cx="3044952" cy="612648"/>
          </a:xfrm>
          <a:prstGeom prst="rect">
            <a:avLst/>
          </a:prstGeom>
          <a:noFill/>
          <a:ln w="0">
            <a:noFill/>
            <a:prstDash val="solid"/>
          </a:ln>
        </p:spPr>
        <p:txBody>
          <a:bodyPr wrap="square" lIns="0" tIns="0" rIns="0" bIns="0" anchor="t"/>
          <a:lstStyle/>
          <a:p>
            <a:pPr algn="l">
              <a:buNone/>
              <a:defRPr sz="3600"/>
            </a:pPr>
            <a:r>
              <a:rPr lang="en-US" sz="3600" b="1">
                <a:solidFill>
                  <a:srgbClr val="E96155"/>
                </a:solidFill>
              </a:rPr>
              <a:t>6</a:t>
            </a:r>
          </a:p>
        </p:txBody>
      </p:sp>
      <p:sp>
        <p:nvSpPr>
          <p:cNvPr id="1226" name="s1226"/>
          <p:cNvSpPr>
            <a:spLocks noGrp="1"/>
          </p:cNvSpPr>
          <p:nvPr/>
        </p:nvSpPr>
        <p:spPr>
          <a:xfrm>
            <a:off x="685800" y="2478024"/>
            <a:ext cx="3044952" cy="685800"/>
          </a:xfrm>
          <a:prstGeom prst="rect">
            <a:avLst/>
          </a:prstGeom>
          <a:noFill/>
          <a:ln w="0">
            <a:noFill/>
            <a:prstDash val="solid"/>
          </a:ln>
        </p:spPr>
        <p:txBody>
          <a:bodyPr wrap="square" lIns="0" tIns="0" rIns="0" bIns="0" anchor="t"/>
          <a:lstStyle/>
          <a:p>
            <a:pPr algn="l">
              <a:buNone/>
              <a:defRPr sz="1275"/>
            </a:pPr>
            <a:r>
              <a:rPr lang="en-US" sz="1275">
                <a:solidFill>
                  <a:srgbClr val="66746F"/>
                </a:solidFill>
              </a:rPr>
              <a:t>Candidate conditions ranked for each case, with the evidence listed for every one</a:t>
            </a:r>
          </a:p>
        </p:txBody>
      </p:sp>
      <p:sp>
        <p:nvSpPr>
          <p:cNvPr id="1227" name="s1227"/>
          <p:cNvSpPr>
            <a:spLocks noGrp="1"/>
          </p:cNvSpPr>
          <p:nvPr/>
        </p:nvSpPr>
        <p:spPr>
          <a:xfrm>
            <a:off x="4096512" y="1938528"/>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228" name="s1228"/>
          <p:cNvSpPr>
            <a:spLocks noGrp="1"/>
          </p:cNvSpPr>
          <p:nvPr/>
        </p:nvSpPr>
        <p:spPr>
          <a:xfrm>
            <a:off x="4361688" y="1865376"/>
            <a:ext cx="7141464"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Each candidate shows which findings support it and which argue against it</a:t>
            </a:r>
          </a:p>
        </p:txBody>
      </p:sp>
      <p:sp>
        <p:nvSpPr>
          <p:cNvPr id="1229" name="s1229"/>
          <p:cNvSpPr>
            <a:spLocks noGrp="1"/>
          </p:cNvSpPr>
          <p:nvPr/>
        </p:nvSpPr>
        <p:spPr>
          <a:xfrm>
            <a:off x="4096512" y="2606040"/>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230" name="s1230"/>
          <p:cNvSpPr>
            <a:spLocks noGrp="1"/>
          </p:cNvSpPr>
          <p:nvPr/>
        </p:nvSpPr>
        <p:spPr>
          <a:xfrm>
            <a:off x="4361688" y="2532888"/>
            <a:ext cx="7141464"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Where data is absent, the item is marked absent — not counted as negative</a:t>
            </a:r>
          </a:p>
        </p:txBody>
      </p:sp>
      <p:sp>
        <p:nvSpPr>
          <p:cNvPr id="1231" name="s1231"/>
          <p:cNvSpPr>
            <a:spLocks noGrp="1"/>
          </p:cNvSpPr>
          <p:nvPr/>
        </p:nvSpPr>
        <p:spPr>
          <a:xfrm>
            <a:off x="4096512" y="3273552"/>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232" name="s1232"/>
          <p:cNvSpPr>
            <a:spLocks noGrp="1"/>
          </p:cNvSpPr>
          <p:nvPr/>
        </p:nvSpPr>
        <p:spPr>
          <a:xfrm>
            <a:off x="4361688" y="3200400"/>
            <a:ext cx="7141464"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A weakly evidenced single candidate is not allowed to reach high confidence</a:t>
            </a:r>
          </a:p>
        </p:txBody>
      </p:sp>
      <p:sp>
        <p:nvSpPr>
          <p:cNvPr id="1233" name="s1233"/>
          <p:cNvSpPr>
            <a:spLocks noGrp="1"/>
          </p:cNvSpPr>
          <p:nvPr/>
        </p:nvSpPr>
        <p:spPr>
          <a:xfrm>
            <a:off x="4096512" y="3941064"/>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234" name="s1234"/>
          <p:cNvSpPr>
            <a:spLocks noGrp="1"/>
          </p:cNvSpPr>
          <p:nvPr/>
        </p:nvSpPr>
        <p:spPr>
          <a:xfrm>
            <a:off x="4361688" y="3867912"/>
            <a:ext cx="7141464"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The next confirmatory check is proposed, with an urgency level</a:t>
            </a:r>
          </a:p>
        </p:txBody>
      </p:sp>
      <p:sp>
        <p:nvSpPr>
          <p:cNvPr id="1235" name="s1235"/>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236" name="s1236"/>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Uncertainty is displayed, not hidden. A confident-looking number with thin evidence is a defect.</a:t>
            </a:r>
          </a:p>
        </p:txBody>
      </p:sp>
      <p:sp>
        <p:nvSpPr>
          <p:cNvPr id="1239" name="s1239"/>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240" name="s1240"/>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258" name="s1258"/>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RECORD</a:t>
            </a:r>
          </a:p>
        </p:txBody>
      </p:sp>
      <p:sp>
        <p:nvSpPr>
          <p:cNvPr id="1259" name="s1259"/>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record writes itself — including the withdrawal date</a:t>
            </a:r>
          </a:p>
        </p:txBody>
      </p:sp>
      <p:sp>
        <p:nvSpPr>
          <p:cNvPr id="1241" name="s1241"/>
          <p:cNvSpPr>
            <a:spLocks noGrp="1"/>
          </p:cNvSpPr>
          <p:nvPr/>
        </p:nvSpPr>
        <p:spPr>
          <a:xfrm>
            <a:off x="685800" y="1901952"/>
            <a:ext cx="3343656" cy="2697480"/>
          </a:xfrm>
          <a:prstGeom prst="roundRect">
            <a:avLst/>
          </a:prstGeom>
          <a:solidFill>
            <a:srgbClr val="FFFFFF"/>
          </a:solidFill>
          <a:ln w="0">
            <a:noFill/>
            <a:prstDash val="solid"/>
          </a:ln>
        </p:spPr>
        <p:txBody>
          <a:bodyPr wrap="square" lIns="0" tIns="0" rIns="0" bIns="0" anchor="t"/>
          <a:lstStyle/>
          <a:p>
            <a:endParaRPr lang="en-US"/>
          </a:p>
        </p:txBody>
      </p:sp>
      <p:sp>
        <p:nvSpPr>
          <p:cNvPr id="1242" name="s1242"/>
          <p:cNvSpPr>
            <a:spLocks noGrp="1"/>
          </p:cNvSpPr>
          <p:nvPr/>
        </p:nvSpPr>
        <p:spPr>
          <a:xfrm>
            <a:off x="685800" y="1901952"/>
            <a:ext cx="3343656" cy="109728"/>
          </a:xfrm>
          <a:prstGeom prst="rect">
            <a:avLst/>
          </a:prstGeom>
          <a:solidFill>
            <a:srgbClr val="15A98C"/>
          </a:solidFill>
          <a:ln w="0">
            <a:noFill/>
            <a:prstDash val="solid"/>
          </a:ln>
        </p:spPr>
        <p:txBody>
          <a:bodyPr wrap="square" lIns="0" tIns="0" rIns="0" bIns="0" anchor="t"/>
          <a:lstStyle/>
          <a:p>
            <a:endParaRPr lang="en-US"/>
          </a:p>
        </p:txBody>
      </p:sp>
      <p:sp>
        <p:nvSpPr>
          <p:cNvPr id="1243" name="s1243"/>
          <p:cNvSpPr>
            <a:spLocks noGrp="1"/>
          </p:cNvSpPr>
          <p:nvPr/>
        </p:nvSpPr>
        <p:spPr>
          <a:xfrm>
            <a:off x="950976" y="2249424"/>
            <a:ext cx="2813304" cy="274320"/>
          </a:xfrm>
          <a:prstGeom prst="rect">
            <a:avLst/>
          </a:prstGeom>
          <a:noFill/>
          <a:ln w="0">
            <a:noFill/>
            <a:prstDash val="solid"/>
          </a:ln>
        </p:spPr>
        <p:txBody>
          <a:bodyPr wrap="square" lIns="0" tIns="0" rIns="0" bIns="0" anchor="t"/>
          <a:lstStyle/>
          <a:p>
            <a:pPr algn="l">
              <a:buNone/>
              <a:defRPr sz="1275"/>
            </a:pPr>
            <a:r>
              <a:rPr lang="en-US" sz="1275" b="1">
                <a:solidFill>
                  <a:srgbClr val="15A98C"/>
                </a:solidFill>
              </a:rPr>
              <a:t>PRESCRIPTION</a:t>
            </a:r>
          </a:p>
        </p:txBody>
      </p:sp>
      <p:sp>
        <p:nvSpPr>
          <p:cNvPr id="1244" name="s1244"/>
          <p:cNvSpPr>
            <a:spLocks noGrp="1"/>
          </p:cNvSpPr>
          <p:nvPr/>
        </p:nvSpPr>
        <p:spPr>
          <a:xfrm>
            <a:off x="950976" y="2670048"/>
            <a:ext cx="281330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Written at the chairside</a:t>
            </a:r>
          </a:p>
        </p:txBody>
      </p:sp>
      <p:sp>
        <p:nvSpPr>
          <p:cNvPr id="1245" name="s1245"/>
          <p:cNvSpPr>
            <a:spLocks noGrp="1"/>
          </p:cNvSpPr>
          <p:nvPr/>
        </p:nvSpPr>
        <p:spPr>
          <a:xfrm>
            <a:off x="950976" y="3438144"/>
            <a:ext cx="2813304" cy="914400"/>
          </a:xfrm>
          <a:prstGeom prst="rect">
            <a:avLst/>
          </a:prstGeom>
          <a:noFill/>
          <a:ln w="0">
            <a:noFill/>
            <a:prstDash val="solid"/>
          </a:ln>
        </p:spPr>
        <p:txBody>
          <a:bodyPr wrap="square" lIns="0" tIns="0" rIns="0" bIns="0" anchor="t"/>
          <a:lstStyle/>
          <a:p>
            <a:pPr algn="l">
              <a:buNone/>
              <a:defRPr sz="1275"/>
            </a:pPr>
            <a:r>
              <a:rPr lang="en-US" sz="1275">
                <a:solidFill>
                  <a:srgbClr val="66746F"/>
                </a:solidFill>
              </a:rPr>
              <a:t>Diagnosis, drug, dose, route and duration captured once, on the spot, and issued as a document.</a:t>
            </a:r>
          </a:p>
        </p:txBody>
      </p:sp>
      <p:sp>
        <p:nvSpPr>
          <p:cNvPr id="1246" name="s1246"/>
          <p:cNvSpPr>
            <a:spLocks noGrp="1"/>
          </p:cNvSpPr>
          <p:nvPr/>
        </p:nvSpPr>
        <p:spPr>
          <a:xfrm>
            <a:off x="4422648" y="1901952"/>
            <a:ext cx="3343656" cy="2697480"/>
          </a:xfrm>
          <a:prstGeom prst="roundRect">
            <a:avLst/>
          </a:prstGeom>
          <a:solidFill>
            <a:srgbClr val="FFFFFF"/>
          </a:solidFill>
          <a:ln w="0">
            <a:noFill/>
            <a:prstDash val="solid"/>
          </a:ln>
        </p:spPr>
        <p:txBody>
          <a:bodyPr wrap="square" lIns="0" tIns="0" rIns="0" bIns="0" anchor="t"/>
          <a:lstStyle/>
          <a:p>
            <a:endParaRPr lang="en-US"/>
          </a:p>
        </p:txBody>
      </p:sp>
      <p:sp>
        <p:nvSpPr>
          <p:cNvPr id="1247" name="s1247"/>
          <p:cNvSpPr>
            <a:spLocks noGrp="1"/>
          </p:cNvSpPr>
          <p:nvPr/>
        </p:nvSpPr>
        <p:spPr>
          <a:xfrm>
            <a:off x="4422648" y="1901952"/>
            <a:ext cx="3343656" cy="109728"/>
          </a:xfrm>
          <a:prstGeom prst="rect">
            <a:avLst/>
          </a:prstGeom>
          <a:solidFill>
            <a:srgbClr val="E96155"/>
          </a:solidFill>
          <a:ln w="0">
            <a:noFill/>
            <a:prstDash val="solid"/>
          </a:ln>
        </p:spPr>
        <p:txBody>
          <a:bodyPr wrap="square" lIns="0" tIns="0" rIns="0" bIns="0" anchor="t"/>
          <a:lstStyle/>
          <a:p>
            <a:endParaRPr lang="en-US"/>
          </a:p>
        </p:txBody>
      </p:sp>
      <p:sp>
        <p:nvSpPr>
          <p:cNvPr id="1248" name="s1248"/>
          <p:cNvSpPr>
            <a:spLocks noGrp="1"/>
          </p:cNvSpPr>
          <p:nvPr/>
        </p:nvSpPr>
        <p:spPr>
          <a:xfrm>
            <a:off x="4687824" y="2249424"/>
            <a:ext cx="2813304" cy="274320"/>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WITHDRAWAL</a:t>
            </a:r>
          </a:p>
        </p:txBody>
      </p:sp>
      <p:sp>
        <p:nvSpPr>
          <p:cNvPr id="1249" name="s1249"/>
          <p:cNvSpPr>
            <a:spLocks noGrp="1"/>
          </p:cNvSpPr>
          <p:nvPr/>
        </p:nvSpPr>
        <p:spPr>
          <a:xfrm>
            <a:off x="4687824" y="2670048"/>
            <a:ext cx="281330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Calculated automatically</a:t>
            </a:r>
          </a:p>
        </p:txBody>
      </p:sp>
      <p:sp>
        <p:nvSpPr>
          <p:cNvPr id="1250" name="s1250"/>
          <p:cNvSpPr>
            <a:spLocks noGrp="1"/>
          </p:cNvSpPr>
          <p:nvPr/>
        </p:nvSpPr>
        <p:spPr>
          <a:xfrm>
            <a:off x="4687824" y="3438144"/>
            <a:ext cx="2813304" cy="914400"/>
          </a:xfrm>
          <a:prstGeom prst="rect">
            <a:avLst/>
          </a:prstGeom>
          <a:noFill/>
          <a:ln w="0">
            <a:noFill/>
            <a:prstDash val="solid"/>
          </a:ln>
        </p:spPr>
        <p:txBody>
          <a:bodyPr wrap="square" lIns="0" tIns="0" rIns="0" bIns="0" anchor="t"/>
          <a:lstStyle/>
          <a:p>
            <a:pPr algn="l">
              <a:buNone/>
              <a:defRPr sz="1275"/>
            </a:pPr>
            <a:r>
              <a:rPr lang="en-US" sz="1275">
                <a:solidFill>
                  <a:srgbClr val="66746F"/>
                </a:solidFill>
              </a:rPr>
              <a:t>The end date is derived from the product and shown against milk and slaughter — no mental arithmetic.</a:t>
            </a:r>
          </a:p>
        </p:txBody>
      </p:sp>
      <p:sp>
        <p:nvSpPr>
          <p:cNvPr id="1251" name="s1251"/>
          <p:cNvSpPr>
            <a:spLocks noGrp="1"/>
          </p:cNvSpPr>
          <p:nvPr/>
        </p:nvSpPr>
        <p:spPr>
          <a:xfrm>
            <a:off x="8159496" y="1901952"/>
            <a:ext cx="3343656" cy="2697480"/>
          </a:xfrm>
          <a:prstGeom prst="roundRect">
            <a:avLst/>
          </a:prstGeom>
          <a:solidFill>
            <a:srgbClr val="FFFFFF"/>
          </a:solidFill>
          <a:ln w="0">
            <a:noFill/>
            <a:prstDash val="solid"/>
          </a:ln>
        </p:spPr>
        <p:txBody>
          <a:bodyPr wrap="square" lIns="0" tIns="0" rIns="0" bIns="0" anchor="t"/>
          <a:lstStyle/>
          <a:p>
            <a:endParaRPr lang="en-US"/>
          </a:p>
        </p:txBody>
      </p:sp>
      <p:sp>
        <p:nvSpPr>
          <p:cNvPr id="1252" name="s1252"/>
          <p:cNvSpPr>
            <a:spLocks noGrp="1"/>
          </p:cNvSpPr>
          <p:nvPr/>
        </p:nvSpPr>
        <p:spPr>
          <a:xfrm>
            <a:off x="8159496" y="1901952"/>
            <a:ext cx="3343656" cy="109728"/>
          </a:xfrm>
          <a:prstGeom prst="rect">
            <a:avLst/>
          </a:prstGeom>
          <a:solidFill>
            <a:srgbClr val="4C8DD9"/>
          </a:solidFill>
          <a:ln w="0">
            <a:noFill/>
            <a:prstDash val="solid"/>
          </a:ln>
        </p:spPr>
        <p:txBody>
          <a:bodyPr wrap="square" lIns="0" tIns="0" rIns="0" bIns="0" anchor="t"/>
          <a:lstStyle/>
          <a:p>
            <a:endParaRPr lang="en-US"/>
          </a:p>
        </p:txBody>
      </p:sp>
      <p:sp>
        <p:nvSpPr>
          <p:cNvPr id="1253" name="s1253"/>
          <p:cNvSpPr>
            <a:spLocks noGrp="1"/>
          </p:cNvSpPr>
          <p:nvPr/>
        </p:nvSpPr>
        <p:spPr>
          <a:xfrm>
            <a:off x="8424672" y="2249424"/>
            <a:ext cx="2813304" cy="274320"/>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OUTCOME</a:t>
            </a:r>
          </a:p>
        </p:txBody>
      </p:sp>
      <p:sp>
        <p:nvSpPr>
          <p:cNvPr id="1254" name="s1254"/>
          <p:cNvSpPr>
            <a:spLocks noGrp="1"/>
          </p:cNvSpPr>
          <p:nvPr/>
        </p:nvSpPr>
        <p:spPr>
          <a:xfrm>
            <a:off x="8424672" y="2670048"/>
            <a:ext cx="281330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Verified by the sensor</a:t>
            </a:r>
          </a:p>
        </p:txBody>
      </p:sp>
      <p:sp>
        <p:nvSpPr>
          <p:cNvPr id="1255" name="s1255"/>
          <p:cNvSpPr>
            <a:spLocks noGrp="1"/>
          </p:cNvSpPr>
          <p:nvPr/>
        </p:nvSpPr>
        <p:spPr>
          <a:xfrm>
            <a:off x="8424672" y="3438144"/>
            <a:ext cx="2813304" cy="914400"/>
          </a:xfrm>
          <a:prstGeom prst="rect">
            <a:avLst/>
          </a:prstGeom>
          <a:noFill/>
          <a:ln w="0">
            <a:noFill/>
            <a:prstDash val="solid"/>
          </a:ln>
        </p:spPr>
        <p:txBody>
          <a:bodyPr wrap="square" lIns="0" tIns="0" rIns="0" bIns="0" anchor="t"/>
          <a:lstStyle/>
          <a:p>
            <a:pPr algn="l">
              <a:buNone/>
              <a:defRPr sz="1275"/>
            </a:pPr>
            <a:r>
              <a:rPr lang="en-US" sz="1275">
                <a:solidFill>
                  <a:srgbClr val="66746F"/>
                </a:solidFill>
              </a:rPr>
              <a:t>Days later the system re-reads the animal and reports recovery, relapse or continued monitoring.</a:t>
            </a:r>
          </a:p>
        </p:txBody>
      </p:sp>
      <p:sp>
        <p:nvSpPr>
          <p:cNvPr id="1256" name="s1256"/>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257" name="s1257"/>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Withdrawal control is food safety — and food safety is a trade issue before it is a farm issue.</a:t>
            </a:r>
          </a:p>
        </p:txBody>
      </p:sp>
      <p:sp>
        <p:nvSpPr>
          <p:cNvPr id="1260" name="s1260"/>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261" name="s1261"/>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284" name="s1284"/>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LEARNING</a:t>
            </a:r>
          </a:p>
        </p:txBody>
      </p:sp>
      <p:sp>
        <p:nvSpPr>
          <p:cNvPr id="1285" name="s1285"/>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veterinarian’s judgement becomes the system’s memory</a:t>
            </a:r>
          </a:p>
        </p:txBody>
      </p:sp>
      <p:sp>
        <p:nvSpPr>
          <p:cNvPr id="1262" name="s1262"/>
          <p:cNvSpPr>
            <a:spLocks noGrp="1"/>
          </p:cNvSpPr>
          <p:nvPr/>
        </p:nvSpPr>
        <p:spPr>
          <a:xfrm>
            <a:off x="68580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263" name="s1263"/>
          <p:cNvSpPr>
            <a:spLocks noGrp="1"/>
          </p:cNvSpPr>
          <p:nvPr/>
        </p:nvSpPr>
        <p:spPr>
          <a:xfrm>
            <a:off x="92354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264" name="s1264"/>
          <p:cNvSpPr>
            <a:spLocks noGrp="1"/>
          </p:cNvSpPr>
          <p:nvPr/>
        </p:nvSpPr>
        <p:spPr>
          <a:xfrm>
            <a:off x="92354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1</a:t>
            </a:r>
          </a:p>
        </p:txBody>
      </p:sp>
      <p:sp>
        <p:nvSpPr>
          <p:cNvPr id="1265" name="s1265"/>
          <p:cNvSpPr>
            <a:spLocks noGrp="1"/>
          </p:cNvSpPr>
          <p:nvPr/>
        </p:nvSpPr>
        <p:spPr>
          <a:xfrm>
            <a:off x="92354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A judgement is spoken</a:t>
            </a:r>
          </a:p>
        </p:txBody>
      </p:sp>
      <p:sp>
        <p:nvSpPr>
          <p:cNvPr id="1266" name="s1266"/>
          <p:cNvSpPr>
            <a:spLocks noGrp="1"/>
          </p:cNvSpPr>
          <p:nvPr/>
        </p:nvSpPr>
        <p:spPr>
          <a:xfrm>
            <a:off x="923544" y="3474720"/>
            <a:ext cx="2077974" cy="731520"/>
          </a:xfrm>
          <a:prstGeom prst="rect">
            <a:avLst/>
          </a:prstGeom>
          <a:noFill/>
          <a:ln w="0">
            <a:noFill/>
            <a:prstDash val="solid"/>
          </a:ln>
        </p:spPr>
        <p:txBody>
          <a:bodyPr wrap="square" lIns="0" tIns="0" rIns="0" bIns="0" anchor="t"/>
          <a:lstStyle/>
          <a:p>
            <a:pPr algn="l">
              <a:buNone/>
              <a:defRPr sz="1300"/>
            </a:pPr>
            <a:r>
              <a:rPr lang="en-US" sz="1300">
                <a:solidFill>
                  <a:srgbClr val="66746F"/>
                </a:solidFill>
              </a:rPr>
              <a:t>During the case review — “this looks like ketosis”</a:t>
            </a:r>
          </a:p>
        </p:txBody>
      </p:sp>
      <p:sp>
        <p:nvSpPr>
          <p:cNvPr id="1267" name="s1267"/>
          <p:cNvSpPr>
            <a:spLocks noGrp="1"/>
          </p:cNvSpPr>
          <p:nvPr/>
        </p:nvSpPr>
        <p:spPr>
          <a:xfrm>
            <a:off x="344043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268" name="s1268"/>
          <p:cNvSpPr>
            <a:spLocks noGrp="1"/>
          </p:cNvSpPr>
          <p:nvPr/>
        </p:nvSpPr>
        <p:spPr>
          <a:xfrm>
            <a:off x="367817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269" name="s1269"/>
          <p:cNvSpPr>
            <a:spLocks noGrp="1"/>
          </p:cNvSpPr>
          <p:nvPr/>
        </p:nvSpPr>
        <p:spPr>
          <a:xfrm>
            <a:off x="367817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2</a:t>
            </a:r>
          </a:p>
        </p:txBody>
      </p:sp>
      <p:sp>
        <p:nvSpPr>
          <p:cNvPr id="1270" name="s1270"/>
          <p:cNvSpPr>
            <a:spLocks noGrp="1"/>
          </p:cNvSpPr>
          <p:nvPr/>
        </p:nvSpPr>
        <p:spPr>
          <a:xfrm>
            <a:off x="367817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One confirmation</a:t>
            </a:r>
          </a:p>
        </p:txBody>
      </p:sp>
      <p:sp>
        <p:nvSpPr>
          <p:cNvPr id="1271" name="s1271"/>
          <p:cNvSpPr>
            <a:spLocks noGrp="1"/>
          </p:cNvSpPr>
          <p:nvPr/>
        </p:nvSpPr>
        <p:spPr>
          <a:xfrm>
            <a:off x="3678174" y="3474720"/>
            <a:ext cx="2077974" cy="731520"/>
          </a:xfrm>
          <a:prstGeom prst="rect">
            <a:avLst/>
          </a:prstGeom>
          <a:noFill/>
          <a:ln w="0">
            <a:noFill/>
            <a:prstDash val="solid"/>
          </a:ln>
        </p:spPr>
        <p:txBody>
          <a:bodyPr wrap="square" lIns="0" tIns="0" rIns="0" bIns="0" anchor="t"/>
          <a:lstStyle/>
          <a:p>
            <a:pPr algn="l">
              <a:buNone/>
              <a:defRPr sz="1300"/>
            </a:pPr>
            <a:r>
              <a:rPr lang="en-US" sz="1300">
                <a:solidFill>
                  <a:srgbClr val="66746F"/>
                </a:solidFill>
              </a:rPr>
              <a:t>The assistant asks once whether to record it as a label</a:t>
            </a:r>
          </a:p>
        </p:txBody>
      </p:sp>
      <p:sp>
        <p:nvSpPr>
          <p:cNvPr id="1272" name="s1272"/>
          <p:cNvSpPr>
            <a:spLocks noGrp="1"/>
          </p:cNvSpPr>
          <p:nvPr/>
        </p:nvSpPr>
        <p:spPr>
          <a:xfrm>
            <a:off x="619506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273" name="s1273"/>
          <p:cNvSpPr>
            <a:spLocks noGrp="1"/>
          </p:cNvSpPr>
          <p:nvPr/>
        </p:nvSpPr>
        <p:spPr>
          <a:xfrm>
            <a:off x="643280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274" name="s1274"/>
          <p:cNvSpPr>
            <a:spLocks noGrp="1"/>
          </p:cNvSpPr>
          <p:nvPr/>
        </p:nvSpPr>
        <p:spPr>
          <a:xfrm>
            <a:off x="643280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3</a:t>
            </a:r>
          </a:p>
        </p:txBody>
      </p:sp>
      <p:sp>
        <p:nvSpPr>
          <p:cNvPr id="1275" name="s1275"/>
          <p:cNvSpPr>
            <a:spLocks noGrp="1"/>
          </p:cNvSpPr>
          <p:nvPr/>
        </p:nvSpPr>
        <p:spPr>
          <a:xfrm>
            <a:off x="643280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Stored and aggregated</a:t>
            </a:r>
          </a:p>
        </p:txBody>
      </p:sp>
      <p:sp>
        <p:nvSpPr>
          <p:cNvPr id="1276" name="s1276"/>
          <p:cNvSpPr>
            <a:spLocks noGrp="1"/>
          </p:cNvSpPr>
          <p:nvPr/>
        </p:nvSpPr>
        <p:spPr>
          <a:xfrm>
            <a:off x="6432804" y="3474720"/>
            <a:ext cx="2077974" cy="731520"/>
          </a:xfrm>
          <a:prstGeom prst="rect">
            <a:avLst/>
          </a:prstGeom>
          <a:noFill/>
          <a:ln w="0">
            <a:noFill/>
            <a:prstDash val="solid"/>
          </a:ln>
        </p:spPr>
        <p:txBody>
          <a:bodyPr wrap="square" lIns="0" tIns="0" rIns="0" bIns="0" anchor="t"/>
          <a:lstStyle/>
          <a:p>
            <a:pPr algn="l">
              <a:buNone/>
              <a:defRPr sz="1300"/>
            </a:pPr>
            <a:r>
              <a:rPr lang="en-US" sz="1300">
                <a:solidFill>
                  <a:srgbClr val="66746F"/>
                </a:solidFill>
              </a:rPr>
              <a:t>Kept as ground truth and tracked per alert type over time</a:t>
            </a:r>
          </a:p>
        </p:txBody>
      </p:sp>
      <p:sp>
        <p:nvSpPr>
          <p:cNvPr id="1277" name="s1277"/>
          <p:cNvSpPr>
            <a:spLocks noGrp="1"/>
          </p:cNvSpPr>
          <p:nvPr/>
        </p:nvSpPr>
        <p:spPr>
          <a:xfrm>
            <a:off x="8949690" y="1956816"/>
            <a:ext cx="2553462" cy="2487168"/>
          </a:xfrm>
          <a:prstGeom prst="roundRect">
            <a:avLst/>
          </a:prstGeom>
          <a:solidFill>
            <a:srgbClr val="FFFFFF"/>
          </a:solidFill>
          <a:ln w="0">
            <a:noFill/>
            <a:prstDash val="solid"/>
          </a:ln>
        </p:spPr>
        <p:txBody>
          <a:bodyPr wrap="square" lIns="0" tIns="0" rIns="0" bIns="0" anchor="t"/>
          <a:lstStyle/>
          <a:p>
            <a:endParaRPr lang="en-US"/>
          </a:p>
        </p:txBody>
      </p:sp>
      <p:sp>
        <p:nvSpPr>
          <p:cNvPr id="1278" name="s1278"/>
          <p:cNvSpPr>
            <a:spLocks noGrp="1"/>
          </p:cNvSpPr>
          <p:nvPr/>
        </p:nvSpPr>
        <p:spPr>
          <a:xfrm>
            <a:off x="9187434" y="2212848"/>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279" name="s1279"/>
          <p:cNvSpPr>
            <a:spLocks noGrp="1"/>
          </p:cNvSpPr>
          <p:nvPr/>
        </p:nvSpPr>
        <p:spPr>
          <a:xfrm>
            <a:off x="9187434" y="2267712"/>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4</a:t>
            </a:r>
          </a:p>
        </p:txBody>
      </p:sp>
      <p:sp>
        <p:nvSpPr>
          <p:cNvPr id="1280" name="s1280"/>
          <p:cNvSpPr>
            <a:spLocks noGrp="1"/>
          </p:cNvSpPr>
          <p:nvPr/>
        </p:nvSpPr>
        <p:spPr>
          <a:xfrm>
            <a:off x="9187434" y="2798064"/>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The next judgement improves</a:t>
            </a:r>
          </a:p>
        </p:txBody>
      </p:sp>
      <p:sp>
        <p:nvSpPr>
          <p:cNvPr id="1281" name="s1281"/>
          <p:cNvSpPr>
            <a:spLocks noGrp="1"/>
          </p:cNvSpPr>
          <p:nvPr/>
        </p:nvSpPr>
        <p:spPr>
          <a:xfrm>
            <a:off x="9187434" y="3474720"/>
            <a:ext cx="2077974" cy="731520"/>
          </a:xfrm>
          <a:prstGeom prst="rect">
            <a:avLst/>
          </a:prstGeom>
          <a:noFill/>
          <a:ln w="0">
            <a:noFill/>
            <a:prstDash val="solid"/>
          </a:ln>
        </p:spPr>
        <p:txBody>
          <a:bodyPr wrap="square" lIns="0" tIns="0" rIns="0" bIns="0" anchor="t"/>
          <a:lstStyle/>
          <a:p>
            <a:pPr algn="l">
              <a:buNone/>
              <a:defRPr sz="1300"/>
            </a:pPr>
            <a:r>
              <a:rPr lang="en-US" sz="1300">
                <a:solidFill>
                  <a:srgbClr val="66746F"/>
                </a:solidFill>
              </a:rPr>
              <a:t>Guidance is rebuilt by fixed rules — never by the model itself</a:t>
            </a:r>
          </a:p>
        </p:txBody>
      </p:sp>
      <p:sp>
        <p:nvSpPr>
          <p:cNvPr id="1282" name="s1282"/>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283" name="s1283"/>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Only expert judgements become labels. Farmer and administrator guesses are excluded to protect data quality.</a:t>
            </a:r>
          </a:p>
        </p:txBody>
      </p:sp>
      <p:sp>
        <p:nvSpPr>
          <p:cNvPr id="1286" name="s1286"/>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287" name="s1287"/>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88" name="s1288"/>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10</a:t>
            </a:r>
          </a:p>
        </p:txBody>
      </p:sp>
      <p:sp>
        <p:nvSpPr>
          <p:cNvPr id="1289" name="s1289"/>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The reproduction loop</a:t>
            </a:r>
          </a:p>
        </p:txBody>
      </p:sp>
      <p:sp>
        <p:nvSpPr>
          <p:cNvPr id="1290" name="s1290"/>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From heat alert to insemination decision to pregnancy result — and back into the next recommendation.</a:t>
            </a:r>
          </a:p>
        </p:txBody>
      </p:sp>
      <p:sp>
        <p:nvSpPr>
          <p:cNvPr id="1291" name="s1291"/>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292" name="s1292"/>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293" name="s1293"/>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294" name="s1294"/>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295" name="s1295"/>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296" name="s1296"/>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297" name="s1297"/>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298" name="s1298"/>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309" name="s1309"/>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HEAT</a:t>
            </a:r>
          </a:p>
        </p:txBody>
      </p:sp>
      <p:sp>
        <p:nvSpPr>
          <p:cNvPr id="1310" name="s1310"/>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recommendation carries the farm’s own settings</a:t>
            </a:r>
          </a:p>
        </p:txBody>
      </p:sp>
      <p:sp>
        <p:nvSpPr>
          <p:cNvPr id="1299" name="s1299"/>
          <p:cNvSpPr>
            <a:spLocks noGrp="1"/>
          </p:cNvSpPr>
          <p:nvPr/>
        </p:nvSpPr>
        <p:spPr>
          <a:xfrm>
            <a:off x="722376" y="2011680"/>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300" name="s1300"/>
          <p:cNvSpPr>
            <a:spLocks noGrp="1"/>
          </p:cNvSpPr>
          <p:nvPr/>
        </p:nvSpPr>
        <p:spPr>
          <a:xfrm>
            <a:off x="987552" y="1938528"/>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The insemination window is calculated from this farm’s parameters, not a global default</a:t>
            </a:r>
          </a:p>
        </p:txBody>
      </p:sp>
      <p:sp>
        <p:nvSpPr>
          <p:cNvPr id="1301" name="s1301"/>
          <p:cNvSpPr>
            <a:spLocks noGrp="1"/>
          </p:cNvSpPr>
          <p:nvPr/>
        </p:nvSpPr>
        <p:spPr>
          <a:xfrm>
            <a:off x="722376" y="2679192"/>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302" name="s1302"/>
          <p:cNvSpPr>
            <a:spLocks noGrp="1"/>
          </p:cNvSpPr>
          <p:nvPr/>
        </p:nvSpPr>
        <p:spPr>
          <a:xfrm>
            <a:off x="987552" y="2606040"/>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Semen is proposed on inbreeding coefficient, genetic merit and the farm’s stated breeding goal</a:t>
            </a:r>
          </a:p>
        </p:txBody>
      </p:sp>
      <p:sp>
        <p:nvSpPr>
          <p:cNvPr id="1303" name="s1303"/>
          <p:cNvSpPr>
            <a:spLocks noGrp="1"/>
          </p:cNvSpPr>
          <p:nvPr/>
        </p:nvSpPr>
        <p:spPr>
          <a:xfrm>
            <a:off x="722376" y="3346704"/>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304" name="s1304"/>
          <p:cNvSpPr>
            <a:spLocks noGrp="1"/>
          </p:cNvSpPr>
          <p:nvPr/>
        </p:nvSpPr>
        <p:spPr>
          <a:xfrm>
            <a:off x="987552" y="3273552"/>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A pre-check runs first — recent treatment, withdrawal status, repeated failed services</a:t>
            </a:r>
          </a:p>
        </p:txBody>
      </p:sp>
      <p:sp>
        <p:nvSpPr>
          <p:cNvPr id="1305" name="s1305"/>
          <p:cNvSpPr>
            <a:spLocks noGrp="1"/>
          </p:cNvSpPr>
          <p:nvPr/>
        </p:nvSpPr>
        <p:spPr>
          <a:xfrm>
            <a:off x="722376" y="4014216"/>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306" name="s1306"/>
          <p:cNvSpPr>
            <a:spLocks noGrp="1"/>
          </p:cNvSpPr>
          <p:nvPr/>
        </p:nvSpPr>
        <p:spPr>
          <a:xfrm>
            <a:off x="987552" y="3941064"/>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The recommendation names who acts and by when, and the technician receives it directly</a:t>
            </a:r>
          </a:p>
        </p:txBody>
      </p:sp>
      <p:sp>
        <p:nvSpPr>
          <p:cNvPr id="1307" name="s1307"/>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308" name="s1308"/>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Ranking uses inbreeding, genetic merit and farm goals. Supplier weighting does not exist in the algorithm.</a:t>
            </a:r>
          </a:p>
        </p:txBody>
      </p:sp>
      <p:sp>
        <p:nvSpPr>
          <p:cNvPr id="1311" name="s1311"/>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312" name="s1312"/>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339" name="s1339"/>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PROTOCOL &amp; FEEDBACK</a:t>
            </a:r>
          </a:p>
        </p:txBody>
      </p:sp>
      <p:sp>
        <p:nvSpPr>
          <p:cNvPr id="1340" name="s1340"/>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Protocols become schedules, and results become learning</a:t>
            </a:r>
          </a:p>
        </p:txBody>
      </p:sp>
      <p:sp>
        <p:nvSpPr>
          <p:cNvPr id="1313" name="s1313"/>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314" name="s1314"/>
          <p:cNvSpPr>
            <a:spLocks noGrp="1"/>
          </p:cNvSpPr>
          <p:nvPr/>
        </p:nvSpPr>
        <p:spPr>
          <a:xfrm>
            <a:off x="685800" y="1883664"/>
            <a:ext cx="5212080" cy="109728"/>
          </a:xfrm>
          <a:prstGeom prst="rect">
            <a:avLst/>
          </a:prstGeom>
          <a:solidFill>
            <a:srgbClr val="4C8DD9"/>
          </a:solidFill>
          <a:ln w="0">
            <a:noFill/>
            <a:prstDash val="solid"/>
          </a:ln>
        </p:spPr>
        <p:txBody>
          <a:bodyPr wrap="square" lIns="0" tIns="0" rIns="0" bIns="0" anchor="t"/>
          <a:lstStyle/>
          <a:p>
            <a:endParaRPr lang="en-US"/>
          </a:p>
        </p:txBody>
      </p:sp>
      <p:sp>
        <p:nvSpPr>
          <p:cNvPr id="1315" name="s1315"/>
          <p:cNvSpPr>
            <a:spLocks noGrp="1"/>
          </p:cNvSpPr>
          <p:nvPr/>
        </p:nvSpPr>
        <p:spPr>
          <a:xfrm>
            <a:off x="960120"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SYNCHRONISATION</a:t>
            </a:r>
          </a:p>
        </p:txBody>
      </p:sp>
      <p:sp>
        <p:nvSpPr>
          <p:cNvPr id="1316" name="s1316"/>
          <p:cNvSpPr>
            <a:spLocks noGrp="1"/>
          </p:cNvSpPr>
          <p:nvPr/>
        </p:nvSpPr>
        <p:spPr>
          <a:xfrm>
            <a:off x="960120"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A protocol becomes a calendar</a:t>
            </a:r>
          </a:p>
        </p:txBody>
      </p:sp>
      <p:sp>
        <p:nvSpPr>
          <p:cNvPr id="1317" name="s1317"/>
          <p:cNvSpPr>
            <a:spLocks noGrp="1"/>
          </p:cNvSpPr>
          <p:nvPr/>
        </p:nvSpPr>
        <p:spPr>
          <a:xfrm>
            <a:off x="978408" y="3127248"/>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18" name="s1318"/>
          <p:cNvSpPr>
            <a:spLocks noGrp="1"/>
          </p:cNvSpPr>
          <p:nvPr/>
        </p:nvSpPr>
        <p:spPr>
          <a:xfrm>
            <a:off x="1216152" y="3072384"/>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Four standard protocols are supported as prescriptions</a:t>
            </a:r>
          </a:p>
        </p:txBody>
      </p:sp>
      <p:sp>
        <p:nvSpPr>
          <p:cNvPr id="1319" name="s1319"/>
          <p:cNvSpPr>
            <a:spLocks noGrp="1"/>
          </p:cNvSpPr>
          <p:nvPr/>
        </p:nvSpPr>
        <p:spPr>
          <a:xfrm>
            <a:off x="978408" y="3529584"/>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20" name="s1320"/>
          <p:cNvSpPr>
            <a:spLocks noGrp="1"/>
          </p:cNvSpPr>
          <p:nvPr/>
        </p:nvSpPr>
        <p:spPr>
          <a:xfrm>
            <a:off x="1216152" y="3474720"/>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Each becomes dated hormone and insemination tasks</a:t>
            </a:r>
          </a:p>
        </p:txBody>
      </p:sp>
      <p:sp>
        <p:nvSpPr>
          <p:cNvPr id="1321" name="s1321"/>
          <p:cNvSpPr>
            <a:spLocks noGrp="1"/>
          </p:cNvSpPr>
          <p:nvPr/>
        </p:nvSpPr>
        <p:spPr>
          <a:xfrm>
            <a:off x="978408" y="3931920"/>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22" name="s1322"/>
          <p:cNvSpPr>
            <a:spLocks noGrp="1"/>
          </p:cNvSpPr>
          <p:nvPr/>
        </p:nvSpPr>
        <p:spPr>
          <a:xfrm>
            <a:off x="1216152" y="3877056"/>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Today’s due treatments appear on the daily worklist</a:t>
            </a:r>
          </a:p>
        </p:txBody>
      </p:sp>
      <p:sp>
        <p:nvSpPr>
          <p:cNvPr id="1323" name="s1323"/>
          <p:cNvSpPr>
            <a:spLocks noGrp="1"/>
          </p:cNvSpPr>
          <p:nvPr/>
        </p:nvSpPr>
        <p:spPr>
          <a:xfrm>
            <a:off x="978408" y="4334256"/>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24" name="s1324"/>
          <p:cNvSpPr>
            <a:spLocks noGrp="1"/>
          </p:cNvSpPr>
          <p:nvPr/>
        </p:nvSpPr>
        <p:spPr>
          <a:xfrm>
            <a:off x="1216152" y="4279392"/>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Approval rules still apply before anything is scheduled</a:t>
            </a:r>
          </a:p>
        </p:txBody>
      </p:sp>
      <p:sp>
        <p:nvSpPr>
          <p:cNvPr id="1325" name="s1325"/>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326" name="s1326"/>
          <p:cNvSpPr>
            <a:spLocks noGrp="1"/>
          </p:cNvSpPr>
          <p:nvPr/>
        </p:nvSpPr>
        <p:spPr>
          <a:xfrm>
            <a:off x="6291072" y="1883664"/>
            <a:ext cx="5212080" cy="109728"/>
          </a:xfrm>
          <a:prstGeom prst="rect">
            <a:avLst/>
          </a:prstGeom>
          <a:solidFill>
            <a:srgbClr val="65D44A"/>
          </a:solidFill>
          <a:ln w="0">
            <a:noFill/>
            <a:prstDash val="solid"/>
          </a:ln>
        </p:spPr>
        <p:txBody>
          <a:bodyPr wrap="square" lIns="0" tIns="0" rIns="0" bIns="0" anchor="t"/>
          <a:lstStyle/>
          <a:p>
            <a:endParaRPr lang="en-US"/>
          </a:p>
        </p:txBody>
      </p:sp>
      <p:sp>
        <p:nvSpPr>
          <p:cNvPr id="1327" name="s1327"/>
          <p:cNvSpPr>
            <a:spLocks noGrp="1"/>
          </p:cNvSpPr>
          <p:nvPr/>
        </p:nvSpPr>
        <p:spPr>
          <a:xfrm>
            <a:off x="6565392"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65D44A"/>
                </a:solidFill>
              </a:rPr>
              <a:t>THE CLOSING LOOP</a:t>
            </a:r>
          </a:p>
        </p:txBody>
      </p:sp>
      <p:sp>
        <p:nvSpPr>
          <p:cNvPr id="1328" name="s1328"/>
          <p:cNvSpPr>
            <a:spLocks noGrp="1"/>
          </p:cNvSpPr>
          <p:nvPr/>
        </p:nvSpPr>
        <p:spPr>
          <a:xfrm>
            <a:off x="6565392"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Results teach the next cycle</a:t>
            </a:r>
          </a:p>
        </p:txBody>
      </p:sp>
      <p:sp>
        <p:nvSpPr>
          <p:cNvPr id="1329" name="s1329"/>
          <p:cNvSpPr>
            <a:spLocks noGrp="1"/>
          </p:cNvSpPr>
          <p:nvPr/>
        </p:nvSpPr>
        <p:spPr>
          <a:xfrm>
            <a:off x="6583680" y="3127248"/>
            <a:ext cx="100584" cy="100584"/>
          </a:xfrm>
          <a:prstGeom prst="ellipse">
            <a:avLst/>
          </a:prstGeom>
          <a:solidFill>
            <a:srgbClr val="65D44A"/>
          </a:solidFill>
          <a:ln w="0">
            <a:noFill/>
            <a:prstDash val="solid"/>
          </a:ln>
        </p:spPr>
        <p:txBody>
          <a:bodyPr wrap="square" lIns="0" tIns="0" rIns="0" bIns="0" anchor="t"/>
          <a:lstStyle/>
          <a:p>
            <a:endParaRPr lang="en-US"/>
          </a:p>
        </p:txBody>
      </p:sp>
      <p:sp>
        <p:nvSpPr>
          <p:cNvPr id="1330" name="s1330"/>
          <p:cNvSpPr>
            <a:spLocks noGrp="1"/>
          </p:cNvSpPr>
          <p:nvPr/>
        </p:nvSpPr>
        <p:spPr>
          <a:xfrm>
            <a:off x="6821424" y="3072384"/>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Insemination is recorded with sire and technician</a:t>
            </a:r>
          </a:p>
        </p:txBody>
      </p:sp>
      <p:sp>
        <p:nvSpPr>
          <p:cNvPr id="1331" name="s1331"/>
          <p:cNvSpPr>
            <a:spLocks noGrp="1"/>
          </p:cNvSpPr>
          <p:nvPr/>
        </p:nvSpPr>
        <p:spPr>
          <a:xfrm>
            <a:off x="6583680" y="3529584"/>
            <a:ext cx="100584" cy="100584"/>
          </a:xfrm>
          <a:prstGeom prst="ellipse">
            <a:avLst/>
          </a:prstGeom>
          <a:solidFill>
            <a:srgbClr val="65D44A"/>
          </a:solidFill>
          <a:ln w="0">
            <a:noFill/>
            <a:prstDash val="solid"/>
          </a:ln>
        </p:spPr>
        <p:txBody>
          <a:bodyPr wrap="square" lIns="0" tIns="0" rIns="0" bIns="0" anchor="t"/>
          <a:lstStyle/>
          <a:p>
            <a:endParaRPr lang="en-US"/>
          </a:p>
        </p:txBody>
      </p:sp>
      <p:sp>
        <p:nvSpPr>
          <p:cNvPr id="1332" name="s1332"/>
          <p:cNvSpPr>
            <a:spLocks noGrp="1"/>
          </p:cNvSpPr>
          <p:nvPr/>
        </p:nvSpPr>
        <p:spPr>
          <a:xfrm>
            <a:off x="6821424" y="3474720"/>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The pregnancy result returns as ground truth</a:t>
            </a:r>
          </a:p>
        </p:txBody>
      </p:sp>
      <p:sp>
        <p:nvSpPr>
          <p:cNvPr id="1333" name="s1333"/>
          <p:cNvSpPr>
            <a:spLocks noGrp="1"/>
          </p:cNvSpPr>
          <p:nvPr/>
        </p:nvSpPr>
        <p:spPr>
          <a:xfrm>
            <a:off x="6583680" y="3931920"/>
            <a:ext cx="100584" cy="100584"/>
          </a:xfrm>
          <a:prstGeom prst="ellipse">
            <a:avLst/>
          </a:prstGeom>
          <a:solidFill>
            <a:srgbClr val="65D44A"/>
          </a:solidFill>
          <a:ln w="0">
            <a:noFill/>
            <a:prstDash val="solid"/>
          </a:ln>
        </p:spPr>
        <p:txBody>
          <a:bodyPr wrap="square" lIns="0" tIns="0" rIns="0" bIns="0" anchor="t"/>
          <a:lstStyle/>
          <a:p>
            <a:endParaRPr lang="en-US"/>
          </a:p>
        </p:txBody>
      </p:sp>
      <p:sp>
        <p:nvSpPr>
          <p:cNvPr id="1334" name="s1334"/>
          <p:cNvSpPr>
            <a:spLocks noGrp="1"/>
          </p:cNvSpPr>
          <p:nvPr/>
        </p:nvSpPr>
        <p:spPr>
          <a:xfrm>
            <a:off x="6821424" y="3877056"/>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Conception rates are tracked by sire and by cow</a:t>
            </a:r>
          </a:p>
        </p:txBody>
      </p:sp>
      <p:sp>
        <p:nvSpPr>
          <p:cNvPr id="1335" name="s1335"/>
          <p:cNvSpPr>
            <a:spLocks noGrp="1"/>
          </p:cNvSpPr>
          <p:nvPr/>
        </p:nvSpPr>
        <p:spPr>
          <a:xfrm>
            <a:off x="6583680" y="4334256"/>
            <a:ext cx="100584" cy="100584"/>
          </a:xfrm>
          <a:prstGeom prst="ellipse">
            <a:avLst/>
          </a:prstGeom>
          <a:solidFill>
            <a:srgbClr val="65D44A"/>
          </a:solidFill>
          <a:ln w="0">
            <a:noFill/>
            <a:prstDash val="solid"/>
          </a:ln>
        </p:spPr>
        <p:txBody>
          <a:bodyPr wrap="square" lIns="0" tIns="0" rIns="0" bIns="0" anchor="t"/>
          <a:lstStyle/>
          <a:p>
            <a:endParaRPr lang="en-US"/>
          </a:p>
        </p:txBody>
      </p:sp>
      <p:sp>
        <p:nvSpPr>
          <p:cNvPr id="1336" name="s1336"/>
          <p:cNvSpPr>
            <a:spLocks noGrp="1"/>
          </p:cNvSpPr>
          <p:nvPr/>
        </p:nvSpPr>
        <p:spPr>
          <a:xfrm>
            <a:off x="6821424" y="4279392"/>
            <a:ext cx="4370832" cy="365760"/>
          </a:xfrm>
          <a:prstGeom prst="rect">
            <a:avLst/>
          </a:prstGeom>
          <a:noFill/>
          <a:ln w="0">
            <a:noFill/>
            <a:prstDash val="solid"/>
          </a:ln>
        </p:spPr>
        <p:txBody>
          <a:bodyPr wrap="square" lIns="0" tIns="0" rIns="0" bIns="0" anchor="t"/>
          <a:lstStyle/>
          <a:p>
            <a:pPr algn="l">
              <a:buNone/>
              <a:defRPr sz="1350"/>
            </a:pPr>
            <a:r>
              <a:rPr lang="en-US" sz="1350">
                <a:solidFill>
                  <a:srgbClr val="66746F"/>
                </a:solidFill>
              </a:rPr>
              <a:t>The next recommendation is adjusted accordingly</a:t>
            </a:r>
          </a:p>
        </p:txBody>
      </p:sp>
      <p:sp>
        <p:nvSpPr>
          <p:cNvPr id="1337" name="s1337"/>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338" name="s1338"/>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A conception result that never comes back is a loop that never closes — and a system that never improves.</a:t>
            </a:r>
          </a:p>
        </p:txBody>
      </p:sp>
      <p:sp>
        <p:nvSpPr>
          <p:cNvPr id="1341" name="s1341"/>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342" name="s1342"/>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343" name="s1343"/>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11</a:t>
            </a:r>
          </a:p>
        </p:txBody>
      </p:sp>
      <p:sp>
        <p:nvSpPr>
          <p:cNvPr id="1344" name="s1344"/>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From one farm to a national picture</a:t>
            </a:r>
          </a:p>
        </p:txBody>
      </p:sp>
      <p:sp>
        <p:nvSpPr>
          <p:cNvPr id="1345" name="s1345"/>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The same signal that helps one farm, aggregated across many, becomes an early-warning layer for disease control.</a:t>
            </a:r>
          </a:p>
        </p:txBody>
      </p:sp>
      <p:sp>
        <p:nvSpPr>
          <p:cNvPr id="1346" name="s1346"/>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347" name="s1347"/>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348" name="s1348"/>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349" name="s1349"/>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350" name="s1350"/>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351" name="s1351"/>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352" name="s1352"/>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353" name="s1353"/>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376" name="s1376"/>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DRILL-DOWN</a:t>
            </a:r>
          </a:p>
        </p:txBody>
      </p:sp>
      <p:sp>
        <p:nvSpPr>
          <p:cNvPr id="1377" name="s1377"/>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Four levels, one continuous view</a:t>
            </a:r>
          </a:p>
        </p:txBody>
      </p:sp>
      <p:sp>
        <p:nvSpPr>
          <p:cNvPr id="1354" name="s1354"/>
          <p:cNvSpPr>
            <a:spLocks noGrp="1"/>
          </p:cNvSpPr>
          <p:nvPr/>
        </p:nvSpPr>
        <p:spPr>
          <a:xfrm>
            <a:off x="68580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355" name="s1355"/>
          <p:cNvSpPr>
            <a:spLocks noGrp="1"/>
          </p:cNvSpPr>
          <p:nvPr/>
        </p:nvSpPr>
        <p:spPr>
          <a:xfrm>
            <a:off x="92354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356" name="s1356"/>
          <p:cNvSpPr>
            <a:spLocks noGrp="1"/>
          </p:cNvSpPr>
          <p:nvPr/>
        </p:nvSpPr>
        <p:spPr>
          <a:xfrm>
            <a:off x="92354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1</a:t>
            </a:r>
          </a:p>
        </p:txBody>
      </p:sp>
      <p:sp>
        <p:nvSpPr>
          <p:cNvPr id="1357" name="s1357"/>
          <p:cNvSpPr>
            <a:spLocks noGrp="1"/>
          </p:cNvSpPr>
          <p:nvPr/>
        </p:nvSpPr>
        <p:spPr>
          <a:xfrm>
            <a:off x="92354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National</a:t>
            </a:r>
          </a:p>
        </p:txBody>
      </p:sp>
      <p:sp>
        <p:nvSpPr>
          <p:cNvPr id="1358" name="s1358"/>
          <p:cNvSpPr>
            <a:spLocks noGrp="1"/>
          </p:cNvSpPr>
          <p:nvPr/>
        </p:nvSpPr>
        <p:spPr>
          <a:xfrm>
            <a:off x="92354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Risk grade and fever rate by province, on one map</a:t>
            </a:r>
          </a:p>
        </p:txBody>
      </p:sp>
      <p:sp>
        <p:nvSpPr>
          <p:cNvPr id="1359" name="s1359"/>
          <p:cNvSpPr>
            <a:spLocks noGrp="1"/>
          </p:cNvSpPr>
          <p:nvPr/>
        </p:nvSpPr>
        <p:spPr>
          <a:xfrm>
            <a:off x="344043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360" name="s1360"/>
          <p:cNvSpPr>
            <a:spLocks noGrp="1"/>
          </p:cNvSpPr>
          <p:nvPr/>
        </p:nvSpPr>
        <p:spPr>
          <a:xfrm>
            <a:off x="367817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361" name="s1361"/>
          <p:cNvSpPr>
            <a:spLocks noGrp="1"/>
          </p:cNvSpPr>
          <p:nvPr/>
        </p:nvSpPr>
        <p:spPr>
          <a:xfrm>
            <a:off x="367817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2</a:t>
            </a:r>
          </a:p>
        </p:txBody>
      </p:sp>
      <p:sp>
        <p:nvSpPr>
          <p:cNvPr id="1362" name="s1362"/>
          <p:cNvSpPr>
            <a:spLocks noGrp="1"/>
          </p:cNvSpPr>
          <p:nvPr/>
        </p:nvSpPr>
        <p:spPr>
          <a:xfrm>
            <a:off x="367817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Province</a:t>
            </a:r>
          </a:p>
        </p:txBody>
      </p:sp>
      <p:sp>
        <p:nvSpPr>
          <p:cNvPr id="1363" name="s1363"/>
          <p:cNvSpPr>
            <a:spLocks noGrp="1"/>
          </p:cNvSpPr>
          <p:nvPr/>
        </p:nvSpPr>
        <p:spPr>
          <a:xfrm>
            <a:off x="367817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Farms in the province with coordinates, herd size and alert counts</a:t>
            </a:r>
          </a:p>
        </p:txBody>
      </p:sp>
      <p:sp>
        <p:nvSpPr>
          <p:cNvPr id="1364" name="s1364"/>
          <p:cNvSpPr>
            <a:spLocks noGrp="1"/>
          </p:cNvSpPr>
          <p:nvPr/>
        </p:nvSpPr>
        <p:spPr>
          <a:xfrm>
            <a:off x="619506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365" name="s1365"/>
          <p:cNvSpPr>
            <a:spLocks noGrp="1"/>
          </p:cNvSpPr>
          <p:nvPr/>
        </p:nvSpPr>
        <p:spPr>
          <a:xfrm>
            <a:off x="643280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366" name="s1366"/>
          <p:cNvSpPr>
            <a:spLocks noGrp="1"/>
          </p:cNvSpPr>
          <p:nvPr/>
        </p:nvSpPr>
        <p:spPr>
          <a:xfrm>
            <a:off x="643280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3</a:t>
            </a:r>
          </a:p>
        </p:txBody>
      </p:sp>
      <p:sp>
        <p:nvSpPr>
          <p:cNvPr id="1367" name="s1367"/>
          <p:cNvSpPr>
            <a:spLocks noGrp="1"/>
          </p:cNvSpPr>
          <p:nvPr/>
        </p:nvSpPr>
        <p:spPr>
          <a:xfrm>
            <a:off x="643280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Farm</a:t>
            </a:r>
          </a:p>
        </p:txBody>
      </p:sp>
      <p:sp>
        <p:nvSpPr>
          <p:cNvPr id="1368" name="s1368"/>
          <p:cNvSpPr>
            <a:spLocks noGrp="1"/>
          </p:cNvSpPr>
          <p:nvPr/>
        </p:nvSpPr>
        <p:spPr>
          <a:xfrm>
            <a:off x="643280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Herd status, recent alerts, movement history and contacts</a:t>
            </a:r>
          </a:p>
        </p:txBody>
      </p:sp>
      <p:sp>
        <p:nvSpPr>
          <p:cNvPr id="1369" name="s1369"/>
          <p:cNvSpPr>
            <a:spLocks noGrp="1"/>
          </p:cNvSpPr>
          <p:nvPr/>
        </p:nvSpPr>
        <p:spPr>
          <a:xfrm>
            <a:off x="894969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370" name="s1370"/>
          <p:cNvSpPr>
            <a:spLocks noGrp="1"/>
          </p:cNvSpPr>
          <p:nvPr/>
        </p:nvSpPr>
        <p:spPr>
          <a:xfrm>
            <a:off x="918743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371" name="s1371"/>
          <p:cNvSpPr>
            <a:spLocks noGrp="1"/>
          </p:cNvSpPr>
          <p:nvPr/>
        </p:nvSpPr>
        <p:spPr>
          <a:xfrm>
            <a:off x="918743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4</a:t>
            </a:r>
          </a:p>
        </p:txBody>
      </p:sp>
      <p:sp>
        <p:nvSpPr>
          <p:cNvPr id="1372" name="s1372"/>
          <p:cNvSpPr>
            <a:spLocks noGrp="1"/>
          </p:cNvSpPr>
          <p:nvPr/>
        </p:nvSpPr>
        <p:spPr>
          <a:xfrm>
            <a:off x="918743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Animal</a:t>
            </a:r>
          </a:p>
        </p:txBody>
      </p:sp>
      <p:sp>
        <p:nvSpPr>
          <p:cNvPr id="1373" name="s1373"/>
          <p:cNvSpPr>
            <a:spLocks noGrp="1"/>
          </p:cNvSpPr>
          <p:nvPr/>
        </p:nvSpPr>
        <p:spPr>
          <a:xfrm>
            <a:off x="918743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The temperature curve and the interpretation behind the alert</a:t>
            </a:r>
          </a:p>
        </p:txBody>
      </p:sp>
      <p:sp>
        <p:nvSpPr>
          <p:cNvPr id="1374" name="s137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375" name="s1375"/>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Four clicks from a national map to the temperature curve of a single cow — without changing systems.</a:t>
            </a:r>
          </a:p>
        </p:txBody>
      </p:sp>
      <p:sp>
        <p:nvSpPr>
          <p:cNvPr id="1378" name="s1378"/>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379" name="s1379"/>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402" name="s1402"/>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SPREAD</a:t>
            </a:r>
          </a:p>
        </p:txBody>
      </p:sp>
      <p:sp>
        <p:nvSpPr>
          <p:cNvPr id="1403" name="s1403"/>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Contact tracing and a spread model — not an illustration</a:t>
            </a:r>
          </a:p>
        </p:txBody>
      </p:sp>
      <p:sp>
        <p:nvSpPr>
          <p:cNvPr id="1380" name="s1380"/>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381" name="s1381"/>
          <p:cNvSpPr>
            <a:spLocks noGrp="1"/>
          </p:cNvSpPr>
          <p:nvPr/>
        </p:nvSpPr>
        <p:spPr>
          <a:xfrm>
            <a:off x="685800" y="1883664"/>
            <a:ext cx="5212080" cy="109728"/>
          </a:xfrm>
          <a:prstGeom prst="rect">
            <a:avLst/>
          </a:prstGeom>
          <a:solidFill>
            <a:srgbClr val="E96155"/>
          </a:solidFill>
          <a:ln w="0">
            <a:noFill/>
            <a:prstDash val="solid"/>
          </a:ln>
        </p:spPr>
        <p:txBody>
          <a:bodyPr wrap="square" lIns="0" tIns="0" rIns="0" bIns="0" anchor="t"/>
          <a:lstStyle/>
          <a:p>
            <a:endParaRPr lang="en-US"/>
          </a:p>
        </p:txBody>
      </p:sp>
      <p:sp>
        <p:nvSpPr>
          <p:cNvPr id="1382" name="s1382"/>
          <p:cNvSpPr>
            <a:spLocks noGrp="1"/>
          </p:cNvSpPr>
          <p:nvPr/>
        </p:nvSpPr>
        <p:spPr>
          <a:xfrm>
            <a:off x="960120"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CONTACT NETWORK</a:t>
            </a:r>
          </a:p>
        </p:txBody>
      </p:sp>
      <p:sp>
        <p:nvSpPr>
          <p:cNvPr id="1383" name="s1383"/>
          <p:cNvSpPr>
            <a:spLocks noGrp="1"/>
          </p:cNvSpPr>
          <p:nvPr/>
        </p:nvSpPr>
        <p:spPr>
          <a:xfrm>
            <a:off x="960120"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Built from movement records</a:t>
            </a:r>
          </a:p>
        </p:txBody>
      </p:sp>
      <p:sp>
        <p:nvSpPr>
          <p:cNvPr id="1384" name="s1384"/>
          <p:cNvSpPr>
            <a:spLocks noGrp="1"/>
          </p:cNvSpPr>
          <p:nvPr/>
        </p:nvSpPr>
        <p:spPr>
          <a:xfrm>
            <a:off x="978408" y="3127248"/>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385" name="s1385"/>
          <p:cNvSpPr>
            <a:spLocks noGrp="1"/>
          </p:cNvSpPr>
          <p:nvPr/>
        </p:nvSpPr>
        <p:spPr>
          <a:xfrm>
            <a:off x="1216152" y="3072384"/>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Animal movements are traced from recorded transfers</a:t>
            </a:r>
          </a:p>
        </p:txBody>
      </p:sp>
      <p:sp>
        <p:nvSpPr>
          <p:cNvPr id="1386" name="s1386"/>
          <p:cNvSpPr>
            <a:spLocks noGrp="1"/>
          </p:cNvSpPr>
          <p:nvPr/>
        </p:nvSpPr>
        <p:spPr>
          <a:xfrm>
            <a:off x="978408" y="3657600"/>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387" name="s1387"/>
          <p:cNvSpPr>
            <a:spLocks noGrp="1"/>
          </p:cNvSpPr>
          <p:nvPr/>
        </p:nvSpPr>
        <p:spPr>
          <a:xfrm>
            <a:off x="1216152" y="3602736"/>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Where movement data is absent, proximity is used and flagged as such</a:t>
            </a:r>
          </a:p>
        </p:txBody>
      </p:sp>
      <p:sp>
        <p:nvSpPr>
          <p:cNvPr id="1388" name="s1388"/>
          <p:cNvSpPr>
            <a:spLocks noGrp="1"/>
          </p:cNvSpPr>
          <p:nvPr/>
        </p:nvSpPr>
        <p:spPr>
          <a:xfrm>
            <a:off x="978408" y="4187952"/>
            <a:ext cx="100584" cy="100584"/>
          </a:xfrm>
          <a:prstGeom prst="ellipse">
            <a:avLst/>
          </a:prstGeom>
          <a:solidFill>
            <a:srgbClr val="E96155"/>
          </a:solidFill>
          <a:ln w="0">
            <a:noFill/>
            <a:prstDash val="solid"/>
          </a:ln>
        </p:spPr>
        <p:txBody>
          <a:bodyPr wrap="square" lIns="0" tIns="0" rIns="0" bIns="0" anchor="t"/>
          <a:lstStyle/>
          <a:p>
            <a:endParaRPr lang="en-US"/>
          </a:p>
        </p:txBody>
      </p:sp>
      <p:sp>
        <p:nvSpPr>
          <p:cNvPr id="1389" name="s1389"/>
          <p:cNvSpPr>
            <a:spLocks noGrp="1"/>
          </p:cNvSpPr>
          <p:nvPr/>
        </p:nvSpPr>
        <p:spPr>
          <a:xfrm>
            <a:off x="1216152" y="4133088"/>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Radius analysis lists the farms and head count inside a given distance</a:t>
            </a:r>
          </a:p>
        </p:txBody>
      </p:sp>
      <p:sp>
        <p:nvSpPr>
          <p:cNvPr id="1390" name="s1390"/>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nchor="t"/>
          <a:lstStyle/>
          <a:p>
            <a:endParaRPr lang="en-US"/>
          </a:p>
        </p:txBody>
      </p:sp>
      <p:sp>
        <p:nvSpPr>
          <p:cNvPr id="1391" name="s1391"/>
          <p:cNvSpPr>
            <a:spLocks noGrp="1"/>
          </p:cNvSpPr>
          <p:nvPr/>
        </p:nvSpPr>
        <p:spPr>
          <a:xfrm>
            <a:off x="6291072" y="1883664"/>
            <a:ext cx="5212080" cy="109728"/>
          </a:xfrm>
          <a:prstGeom prst="rect">
            <a:avLst/>
          </a:prstGeom>
          <a:solidFill>
            <a:srgbClr val="4C8DD9"/>
          </a:solidFill>
          <a:ln w="0">
            <a:noFill/>
            <a:prstDash val="solid"/>
          </a:ln>
        </p:spPr>
        <p:txBody>
          <a:bodyPr wrap="square" lIns="0" tIns="0" rIns="0" bIns="0" anchor="t"/>
          <a:lstStyle/>
          <a:p>
            <a:endParaRPr lang="en-US"/>
          </a:p>
        </p:txBody>
      </p:sp>
      <p:sp>
        <p:nvSpPr>
          <p:cNvPr id="1392" name="s1392"/>
          <p:cNvSpPr>
            <a:spLocks noGrp="1"/>
          </p:cNvSpPr>
          <p:nvPr/>
        </p:nvSpPr>
        <p:spPr>
          <a:xfrm>
            <a:off x="6565392" y="2212848"/>
            <a:ext cx="4663440" cy="256032"/>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SPREAD SIMULATION</a:t>
            </a:r>
          </a:p>
        </p:txBody>
      </p:sp>
      <p:sp>
        <p:nvSpPr>
          <p:cNvPr id="1393" name="s1393"/>
          <p:cNvSpPr>
            <a:spLocks noGrp="1"/>
          </p:cNvSpPr>
          <p:nvPr/>
        </p:nvSpPr>
        <p:spPr>
          <a:xfrm>
            <a:off x="6565392" y="2578608"/>
            <a:ext cx="4663440" cy="402336"/>
          </a:xfrm>
          <a:prstGeom prst="rect">
            <a:avLst/>
          </a:prstGeom>
          <a:noFill/>
          <a:ln w="0">
            <a:noFill/>
            <a:prstDash val="solid"/>
          </a:ln>
        </p:spPr>
        <p:txBody>
          <a:bodyPr wrap="square" lIns="0" tIns="0" rIns="0" bIns="0" anchor="t"/>
          <a:lstStyle/>
          <a:p>
            <a:pPr algn="l">
              <a:buNone/>
              <a:defRPr sz="1725"/>
            </a:pPr>
            <a:r>
              <a:rPr lang="en-US" sz="1725" b="1">
                <a:solidFill>
                  <a:srgbClr val="10251F"/>
                </a:solidFill>
              </a:rPr>
              <a:t>A differential-equation model</a:t>
            </a:r>
          </a:p>
        </p:txBody>
      </p:sp>
      <p:sp>
        <p:nvSpPr>
          <p:cNvPr id="1394" name="s1394"/>
          <p:cNvSpPr>
            <a:spLocks noGrp="1"/>
          </p:cNvSpPr>
          <p:nvPr/>
        </p:nvSpPr>
        <p:spPr>
          <a:xfrm>
            <a:off x="6583680" y="3127248"/>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95" name="s1395"/>
          <p:cNvSpPr>
            <a:spLocks noGrp="1"/>
          </p:cNvSpPr>
          <p:nvPr/>
        </p:nvSpPr>
        <p:spPr>
          <a:xfrm>
            <a:off x="6821424" y="3072384"/>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An SEIR model with disease-specific parameters</a:t>
            </a:r>
          </a:p>
        </p:txBody>
      </p:sp>
      <p:sp>
        <p:nvSpPr>
          <p:cNvPr id="1396" name="s1396"/>
          <p:cNvSpPr>
            <a:spLocks noGrp="1"/>
          </p:cNvSpPr>
          <p:nvPr/>
        </p:nvSpPr>
        <p:spPr>
          <a:xfrm>
            <a:off x="6583680" y="3657600"/>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97" name="s1397"/>
          <p:cNvSpPr>
            <a:spLocks noGrp="1"/>
          </p:cNvSpPr>
          <p:nvPr/>
        </p:nvSpPr>
        <p:spPr>
          <a:xfrm>
            <a:off x="6821424" y="3602736"/>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Movement-restriction scenarios are compared numerically</a:t>
            </a:r>
          </a:p>
        </p:txBody>
      </p:sp>
      <p:sp>
        <p:nvSpPr>
          <p:cNvPr id="1398" name="s1398"/>
          <p:cNvSpPr>
            <a:spLocks noGrp="1"/>
          </p:cNvSpPr>
          <p:nvPr/>
        </p:nvSpPr>
        <p:spPr>
          <a:xfrm>
            <a:off x="6583680" y="4187952"/>
            <a:ext cx="100584" cy="100584"/>
          </a:xfrm>
          <a:prstGeom prst="ellipse">
            <a:avLst/>
          </a:prstGeom>
          <a:solidFill>
            <a:srgbClr val="4C8DD9"/>
          </a:solidFill>
          <a:ln w="0">
            <a:noFill/>
            <a:prstDash val="solid"/>
          </a:ln>
        </p:spPr>
        <p:txBody>
          <a:bodyPr wrap="square" lIns="0" tIns="0" rIns="0" bIns="0" anchor="t"/>
          <a:lstStyle/>
          <a:p>
            <a:endParaRPr lang="en-US"/>
          </a:p>
        </p:txBody>
      </p:sp>
      <p:sp>
        <p:nvSpPr>
          <p:cNvPr id="1399" name="s1399"/>
          <p:cNvSpPr>
            <a:spLocks noGrp="1"/>
          </p:cNvSpPr>
          <p:nvPr/>
        </p:nvSpPr>
        <p:spPr>
          <a:xfrm>
            <a:off x="6821424" y="4133088"/>
            <a:ext cx="4370832" cy="493776"/>
          </a:xfrm>
          <a:prstGeom prst="rect">
            <a:avLst/>
          </a:prstGeom>
          <a:noFill/>
          <a:ln w="0">
            <a:noFill/>
            <a:prstDash val="solid"/>
          </a:ln>
        </p:spPr>
        <p:txBody>
          <a:bodyPr wrap="square" lIns="0" tIns="0" rIns="0" bIns="0" anchor="t"/>
          <a:lstStyle/>
          <a:p>
            <a:pPr algn="l">
              <a:buNone/>
              <a:defRPr sz="1350"/>
            </a:pPr>
            <a:r>
              <a:rPr lang="en-US" sz="1350">
                <a:solidFill>
                  <a:srgbClr val="66746F"/>
                </a:solidFill>
              </a:rPr>
              <a:t>Outputs a curve and a farm count, not a qualitative impression</a:t>
            </a:r>
          </a:p>
        </p:txBody>
      </p:sp>
      <p:sp>
        <p:nvSpPr>
          <p:cNvPr id="1400" name="s1400"/>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401" name="s1401"/>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The model informs a decision. It does not make one, and it does not predict a specific outbreak.</a:t>
            </a:r>
          </a:p>
        </p:txBody>
      </p:sp>
      <p:sp>
        <p:nvSpPr>
          <p:cNvPr id="1404" name="s1404"/>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405" name="s1405"/>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433" name="s1433"/>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REPORTING</a:t>
            </a:r>
          </a:p>
        </p:txBody>
      </p:sp>
      <p:sp>
        <p:nvSpPr>
          <p:cNvPr id="1434" name="s1434"/>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gap before notification is where this layer sits</a:t>
            </a:r>
          </a:p>
        </p:txBody>
      </p:sp>
      <p:sp>
        <p:nvSpPr>
          <p:cNvPr id="1406" name="s1406"/>
          <p:cNvSpPr>
            <a:spLocks noGrp="1"/>
          </p:cNvSpPr>
          <p:nvPr/>
        </p:nvSpPr>
        <p:spPr>
          <a:xfrm>
            <a:off x="685800" y="2011680"/>
            <a:ext cx="2002536" cy="2377440"/>
          </a:xfrm>
          <a:prstGeom prst="roundRect">
            <a:avLst/>
          </a:prstGeom>
          <a:solidFill>
            <a:srgbClr val="FFFFFF"/>
          </a:solidFill>
          <a:ln w="0">
            <a:noFill/>
            <a:prstDash val="solid"/>
          </a:ln>
        </p:spPr>
        <p:txBody>
          <a:bodyPr wrap="square" lIns="0" tIns="0" rIns="0" bIns="0" anchor="t"/>
          <a:lstStyle/>
          <a:p>
            <a:endParaRPr lang="en-US"/>
          </a:p>
        </p:txBody>
      </p:sp>
      <p:sp>
        <p:nvSpPr>
          <p:cNvPr id="1407" name="s1407"/>
          <p:cNvSpPr>
            <a:spLocks noGrp="1"/>
          </p:cNvSpPr>
          <p:nvPr/>
        </p:nvSpPr>
        <p:spPr>
          <a:xfrm>
            <a:off x="923544" y="2267712"/>
            <a:ext cx="384048" cy="384048"/>
          </a:xfrm>
          <a:prstGeom prst="ellipse">
            <a:avLst/>
          </a:prstGeom>
          <a:solidFill>
            <a:srgbClr val="66746F"/>
          </a:solidFill>
          <a:ln w="0">
            <a:noFill/>
            <a:prstDash val="solid"/>
          </a:ln>
        </p:spPr>
        <p:txBody>
          <a:bodyPr wrap="square" lIns="0" tIns="0" rIns="0" bIns="0" anchor="t"/>
          <a:lstStyle/>
          <a:p>
            <a:endParaRPr lang="en-US"/>
          </a:p>
        </p:txBody>
      </p:sp>
      <p:sp>
        <p:nvSpPr>
          <p:cNvPr id="1408" name="s1408"/>
          <p:cNvSpPr>
            <a:spLocks noGrp="1"/>
          </p:cNvSpPr>
          <p:nvPr/>
        </p:nvSpPr>
        <p:spPr>
          <a:xfrm>
            <a:off x="92354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a:t>
            </a:r>
          </a:p>
        </p:txBody>
      </p:sp>
      <p:sp>
        <p:nvSpPr>
          <p:cNvPr id="1409" name="s1409"/>
          <p:cNvSpPr>
            <a:spLocks noGrp="1"/>
          </p:cNvSpPr>
          <p:nvPr/>
        </p:nvSpPr>
        <p:spPr>
          <a:xfrm>
            <a:off x="923544" y="2852928"/>
            <a:ext cx="1527048"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Biological deviation</a:t>
            </a:r>
          </a:p>
        </p:txBody>
      </p:sp>
      <p:sp>
        <p:nvSpPr>
          <p:cNvPr id="1410" name="s1410"/>
          <p:cNvSpPr>
            <a:spLocks noGrp="1"/>
          </p:cNvSpPr>
          <p:nvPr/>
        </p:nvSpPr>
        <p:spPr>
          <a:xfrm>
            <a:off x="923544" y="3529584"/>
            <a:ext cx="1527048" cy="621792"/>
          </a:xfrm>
          <a:prstGeom prst="rect">
            <a:avLst/>
          </a:prstGeom>
          <a:noFill/>
          <a:ln w="0">
            <a:noFill/>
            <a:prstDash val="solid"/>
          </a:ln>
        </p:spPr>
        <p:txBody>
          <a:bodyPr wrap="square" lIns="0" tIns="0" rIns="0" bIns="0" anchor="t"/>
          <a:lstStyle/>
          <a:p>
            <a:pPr algn="l">
              <a:buNone/>
              <a:defRPr sz="1250"/>
            </a:pPr>
            <a:r>
              <a:rPr lang="en-US" sz="1250">
                <a:solidFill>
                  <a:srgbClr val="66746F"/>
                </a:solidFill>
              </a:rPr>
              <a:t>Detectable inside the animal. Empty in today’s systems</a:t>
            </a:r>
          </a:p>
        </p:txBody>
      </p:sp>
      <p:sp>
        <p:nvSpPr>
          <p:cNvPr id="1411" name="s1411"/>
          <p:cNvSpPr>
            <a:spLocks noGrp="1"/>
          </p:cNvSpPr>
          <p:nvPr/>
        </p:nvSpPr>
        <p:spPr>
          <a:xfrm>
            <a:off x="2889504" y="2011680"/>
            <a:ext cx="2002536" cy="2377440"/>
          </a:xfrm>
          <a:prstGeom prst="roundRect">
            <a:avLst/>
          </a:prstGeom>
          <a:solidFill>
            <a:srgbClr val="FFFFFF"/>
          </a:solidFill>
          <a:ln w="0">
            <a:noFill/>
            <a:prstDash val="solid"/>
          </a:ln>
        </p:spPr>
        <p:txBody>
          <a:bodyPr wrap="square" lIns="0" tIns="0" rIns="0" bIns="0" anchor="t"/>
          <a:lstStyle/>
          <a:p>
            <a:endParaRPr lang="en-US"/>
          </a:p>
        </p:txBody>
      </p:sp>
      <p:sp>
        <p:nvSpPr>
          <p:cNvPr id="1412" name="s1412"/>
          <p:cNvSpPr>
            <a:spLocks noGrp="1"/>
          </p:cNvSpPr>
          <p:nvPr/>
        </p:nvSpPr>
        <p:spPr>
          <a:xfrm>
            <a:off x="3127248" y="2267712"/>
            <a:ext cx="384048" cy="384048"/>
          </a:xfrm>
          <a:prstGeom prst="ellipse">
            <a:avLst/>
          </a:prstGeom>
          <a:solidFill>
            <a:srgbClr val="66746F"/>
          </a:solidFill>
          <a:ln w="0">
            <a:noFill/>
            <a:prstDash val="solid"/>
          </a:ln>
        </p:spPr>
        <p:txBody>
          <a:bodyPr wrap="square" lIns="0" tIns="0" rIns="0" bIns="0" anchor="t"/>
          <a:lstStyle/>
          <a:p>
            <a:endParaRPr lang="en-US"/>
          </a:p>
        </p:txBody>
      </p:sp>
      <p:sp>
        <p:nvSpPr>
          <p:cNvPr id="1413" name="s1413"/>
          <p:cNvSpPr>
            <a:spLocks noGrp="1"/>
          </p:cNvSpPr>
          <p:nvPr/>
        </p:nvSpPr>
        <p:spPr>
          <a:xfrm>
            <a:off x="3127248"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a:t>
            </a:r>
          </a:p>
        </p:txBody>
      </p:sp>
      <p:sp>
        <p:nvSpPr>
          <p:cNvPr id="1414" name="s1414"/>
          <p:cNvSpPr>
            <a:spLocks noGrp="1"/>
          </p:cNvSpPr>
          <p:nvPr/>
        </p:nvSpPr>
        <p:spPr>
          <a:xfrm>
            <a:off x="3127248" y="2852928"/>
            <a:ext cx="1527048"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Clinical signs</a:t>
            </a:r>
          </a:p>
        </p:txBody>
      </p:sp>
      <p:sp>
        <p:nvSpPr>
          <p:cNvPr id="1415" name="s1415"/>
          <p:cNvSpPr>
            <a:spLocks noGrp="1"/>
          </p:cNvSpPr>
          <p:nvPr/>
        </p:nvSpPr>
        <p:spPr>
          <a:xfrm>
            <a:off x="3127248" y="3529584"/>
            <a:ext cx="1527048" cy="621792"/>
          </a:xfrm>
          <a:prstGeom prst="rect">
            <a:avLst/>
          </a:prstGeom>
          <a:noFill/>
          <a:ln w="0">
            <a:noFill/>
            <a:prstDash val="solid"/>
          </a:ln>
        </p:spPr>
        <p:txBody>
          <a:bodyPr wrap="square" lIns="0" tIns="0" rIns="0" bIns="0" anchor="t"/>
          <a:lstStyle/>
          <a:p>
            <a:pPr algn="l">
              <a:buNone/>
              <a:defRPr sz="1250"/>
            </a:pPr>
            <a:r>
              <a:rPr lang="en-US" sz="1250">
                <a:solidFill>
                  <a:srgbClr val="66746F"/>
                </a:solidFill>
              </a:rPr>
              <a:t>Visible to the farmer. Still empty in today’s systems</a:t>
            </a:r>
          </a:p>
        </p:txBody>
      </p:sp>
      <p:sp>
        <p:nvSpPr>
          <p:cNvPr id="1416" name="s1416"/>
          <p:cNvSpPr>
            <a:spLocks noGrp="1"/>
          </p:cNvSpPr>
          <p:nvPr/>
        </p:nvSpPr>
        <p:spPr>
          <a:xfrm>
            <a:off x="5093208" y="2011680"/>
            <a:ext cx="2002536" cy="2377440"/>
          </a:xfrm>
          <a:prstGeom prst="roundRect">
            <a:avLst/>
          </a:prstGeom>
          <a:solidFill>
            <a:srgbClr val="FFFFFF"/>
          </a:solidFill>
          <a:ln w="0">
            <a:noFill/>
            <a:prstDash val="solid"/>
          </a:ln>
        </p:spPr>
        <p:txBody>
          <a:bodyPr wrap="square" lIns="0" tIns="0" rIns="0" bIns="0" anchor="t"/>
          <a:lstStyle/>
          <a:p>
            <a:endParaRPr lang="en-US"/>
          </a:p>
        </p:txBody>
      </p:sp>
      <p:sp>
        <p:nvSpPr>
          <p:cNvPr id="1417" name="s1417"/>
          <p:cNvSpPr>
            <a:spLocks noGrp="1"/>
          </p:cNvSpPr>
          <p:nvPr/>
        </p:nvSpPr>
        <p:spPr>
          <a:xfrm>
            <a:off x="5330952"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418" name="s1418"/>
          <p:cNvSpPr>
            <a:spLocks noGrp="1"/>
          </p:cNvSpPr>
          <p:nvPr/>
        </p:nvSpPr>
        <p:spPr>
          <a:xfrm>
            <a:off x="5330952"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1</a:t>
            </a:r>
          </a:p>
        </p:txBody>
      </p:sp>
      <p:sp>
        <p:nvSpPr>
          <p:cNvPr id="1419" name="s1419"/>
          <p:cNvSpPr>
            <a:spLocks noGrp="1"/>
          </p:cNvSpPr>
          <p:nvPr/>
        </p:nvSpPr>
        <p:spPr>
          <a:xfrm>
            <a:off x="5330952" y="2852928"/>
            <a:ext cx="1527048"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Notification</a:t>
            </a:r>
          </a:p>
        </p:txBody>
      </p:sp>
      <p:sp>
        <p:nvSpPr>
          <p:cNvPr id="1420" name="s1420"/>
          <p:cNvSpPr>
            <a:spLocks noGrp="1"/>
          </p:cNvSpPr>
          <p:nvPr/>
        </p:nvSpPr>
        <p:spPr>
          <a:xfrm>
            <a:off x="5330952" y="3529584"/>
            <a:ext cx="1527048" cy="621792"/>
          </a:xfrm>
          <a:prstGeom prst="rect">
            <a:avLst/>
          </a:prstGeom>
          <a:noFill/>
          <a:ln w="0">
            <a:noFill/>
            <a:prstDash val="solid"/>
          </a:ln>
        </p:spPr>
        <p:txBody>
          <a:bodyPr wrap="square" lIns="0" tIns="0" rIns="0" bIns="0" anchor="t"/>
          <a:lstStyle/>
          <a:p>
            <a:pPr algn="l">
              <a:buNone/>
              <a:defRPr sz="1250"/>
            </a:pPr>
            <a:r>
              <a:rPr lang="en-US" sz="1250">
                <a:solidFill>
                  <a:srgbClr val="66746F"/>
                </a:solidFill>
              </a:rPr>
              <a:t>Where the national system begins today</a:t>
            </a:r>
          </a:p>
        </p:txBody>
      </p:sp>
      <p:sp>
        <p:nvSpPr>
          <p:cNvPr id="1421" name="s1421"/>
          <p:cNvSpPr>
            <a:spLocks noGrp="1"/>
          </p:cNvSpPr>
          <p:nvPr/>
        </p:nvSpPr>
        <p:spPr>
          <a:xfrm>
            <a:off x="7296912" y="2011680"/>
            <a:ext cx="2002536" cy="2377440"/>
          </a:xfrm>
          <a:prstGeom prst="roundRect">
            <a:avLst/>
          </a:prstGeom>
          <a:solidFill>
            <a:srgbClr val="FFFFFF"/>
          </a:solidFill>
          <a:ln w="0">
            <a:noFill/>
            <a:prstDash val="solid"/>
          </a:ln>
        </p:spPr>
        <p:txBody>
          <a:bodyPr wrap="square" lIns="0" tIns="0" rIns="0" bIns="0" anchor="t"/>
          <a:lstStyle/>
          <a:p>
            <a:endParaRPr lang="en-US"/>
          </a:p>
        </p:txBody>
      </p:sp>
      <p:sp>
        <p:nvSpPr>
          <p:cNvPr id="1422" name="s1422"/>
          <p:cNvSpPr>
            <a:spLocks noGrp="1"/>
          </p:cNvSpPr>
          <p:nvPr/>
        </p:nvSpPr>
        <p:spPr>
          <a:xfrm>
            <a:off x="7534656"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423" name="s1423"/>
          <p:cNvSpPr>
            <a:spLocks noGrp="1"/>
          </p:cNvSpPr>
          <p:nvPr/>
        </p:nvSpPr>
        <p:spPr>
          <a:xfrm>
            <a:off x="7534656"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2</a:t>
            </a:r>
          </a:p>
        </p:txBody>
      </p:sp>
      <p:sp>
        <p:nvSpPr>
          <p:cNvPr id="1424" name="s1424"/>
          <p:cNvSpPr>
            <a:spLocks noGrp="1"/>
          </p:cNvSpPr>
          <p:nvPr/>
        </p:nvSpPr>
        <p:spPr>
          <a:xfrm>
            <a:off x="7534656" y="2852928"/>
            <a:ext cx="1527048"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Confirmation</a:t>
            </a:r>
          </a:p>
        </p:txBody>
      </p:sp>
      <p:sp>
        <p:nvSpPr>
          <p:cNvPr id="1425" name="s1425"/>
          <p:cNvSpPr>
            <a:spLocks noGrp="1"/>
          </p:cNvSpPr>
          <p:nvPr/>
        </p:nvSpPr>
        <p:spPr>
          <a:xfrm>
            <a:off x="7534656" y="3529584"/>
            <a:ext cx="1527048" cy="621792"/>
          </a:xfrm>
          <a:prstGeom prst="rect">
            <a:avLst/>
          </a:prstGeom>
          <a:noFill/>
          <a:ln w="0">
            <a:noFill/>
            <a:prstDash val="solid"/>
          </a:ln>
        </p:spPr>
        <p:txBody>
          <a:bodyPr wrap="square" lIns="0" tIns="0" rIns="0" bIns="0" anchor="t"/>
          <a:lstStyle/>
          <a:p>
            <a:pPr algn="l">
              <a:buNone/>
              <a:defRPr sz="1250"/>
            </a:pPr>
            <a:r>
              <a:rPr lang="en-US" sz="1250">
                <a:solidFill>
                  <a:srgbClr val="66746F"/>
                </a:solidFill>
              </a:rPr>
              <a:t>Sampling and laboratory confirmation</a:t>
            </a:r>
          </a:p>
        </p:txBody>
      </p:sp>
      <p:sp>
        <p:nvSpPr>
          <p:cNvPr id="1426" name="s1426"/>
          <p:cNvSpPr>
            <a:spLocks noGrp="1"/>
          </p:cNvSpPr>
          <p:nvPr/>
        </p:nvSpPr>
        <p:spPr>
          <a:xfrm>
            <a:off x="9500616" y="2011680"/>
            <a:ext cx="2002536" cy="2377440"/>
          </a:xfrm>
          <a:prstGeom prst="roundRect">
            <a:avLst/>
          </a:prstGeom>
          <a:solidFill>
            <a:srgbClr val="FFFFFF"/>
          </a:solidFill>
          <a:ln w="0">
            <a:noFill/>
            <a:prstDash val="solid"/>
          </a:ln>
        </p:spPr>
        <p:txBody>
          <a:bodyPr wrap="square" lIns="0" tIns="0" rIns="0" bIns="0" anchor="t"/>
          <a:lstStyle/>
          <a:p>
            <a:endParaRPr lang="en-US"/>
          </a:p>
        </p:txBody>
      </p:sp>
      <p:sp>
        <p:nvSpPr>
          <p:cNvPr id="1427" name="s1427"/>
          <p:cNvSpPr>
            <a:spLocks noGrp="1"/>
          </p:cNvSpPr>
          <p:nvPr/>
        </p:nvSpPr>
        <p:spPr>
          <a:xfrm>
            <a:off x="9738360"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428" name="s1428"/>
          <p:cNvSpPr>
            <a:spLocks noGrp="1"/>
          </p:cNvSpPr>
          <p:nvPr/>
        </p:nvSpPr>
        <p:spPr>
          <a:xfrm>
            <a:off x="9738360"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3</a:t>
            </a:r>
          </a:p>
        </p:txBody>
      </p:sp>
      <p:sp>
        <p:nvSpPr>
          <p:cNvPr id="1429" name="s1429"/>
          <p:cNvSpPr>
            <a:spLocks noGrp="1"/>
          </p:cNvSpPr>
          <p:nvPr/>
        </p:nvSpPr>
        <p:spPr>
          <a:xfrm>
            <a:off x="9738360" y="2852928"/>
            <a:ext cx="1527048"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Response</a:t>
            </a:r>
          </a:p>
        </p:txBody>
      </p:sp>
      <p:sp>
        <p:nvSpPr>
          <p:cNvPr id="1430" name="s1430"/>
          <p:cNvSpPr>
            <a:spLocks noGrp="1"/>
          </p:cNvSpPr>
          <p:nvPr/>
        </p:nvSpPr>
        <p:spPr>
          <a:xfrm>
            <a:off x="9738360" y="3529584"/>
            <a:ext cx="1527048" cy="621792"/>
          </a:xfrm>
          <a:prstGeom prst="rect">
            <a:avLst/>
          </a:prstGeom>
          <a:noFill/>
          <a:ln w="0">
            <a:noFill/>
            <a:prstDash val="solid"/>
          </a:ln>
        </p:spPr>
        <p:txBody>
          <a:bodyPr wrap="square" lIns="0" tIns="0" rIns="0" bIns="0" anchor="t"/>
          <a:lstStyle/>
          <a:p>
            <a:pPr algn="l">
              <a:buNone/>
              <a:defRPr sz="1250"/>
            </a:pPr>
            <a:r>
              <a:rPr lang="en-US" sz="1250">
                <a:solidFill>
                  <a:srgbClr val="66746F"/>
                </a:solidFill>
              </a:rPr>
              <a:t>Movement control and disease management</a:t>
            </a:r>
          </a:p>
        </p:txBody>
      </p:sp>
      <p:sp>
        <p:nvSpPr>
          <p:cNvPr id="1431" name="s1431"/>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432" name="s1432"/>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This does not replace the national system. It fills the two boxes in front of it and hands over.</a:t>
            </a:r>
          </a:p>
        </p:txBody>
      </p:sp>
      <p:sp>
        <p:nvSpPr>
          <p:cNvPr id="1435" name="s1435"/>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436" name="s1436"/>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437" name="s1437"/>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12</a:t>
            </a:r>
          </a:p>
        </p:txBody>
      </p:sp>
      <p:sp>
        <p:nvSpPr>
          <p:cNvPr id="1438" name="s1438"/>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Learning, and staying accountable</a:t>
            </a:r>
          </a:p>
        </p:txBody>
      </p:sp>
      <p:sp>
        <p:nvSpPr>
          <p:cNvPr id="1439" name="s1439"/>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Four loops improve the system over time. All four are auditable, and none of them lets the model rewrite its own rules.</a:t>
            </a:r>
          </a:p>
        </p:txBody>
      </p:sp>
      <p:sp>
        <p:nvSpPr>
          <p:cNvPr id="1440" name="s1440"/>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441" name="s1441"/>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442" name="s1442"/>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443" name="s1443"/>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444" name="s1444"/>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445" name="s1445"/>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446" name="s1446"/>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447" name="s1447"/>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470" name="s1470"/>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LOOPS</a:t>
            </a:r>
          </a:p>
        </p:txBody>
      </p:sp>
      <p:sp>
        <p:nvSpPr>
          <p:cNvPr id="1471" name="s1471"/>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Four loops, all of them auditable</a:t>
            </a:r>
          </a:p>
        </p:txBody>
      </p:sp>
      <p:sp>
        <p:nvSpPr>
          <p:cNvPr id="1448" name="s1448"/>
          <p:cNvSpPr>
            <a:spLocks noGrp="1"/>
          </p:cNvSpPr>
          <p:nvPr/>
        </p:nvSpPr>
        <p:spPr>
          <a:xfrm>
            <a:off x="685800"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449" name="s1449"/>
          <p:cNvSpPr>
            <a:spLocks noGrp="1"/>
          </p:cNvSpPr>
          <p:nvPr/>
        </p:nvSpPr>
        <p:spPr>
          <a:xfrm>
            <a:off x="685800" y="1901952"/>
            <a:ext cx="2471166" cy="109728"/>
          </a:xfrm>
          <a:prstGeom prst="rect">
            <a:avLst/>
          </a:prstGeom>
          <a:solidFill>
            <a:srgbClr val="E96155"/>
          </a:solidFill>
          <a:ln w="0">
            <a:noFill/>
            <a:prstDash val="solid"/>
          </a:ln>
        </p:spPr>
        <p:txBody>
          <a:bodyPr wrap="square" lIns="0" tIns="0" rIns="0" bIns="0" anchor="t"/>
          <a:lstStyle/>
          <a:p>
            <a:endParaRPr lang="en-US"/>
          </a:p>
        </p:txBody>
      </p:sp>
      <p:sp>
        <p:nvSpPr>
          <p:cNvPr id="1450" name="s1450"/>
          <p:cNvSpPr>
            <a:spLocks noGrp="1"/>
          </p:cNvSpPr>
          <p:nvPr/>
        </p:nvSpPr>
        <p:spPr>
          <a:xfrm>
            <a:off x="950976"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E96155"/>
                </a:solidFill>
              </a:rPr>
              <a:t>EXPERT LABELS</a:t>
            </a:r>
          </a:p>
        </p:txBody>
      </p:sp>
      <p:sp>
        <p:nvSpPr>
          <p:cNvPr id="1451" name="s1451"/>
          <p:cNvSpPr>
            <a:spLocks noGrp="1"/>
          </p:cNvSpPr>
          <p:nvPr/>
        </p:nvSpPr>
        <p:spPr>
          <a:xfrm>
            <a:off x="950976"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Clinical ground truth</a:t>
            </a:r>
          </a:p>
        </p:txBody>
      </p:sp>
      <p:sp>
        <p:nvSpPr>
          <p:cNvPr id="1452" name="s1452"/>
          <p:cNvSpPr>
            <a:spLocks noGrp="1"/>
          </p:cNvSpPr>
          <p:nvPr/>
        </p:nvSpPr>
        <p:spPr>
          <a:xfrm>
            <a:off x="950976"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Veterinary judgements become labelled cases. Non-expert guesses are excluded by design.</a:t>
            </a:r>
          </a:p>
        </p:txBody>
      </p:sp>
      <p:sp>
        <p:nvSpPr>
          <p:cNvPr id="1453" name="s1453"/>
          <p:cNvSpPr>
            <a:spLocks noGrp="1"/>
          </p:cNvSpPr>
          <p:nvPr/>
        </p:nvSpPr>
        <p:spPr>
          <a:xfrm>
            <a:off x="3467862"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454" name="s1454"/>
          <p:cNvSpPr>
            <a:spLocks noGrp="1"/>
          </p:cNvSpPr>
          <p:nvPr/>
        </p:nvSpPr>
        <p:spPr>
          <a:xfrm>
            <a:off x="3467862" y="1901952"/>
            <a:ext cx="2471166" cy="109728"/>
          </a:xfrm>
          <a:prstGeom prst="rect">
            <a:avLst/>
          </a:prstGeom>
          <a:solidFill>
            <a:srgbClr val="15A98C"/>
          </a:solidFill>
          <a:ln w="0">
            <a:noFill/>
            <a:prstDash val="solid"/>
          </a:ln>
        </p:spPr>
        <p:txBody>
          <a:bodyPr wrap="square" lIns="0" tIns="0" rIns="0" bIns="0" anchor="t"/>
          <a:lstStyle/>
          <a:p>
            <a:endParaRPr lang="en-US"/>
          </a:p>
        </p:txBody>
      </p:sp>
      <p:sp>
        <p:nvSpPr>
          <p:cNvPr id="1455" name="s1455"/>
          <p:cNvSpPr>
            <a:spLocks noGrp="1"/>
          </p:cNvSpPr>
          <p:nvPr/>
        </p:nvSpPr>
        <p:spPr>
          <a:xfrm>
            <a:off x="3733038"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15A98C"/>
                </a:solidFill>
              </a:rPr>
              <a:t>ALERT STATISTICS</a:t>
            </a:r>
          </a:p>
        </p:txBody>
      </p:sp>
      <p:sp>
        <p:nvSpPr>
          <p:cNvPr id="1456" name="s1456"/>
          <p:cNvSpPr>
            <a:spLocks noGrp="1"/>
          </p:cNvSpPr>
          <p:nvPr/>
        </p:nvSpPr>
        <p:spPr>
          <a:xfrm>
            <a:off x="3733038"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Self-correcting guidance</a:t>
            </a:r>
          </a:p>
        </p:txBody>
      </p:sp>
      <p:sp>
        <p:nvSpPr>
          <p:cNvPr id="1457" name="s1457"/>
          <p:cNvSpPr>
            <a:spLocks noGrp="1"/>
          </p:cNvSpPr>
          <p:nvPr/>
        </p:nvSpPr>
        <p:spPr>
          <a:xfrm>
            <a:off x="3733038"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Confirmation and false-positive rates are turned into written guidance by fixed rules.</a:t>
            </a:r>
          </a:p>
        </p:txBody>
      </p:sp>
      <p:sp>
        <p:nvSpPr>
          <p:cNvPr id="1458" name="s1458"/>
          <p:cNvSpPr>
            <a:spLocks noGrp="1"/>
          </p:cNvSpPr>
          <p:nvPr/>
        </p:nvSpPr>
        <p:spPr>
          <a:xfrm>
            <a:off x="6249924"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459" name="s1459"/>
          <p:cNvSpPr>
            <a:spLocks noGrp="1"/>
          </p:cNvSpPr>
          <p:nvPr/>
        </p:nvSpPr>
        <p:spPr>
          <a:xfrm>
            <a:off x="6249924" y="1901952"/>
            <a:ext cx="2471166" cy="109728"/>
          </a:xfrm>
          <a:prstGeom prst="rect">
            <a:avLst/>
          </a:prstGeom>
          <a:solidFill>
            <a:srgbClr val="4C8DD9"/>
          </a:solidFill>
          <a:ln w="0">
            <a:noFill/>
            <a:prstDash val="solid"/>
          </a:ln>
        </p:spPr>
        <p:txBody>
          <a:bodyPr wrap="square" lIns="0" tIns="0" rIns="0" bIns="0" anchor="t"/>
          <a:lstStyle/>
          <a:p>
            <a:endParaRPr lang="en-US"/>
          </a:p>
        </p:txBody>
      </p:sp>
      <p:sp>
        <p:nvSpPr>
          <p:cNvPr id="1460" name="s1460"/>
          <p:cNvSpPr>
            <a:spLocks noGrp="1"/>
          </p:cNvSpPr>
          <p:nvPr/>
        </p:nvSpPr>
        <p:spPr>
          <a:xfrm>
            <a:off x="6515100"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4C8DD9"/>
                </a:solidFill>
              </a:rPr>
              <a:t>TREATMENT OUTCOME</a:t>
            </a:r>
          </a:p>
        </p:txBody>
      </p:sp>
      <p:sp>
        <p:nvSpPr>
          <p:cNvPr id="1461" name="s1461"/>
          <p:cNvSpPr>
            <a:spLocks noGrp="1"/>
          </p:cNvSpPr>
          <p:nvPr/>
        </p:nvSpPr>
        <p:spPr>
          <a:xfrm>
            <a:off x="6515100"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Did it actually work?</a:t>
            </a:r>
          </a:p>
        </p:txBody>
      </p:sp>
      <p:sp>
        <p:nvSpPr>
          <p:cNvPr id="1462" name="s1462"/>
          <p:cNvSpPr>
            <a:spLocks noGrp="1"/>
          </p:cNvSpPr>
          <p:nvPr/>
        </p:nvSpPr>
        <p:spPr>
          <a:xfrm>
            <a:off x="6515100"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The sensor re-reads the animal after treatment and reports recovery or relapse.</a:t>
            </a:r>
          </a:p>
        </p:txBody>
      </p:sp>
      <p:sp>
        <p:nvSpPr>
          <p:cNvPr id="1463" name="s1463"/>
          <p:cNvSpPr>
            <a:spLocks noGrp="1"/>
          </p:cNvSpPr>
          <p:nvPr/>
        </p:nvSpPr>
        <p:spPr>
          <a:xfrm>
            <a:off x="9031986" y="1901952"/>
            <a:ext cx="2471166" cy="2788920"/>
          </a:xfrm>
          <a:prstGeom prst="roundRect">
            <a:avLst/>
          </a:prstGeom>
          <a:solidFill>
            <a:srgbClr val="FFFFFF"/>
          </a:solidFill>
          <a:ln w="0">
            <a:noFill/>
            <a:prstDash val="solid"/>
          </a:ln>
        </p:spPr>
        <p:txBody>
          <a:bodyPr wrap="square" lIns="0" tIns="0" rIns="0" bIns="0" anchor="t"/>
          <a:lstStyle/>
          <a:p>
            <a:endParaRPr lang="en-US"/>
          </a:p>
        </p:txBody>
      </p:sp>
      <p:sp>
        <p:nvSpPr>
          <p:cNvPr id="1464" name="s1464"/>
          <p:cNvSpPr>
            <a:spLocks noGrp="1"/>
          </p:cNvSpPr>
          <p:nvPr/>
        </p:nvSpPr>
        <p:spPr>
          <a:xfrm>
            <a:off x="9031986" y="1901952"/>
            <a:ext cx="2471166" cy="109728"/>
          </a:xfrm>
          <a:prstGeom prst="rect">
            <a:avLst/>
          </a:prstGeom>
          <a:solidFill>
            <a:srgbClr val="F6B846"/>
          </a:solidFill>
          <a:ln w="0">
            <a:noFill/>
            <a:prstDash val="solid"/>
          </a:ln>
        </p:spPr>
        <p:txBody>
          <a:bodyPr wrap="square" lIns="0" tIns="0" rIns="0" bIns="0" anchor="t"/>
          <a:lstStyle/>
          <a:p>
            <a:endParaRPr lang="en-US"/>
          </a:p>
        </p:txBody>
      </p:sp>
      <p:sp>
        <p:nvSpPr>
          <p:cNvPr id="1465" name="s1465"/>
          <p:cNvSpPr>
            <a:spLocks noGrp="1"/>
          </p:cNvSpPr>
          <p:nvPr/>
        </p:nvSpPr>
        <p:spPr>
          <a:xfrm>
            <a:off x="9297162" y="2249424"/>
            <a:ext cx="1940814" cy="274320"/>
          </a:xfrm>
          <a:prstGeom prst="rect">
            <a:avLst/>
          </a:prstGeom>
          <a:noFill/>
          <a:ln w="0">
            <a:noFill/>
            <a:prstDash val="solid"/>
          </a:ln>
        </p:spPr>
        <p:txBody>
          <a:bodyPr wrap="square" lIns="0" tIns="0" rIns="0" bIns="0" anchor="t"/>
          <a:lstStyle/>
          <a:p>
            <a:pPr algn="l">
              <a:buNone/>
              <a:defRPr sz="1275"/>
            </a:pPr>
            <a:r>
              <a:rPr lang="en-US" sz="1275" b="1">
                <a:solidFill>
                  <a:srgbClr val="F6B846"/>
                </a:solidFill>
              </a:rPr>
              <a:t>CONVERSATION MEMORY</a:t>
            </a:r>
          </a:p>
        </p:txBody>
      </p:sp>
      <p:sp>
        <p:nvSpPr>
          <p:cNvPr id="1466" name="s1466"/>
          <p:cNvSpPr>
            <a:spLocks noGrp="1"/>
          </p:cNvSpPr>
          <p:nvPr/>
        </p:nvSpPr>
        <p:spPr>
          <a:xfrm>
            <a:off x="9297162" y="2670048"/>
            <a:ext cx="1940814" cy="640080"/>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Standing farm facts</a:t>
            </a:r>
          </a:p>
        </p:txBody>
      </p:sp>
      <p:sp>
        <p:nvSpPr>
          <p:cNvPr id="1467" name="s1467"/>
          <p:cNvSpPr>
            <a:spLocks noGrp="1"/>
          </p:cNvSpPr>
          <p:nvPr/>
        </p:nvSpPr>
        <p:spPr>
          <a:xfrm>
            <a:off x="9297162" y="3438144"/>
            <a:ext cx="1940814" cy="1005840"/>
          </a:xfrm>
          <a:prstGeom prst="rect">
            <a:avLst/>
          </a:prstGeom>
          <a:noFill/>
          <a:ln w="0">
            <a:noFill/>
            <a:prstDash val="solid"/>
          </a:ln>
        </p:spPr>
        <p:txBody>
          <a:bodyPr wrap="square" lIns="0" tIns="0" rIns="0" bIns="0" anchor="t"/>
          <a:lstStyle/>
          <a:p>
            <a:pPr algn="l">
              <a:buNone/>
              <a:defRPr sz="1275"/>
            </a:pPr>
            <a:r>
              <a:rPr lang="en-US" sz="1275">
                <a:solidFill>
                  <a:srgbClr val="66746F"/>
                </a:solidFill>
              </a:rPr>
              <a:t>Durable facts a user states — equipment, protocols, constraints — held within permission limits.</a:t>
            </a:r>
          </a:p>
        </p:txBody>
      </p:sp>
      <p:sp>
        <p:nvSpPr>
          <p:cNvPr id="1468" name="s146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469" name="s1469"/>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Statistics built on fewer than ten labels never change behaviour. A small sample is not evidence.</a:t>
            </a:r>
          </a:p>
        </p:txBody>
      </p:sp>
      <p:sp>
        <p:nvSpPr>
          <p:cNvPr id="1472" name="s1472"/>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473" name="s1473"/>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486" name="s1486"/>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GOVERNANCE</a:t>
            </a:r>
          </a:p>
        </p:txBody>
      </p:sp>
      <p:sp>
        <p:nvSpPr>
          <p:cNvPr id="1487" name="s1487"/>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Data sovereignty is proven by structure, not by promise</a:t>
            </a:r>
          </a:p>
        </p:txBody>
      </p:sp>
      <p:sp>
        <p:nvSpPr>
          <p:cNvPr id="1474" name="s1474"/>
          <p:cNvSpPr>
            <a:spLocks noGrp="1"/>
          </p:cNvSpPr>
          <p:nvPr/>
        </p:nvSpPr>
        <p:spPr>
          <a:xfrm>
            <a:off x="722376" y="1956816"/>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475" name="s1475"/>
          <p:cNvSpPr>
            <a:spLocks noGrp="1"/>
          </p:cNvSpPr>
          <p:nvPr/>
        </p:nvSpPr>
        <p:spPr>
          <a:xfrm>
            <a:off x="987552" y="1883664"/>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Every value passes through the database — the model cannot bypass the pipeline and answer on its own</a:t>
            </a:r>
          </a:p>
        </p:txBody>
      </p:sp>
      <p:sp>
        <p:nvSpPr>
          <p:cNvPr id="1476" name="s1476"/>
          <p:cNvSpPr>
            <a:spLocks noGrp="1"/>
          </p:cNvSpPr>
          <p:nvPr/>
        </p:nvSpPr>
        <p:spPr>
          <a:xfrm>
            <a:off x="722376" y="2542032"/>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477" name="s1477"/>
          <p:cNvSpPr>
            <a:spLocks noGrp="1"/>
          </p:cNvSpPr>
          <p:nvPr/>
        </p:nvSpPr>
        <p:spPr>
          <a:xfrm>
            <a:off x="987552" y="2468880"/>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Every tool call is logged — who asked, when, on which animal, and what was returned</a:t>
            </a:r>
          </a:p>
        </p:txBody>
      </p:sp>
      <p:sp>
        <p:nvSpPr>
          <p:cNvPr id="1478" name="s1478"/>
          <p:cNvSpPr>
            <a:spLocks noGrp="1"/>
          </p:cNvSpPr>
          <p:nvPr/>
        </p:nvSpPr>
        <p:spPr>
          <a:xfrm>
            <a:off x="722376" y="3127248"/>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479" name="s1479"/>
          <p:cNvSpPr>
            <a:spLocks noGrp="1"/>
          </p:cNvSpPr>
          <p:nvPr/>
        </p:nvSpPr>
        <p:spPr>
          <a:xfrm>
            <a:off x="987552" y="3054096"/>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Requests outside a user’s scope are refused at the gateway, not filtered in the interface</a:t>
            </a:r>
          </a:p>
        </p:txBody>
      </p:sp>
      <p:sp>
        <p:nvSpPr>
          <p:cNvPr id="1480" name="s1480"/>
          <p:cNvSpPr>
            <a:spLocks noGrp="1"/>
          </p:cNvSpPr>
          <p:nvPr/>
        </p:nvSpPr>
        <p:spPr>
          <a:xfrm>
            <a:off x="722376" y="3712464"/>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481" name="s1481"/>
          <p:cNvSpPr>
            <a:spLocks noGrp="1"/>
          </p:cNvSpPr>
          <p:nvPr/>
        </p:nvSpPr>
        <p:spPr>
          <a:xfrm>
            <a:off x="987552" y="3639312"/>
            <a:ext cx="10515600" cy="630936"/>
          </a:xfrm>
          <a:prstGeom prst="rect">
            <a:avLst/>
          </a:prstGeom>
          <a:noFill/>
          <a:ln w="0">
            <a:noFill/>
            <a:prstDash val="solid"/>
          </a:ln>
        </p:spPr>
        <p:txBody>
          <a:bodyPr wrap="square" lIns="0" tIns="0" rIns="0" bIns="0" anchor="t"/>
          <a:lstStyle/>
          <a:p>
            <a:pPr algn="l">
              <a:buNone/>
              <a:defRPr sz="1650"/>
            </a:pPr>
            <a:r>
              <a:rPr lang="en-US" sz="1650">
                <a:solidFill>
                  <a:srgbClr val="10251F"/>
                </a:solidFill>
              </a:rPr>
              <a:t>Even the assistant’s long-term memory is recalled only within the account’s permission boundary</a:t>
            </a:r>
          </a:p>
        </p:txBody>
      </p:sp>
      <p:sp>
        <p:nvSpPr>
          <p:cNvPr id="1482" name="s1482"/>
          <p:cNvSpPr>
            <a:spLocks noGrp="1"/>
          </p:cNvSpPr>
          <p:nvPr/>
        </p:nvSpPr>
        <p:spPr>
          <a:xfrm>
            <a:off x="685800" y="4352544"/>
            <a:ext cx="10817352" cy="329184"/>
          </a:xfrm>
          <a:prstGeom prst="roundRect">
            <a:avLst/>
          </a:prstGeom>
          <a:solidFill>
            <a:srgbClr val="FFFFFF"/>
          </a:solidFill>
          <a:ln w="0">
            <a:noFill/>
            <a:prstDash val="solid"/>
          </a:ln>
        </p:spPr>
        <p:txBody>
          <a:bodyPr wrap="square" lIns="0" tIns="0" rIns="0" bIns="0" anchor="t"/>
          <a:lstStyle/>
          <a:p>
            <a:endParaRPr lang="en-US"/>
          </a:p>
        </p:txBody>
      </p:sp>
      <p:sp>
        <p:nvSpPr>
          <p:cNvPr id="1483" name="s1483"/>
          <p:cNvSpPr>
            <a:spLocks noGrp="1"/>
          </p:cNvSpPr>
          <p:nvPr/>
        </p:nvSpPr>
        <p:spPr>
          <a:xfrm>
            <a:off x="969264" y="4425696"/>
            <a:ext cx="10250424" cy="219456"/>
          </a:xfrm>
          <a:prstGeom prst="rect">
            <a:avLst/>
          </a:prstGeom>
          <a:noFill/>
          <a:ln w="0">
            <a:noFill/>
            <a:prstDash val="solid"/>
          </a:ln>
        </p:spPr>
        <p:txBody>
          <a:bodyPr wrap="square" lIns="0" tIns="0" rIns="0" bIns="0" anchor="t"/>
          <a:lstStyle/>
          <a:p>
            <a:pPr algn="l">
              <a:buNone/>
              <a:defRPr sz="1275"/>
            </a:pPr>
            <a:r>
              <a:rPr lang="en-US" sz="1275">
                <a:solidFill>
                  <a:srgbClr val="66746F"/>
                </a:solidFill>
              </a:rPr>
              <a:t>Export boundary — raw sensor data, animal identifiers and clinical records never leave the national instance.</a:t>
            </a:r>
          </a:p>
        </p:txBody>
      </p:sp>
      <p:sp>
        <p:nvSpPr>
          <p:cNvPr id="1484" name="s148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485" name="s1485"/>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Code crosses borders. Data does not.</a:t>
            </a:r>
          </a:p>
        </p:txBody>
      </p:sp>
      <p:sp>
        <p:nvSpPr>
          <p:cNvPr id="1488" name="s1488"/>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489" name="s1489"/>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490" name="s1490"/>
          <p:cNvSpPr>
            <a:spLocks noGrp="1"/>
          </p:cNvSpPr>
          <p:nvPr/>
        </p:nvSpPr>
        <p:spPr>
          <a:xfrm>
            <a:off x="685800" y="704088"/>
            <a:ext cx="2093976" cy="1234440"/>
          </a:xfrm>
          <a:prstGeom prst="rect">
            <a:avLst/>
          </a:prstGeom>
          <a:noFill/>
          <a:ln w="0">
            <a:noFill/>
            <a:prstDash val="solid"/>
          </a:ln>
        </p:spPr>
        <p:txBody>
          <a:bodyPr wrap="square" lIns="0" tIns="0" rIns="0" bIns="0" anchor="t"/>
          <a:lstStyle/>
          <a:p>
            <a:pPr algn="l">
              <a:buNone/>
              <a:defRPr sz="6900"/>
            </a:pPr>
            <a:r>
              <a:rPr lang="en-US" sz="6900" b="1">
                <a:solidFill>
                  <a:srgbClr val="65D44A"/>
                </a:solidFill>
              </a:rPr>
              <a:t>13</a:t>
            </a:r>
          </a:p>
        </p:txBody>
      </p:sp>
      <p:sp>
        <p:nvSpPr>
          <p:cNvPr id="1491" name="s1491"/>
          <p:cNvSpPr>
            <a:spLocks noGrp="1"/>
          </p:cNvSpPr>
          <p:nvPr/>
        </p:nvSpPr>
        <p:spPr>
          <a:xfrm>
            <a:off x="685800" y="2432304"/>
            <a:ext cx="8476488" cy="950976"/>
          </a:xfrm>
          <a:prstGeom prst="rect">
            <a:avLst/>
          </a:prstGeom>
          <a:noFill/>
          <a:ln w="0">
            <a:noFill/>
            <a:prstDash val="solid"/>
          </a:ln>
        </p:spPr>
        <p:txBody>
          <a:bodyPr wrap="square" lIns="0" tIns="0" rIns="0" bIns="0" anchor="t"/>
          <a:lstStyle/>
          <a:p>
            <a:pPr algn="l">
              <a:buNone/>
              <a:defRPr sz="4050"/>
            </a:pPr>
            <a:r>
              <a:rPr lang="en-US" sz="4050" b="1">
                <a:solidFill>
                  <a:srgbClr val="FFFFFF"/>
                </a:solidFill>
              </a:rPr>
              <a:t>Putting it to work</a:t>
            </a:r>
          </a:p>
        </p:txBody>
      </p:sp>
      <p:sp>
        <p:nvSpPr>
          <p:cNvPr id="1492" name="s1492"/>
          <p:cNvSpPr>
            <a:spLocks noGrp="1"/>
          </p:cNvSpPr>
          <p:nvPr/>
        </p:nvSpPr>
        <p:spPr>
          <a:xfrm>
            <a:off x="685800" y="3621024"/>
            <a:ext cx="7424928" cy="1005840"/>
          </a:xfrm>
          <a:prstGeom prst="rect">
            <a:avLst/>
          </a:prstGeom>
          <a:noFill/>
          <a:ln w="0">
            <a:noFill/>
            <a:prstDash val="solid"/>
          </a:ln>
        </p:spPr>
        <p:txBody>
          <a:bodyPr wrap="square" lIns="0" tIns="0" rIns="0" bIns="0" anchor="t"/>
          <a:lstStyle/>
          <a:p>
            <a:pPr algn="l">
              <a:buNone/>
              <a:defRPr sz="1725"/>
            </a:pPr>
            <a:r>
              <a:rPr lang="en-US" sz="1725">
                <a:solidFill>
                  <a:srgbClr val="C9D8D2"/>
                </a:solidFill>
              </a:rPr>
              <a:t>A system only pays for itself when it changes what actually happens at half past seven in the morning.</a:t>
            </a:r>
          </a:p>
        </p:txBody>
      </p:sp>
      <p:sp>
        <p:nvSpPr>
          <p:cNvPr id="1493" name="s1493"/>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nchor="t"/>
          <a:lstStyle/>
          <a:p>
            <a:endParaRPr lang="en-US"/>
          </a:p>
        </p:txBody>
      </p:sp>
      <p:sp>
        <p:nvSpPr>
          <p:cNvPr id="1494" name="s1494"/>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nchor="t"/>
          <a:lstStyle/>
          <a:p>
            <a:endParaRPr lang="en-US"/>
          </a:p>
        </p:txBody>
      </p:sp>
      <p:sp>
        <p:nvSpPr>
          <p:cNvPr id="1495" name="s1495"/>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nchor="t"/>
          <a:lstStyle/>
          <a:p>
            <a:endParaRPr lang="en-US"/>
          </a:p>
        </p:txBody>
      </p:sp>
      <p:sp>
        <p:nvSpPr>
          <p:cNvPr id="1496" name="s1496"/>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nchor="t"/>
          <a:lstStyle/>
          <a:p>
            <a:endParaRPr lang="en-US"/>
          </a:p>
        </p:txBody>
      </p:sp>
      <p:sp>
        <p:nvSpPr>
          <p:cNvPr id="1497" name="s1497"/>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nchor="t"/>
          <a:lstStyle/>
          <a:p>
            <a:endParaRPr lang="en-US"/>
          </a:p>
        </p:txBody>
      </p:sp>
      <p:sp>
        <p:nvSpPr>
          <p:cNvPr id="1498" name="s1498"/>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nchor="t"/>
          <a:lstStyle/>
          <a:p>
            <a:endParaRPr lang="en-US"/>
          </a:p>
        </p:txBody>
      </p:sp>
      <p:sp>
        <p:nvSpPr>
          <p:cNvPr id="1499" name="s1499"/>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500" name="s1500"/>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518" name="s1518"/>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RHYTHM</a:t>
            </a:r>
          </a:p>
        </p:txBody>
      </p:sp>
      <p:sp>
        <p:nvSpPr>
          <p:cNvPr id="1519" name="s1519"/>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The same three questions, every morning</a:t>
            </a:r>
          </a:p>
        </p:txBody>
      </p:sp>
      <p:sp>
        <p:nvSpPr>
          <p:cNvPr id="1501" name="s1501"/>
          <p:cNvSpPr>
            <a:spLocks noGrp="1"/>
          </p:cNvSpPr>
          <p:nvPr/>
        </p:nvSpPr>
        <p:spPr>
          <a:xfrm>
            <a:off x="685800" y="2011680"/>
            <a:ext cx="3471672" cy="2377440"/>
          </a:xfrm>
          <a:prstGeom prst="roundRect">
            <a:avLst/>
          </a:prstGeom>
          <a:solidFill>
            <a:srgbClr val="FFFFFF"/>
          </a:solidFill>
          <a:ln w="0">
            <a:noFill/>
            <a:prstDash val="solid"/>
          </a:ln>
        </p:spPr>
        <p:txBody>
          <a:bodyPr wrap="square" lIns="0" tIns="0" rIns="0" bIns="0" anchor="t"/>
          <a:lstStyle/>
          <a:p>
            <a:endParaRPr lang="en-US"/>
          </a:p>
        </p:txBody>
      </p:sp>
      <p:sp>
        <p:nvSpPr>
          <p:cNvPr id="1502" name="s1502"/>
          <p:cNvSpPr>
            <a:spLocks noGrp="1"/>
          </p:cNvSpPr>
          <p:nvPr/>
        </p:nvSpPr>
        <p:spPr>
          <a:xfrm>
            <a:off x="92354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03" name="s1503"/>
          <p:cNvSpPr>
            <a:spLocks noGrp="1"/>
          </p:cNvSpPr>
          <p:nvPr/>
        </p:nvSpPr>
        <p:spPr>
          <a:xfrm>
            <a:off x="92354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1</a:t>
            </a:r>
          </a:p>
        </p:txBody>
      </p:sp>
      <p:sp>
        <p:nvSpPr>
          <p:cNvPr id="1504" name="s1504"/>
          <p:cNvSpPr>
            <a:spLocks noGrp="1"/>
          </p:cNvSpPr>
          <p:nvPr/>
        </p:nvSpPr>
        <p:spPr>
          <a:xfrm>
            <a:off x="923544" y="2852928"/>
            <a:ext cx="299618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Read the overnight list</a:t>
            </a:r>
          </a:p>
        </p:txBody>
      </p:sp>
      <p:sp>
        <p:nvSpPr>
          <p:cNvPr id="1505" name="s1505"/>
          <p:cNvSpPr>
            <a:spLocks noGrp="1"/>
          </p:cNvSpPr>
          <p:nvPr/>
        </p:nvSpPr>
        <p:spPr>
          <a:xfrm>
            <a:off x="923544" y="3529584"/>
            <a:ext cx="2996184" cy="621792"/>
          </a:xfrm>
          <a:prstGeom prst="rect">
            <a:avLst/>
          </a:prstGeom>
          <a:noFill/>
          <a:ln w="0">
            <a:noFill/>
            <a:prstDash val="solid"/>
          </a:ln>
        </p:spPr>
        <p:txBody>
          <a:bodyPr wrap="square" lIns="0" tIns="0" rIns="0" bIns="0" anchor="t"/>
          <a:lstStyle/>
          <a:p>
            <a:pPr algn="l">
              <a:buNone/>
              <a:defRPr sz="1400"/>
            </a:pPr>
            <a:r>
              <a:rPr lang="en-US" sz="1400">
                <a:solidFill>
                  <a:srgbClr val="66746F"/>
                </a:solidFill>
              </a:rPr>
              <a:t>What changed while nobody was watching — sorted by urgency, not by time</a:t>
            </a:r>
          </a:p>
        </p:txBody>
      </p:sp>
      <p:sp>
        <p:nvSpPr>
          <p:cNvPr id="1506" name="s1506"/>
          <p:cNvSpPr>
            <a:spLocks noGrp="1"/>
          </p:cNvSpPr>
          <p:nvPr/>
        </p:nvSpPr>
        <p:spPr>
          <a:xfrm>
            <a:off x="4358640" y="2011680"/>
            <a:ext cx="3471672" cy="2377440"/>
          </a:xfrm>
          <a:prstGeom prst="roundRect">
            <a:avLst/>
          </a:prstGeom>
          <a:solidFill>
            <a:srgbClr val="FFFFFF"/>
          </a:solidFill>
          <a:ln w="0">
            <a:noFill/>
            <a:prstDash val="solid"/>
          </a:ln>
        </p:spPr>
        <p:txBody>
          <a:bodyPr wrap="square" lIns="0" tIns="0" rIns="0" bIns="0" anchor="t"/>
          <a:lstStyle/>
          <a:p>
            <a:endParaRPr lang="en-US"/>
          </a:p>
        </p:txBody>
      </p:sp>
      <p:sp>
        <p:nvSpPr>
          <p:cNvPr id="1507" name="s1507"/>
          <p:cNvSpPr>
            <a:spLocks noGrp="1"/>
          </p:cNvSpPr>
          <p:nvPr/>
        </p:nvSpPr>
        <p:spPr>
          <a:xfrm>
            <a:off x="459638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08" name="s1508"/>
          <p:cNvSpPr>
            <a:spLocks noGrp="1"/>
          </p:cNvSpPr>
          <p:nvPr/>
        </p:nvSpPr>
        <p:spPr>
          <a:xfrm>
            <a:off x="459638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2</a:t>
            </a:r>
          </a:p>
        </p:txBody>
      </p:sp>
      <p:sp>
        <p:nvSpPr>
          <p:cNvPr id="1509" name="s1509"/>
          <p:cNvSpPr>
            <a:spLocks noGrp="1"/>
          </p:cNvSpPr>
          <p:nvPr/>
        </p:nvSpPr>
        <p:spPr>
          <a:xfrm>
            <a:off x="4596384" y="2852928"/>
            <a:ext cx="299618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Open the decision card</a:t>
            </a:r>
          </a:p>
        </p:txBody>
      </p:sp>
      <p:sp>
        <p:nvSpPr>
          <p:cNvPr id="1510" name="s1510"/>
          <p:cNvSpPr>
            <a:spLocks noGrp="1"/>
          </p:cNvSpPr>
          <p:nvPr/>
        </p:nvSpPr>
        <p:spPr>
          <a:xfrm>
            <a:off x="4596384" y="3529584"/>
            <a:ext cx="2996184" cy="621792"/>
          </a:xfrm>
          <a:prstGeom prst="rect">
            <a:avLst/>
          </a:prstGeom>
          <a:noFill/>
          <a:ln w="0">
            <a:noFill/>
            <a:prstDash val="solid"/>
          </a:ln>
        </p:spPr>
        <p:txBody>
          <a:bodyPr wrap="square" lIns="0" tIns="0" rIns="0" bIns="0" anchor="t"/>
          <a:lstStyle/>
          <a:p>
            <a:pPr algn="l">
              <a:buNone/>
              <a:defRPr sz="1400"/>
            </a:pPr>
            <a:r>
              <a:rPr lang="en-US" sz="1400">
                <a:solidFill>
                  <a:srgbClr val="66746F"/>
                </a:solidFill>
              </a:rPr>
              <a:t>Everything about that animal in one place: history, context, recommendation</a:t>
            </a:r>
          </a:p>
        </p:txBody>
      </p:sp>
      <p:sp>
        <p:nvSpPr>
          <p:cNvPr id="1511" name="s1511"/>
          <p:cNvSpPr>
            <a:spLocks noGrp="1"/>
          </p:cNvSpPr>
          <p:nvPr/>
        </p:nvSpPr>
        <p:spPr>
          <a:xfrm>
            <a:off x="8031480" y="2011680"/>
            <a:ext cx="3471672" cy="2377440"/>
          </a:xfrm>
          <a:prstGeom prst="roundRect">
            <a:avLst/>
          </a:prstGeom>
          <a:solidFill>
            <a:srgbClr val="FFFFFF"/>
          </a:solidFill>
          <a:ln w="0">
            <a:noFill/>
            <a:prstDash val="solid"/>
          </a:ln>
        </p:spPr>
        <p:txBody>
          <a:bodyPr wrap="square" lIns="0" tIns="0" rIns="0" bIns="0" anchor="t"/>
          <a:lstStyle/>
          <a:p>
            <a:endParaRPr lang="en-US"/>
          </a:p>
        </p:txBody>
      </p:sp>
      <p:sp>
        <p:nvSpPr>
          <p:cNvPr id="1512" name="s1512"/>
          <p:cNvSpPr>
            <a:spLocks noGrp="1"/>
          </p:cNvSpPr>
          <p:nvPr/>
        </p:nvSpPr>
        <p:spPr>
          <a:xfrm>
            <a:off x="826922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13" name="s1513"/>
          <p:cNvSpPr>
            <a:spLocks noGrp="1"/>
          </p:cNvSpPr>
          <p:nvPr/>
        </p:nvSpPr>
        <p:spPr>
          <a:xfrm>
            <a:off x="826922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3</a:t>
            </a:r>
          </a:p>
        </p:txBody>
      </p:sp>
      <p:sp>
        <p:nvSpPr>
          <p:cNvPr id="1514" name="s1514"/>
          <p:cNvSpPr>
            <a:spLocks noGrp="1"/>
          </p:cNvSpPr>
          <p:nvPr/>
        </p:nvSpPr>
        <p:spPr>
          <a:xfrm>
            <a:off x="8269224" y="2852928"/>
            <a:ext cx="299618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Record what was done</a:t>
            </a:r>
          </a:p>
        </p:txBody>
      </p:sp>
      <p:sp>
        <p:nvSpPr>
          <p:cNvPr id="1515" name="s1515"/>
          <p:cNvSpPr>
            <a:spLocks noGrp="1"/>
          </p:cNvSpPr>
          <p:nvPr/>
        </p:nvSpPr>
        <p:spPr>
          <a:xfrm>
            <a:off x="8269224" y="3529584"/>
            <a:ext cx="2996184" cy="621792"/>
          </a:xfrm>
          <a:prstGeom prst="rect">
            <a:avLst/>
          </a:prstGeom>
          <a:noFill/>
          <a:ln w="0">
            <a:noFill/>
            <a:prstDash val="solid"/>
          </a:ln>
        </p:spPr>
        <p:txBody>
          <a:bodyPr wrap="square" lIns="0" tIns="0" rIns="0" bIns="0" anchor="t"/>
          <a:lstStyle/>
          <a:p>
            <a:pPr algn="l">
              <a:buNone/>
              <a:defRPr sz="1400"/>
            </a:pPr>
            <a:r>
              <a:rPr lang="en-US" sz="1400">
                <a:solidFill>
                  <a:srgbClr val="66746F"/>
                </a:solidFill>
              </a:rPr>
              <a:t>Done, or not done and why. One second — and it is the step that closes the loop</a:t>
            </a:r>
          </a:p>
        </p:txBody>
      </p:sp>
      <p:sp>
        <p:nvSpPr>
          <p:cNvPr id="1516" name="s1516"/>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517" name="s1517"/>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If the action is never recorded, the loop never closes and the system never gets better.</a:t>
            </a:r>
          </a:p>
        </p:txBody>
      </p:sp>
      <p:sp>
        <p:nvSpPr>
          <p:cNvPr id="1520" name="s1520"/>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521" name="s1521"/>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534" name="s1534"/>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MEASUREMENT</a:t>
            </a:r>
          </a:p>
        </p:txBody>
      </p:sp>
      <p:sp>
        <p:nvSpPr>
          <p:cNvPr id="1535" name="s1535"/>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Measure the process, not only the outcome</a:t>
            </a:r>
          </a:p>
        </p:txBody>
      </p:sp>
      <p:sp>
        <p:nvSpPr>
          <p:cNvPr id="1522" name="s1522"/>
          <p:cNvSpPr>
            <a:spLocks noGrp="1"/>
          </p:cNvSpPr>
          <p:nvPr/>
        </p:nvSpPr>
        <p:spPr>
          <a:xfrm>
            <a:off x="722376" y="1956816"/>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523" name="s1523"/>
          <p:cNvSpPr>
            <a:spLocks noGrp="1"/>
          </p:cNvSpPr>
          <p:nvPr/>
        </p:nvSpPr>
        <p:spPr>
          <a:xfrm>
            <a:off x="987552" y="1883664"/>
            <a:ext cx="10515600" cy="530352"/>
          </a:xfrm>
          <a:prstGeom prst="rect">
            <a:avLst/>
          </a:prstGeom>
          <a:noFill/>
          <a:ln w="0">
            <a:noFill/>
            <a:prstDash val="solid"/>
          </a:ln>
        </p:spPr>
        <p:txBody>
          <a:bodyPr wrap="square" lIns="0" tIns="0" rIns="0" bIns="0" anchor="t"/>
          <a:lstStyle/>
          <a:p>
            <a:pPr algn="l">
              <a:buNone/>
              <a:defRPr sz="1650"/>
            </a:pPr>
            <a:r>
              <a:rPr lang="en-US" sz="1650">
                <a:solidFill>
                  <a:srgbClr val="10251F"/>
                </a:solidFill>
              </a:rPr>
              <a:t>Action-record rate — the share of alerts that ended in a recorded decision</a:t>
            </a:r>
          </a:p>
        </p:txBody>
      </p:sp>
      <p:sp>
        <p:nvSpPr>
          <p:cNvPr id="1524" name="s1524"/>
          <p:cNvSpPr>
            <a:spLocks noGrp="1"/>
          </p:cNvSpPr>
          <p:nvPr/>
        </p:nvSpPr>
        <p:spPr>
          <a:xfrm>
            <a:off x="722376" y="2523744"/>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525" name="s1525"/>
          <p:cNvSpPr>
            <a:spLocks noGrp="1"/>
          </p:cNvSpPr>
          <p:nvPr/>
        </p:nvSpPr>
        <p:spPr>
          <a:xfrm>
            <a:off x="987552" y="2450592"/>
            <a:ext cx="10515600" cy="530352"/>
          </a:xfrm>
          <a:prstGeom prst="rect">
            <a:avLst/>
          </a:prstGeom>
          <a:noFill/>
          <a:ln w="0">
            <a:noFill/>
            <a:prstDash val="solid"/>
          </a:ln>
        </p:spPr>
        <p:txBody>
          <a:bodyPr wrap="square" lIns="0" tIns="0" rIns="0" bIns="0" anchor="t"/>
          <a:lstStyle/>
          <a:p>
            <a:pPr algn="l">
              <a:buNone/>
              <a:defRPr sz="1650"/>
            </a:pPr>
            <a:r>
              <a:rPr lang="en-US" sz="1650">
                <a:solidFill>
                  <a:srgbClr val="10251F"/>
                </a:solidFill>
              </a:rPr>
              <a:t>Detection lead time — how many days earlier the check happened than it would have</a:t>
            </a:r>
          </a:p>
        </p:txBody>
      </p:sp>
      <p:sp>
        <p:nvSpPr>
          <p:cNvPr id="1526" name="s1526"/>
          <p:cNvSpPr>
            <a:spLocks noGrp="1"/>
          </p:cNvSpPr>
          <p:nvPr/>
        </p:nvSpPr>
        <p:spPr>
          <a:xfrm>
            <a:off x="722376" y="3090672"/>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527" name="s1527"/>
          <p:cNvSpPr>
            <a:spLocks noGrp="1"/>
          </p:cNvSpPr>
          <p:nvPr/>
        </p:nvSpPr>
        <p:spPr>
          <a:xfrm>
            <a:off x="987552" y="3017520"/>
            <a:ext cx="10515600" cy="530352"/>
          </a:xfrm>
          <a:prstGeom prst="rect">
            <a:avLst/>
          </a:prstGeom>
          <a:noFill/>
          <a:ln w="0">
            <a:noFill/>
            <a:prstDash val="solid"/>
          </a:ln>
        </p:spPr>
        <p:txBody>
          <a:bodyPr wrap="square" lIns="0" tIns="0" rIns="0" bIns="0" anchor="t"/>
          <a:lstStyle/>
          <a:p>
            <a:pPr algn="l">
              <a:buNone/>
              <a:defRPr sz="1650"/>
            </a:pPr>
            <a:r>
              <a:rPr lang="en-US" sz="1650">
                <a:solidFill>
                  <a:srgbClr val="10251F"/>
                </a:solidFill>
              </a:rPr>
              <a:t>Open days and conception rate — the reproductive result the farm actually feels</a:t>
            </a:r>
          </a:p>
        </p:txBody>
      </p:sp>
      <p:sp>
        <p:nvSpPr>
          <p:cNvPr id="1528" name="s1528"/>
          <p:cNvSpPr>
            <a:spLocks noGrp="1"/>
          </p:cNvSpPr>
          <p:nvPr/>
        </p:nvSpPr>
        <p:spPr>
          <a:xfrm>
            <a:off x="722376" y="3657600"/>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529" name="s1529"/>
          <p:cNvSpPr>
            <a:spLocks noGrp="1"/>
          </p:cNvSpPr>
          <p:nvPr/>
        </p:nvSpPr>
        <p:spPr>
          <a:xfrm>
            <a:off x="987552" y="3584448"/>
            <a:ext cx="10515600" cy="530352"/>
          </a:xfrm>
          <a:prstGeom prst="rect">
            <a:avLst/>
          </a:prstGeom>
          <a:noFill/>
          <a:ln w="0">
            <a:noFill/>
            <a:prstDash val="solid"/>
          </a:ln>
        </p:spPr>
        <p:txBody>
          <a:bodyPr wrap="square" lIns="0" tIns="0" rIns="0" bIns="0" anchor="t"/>
          <a:lstStyle/>
          <a:p>
            <a:pPr algn="l">
              <a:buNone/>
              <a:defRPr sz="1650"/>
            </a:pPr>
            <a:r>
              <a:rPr lang="en-US" sz="1650">
                <a:solidFill>
                  <a:srgbClr val="10251F"/>
                </a:solidFill>
              </a:rPr>
              <a:t>Treatment success and relapse — did the intervention hold, verified by the sensor</a:t>
            </a:r>
          </a:p>
        </p:txBody>
      </p:sp>
      <p:sp>
        <p:nvSpPr>
          <p:cNvPr id="1530" name="s1530"/>
          <p:cNvSpPr>
            <a:spLocks noGrp="1"/>
          </p:cNvSpPr>
          <p:nvPr/>
        </p:nvSpPr>
        <p:spPr>
          <a:xfrm>
            <a:off x="722376" y="4224528"/>
            <a:ext cx="114300" cy="114300"/>
          </a:xfrm>
          <a:prstGeom prst="ellipse">
            <a:avLst/>
          </a:prstGeom>
          <a:solidFill>
            <a:srgbClr val="65D44A"/>
          </a:solidFill>
          <a:ln w="0">
            <a:noFill/>
            <a:prstDash val="solid"/>
          </a:ln>
        </p:spPr>
        <p:txBody>
          <a:bodyPr wrap="square" lIns="0" tIns="0" rIns="0" bIns="0" anchor="t"/>
          <a:lstStyle/>
          <a:p>
            <a:endParaRPr lang="en-US"/>
          </a:p>
        </p:txBody>
      </p:sp>
      <p:sp>
        <p:nvSpPr>
          <p:cNvPr id="1531" name="s1531"/>
          <p:cNvSpPr>
            <a:spLocks noGrp="1"/>
          </p:cNvSpPr>
          <p:nvPr/>
        </p:nvSpPr>
        <p:spPr>
          <a:xfrm>
            <a:off x="987552" y="4151376"/>
            <a:ext cx="10515600" cy="530352"/>
          </a:xfrm>
          <a:prstGeom prst="rect">
            <a:avLst/>
          </a:prstGeom>
          <a:noFill/>
          <a:ln w="0">
            <a:noFill/>
            <a:prstDash val="solid"/>
          </a:ln>
        </p:spPr>
        <p:txBody>
          <a:bodyPr wrap="square" lIns="0" tIns="0" rIns="0" bIns="0" anchor="t"/>
          <a:lstStyle/>
          <a:p>
            <a:pPr algn="l">
              <a:buNone/>
              <a:defRPr sz="1650"/>
            </a:pPr>
            <a:r>
              <a:rPr lang="en-US" sz="1650">
                <a:solidFill>
                  <a:srgbClr val="10251F"/>
                </a:solidFill>
              </a:rPr>
              <a:t>Margin per cow per day — where the whole exercise finally lands</a:t>
            </a:r>
          </a:p>
        </p:txBody>
      </p:sp>
      <p:sp>
        <p:nvSpPr>
          <p:cNvPr id="1532" name="s1532"/>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533" name="s1533"/>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Action-record rate is the single indicator that predicts whether all the others will move.</a:t>
            </a:r>
          </a:p>
        </p:txBody>
      </p:sp>
      <p:sp>
        <p:nvSpPr>
          <p:cNvPr id="1536" name="s1536"/>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537" name="s1537"/>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560" name="s1560"/>
          <p:cNvSpPr>
            <a:spLocks noGrp="1"/>
          </p:cNvSpPr>
          <p:nvPr/>
        </p:nvSpPr>
        <p:spPr>
          <a:xfrm>
            <a:off x="685800" y="402336"/>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15A98C"/>
                </a:solidFill>
              </a:rPr>
              <a:t>IMPLEMENTATION</a:t>
            </a:r>
          </a:p>
        </p:txBody>
      </p:sp>
      <p:sp>
        <p:nvSpPr>
          <p:cNvPr id="1561" name="s1561"/>
          <p:cNvSpPr>
            <a:spLocks noGrp="1"/>
          </p:cNvSpPr>
          <p:nvPr/>
        </p:nvSpPr>
        <p:spPr>
          <a:xfrm>
            <a:off x="685800" y="740664"/>
            <a:ext cx="10817352" cy="914400"/>
          </a:xfrm>
          <a:prstGeom prst="rect">
            <a:avLst/>
          </a:prstGeom>
          <a:noFill/>
          <a:ln w="0">
            <a:noFill/>
            <a:prstDash val="solid"/>
          </a:ln>
        </p:spPr>
        <p:txBody>
          <a:bodyPr wrap="square" lIns="0" tIns="0" rIns="0" bIns="0" anchor="t"/>
          <a:lstStyle/>
          <a:p>
            <a:pPr algn="l">
              <a:buNone/>
              <a:defRPr sz="3000"/>
            </a:pPr>
            <a:r>
              <a:rPr lang="en-US" sz="3000" b="1">
                <a:solidFill>
                  <a:srgbClr val="10251F"/>
                </a:solidFill>
              </a:rPr>
              <a:t>Thirty days to turn a system into a habit</a:t>
            </a:r>
          </a:p>
        </p:txBody>
      </p:sp>
      <p:sp>
        <p:nvSpPr>
          <p:cNvPr id="1538" name="s1538"/>
          <p:cNvSpPr>
            <a:spLocks noGrp="1"/>
          </p:cNvSpPr>
          <p:nvPr/>
        </p:nvSpPr>
        <p:spPr>
          <a:xfrm>
            <a:off x="68580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539" name="s1539"/>
          <p:cNvSpPr>
            <a:spLocks noGrp="1"/>
          </p:cNvSpPr>
          <p:nvPr/>
        </p:nvSpPr>
        <p:spPr>
          <a:xfrm>
            <a:off x="92354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40" name="s1540"/>
          <p:cNvSpPr>
            <a:spLocks noGrp="1"/>
          </p:cNvSpPr>
          <p:nvPr/>
        </p:nvSpPr>
        <p:spPr>
          <a:xfrm>
            <a:off x="92354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W1</a:t>
            </a:r>
          </a:p>
        </p:txBody>
      </p:sp>
      <p:sp>
        <p:nvSpPr>
          <p:cNvPr id="1541" name="s1541"/>
          <p:cNvSpPr>
            <a:spLocks noGrp="1"/>
          </p:cNvSpPr>
          <p:nvPr/>
        </p:nvSpPr>
        <p:spPr>
          <a:xfrm>
            <a:off x="92354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Install and connect</a:t>
            </a:r>
          </a:p>
        </p:txBody>
      </p:sp>
      <p:sp>
        <p:nvSpPr>
          <p:cNvPr id="1542" name="s1542"/>
          <p:cNvSpPr>
            <a:spLocks noGrp="1"/>
          </p:cNvSpPr>
          <p:nvPr/>
        </p:nvSpPr>
        <p:spPr>
          <a:xfrm>
            <a:off x="92354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Sensors in, gateway live, accounts and permissions set for every role</a:t>
            </a:r>
          </a:p>
        </p:txBody>
      </p:sp>
      <p:sp>
        <p:nvSpPr>
          <p:cNvPr id="1543" name="s1543"/>
          <p:cNvSpPr>
            <a:spLocks noGrp="1"/>
          </p:cNvSpPr>
          <p:nvPr/>
        </p:nvSpPr>
        <p:spPr>
          <a:xfrm>
            <a:off x="344043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544" name="s1544"/>
          <p:cNvSpPr>
            <a:spLocks noGrp="1"/>
          </p:cNvSpPr>
          <p:nvPr/>
        </p:nvSpPr>
        <p:spPr>
          <a:xfrm>
            <a:off x="367817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45" name="s1545"/>
          <p:cNvSpPr>
            <a:spLocks noGrp="1"/>
          </p:cNvSpPr>
          <p:nvPr/>
        </p:nvSpPr>
        <p:spPr>
          <a:xfrm>
            <a:off x="367817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W2</a:t>
            </a:r>
          </a:p>
        </p:txBody>
      </p:sp>
      <p:sp>
        <p:nvSpPr>
          <p:cNvPr id="1546" name="s1546"/>
          <p:cNvSpPr>
            <a:spLocks noGrp="1"/>
          </p:cNvSpPr>
          <p:nvPr/>
        </p:nvSpPr>
        <p:spPr>
          <a:xfrm>
            <a:off x="367817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Measure the baseline</a:t>
            </a:r>
          </a:p>
        </p:txBody>
      </p:sp>
      <p:sp>
        <p:nvSpPr>
          <p:cNvPr id="1547" name="s1547"/>
          <p:cNvSpPr>
            <a:spLocks noGrp="1"/>
          </p:cNvSpPr>
          <p:nvPr/>
        </p:nvSpPr>
        <p:spPr>
          <a:xfrm>
            <a:off x="367817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Record where the farm stands today — the step most teams skip</a:t>
            </a:r>
          </a:p>
        </p:txBody>
      </p:sp>
      <p:sp>
        <p:nvSpPr>
          <p:cNvPr id="1548" name="s1548"/>
          <p:cNvSpPr>
            <a:spLocks noGrp="1"/>
          </p:cNvSpPr>
          <p:nvPr/>
        </p:nvSpPr>
        <p:spPr>
          <a:xfrm>
            <a:off x="619506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549" name="s1549"/>
          <p:cNvSpPr>
            <a:spLocks noGrp="1"/>
          </p:cNvSpPr>
          <p:nvPr/>
        </p:nvSpPr>
        <p:spPr>
          <a:xfrm>
            <a:off x="643280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50" name="s1550"/>
          <p:cNvSpPr>
            <a:spLocks noGrp="1"/>
          </p:cNvSpPr>
          <p:nvPr/>
        </p:nvSpPr>
        <p:spPr>
          <a:xfrm>
            <a:off x="643280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W3</a:t>
            </a:r>
          </a:p>
        </p:txBody>
      </p:sp>
      <p:sp>
        <p:nvSpPr>
          <p:cNvPr id="1551" name="s1551"/>
          <p:cNvSpPr>
            <a:spLocks noGrp="1"/>
          </p:cNvSpPr>
          <p:nvPr/>
        </p:nvSpPr>
        <p:spPr>
          <a:xfrm>
            <a:off x="643280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Run the three touches</a:t>
            </a:r>
          </a:p>
        </p:txBody>
      </p:sp>
      <p:sp>
        <p:nvSpPr>
          <p:cNvPr id="1552" name="s1552"/>
          <p:cNvSpPr>
            <a:spLocks noGrp="1"/>
          </p:cNvSpPr>
          <p:nvPr/>
        </p:nvSpPr>
        <p:spPr>
          <a:xfrm>
            <a:off x="643280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Daily rhythm with support on hand; only the three core actions</a:t>
            </a:r>
          </a:p>
        </p:txBody>
      </p:sp>
      <p:sp>
        <p:nvSpPr>
          <p:cNvPr id="1553" name="s1553"/>
          <p:cNvSpPr>
            <a:spLocks noGrp="1"/>
          </p:cNvSpPr>
          <p:nvPr/>
        </p:nvSpPr>
        <p:spPr>
          <a:xfrm>
            <a:off x="8949690" y="2011680"/>
            <a:ext cx="2553462" cy="2377440"/>
          </a:xfrm>
          <a:prstGeom prst="roundRect">
            <a:avLst/>
          </a:prstGeom>
          <a:solidFill>
            <a:srgbClr val="FFFFFF"/>
          </a:solidFill>
          <a:ln w="0">
            <a:noFill/>
            <a:prstDash val="solid"/>
          </a:ln>
        </p:spPr>
        <p:txBody>
          <a:bodyPr wrap="square" lIns="0" tIns="0" rIns="0" bIns="0" anchor="t"/>
          <a:lstStyle/>
          <a:p>
            <a:endParaRPr lang="en-US"/>
          </a:p>
        </p:txBody>
      </p:sp>
      <p:sp>
        <p:nvSpPr>
          <p:cNvPr id="1554" name="s1554"/>
          <p:cNvSpPr>
            <a:spLocks noGrp="1"/>
          </p:cNvSpPr>
          <p:nvPr/>
        </p:nvSpPr>
        <p:spPr>
          <a:xfrm>
            <a:off x="9187434" y="2267712"/>
            <a:ext cx="384048" cy="384048"/>
          </a:xfrm>
          <a:prstGeom prst="ellipse">
            <a:avLst/>
          </a:prstGeom>
          <a:solidFill>
            <a:srgbClr val="15A98C"/>
          </a:solidFill>
          <a:ln w="0">
            <a:noFill/>
            <a:prstDash val="solid"/>
          </a:ln>
        </p:spPr>
        <p:txBody>
          <a:bodyPr wrap="square" lIns="0" tIns="0" rIns="0" bIns="0" anchor="t"/>
          <a:lstStyle/>
          <a:p>
            <a:endParaRPr lang="en-US"/>
          </a:p>
        </p:txBody>
      </p:sp>
      <p:sp>
        <p:nvSpPr>
          <p:cNvPr id="1555" name="s1555"/>
          <p:cNvSpPr>
            <a:spLocks noGrp="1"/>
          </p:cNvSpPr>
          <p:nvPr/>
        </p:nvSpPr>
        <p:spPr>
          <a:xfrm>
            <a:off x="9187434" y="2322576"/>
            <a:ext cx="384048" cy="274320"/>
          </a:xfrm>
          <a:prstGeom prst="rect">
            <a:avLst/>
          </a:prstGeom>
          <a:noFill/>
          <a:ln w="0">
            <a:noFill/>
            <a:prstDash val="solid"/>
          </a:ln>
        </p:spPr>
        <p:txBody>
          <a:bodyPr wrap="square" lIns="0" tIns="0" rIns="0" bIns="0" anchor="t"/>
          <a:lstStyle/>
          <a:p>
            <a:pPr algn="ctr">
              <a:buNone/>
              <a:defRPr sz="1350"/>
            </a:pPr>
            <a:r>
              <a:rPr lang="en-US" sz="1350" b="1">
                <a:solidFill>
                  <a:srgbClr val="FFFFFF"/>
                </a:solidFill>
              </a:rPr>
              <a:t>W4</a:t>
            </a:r>
          </a:p>
        </p:txBody>
      </p:sp>
      <p:sp>
        <p:nvSpPr>
          <p:cNvPr id="1556" name="s1556"/>
          <p:cNvSpPr>
            <a:spLocks noGrp="1"/>
          </p:cNvSpPr>
          <p:nvPr/>
        </p:nvSpPr>
        <p:spPr>
          <a:xfrm>
            <a:off x="9187434" y="2852928"/>
            <a:ext cx="2077974" cy="566928"/>
          </a:xfrm>
          <a:prstGeom prst="rect">
            <a:avLst/>
          </a:prstGeom>
          <a:noFill/>
          <a:ln w="0">
            <a:noFill/>
            <a:prstDash val="solid"/>
          </a:ln>
        </p:spPr>
        <p:txBody>
          <a:bodyPr wrap="square" lIns="0" tIns="0" rIns="0" bIns="0" anchor="t"/>
          <a:lstStyle/>
          <a:p>
            <a:pPr algn="l">
              <a:buNone/>
              <a:defRPr sz="1500"/>
            </a:pPr>
            <a:r>
              <a:rPr lang="en-US" sz="1500" b="1">
                <a:solidFill>
                  <a:srgbClr val="10251F"/>
                </a:solidFill>
              </a:rPr>
              <a:t>Review and adjust</a:t>
            </a:r>
          </a:p>
        </p:txBody>
      </p:sp>
      <p:sp>
        <p:nvSpPr>
          <p:cNvPr id="1557" name="s1557"/>
          <p:cNvSpPr>
            <a:spLocks noGrp="1"/>
          </p:cNvSpPr>
          <p:nvPr/>
        </p:nvSpPr>
        <p:spPr>
          <a:xfrm>
            <a:off x="9187434" y="3529584"/>
            <a:ext cx="2077974" cy="621792"/>
          </a:xfrm>
          <a:prstGeom prst="rect">
            <a:avLst/>
          </a:prstGeom>
          <a:noFill/>
          <a:ln w="0">
            <a:noFill/>
            <a:prstDash val="solid"/>
          </a:ln>
        </p:spPr>
        <p:txBody>
          <a:bodyPr wrap="square" lIns="0" tIns="0" rIns="0" bIns="0" anchor="t"/>
          <a:lstStyle/>
          <a:p>
            <a:pPr algn="l">
              <a:buNone/>
              <a:defRPr sz="1350"/>
            </a:pPr>
            <a:r>
              <a:rPr lang="en-US" sz="1350">
                <a:solidFill>
                  <a:srgbClr val="66746F"/>
                </a:solidFill>
              </a:rPr>
              <a:t>Read the indicators together, tune alert settings, agree the routine</a:t>
            </a:r>
          </a:p>
        </p:txBody>
      </p:sp>
      <p:sp>
        <p:nvSpPr>
          <p:cNvPr id="1558" name="s155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nchor="t"/>
          <a:lstStyle/>
          <a:p>
            <a:endParaRPr lang="en-US"/>
          </a:p>
        </p:txBody>
      </p:sp>
      <p:sp>
        <p:nvSpPr>
          <p:cNvPr id="1559" name="s1559"/>
          <p:cNvSpPr>
            <a:spLocks noGrp="1"/>
          </p:cNvSpPr>
          <p:nvPr/>
        </p:nvSpPr>
        <p:spPr>
          <a:xfrm>
            <a:off x="969264" y="5065776"/>
            <a:ext cx="10250424" cy="301752"/>
          </a:xfrm>
          <a:prstGeom prst="rect">
            <a:avLst/>
          </a:prstGeom>
          <a:noFill/>
          <a:ln w="0">
            <a:noFill/>
            <a:prstDash val="solid"/>
          </a:ln>
        </p:spPr>
        <p:txBody>
          <a:bodyPr wrap="square" lIns="0" tIns="0" rIns="0" bIns="0" anchor="t"/>
          <a:lstStyle/>
          <a:p>
            <a:pPr algn="l">
              <a:buNone/>
              <a:defRPr sz="1650"/>
            </a:pPr>
            <a:r>
              <a:rPr lang="en-US" sz="1650" b="1">
                <a:solidFill>
                  <a:srgbClr val="10251F"/>
                </a:solidFill>
              </a:rPr>
              <a:t>Week 2 is the one people skip. Without a baseline there is nothing to prove at day ninety.</a:t>
            </a:r>
          </a:p>
        </p:txBody>
      </p:sp>
      <p:sp>
        <p:nvSpPr>
          <p:cNvPr id="1562" name="s1562"/>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66746F"/>
                </a:solidFill>
              </a:rPr>
              <a:t>smaXtec × CowTalk | Universal training material</a:t>
            </a:r>
          </a:p>
        </p:txBody>
      </p:sp>
      <p:sp>
        <p:nvSpPr>
          <p:cNvPr id="1563" name="s1563"/>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10251F"/>
                </a:solidFill>
              </a:rP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564" name="s1564"/>
          <p:cNvSpPr>
            <a:spLocks noGrp="1"/>
          </p:cNvSpPr>
          <p:nvPr/>
        </p:nvSpPr>
        <p:spPr>
          <a:xfrm>
            <a:off x="685800" y="548640"/>
            <a:ext cx="4956048" cy="228600"/>
          </a:xfrm>
          <a:prstGeom prst="rect">
            <a:avLst/>
          </a:prstGeom>
          <a:noFill/>
          <a:ln w="0">
            <a:noFill/>
            <a:prstDash val="solid"/>
          </a:ln>
        </p:spPr>
        <p:txBody>
          <a:bodyPr wrap="square" lIns="0" tIns="0" rIns="0" bIns="0" anchor="t"/>
          <a:lstStyle/>
          <a:p>
            <a:pPr algn="l">
              <a:buNone/>
              <a:defRPr sz="1050"/>
            </a:pPr>
            <a:r>
              <a:rPr lang="en-US" sz="1050" b="1">
                <a:solidFill>
                  <a:srgbClr val="65D44A"/>
                </a:solidFill>
              </a:rPr>
              <a:t>KEY TAKEAWAYS</a:t>
            </a:r>
          </a:p>
        </p:txBody>
      </p:sp>
      <p:sp>
        <p:nvSpPr>
          <p:cNvPr id="1565" name="s1565"/>
          <p:cNvSpPr>
            <a:spLocks noGrp="1"/>
          </p:cNvSpPr>
          <p:nvPr/>
        </p:nvSpPr>
        <p:spPr>
          <a:xfrm>
            <a:off x="685800" y="914400"/>
            <a:ext cx="10058400" cy="868680"/>
          </a:xfrm>
          <a:prstGeom prst="rect">
            <a:avLst/>
          </a:prstGeom>
          <a:noFill/>
          <a:ln w="0">
            <a:noFill/>
            <a:prstDash val="solid"/>
          </a:ln>
        </p:spPr>
        <p:txBody>
          <a:bodyPr wrap="square" lIns="0" tIns="0" rIns="0" bIns="0" anchor="t"/>
          <a:lstStyle/>
          <a:p>
            <a:pPr algn="l">
              <a:buNone/>
              <a:defRPr sz="3450"/>
            </a:pPr>
            <a:r>
              <a:rPr lang="en-US" sz="3450" b="1">
                <a:solidFill>
                  <a:srgbClr val="FFFFFF"/>
                </a:solidFill>
              </a:rPr>
              <a:t>Three sentences to carry out of this room</a:t>
            </a:r>
          </a:p>
        </p:txBody>
      </p:sp>
      <p:sp>
        <p:nvSpPr>
          <p:cNvPr id="1566" name="s1566"/>
          <p:cNvSpPr>
            <a:spLocks noGrp="1"/>
          </p:cNvSpPr>
          <p:nvPr/>
        </p:nvSpPr>
        <p:spPr>
          <a:xfrm>
            <a:off x="685800" y="2331720"/>
            <a:ext cx="566928" cy="566928"/>
          </a:xfrm>
          <a:prstGeom prst="ellipse">
            <a:avLst/>
          </a:prstGeom>
          <a:solidFill>
            <a:srgbClr val="65D44A"/>
          </a:solidFill>
          <a:ln w="0">
            <a:noFill/>
            <a:prstDash val="solid"/>
          </a:ln>
        </p:spPr>
        <p:txBody>
          <a:bodyPr wrap="square" lIns="0" tIns="0" rIns="0" bIns="0" anchor="t"/>
          <a:lstStyle/>
          <a:p>
            <a:endParaRPr lang="en-US"/>
          </a:p>
        </p:txBody>
      </p:sp>
      <p:sp>
        <p:nvSpPr>
          <p:cNvPr id="1567" name="s1567"/>
          <p:cNvSpPr>
            <a:spLocks noGrp="1"/>
          </p:cNvSpPr>
          <p:nvPr/>
        </p:nvSpPr>
        <p:spPr>
          <a:xfrm>
            <a:off x="685800" y="2459736"/>
            <a:ext cx="566928" cy="310896"/>
          </a:xfrm>
          <a:prstGeom prst="rect">
            <a:avLst/>
          </a:prstGeom>
          <a:noFill/>
          <a:ln w="0">
            <a:noFill/>
            <a:prstDash val="solid"/>
          </a:ln>
        </p:spPr>
        <p:txBody>
          <a:bodyPr wrap="square" lIns="0" tIns="0" rIns="0" bIns="0" anchor="t"/>
          <a:lstStyle/>
          <a:p>
            <a:pPr algn="ctr">
              <a:buNone/>
              <a:defRPr sz="1875"/>
            </a:pPr>
            <a:r>
              <a:rPr lang="en-US" sz="1875" b="1">
                <a:solidFill>
                  <a:srgbClr val="0A1B17"/>
                </a:solidFill>
              </a:rPr>
              <a:t>1</a:t>
            </a:r>
          </a:p>
        </p:txBody>
      </p:sp>
      <p:sp>
        <p:nvSpPr>
          <p:cNvPr id="1568" name="s1568"/>
          <p:cNvSpPr>
            <a:spLocks noGrp="1"/>
          </p:cNvSpPr>
          <p:nvPr/>
        </p:nvSpPr>
        <p:spPr>
          <a:xfrm>
            <a:off x="1481328" y="2386584"/>
            <a:ext cx="9326880" cy="822960"/>
          </a:xfrm>
          <a:prstGeom prst="rect">
            <a:avLst/>
          </a:prstGeom>
          <a:noFill/>
          <a:ln w="0">
            <a:noFill/>
            <a:prstDash val="solid"/>
          </a:ln>
        </p:spPr>
        <p:txBody>
          <a:bodyPr wrap="square" lIns="0" tIns="0" rIns="0" bIns="0" anchor="t"/>
          <a:lstStyle/>
          <a:p>
            <a:pPr algn="l">
              <a:buNone/>
              <a:defRPr sz="2025"/>
            </a:pPr>
            <a:r>
              <a:rPr lang="en-US" sz="2025">
                <a:solidFill>
                  <a:srgbClr val="FFFFFF"/>
                </a:solidFill>
              </a:rPr>
              <a:t>The sensor tells you something changed. This layer tells you what to do about it.</a:t>
            </a:r>
          </a:p>
        </p:txBody>
      </p:sp>
      <p:sp>
        <p:nvSpPr>
          <p:cNvPr id="1569" name="s1569"/>
          <p:cNvSpPr>
            <a:spLocks noGrp="1"/>
          </p:cNvSpPr>
          <p:nvPr/>
        </p:nvSpPr>
        <p:spPr>
          <a:xfrm>
            <a:off x="685800" y="3392424"/>
            <a:ext cx="566928" cy="566928"/>
          </a:xfrm>
          <a:prstGeom prst="ellipse">
            <a:avLst/>
          </a:prstGeom>
          <a:solidFill>
            <a:srgbClr val="65D44A"/>
          </a:solidFill>
          <a:ln w="0">
            <a:noFill/>
            <a:prstDash val="solid"/>
          </a:ln>
        </p:spPr>
        <p:txBody>
          <a:bodyPr wrap="square" lIns="0" tIns="0" rIns="0" bIns="0" anchor="t"/>
          <a:lstStyle/>
          <a:p>
            <a:endParaRPr lang="en-US"/>
          </a:p>
        </p:txBody>
      </p:sp>
      <p:sp>
        <p:nvSpPr>
          <p:cNvPr id="1570" name="s1570"/>
          <p:cNvSpPr>
            <a:spLocks noGrp="1"/>
          </p:cNvSpPr>
          <p:nvPr/>
        </p:nvSpPr>
        <p:spPr>
          <a:xfrm>
            <a:off x="685800" y="3520440"/>
            <a:ext cx="566928" cy="310896"/>
          </a:xfrm>
          <a:prstGeom prst="rect">
            <a:avLst/>
          </a:prstGeom>
          <a:noFill/>
          <a:ln w="0">
            <a:noFill/>
            <a:prstDash val="solid"/>
          </a:ln>
        </p:spPr>
        <p:txBody>
          <a:bodyPr wrap="square" lIns="0" tIns="0" rIns="0" bIns="0" anchor="t"/>
          <a:lstStyle/>
          <a:p>
            <a:pPr algn="ctr">
              <a:buNone/>
              <a:defRPr sz="1875"/>
            </a:pPr>
            <a:r>
              <a:rPr lang="en-US" sz="1875" b="1">
                <a:solidFill>
                  <a:srgbClr val="0A1B17"/>
                </a:solidFill>
              </a:rPr>
              <a:t>2</a:t>
            </a:r>
          </a:p>
        </p:txBody>
      </p:sp>
      <p:sp>
        <p:nvSpPr>
          <p:cNvPr id="1571" name="s1571"/>
          <p:cNvSpPr>
            <a:spLocks noGrp="1"/>
          </p:cNvSpPr>
          <p:nvPr/>
        </p:nvSpPr>
        <p:spPr>
          <a:xfrm>
            <a:off x="1481328" y="3447288"/>
            <a:ext cx="9326880" cy="822960"/>
          </a:xfrm>
          <a:prstGeom prst="rect">
            <a:avLst/>
          </a:prstGeom>
          <a:noFill/>
          <a:ln w="0">
            <a:noFill/>
            <a:prstDash val="solid"/>
          </a:ln>
        </p:spPr>
        <p:txBody>
          <a:bodyPr wrap="square" lIns="0" tIns="0" rIns="0" bIns="0" anchor="t"/>
          <a:lstStyle/>
          <a:p>
            <a:pPr algn="l">
              <a:buNone/>
              <a:defRPr sz="2025"/>
            </a:pPr>
            <a:r>
              <a:rPr lang="en-US" sz="2025">
                <a:solidFill>
                  <a:srgbClr val="FFFFFF"/>
                </a:solidFill>
              </a:rPr>
              <a:t>An alert is not a diagnosis, and an AI answer is not a decision. Both are inputs to a person.</a:t>
            </a:r>
          </a:p>
        </p:txBody>
      </p:sp>
      <p:sp>
        <p:nvSpPr>
          <p:cNvPr id="1572" name="s1572"/>
          <p:cNvSpPr>
            <a:spLocks noGrp="1"/>
          </p:cNvSpPr>
          <p:nvPr/>
        </p:nvSpPr>
        <p:spPr>
          <a:xfrm>
            <a:off x="685800" y="4453128"/>
            <a:ext cx="566928" cy="566928"/>
          </a:xfrm>
          <a:prstGeom prst="ellipse">
            <a:avLst/>
          </a:prstGeom>
          <a:solidFill>
            <a:srgbClr val="65D44A"/>
          </a:solidFill>
          <a:ln w="0">
            <a:noFill/>
            <a:prstDash val="solid"/>
          </a:ln>
        </p:spPr>
        <p:txBody>
          <a:bodyPr wrap="square" lIns="0" tIns="0" rIns="0" bIns="0" anchor="t"/>
          <a:lstStyle/>
          <a:p>
            <a:endParaRPr lang="en-US"/>
          </a:p>
        </p:txBody>
      </p:sp>
      <p:sp>
        <p:nvSpPr>
          <p:cNvPr id="1573" name="s1573"/>
          <p:cNvSpPr>
            <a:spLocks noGrp="1"/>
          </p:cNvSpPr>
          <p:nvPr/>
        </p:nvSpPr>
        <p:spPr>
          <a:xfrm>
            <a:off x="685800" y="4581144"/>
            <a:ext cx="566928" cy="310896"/>
          </a:xfrm>
          <a:prstGeom prst="rect">
            <a:avLst/>
          </a:prstGeom>
          <a:noFill/>
          <a:ln w="0">
            <a:noFill/>
            <a:prstDash val="solid"/>
          </a:ln>
        </p:spPr>
        <p:txBody>
          <a:bodyPr wrap="square" lIns="0" tIns="0" rIns="0" bIns="0" anchor="t"/>
          <a:lstStyle/>
          <a:p>
            <a:pPr algn="ctr">
              <a:buNone/>
              <a:defRPr sz="1875"/>
            </a:pPr>
            <a:r>
              <a:rPr lang="en-US" sz="1875" b="1">
                <a:solidFill>
                  <a:srgbClr val="0A1B17"/>
                </a:solidFill>
              </a:rPr>
              <a:t>3</a:t>
            </a:r>
          </a:p>
        </p:txBody>
      </p:sp>
      <p:sp>
        <p:nvSpPr>
          <p:cNvPr id="1574" name="s1574"/>
          <p:cNvSpPr>
            <a:spLocks noGrp="1"/>
          </p:cNvSpPr>
          <p:nvPr/>
        </p:nvSpPr>
        <p:spPr>
          <a:xfrm>
            <a:off x="1481328" y="4507992"/>
            <a:ext cx="9326880" cy="822960"/>
          </a:xfrm>
          <a:prstGeom prst="rect">
            <a:avLst/>
          </a:prstGeom>
          <a:noFill/>
          <a:ln w="0">
            <a:noFill/>
            <a:prstDash val="solid"/>
          </a:ln>
        </p:spPr>
        <p:txBody>
          <a:bodyPr wrap="square" lIns="0" tIns="0" rIns="0" bIns="0" anchor="t"/>
          <a:lstStyle/>
          <a:p>
            <a:pPr algn="l">
              <a:buNone/>
              <a:defRPr sz="2025"/>
            </a:pPr>
            <a:r>
              <a:rPr lang="en-US" sz="2025">
                <a:solidFill>
                  <a:srgbClr val="FFFFFF"/>
                </a:solidFill>
              </a:rPr>
              <a:t>The loop only closes when the action is recorded — and nothing improves until it does.</a:t>
            </a:r>
          </a:p>
        </p:txBody>
      </p:sp>
      <p:sp>
        <p:nvSpPr>
          <p:cNvPr id="1575" name="s1575"/>
          <p:cNvSpPr>
            <a:spLocks noGrp="1"/>
          </p:cNvSpPr>
          <p:nvPr/>
        </p:nvSpPr>
        <p:spPr>
          <a:xfrm>
            <a:off x="685800" y="6483096"/>
            <a:ext cx="6665976" cy="173736"/>
          </a:xfrm>
          <a:prstGeom prst="rect">
            <a:avLst/>
          </a:prstGeom>
          <a:noFill/>
          <a:ln w="0">
            <a:noFill/>
            <a:prstDash val="solid"/>
          </a:ln>
        </p:spPr>
        <p:txBody>
          <a:bodyPr wrap="square" lIns="0" tIns="0" rIns="0" bIns="0" anchor="t"/>
          <a:lstStyle/>
          <a:p>
            <a:pPr algn="l">
              <a:buNone/>
              <a:defRPr sz="825"/>
            </a:pPr>
            <a:r>
              <a:rPr lang="en-US" sz="825">
                <a:solidFill>
                  <a:srgbClr val="BFD1CA"/>
                </a:solidFill>
              </a:rPr>
              <a:t>smaXtec × CowTalk | Universal training material</a:t>
            </a:r>
          </a:p>
        </p:txBody>
      </p:sp>
      <p:sp>
        <p:nvSpPr>
          <p:cNvPr id="1576" name="s1576"/>
          <p:cNvSpPr>
            <a:spLocks noGrp="1"/>
          </p:cNvSpPr>
          <p:nvPr/>
        </p:nvSpPr>
        <p:spPr>
          <a:xfrm>
            <a:off x="11237976" y="6483096"/>
            <a:ext cx="265176" cy="173736"/>
          </a:xfrm>
          <a:prstGeom prst="rect">
            <a:avLst/>
          </a:prstGeom>
          <a:noFill/>
          <a:ln w="0">
            <a:noFill/>
            <a:prstDash val="solid"/>
          </a:ln>
        </p:spPr>
        <p:txBody>
          <a:bodyPr wrap="square" lIns="0" tIns="0" rIns="0" bIns="0" anchor="t"/>
          <a:lstStyle/>
          <a:p>
            <a:pPr algn="r">
              <a:buNone/>
              <a:defRPr sz="825"/>
            </a:pPr>
            <a:r>
              <a:rPr lang="en-US" sz="825" b="1">
                <a:solidFill>
                  <a:srgbClr val="FFFFFF"/>
                </a:solidFill>
              </a:rPr>
              <a:t>63</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3701</Words>
  <Application>Microsoft Macintosh PowerPoint</Application>
  <DocSecurity>0</DocSecurity>
  <PresentationFormat>와이드스크린</PresentationFormat>
  <Paragraphs>555</Paragraphs>
  <Slides>35</Slides>
  <Notes>35</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35</vt:i4>
      </vt:variant>
    </vt:vector>
  </HeadingPairs>
  <TitlesOfParts>
    <vt:vector size="37" baseType="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현제 하</cp:lastModifiedBy>
  <cp:revision>1</cp:revision>
  <dcterms:created xsi:type="dcterms:W3CDTF">2026-08-20T00:07:23Z</dcterms:created>
  <dcterms:modified xsi:type="dcterms:W3CDTF">2026-08-20T01:30:15Z</dcterms:modified>
</cp:coreProperties>
</file>