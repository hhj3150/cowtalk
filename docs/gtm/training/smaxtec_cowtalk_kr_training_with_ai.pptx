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Lst>
  <p:sldSz cx="12192000" cy="6858000"/>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06" d="100"/>
          <a:sy n="106" d="100"/>
        </p:scale>
        <p:origin x="1336" y="4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Core temperature</c:v>
          </c:tx>
          <c:marker>
            <c:symbol val="none"/>
          </c:marker>
          <c:cat>
            <c:strLit>
              <c:ptCount val="6"/>
              <c:pt idx="0">
                <c:v>D-3</c:v>
              </c:pt>
              <c:pt idx="1">
                <c:v>D-2</c:v>
              </c:pt>
              <c:pt idx="2">
                <c:v>D-1</c:v>
              </c:pt>
              <c:pt idx="3">
                <c:v>Today</c:v>
              </c:pt>
              <c:pt idx="4">
                <c:v>D+1</c:v>
              </c:pt>
              <c:pt idx="5">
                <c:v>D+2</c:v>
              </c:pt>
            </c:strLit>
          </c:cat>
          <c:val>
            <c:numLit>
              <c:formatCode>General</c:formatCode>
              <c:ptCount val="6"/>
              <c:pt idx="0">
                <c:v>38.5</c:v>
              </c:pt>
              <c:pt idx="1">
                <c:v>38.6</c:v>
              </c:pt>
              <c:pt idx="2">
                <c:v>38.700000000000003</c:v>
              </c:pt>
              <c:pt idx="3">
                <c:v>39.4</c:v>
              </c:pt>
              <c:pt idx="4">
                <c:v>39</c:v>
              </c:pt>
              <c:pt idx="5">
                <c:v>38.700000000000003</c:v>
              </c:pt>
            </c:numLit>
          </c:val>
          <c:smooth val="1"/>
          <c:extLst>
            <c:ext xmlns:c16="http://schemas.microsoft.com/office/drawing/2014/chart" uri="{C3380CC4-5D6E-409C-BE32-E72D297353CC}">
              <c16:uniqueId val="{00000000-5EEC-4D4E-A33D-AB923AE1226B}"/>
            </c:ext>
          </c:extLst>
        </c:ser>
        <c:ser>
          <c:idx val="1"/>
          <c:order val="1"/>
          <c:tx>
            <c:v>Rumination (index)</c:v>
          </c:tx>
          <c:marker>
            <c:symbol val="none"/>
          </c:marker>
          <c:cat>
            <c:strLit>
              <c:ptCount val="6"/>
              <c:pt idx="0">
                <c:v>D-3</c:v>
              </c:pt>
              <c:pt idx="1">
                <c:v>D-2</c:v>
              </c:pt>
              <c:pt idx="2">
                <c:v>D-1</c:v>
              </c:pt>
              <c:pt idx="3">
                <c:v>Today</c:v>
              </c:pt>
              <c:pt idx="4">
                <c:v>D+1</c:v>
              </c:pt>
              <c:pt idx="5">
                <c:v>D+2</c:v>
              </c:pt>
            </c:strLit>
          </c:cat>
          <c:val>
            <c:numLit>
              <c:formatCode>General</c:formatCode>
              <c:ptCount val="6"/>
              <c:pt idx="0">
                <c:v>80</c:v>
              </c:pt>
              <c:pt idx="1">
                <c:v>78</c:v>
              </c:pt>
              <c:pt idx="2">
                <c:v>70</c:v>
              </c:pt>
              <c:pt idx="3">
                <c:v>52</c:v>
              </c:pt>
              <c:pt idx="4">
                <c:v>60</c:v>
              </c:pt>
              <c:pt idx="5">
                <c:v>74</c:v>
              </c:pt>
            </c:numLit>
          </c:val>
          <c:smooth val="1"/>
          <c:extLst>
            <c:ext xmlns:c16="http://schemas.microsoft.com/office/drawing/2014/chart" uri="{C3380CC4-5D6E-409C-BE32-E72D297353CC}">
              <c16:uniqueId val="{00000001-5EEC-4D4E-A33D-AB923AE1226B}"/>
            </c:ext>
          </c:extLst>
        </c:ser>
        <c:ser>
          <c:idx val="2"/>
          <c:order val="2"/>
          <c:tx>
            <c:v>Activity (index)</c:v>
          </c:tx>
          <c:marker>
            <c:symbol val="none"/>
          </c:marker>
          <c:cat>
            <c:strLit>
              <c:ptCount val="6"/>
              <c:pt idx="0">
                <c:v>D-3</c:v>
              </c:pt>
              <c:pt idx="1">
                <c:v>D-2</c:v>
              </c:pt>
              <c:pt idx="2">
                <c:v>D-1</c:v>
              </c:pt>
              <c:pt idx="3">
                <c:v>Today</c:v>
              </c:pt>
              <c:pt idx="4">
                <c:v>D+1</c:v>
              </c:pt>
              <c:pt idx="5">
                <c:v>D+2</c:v>
              </c:pt>
            </c:strLit>
          </c:cat>
          <c:val>
            <c:numLit>
              <c:formatCode>General</c:formatCode>
              <c:ptCount val="6"/>
              <c:pt idx="0">
                <c:v>62</c:v>
              </c:pt>
              <c:pt idx="1">
                <c:v>64</c:v>
              </c:pt>
              <c:pt idx="2">
                <c:v>58</c:v>
              </c:pt>
              <c:pt idx="3">
                <c:v>48</c:v>
              </c:pt>
              <c:pt idx="4">
                <c:v>52</c:v>
              </c:pt>
              <c:pt idx="5">
                <c:v>60</c:v>
              </c:pt>
            </c:numLit>
          </c:val>
          <c:smooth val="1"/>
          <c:extLst>
            <c:ext xmlns:c16="http://schemas.microsoft.com/office/drawing/2014/chart" uri="{C3380CC4-5D6E-409C-BE32-E72D297353CC}">
              <c16:uniqueId val="{00000002-5EEC-4D4E-A33D-AB923AE1226B}"/>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DE4E0"/>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50112"/>
        <c:crosses val="autoZero"/>
        <c:crossBetween val="between"/>
      </c:valAx>
    </c:plotArea>
    <c:legend>
      <c:legendPos val="b"/>
      <c:overlay val="0"/>
    </c:legend>
    <c:plotVisOnly val="1"/>
    <c:dispBlanksAs val="zero"/>
    <c:showDLblsOverMax val="1"/>
  </c:char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ko-KR"/>
  <c:roundedCorners val="1"/>
  <c:style val="2"/>
  <c:chart>
    <c:autoTitleDeleted val="1"/>
    <c:plotArea>
      <c:layout/>
      <c:lineChart>
        <c:grouping val="standard"/>
        <c:varyColors val="0"/>
        <c:ser>
          <c:idx val="0"/>
          <c:order val="0"/>
          <c:tx>
            <c:v>Stable day</c:v>
          </c:tx>
          <c:marker>
            <c:symbol val="none"/>
          </c:marker>
          <c:cat>
            <c:numLit>
              <c:formatCode>General</c:formatCode>
              <c:ptCount val="7"/>
              <c:pt idx="0">
                <c:v>0</c:v>
              </c:pt>
              <c:pt idx="1">
                <c:v>4</c:v>
              </c:pt>
              <c:pt idx="2">
                <c:v>8</c:v>
              </c:pt>
              <c:pt idx="3">
                <c:v>12</c:v>
              </c:pt>
              <c:pt idx="4">
                <c:v>16</c:v>
              </c:pt>
              <c:pt idx="5">
                <c:v>20</c:v>
              </c:pt>
              <c:pt idx="6">
                <c:v>24</c:v>
              </c:pt>
            </c:numLit>
          </c:cat>
          <c:val>
            <c:numLit>
              <c:formatCode>General</c:formatCode>
              <c:ptCount val="7"/>
              <c:pt idx="0">
                <c:v>6.25</c:v>
              </c:pt>
              <c:pt idx="1">
                <c:v>6.18</c:v>
              </c:pt>
              <c:pt idx="2">
                <c:v>6.08</c:v>
              </c:pt>
              <c:pt idx="3">
                <c:v>5.98</c:v>
              </c:pt>
              <c:pt idx="4">
                <c:v>6.12</c:v>
              </c:pt>
              <c:pt idx="5">
                <c:v>6.22</c:v>
              </c:pt>
              <c:pt idx="6">
                <c:v>6.28</c:v>
              </c:pt>
            </c:numLit>
          </c:val>
          <c:smooth val="1"/>
          <c:extLst>
            <c:ext xmlns:c16="http://schemas.microsoft.com/office/drawing/2014/chart" uri="{C3380CC4-5D6E-409C-BE32-E72D297353CC}">
              <c16:uniqueId val="{00000000-4206-FB41-80C2-8997B0D01941}"/>
            </c:ext>
          </c:extLst>
        </c:ser>
        <c:ser>
          <c:idx val="1"/>
          <c:order val="1"/>
          <c:tx>
            <c:v>Check required</c:v>
          </c:tx>
          <c:marker>
            <c:symbol val="none"/>
          </c:marker>
          <c:cat>
            <c:numLit>
              <c:formatCode>General</c:formatCode>
              <c:ptCount val="7"/>
              <c:pt idx="0">
                <c:v>0</c:v>
              </c:pt>
              <c:pt idx="1">
                <c:v>4</c:v>
              </c:pt>
              <c:pt idx="2">
                <c:v>8</c:v>
              </c:pt>
              <c:pt idx="3">
                <c:v>12</c:v>
              </c:pt>
              <c:pt idx="4">
                <c:v>16</c:v>
              </c:pt>
              <c:pt idx="5">
                <c:v>20</c:v>
              </c:pt>
              <c:pt idx="6">
                <c:v>24</c:v>
              </c:pt>
            </c:numLit>
          </c:cat>
          <c:val>
            <c:numLit>
              <c:formatCode>General</c:formatCode>
              <c:ptCount val="7"/>
              <c:pt idx="0">
                <c:v>6.2</c:v>
              </c:pt>
              <c:pt idx="1">
                <c:v>6.05</c:v>
              </c:pt>
              <c:pt idx="2">
                <c:v>5.72</c:v>
              </c:pt>
              <c:pt idx="3">
                <c:v>5.58</c:v>
              </c:pt>
              <c:pt idx="4">
                <c:v>5.82</c:v>
              </c:pt>
              <c:pt idx="5">
                <c:v>6</c:v>
              </c:pt>
              <c:pt idx="6">
                <c:v>6.16</c:v>
              </c:pt>
            </c:numLit>
          </c:val>
          <c:smooth val="1"/>
          <c:extLst>
            <c:ext xmlns:c16="http://schemas.microsoft.com/office/drawing/2014/chart" uri="{C3380CC4-5D6E-409C-BE32-E72D297353CC}">
              <c16:uniqueId val="{00000001-4206-FB41-80C2-8997B0D01941}"/>
            </c:ext>
          </c:extLst>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72768"/>
        <c:crosses val="autoZero"/>
        <c:auto val="1"/>
        <c:lblAlgn val="ctr"/>
        <c:lblOffset val="100"/>
        <c:noMultiLvlLbl val="1"/>
      </c:catAx>
      <c:valAx>
        <c:axId val="48672768"/>
        <c:scaling>
          <c:orientation val="minMax"/>
        </c:scaling>
        <c:delete val="0"/>
        <c:axPos val="l"/>
        <c:majorGridlines>
          <c:spPr>
            <a:ln w="9525">
              <a:solidFill>
                <a:srgbClr val="DDE4E0"/>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defRPr>
            </a:pPr>
            <a:endParaRPr lang="ko-KR"/>
          </a:p>
        </c:txPr>
        <c:crossAx val="48650112"/>
        <c:crosses val="autoZero"/>
        <c:crossBetween val="between"/>
      </c:valAx>
    </c:plotArea>
    <c:legend>
      <c:legendPos val="b"/>
      <c:overlay val="0"/>
    </c:legend>
    <c:plotVisOnly val="1"/>
    <c:dispBlanksAs val="zero"/>
    <c:showDLblsOverMax val="1"/>
  </c:chart>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This course turns sensor data into routine management decisions. Ask how health, breeding and feeding decisions are made today. The system supports early checks and prioritization; it does not replace veterinary diagnosis.</a:t>
            </a:r>
          </a:p>
          <a:p>
            <a:endParaRPr/>
          </a:p>
          <a:p>
            <a:r>
              <a:t>[Sources]</a:t>
            </a:r>
          </a:p>
          <a:p>
            <a:r>
              <a:t>- Cover image: OpenAI image generation, 2026-08-20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Emphasize that the course is about taking the right action at the right time, not simply viewing more graphs. At the end of each section, ask participants to write one SOP step they can apply.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 Health–Reproduction–Feeding as one connected management system. A rumination decline may be both a health and feeding signal; context determines the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Explain that the reticulum is the second stomach compartment. The next slide compares the practical difference between internal and external measurement.</a:t>
            </a:r>
          </a:p>
          <a:p>
            <a:endParaRPr/>
          </a:p>
          <a:p>
            <a:r>
              <a:t>[Sources]</a:t>
            </a:r>
          </a:p>
          <a:p>
            <a:r>
              <a:t>- https://smaxtec.com/en/smaxtec-system-in-detail/1000/</a:t>
            </a:r>
          </a:p>
          <a:p>
            <a:r>
              <a:t>
[Sources]
- Product image: https://www.smaxtec.com/wp-content/uploads/2024/07/20240708_devices_pH.svg
- https://www.smaxtec.com/en/technical-components/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point is not that all external sensors are poor. The internal position continuously measures unique information such as core temperature, drinking and rumen pH. Official materials describe a maintenance-free bolus after administration.</a:t>
            </a:r>
          </a:p>
          <a:p>
            <a:endParaRPr/>
          </a:p>
          <a:p>
            <a:r>
              <a:t>[Sources]</a:t>
            </a:r>
          </a:p>
          <a:p>
            <a:r>
              <a:t>- https://smaxtec.com/en/smaxtec-system-in-detail/1000/</a:t>
            </a:r>
          </a:p>
          <a:p>
            <a:r>
              <a:t>- https://smaxtec.com/en/technical-components/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base station transfers data automatically, and a climate sensor can add ambient temperature, humidity and pressure. TruD® Cloud performs analysis, while field professionals make the final check and treatment decision.</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Stress three rules: trend over a single value, combined signals over one signal, and checking over guessing. pH is used in selected representative cows fitted with a pH bolus.</a:t>
            </a:r>
          </a:p>
          <a:p>
            <a:endParaRPr/>
          </a:p>
          <a:p>
            <a:r>
              <a:t>[Sources]</a:t>
            </a:r>
          </a:p>
          <a:p>
            <a:r>
              <a:t>- https://smaxtec.com/en/technical-components/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cow’s baseline and the duration of change matter more than one absolute temperature. Check appearance, rectal temperature, udder, discharge, manure, intake and days post-calving. ±0.01°C is relative device accuracy, not diagnostic accuracy.</a:t>
            </a:r>
          </a:p>
          <a:p>
            <a:endParaRPr/>
          </a:p>
          <a:p>
            <a:r>
              <a:t>[Sources]</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stop at ‘she drank less.’ If several cows change together, inspect the water line, pressure, cleanliness, heat stress and group movement.</a:t>
            </a:r>
          </a:p>
          <a:p>
            <a:endParaRPr/>
          </a:p>
          <a:p>
            <a:r>
              <a:t>[Sources]</a:t>
            </a:r>
          </a:p>
          <a:p>
            <a:r>
              <a:t>- https://smaxtec.com/en/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Rumination alone cannot identify a disease. A simultaneous temperature change raises the priority of a health check. A turning point in the group average should trigger review of ration, mixing, delivery and sorting.</a:t>
            </a:r>
          </a:p>
          <a:p>
            <a:endParaRPr/>
          </a:p>
          <a:p>
            <a:r>
              <a:t>[Sources]</a:t>
            </a:r>
          </a:p>
          <a:p>
            <a:r>
              <a:t>- https://smaxtec.com/en/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Activity is central to heat detection but is not sufficient alone. Check reproductive status and insemination history; with declining activity, also check health and gait.</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Official specifications state a 150-day pH measurement period, with relative accuracy of ±0.2 for days 1–90 and ±0.4 for days 90–150. Review the daily profile and time spent low, not one point.</a:t>
            </a:r>
          </a:p>
          <a:p>
            <a:endParaRPr/>
          </a:p>
          <a:p>
            <a:r>
              <a:t>[Sources]</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next graph is a training example that teaches a reading method; it is not a reproduction of the official app interface.</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Find the normal range, then locate the turning point. In this example, rising temperature with falling rumination and activity increases health-check priority. Values are synthetic training data, not clinical thresholds.</a:t>
            </a:r>
          </a:p>
          <a:p>
            <a:endParaRPr/>
          </a:p>
          <a:p>
            <a:r>
              <a:t>[Sources]</a:t>
            </a:r>
          </a:p>
          <a:p>
            <a:r>
              <a:t>- Training example data, author-created.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Individual view is strong for clinical follow-up; group view is strong for feeding, environment and operating issues. Distinguish a one-cow problem from a group problem.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farm should define critical alert types, target response times and owners in advance. Marking an alert as viewed is not closure; record the outcome and schedule a recheck.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Manufacturer materials present case-based figures of up to five days earlier disease detection and up to 70% lower antibiotic use. These are not guarantees and vary by disease, farm and SOP.</a:t>
            </a:r>
          </a:p>
          <a:p>
            <a:endParaRPr/>
          </a:p>
          <a:p>
            <a:r>
              <a:t>[Sources]</a:t>
            </a:r>
          </a:p>
          <a:p>
            <a:r>
              <a:t>- https://smaxtec.com/en/</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Physiological changes may precede visible signs in conditions such as mastitis, metritis, pneumonia, ketosis or milk fever. Even if the system suggests a condition, veterinary confirmation is required.</a:t>
            </a:r>
          </a:p>
          <a:p>
            <a:endParaRPr/>
          </a:p>
          <a:p>
            <a:r>
              <a:t>[Sources]</a:t>
            </a:r>
          </a:p>
          <a:p>
            <a:r>
              <a:t>- https://smaxtec.com/en/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times shown are training examples. Adapt them to farm risk and veterinary protocols. Record quality matters for performance analysis and customer-support troubleshooting.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Interpret reproduction signals within the voluntary waiting period and the farm’s breeding strategy.</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official system supports recommended insemination timing, including timing for sexed semen. Farm breeding protocols and veterinary judgment take priority.</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About 15 hours is an average, not a guarantee. Monitoring rumination, drinking and temperature recovery after calving can support earlier checks for retained placenta, metritis and metabolic problems.</a:t>
            </a:r>
          </a:p>
          <a:p>
            <a:endParaRPr/>
          </a:p>
          <a:p>
            <a:r>
              <a:t>[Sources]</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Abortion detection is included in official product descriptions. Treat it as a high-priority check, follow biosafety procedures and comply with local veterinary requirements.</a:t>
            </a:r>
          </a:p>
          <a:p>
            <a:endParaRPr/>
          </a:p>
          <a:p>
            <a:r>
              <a:t>[Sources]</a:t>
            </a:r>
          </a:p>
          <a:p>
            <a:r>
              <a:t>- https://smaxtec.com/us/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most useful unit of feeding analysis is often the ration group and the period before and after a change—not the individual cow.</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Group names and DIM ranges are training examples. Adapt them to farm rations and operating rules, and always record movement and ration-change dates.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Sensors show the cow’s response, but identifying the cause also requires checking ingredient input and feed delivery.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graph is educational and does not define a universal clinical threshold. Review DM, NDF, sorting and mixing quality with the nutritionist.</a:t>
            </a:r>
          </a:p>
          <a:p>
            <a:endParaRPr/>
          </a:p>
          <a:p>
            <a:r>
              <a:t>[Sources]</a:t>
            </a:r>
          </a:p>
          <a:p>
            <a:r>
              <a:t>- Training example data, author-created.</a:t>
            </a:r>
          </a:p>
          <a:p>
            <a:r>
              <a:t>- https://smaxtec.com/en/smaxtec-system-in-detail/1000/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Assistant and worklists do not replace people; they create priorities and consistency.</a:t>
            </a:r>
          </a:p>
          <a:p>
            <a:r>
              <a:t>
[Sources]
- Section image: OpenAI image generation, 2026-08-20 (generic training context; no product UI reproduced).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official app description includes worklists, animal lists, observation lists, offline event entry and bulk actions. Define an official closure point so alerts do not disappear in personal messages.</a:t>
            </a:r>
          </a:p>
          <a:p>
            <a:endParaRPr/>
          </a:p>
          <a:p>
            <a:r>
              <a:t>[Sources]</a:t>
            </a:r>
          </a:p>
          <a:p>
            <a:r>
              <a:t>- https://play.google.com/store/apps/details?id=com.smaxtec.cow</a:t>
            </a:r>
          </a:p>
          <a:p>
            <a:r>
              <a:t>- https://smaxtec.com/us/software/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Adapt the operating rhythm to the farm’s shifts. What matters is opening and closing the list at defined times every day.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Include leading indicators such as response time, completion rate and data quality—not only production outcomes. Distinguish manufacturer figures from the farm’s own baseline.</a:t>
            </a:r>
          </a:p>
          <a:p>
            <a:r>
              <a:t>
[Sources]
- Stygar AH et al. (2021), Frontiers in Veterinary Science 8:634338. https://doi.org/10.3389/fvets.2021.634338
- Adams AE et al. (2013), Journal of Dairy Science 96(3):1549–1555. https://pubmed.ncbi.nlm.nih.gov/23332847/
- Liu N et al. (2023), Agriculture. https://agris.fao.org/search/en/providers/122436/records/67598043c7a957febdf958cc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support, provide the time of the issue, cow or group ID, equipment status, screenshots, graph range and checks already completed.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Do not try to perfect every feature at once. Establish roles and task closure first. After 30 days, audit one workflow each for health, reproduction and feeding.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Repeat the three habits together: see the trend, add context and close the task. Finish by asking which worklist and SOP participants will check first tomorrow.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Return to official sources for complex questions. Local veterinary law, medicine-use rules and biosafety requirements always take priority.</a:t>
            </a:r>
          </a:p>
          <a:p>
            <a:endParaRPr/>
          </a:p>
          <a:p>
            <a:r>
              <a:t>[Sources]</a:t>
            </a:r>
          </a:p>
          <a:p>
            <a:r>
              <a:t>- https://smaxtec.com/en/</a:t>
            </a:r>
          </a:p>
          <a:p>
            <a:r>
              <a:t>- https://smaxtec.com/en/smaxtec-system-in-detail/1000/</a:t>
            </a:r>
          </a:p>
          <a:p>
            <a:r>
              <a:t>- https://smaxtec.com/en/technical-components/</a:t>
            </a:r>
          </a:p>
          <a:p>
            <a:r>
              <a:t>- https://smaxtec.com/us/software/</a:t>
            </a:r>
          </a:p>
          <a:p>
            <a:r>
              <a:t>
[Sources]
- https://www.smaxtec.com/en/smaxtec-system-in-detail/1000/
- https://www.smaxtec.com/en/technical-components/
- https://www.smaxtec.com/us/software/
- https://www.smaxtec.com/en/profit-in-dairy-farming-why-smaxtec-truly-pays-off/
- https://www.smaxtec.com/en/success-stories/testimonial-bill-jewell-2/
- https://doi.org/10.3389/fvets.2021.634338
- https://pubmed.ncbi.nlm.nih.gov/23332847/
- https://agris.fao.org/search/en/providers/122436/records/67598043c7a957febdf958cc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이 장이 교육 전체의 경첩이다. 앞의 35장은 센서를 다뤘고, 여기서부터는 센서 이벤트를 결정·행동·기록으로 바꾸는 층을 다룬다. CowTalk을 "더 좋은 센서"로 소개하지 말 것 — 층이 다르다.</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경계를 소리 내어 말한다. 제조사가 검증한 이벤트는 신뢰한다. 그걸 다시 채점하면 정확도만 떨어진다. 우리 일은 이벤트 이후부터다.</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아래에서 위로 읽는다. 데이터가 들어오는 곳은 1층뿐이고, 2층은 그것을 우회하지 못한다. 어시스턴트가 기억만으로 답할 수 없고 반드시 데이터를 조회해야 한다는 제약이 감사 가능성을 만든다.</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대부분의 나라에서 이 네 번호는 서로 만나지 않는 네 시스템에 흩어져 있다. "지금 개체 한 마리의 치료 이력을 확인하는 데 얼마나 걸립니까"를 청중에게 물어보라. 그 대답이 이 장의 가치다.</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이 장에 시간을 준다. 어느 자리에나 AI를 위험 요소로 미리 규정한 사람이 있다. 오른쪽 칸이 그 사람을 위한 것이다. 최종 판단은 사람의 몫이며, 구조적으로 우회할 수 없게 만들었다고 분명히 말한다.</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통신이 되면 실연을 권한다. 안 되면 부록의 화면 캡처를 쓴다. 남겨야 할 인상은 "일반 지식이 아니라 이 목장의 데이터로 답한다"는 것이다.</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어시스턴트는 없는 기능을 지어내지 못한다. 필요한 도구가 없으면 없다고 답한다. 접근 권한은 역할마다 다르다 — 농가와 방역관의 도구 목록은 같지 않다. 로그가 세션 단위가 아니라 호출 단위라는 점을 언급한다. 감사에서 묻는 수준이 그 정도다.</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4단계가 전문가 사용자에게 결정적이다. 수의사는 출처가 불분명한 숫자로 움직이지 않는다. 측정값이 아니라 추정값일 때 답변이 그렇다고 밝힌다는 점을 짚는다.</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"감춘다"와 "거부한다"의 차이는 조달 심사에서 중요하다. 감추는 것은 화면의 선택이고, 거부하는 것은 구조의 보장이다. 어시스턴트의 장기기억에도 같은 규칙이 적용된다 — 계정 권한 안의 것만 회상한다.</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수의사가 있는 자리라면 이 섹션이 신뢰를 좌우한다. 한계부터 말하고 근거 표를 보여준다. "AI가 진단합니다"라는 말은 절대 하지 않는다.</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고친 결함을 밝힌다 — 초기 버전은 근거가 약한 단일 후보가 확신에 가깝게 표시됐다. 불확실성 prior 보정으로 제거했다. 고친 결함을 말하는 쪽이 어떤 정확도 주장보다 임상 신뢰를 얻는다.</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정부 청중에게는 휴약 카드가 이 섹션에서 가장 센 장이다. 잔류 관리가 지금은 종이와 기억으로 돌아간다. 여기서는 시스템의 속성이 되고, 수출 시장이 요구하는 증빙을 만들어 낸다.</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4단계는 일부러 보수적으로 만들었다. 모델이 자기 지침을 고쳐 쓰지 않는다. 레이블 통계에서 결정적 규칙으로 가이던스를 만들기 때문에 모든 변경이 검토 가능하다. "AI가 제멋대로 바뀌는 것을 어떻게 막느냐"에 대한 답이 이것이다.</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목장이 돈을 가장 빨리 체감하는 지점이다. 공태일은 낙농에서 가장 비싼 숫자이고, 센서와 결정 레이어가 가장 먼저 움직이는 숫자이기도 하다.</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목장마다 번식 설정이 다르다 — 발정재귀일, 임신감정 시기, 임신기간, 건유 시점. 여기에 일반값을 쓰는 것이 자문 도구가 신뢰를 잃는 가장 흔한 방식이다. 콜아웃은 조달 답변이다. 공급사 편향 질문이 나오면 그대로 읽는다.</a:t>
            </a: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경고할 실패 유형: 수정은 기록하는데 임신감정 결과는 안 넣는 목장. 결과가 없으면 학습이 안 되고 추천 품질이 정체된다. 결과 기록을 1주차부터 일과에 넣는다.</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여기서 프레임을 바꾼다. 지금까지는 한 농장 이야기였다. 여기서부터는 지역과 국가를 생각하게 만든다.</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네 개의 화면이 아니라 하나의 연속 동작으로 시연한다. 남겨야 할 인상은 "전국 숫자와 개별 개체가 같은 데이터"라는 것이지, 대조해야 할 두 개의 보고서가 아니라는 것이다.</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모형이 무엇인지 정확히 말한다. 해당 질병의 공표된 역학 계수를 쓴 것이지 발생 여부를 예측하는 것이 아니다. 여기를 과장하면 방역 당국 앞에서 신뢰를 잃는다.</a:t>
            </a: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대체하지 않는다는 문장을 일찍, 분명히 말한다. 공식 신고 체계와 경쟁하는 것으로 읽히면 방역 당국과의 대화는 그 자리에서 끝난다. 우리는 그 체계의 입력이다.</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제목의 두 부분이 똑같이 중요하다. 배우지만 감사할 수 없는 시스템은 규제 산업에 들어갈 수 없다.</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10건 기준선을 명시적으로 말할 가치가 있다. 배우는 시스템과 잡음에 과잉반응하는 시스템의 차이가 여기 있다. 감사기관과 연구자 모두 이 임계값을 묻는다.</a:t>
            </a: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해외 청중에게는 이 장이 계약을 좌우한다. 주권 질문은 상대가 꺼내기 전에 먼저 말한다 — 요청받고 답하면 방어로 읽히고, 먼저 말하면 설계로 읽힌다. 국가마다 자기 인스턴스를 돌리고, 승인된 익명 집계만 경계를 넘는다.</a:t>
            </a: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마지막 섹션은 기술이 아니라 습관에 관한 것이다. 실패한 도입의 대부분은 소프트웨어는 잘 돌았고 일과가 없었다.</a:t>
            </a: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농가에는 이 세 가지만 가르친다. 1주차에 기능을 하나 더 가르칠 때마다 정착률이 떨어진다. 3단계가 사람들이 건너뛰는 단계이고, 제품이 좋아지는지를 결정하는 단계다.</a:t>
            </a: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이 지표들은 파일럿이 끝난 뒤가 아니라 시작 전에 합의한다. 기준선 없는 파일럿은 아무리 잘 됐어도 90일 뒤에 아무것도 증명하지 못한다.</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2주차를 건너뛰자는 요구에 단호하게 맞선다. 모든 목장이 알람을 바로 쓰고 싶어 한다. 기준선 측정 1주가 90일 리뷰를 의견이 아니라 결과로 만든다.</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ko-KR" altLang="en-US">
                <a:ea typeface="맑은 고딕"/>
              </a:rPr>
              <a:t>세 번째 문장에서 끝내고 말을 멈춘다. 요약의 요약을 덧붙이지 않는다. 시간이 남으면 "셋 중 우리 목장에서 가장 어려운 게 뭡니까"를 묻는다. 답은 언제나 세 번째다.</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chart" Target="../charts/char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그림 9"/>
          <p:cNvPicPr>
            <a:picLocks noChangeAspect="1"/>
          </p:cNvPicPr>
          <p:nvPr/>
        </p:nvPicPr>
        <p:blipFill>
          <a:blip r:embed="rId3"/>
          <a:srcRect t="27" b="27"/>
          <a:stretch>
            <a:fillRect/>
          </a:stretch>
        </p:blipFill>
        <p:spPr>
          <a:xfrm>
            <a:off x="0" y="0"/>
            <a:ext cx="12192000" cy="6858000"/>
          </a:xfrm>
          <a:prstGeom prst="rect">
            <a:avLst/>
          </a:prstGeom>
        </p:spPr>
      </p:pic>
      <p:sp>
        <p:nvSpPr>
          <p:cNvPr id="2" name="직사각형 1">
            <a:extLst>
              <a:ext uri="{FF2B5EF4-FFF2-40B4-BE49-F238E27FC236}">
                <a16:creationId xmlns:a16="http://schemas.microsoft.com/office/drawing/2014/main" id="{4E79198B-E372-406E-880B-3778B3F233F4}"/>
              </a:ext>
            </a:extLst>
          </p:cNvPr>
          <p:cNvSpPr>
            <a:spLocks noGrp="1"/>
          </p:cNvSpPr>
          <p:nvPr/>
        </p:nvSpPr>
        <p:spPr>
          <a:xfrm>
            <a:off x="0" y="0"/>
            <a:ext cx="6667500" cy="6858000"/>
          </a:xfrm>
          <a:prstGeom prst="rect">
            <a:avLst/>
          </a:prstGeom>
          <a:gradFill>
            <a:gsLst>
              <a:gs pos="0">
                <a:srgbClr val="0A1B17"/>
              </a:gs>
              <a:gs pos="100000">
                <a:srgbClr val="0A1B17"/>
              </a:gs>
            </a:gsLst>
            <a:lin/>
          </a:gradFill>
          <a:ln w="0">
            <a:noFill/>
            <a:prstDash val="solid"/>
          </a:ln>
        </p:spPr>
        <p:txBody>
          <a:bodyPr/>
          <a:lstStyle/>
          <a:p>
            <a:endParaRPr lang="ko-KR" altLang="en-US"/>
          </a:p>
        </p:txBody>
      </p:sp>
      <p:sp>
        <p:nvSpPr>
          <p:cNvPr id="3" name="모서리가 둥근 직사각형 2">
            <a:extLst>
              <a:ext uri="{FF2B5EF4-FFF2-40B4-BE49-F238E27FC236}">
                <a16:creationId xmlns:a16="http://schemas.microsoft.com/office/drawing/2014/main" id="{AA0CB6E1-4A6B-47DD-8DE4-E1B50BDCF44B}"/>
              </a:ext>
            </a:extLst>
          </p:cNvPr>
          <p:cNvSpPr>
            <a:spLocks noGrp="1"/>
          </p:cNvSpPr>
          <p:nvPr/>
        </p:nvSpPr>
        <p:spPr>
          <a:xfrm>
            <a:off x="685800" y="628650"/>
            <a:ext cx="2000250" cy="323850"/>
          </a:xfrm>
          <a:prstGeom prst="roundRect">
            <a:avLst>
              <a:gd name="adj" fmla="val 50000"/>
            </a:avLst>
          </a:prstGeom>
          <a:solidFill>
            <a:srgbClr val="65D44A"/>
          </a:solidFill>
          <a:ln w="0">
            <a:noFill/>
            <a:prstDash val="solid"/>
          </a:ln>
        </p:spPr>
        <p:txBody>
          <a:bodyPr/>
          <a:lstStyle/>
          <a:p>
            <a:endParaRPr lang="ko-KR" altLang="en-US"/>
          </a:p>
        </p:txBody>
      </p:sp>
      <p:sp>
        <p:nvSpPr>
          <p:cNvPr id="4" name="직사각형 3">
            <a:extLst>
              <a:ext uri="{FF2B5EF4-FFF2-40B4-BE49-F238E27FC236}">
                <a16:creationId xmlns:a16="http://schemas.microsoft.com/office/drawing/2014/main" id="{875FD4E5-8847-4C30-BFD6-E7E769BD417F}"/>
              </a:ext>
            </a:extLst>
          </p:cNvPr>
          <p:cNvSpPr>
            <a:spLocks noGrp="1"/>
          </p:cNvSpPr>
          <p:nvPr/>
        </p:nvSpPr>
        <p:spPr>
          <a:xfrm>
            <a:off x="781050" y="685800"/>
            <a:ext cx="1809750" cy="190500"/>
          </a:xfrm>
          <a:prstGeom prst="rect">
            <a:avLst/>
          </a:prstGeom>
          <a:noFill/>
          <a:ln w="0">
            <a:noFill/>
            <a:prstDash val="solid"/>
          </a:ln>
        </p:spPr>
        <p:txBody>
          <a:bodyPr/>
          <a:lstStyle/>
          <a:p>
            <a:pPr algn="ctr">
              <a:buNone/>
              <a:defRPr sz="975" b="1">
                <a:solidFill>
                  <a:srgbClr val="0A1B17"/>
                </a:solidFill>
              </a:defRPr>
            </a:pPr>
            <a:r>
              <a:rPr sz="975" b="1">
                <a:solidFill>
                  <a:srgbClr val="0A1B17"/>
                </a:solidFill>
                <a:latin typeface="Calibri"/>
                <a:ea typeface="맑은 고딕"/>
                <a:cs typeface="맑은 고딕"/>
              </a:rPr>
              <a:t>통합 교육과정</a:t>
            </a:r>
          </a:p>
        </p:txBody>
      </p:sp>
      <p:sp>
        <p:nvSpPr>
          <p:cNvPr id="5" name="직사각형 4">
            <a:extLst>
              <a:ext uri="{FF2B5EF4-FFF2-40B4-BE49-F238E27FC236}">
                <a16:creationId xmlns:a16="http://schemas.microsoft.com/office/drawing/2014/main" id="{8ECB8269-2A47-4A81-9D76-38F9BD4264DD}"/>
              </a:ext>
            </a:extLst>
          </p:cNvPr>
          <p:cNvSpPr>
            <a:spLocks noGrp="1"/>
          </p:cNvSpPr>
          <p:nvPr/>
        </p:nvSpPr>
        <p:spPr>
          <a:xfrm>
            <a:off x="685800" y="1381125"/>
            <a:ext cx="5810250" cy="1619250"/>
          </a:xfrm>
          <a:prstGeom prst="rect">
            <a:avLst/>
          </a:prstGeom>
          <a:noFill/>
          <a:ln w="0">
            <a:noFill/>
            <a:prstDash val="solid"/>
          </a:ln>
        </p:spPr>
        <p:txBody>
          <a:bodyPr/>
          <a:lstStyle/>
          <a:p>
            <a:pPr algn="l">
              <a:buNone/>
              <a:defRPr sz="4350" b="1">
                <a:solidFill>
                  <a:srgbClr val="FFFFFF"/>
                </a:solidFill>
              </a:defRPr>
            </a:pPr>
            <a:r>
              <a:rPr sz="4350" b="1">
                <a:solidFill>
                  <a:srgbClr val="FFFFFF"/>
                </a:solidFill>
                <a:latin typeface="Calibri"/>
                <a:ea typeface="맑은 고딕"/>
                <a:cs typeface="맑은 고딕"/>
              </a:rPr>
              <a:t>더 나은 결정은</a:t>
            </a:r>
          </a:p>
          <a:p>
            <a:pPr algn="l">
              <a:buNone/>
              <a:defRPr sz="4350" b="1">
                <a:solidFill>
                  <a:srgbClr val="FFFFFF"/>
                </a:solidFill>
              </a:defRPr>
            </a:pPr>
            <a:r>
              <a:rPr sz="4350" b="1">
                <a:solidFill>
                  <a:srgbClr val="FFFFFF"/>
                </a:solidFill>
                <a:latin typeface="Calibri"/>
                <a:ea typeface="맑은 고딕"/>
                <a:cs typeface="맑은 고딕"/>
              </a:rPr>
              <a:t>소의 몸속에서 나온다</a:t>
            </a:r>
          </a:p>
        </p:txBody>
      </p:sp>
      <p:sp>
        <p:nvSpPr>
          <p:cNvPr id="6" name="직사각형 5">
            <a:extLst>
              <a:ext uri="{FF2B5EF4-FFF2-40B4-BE49-F238E27FC236}">
                <a16:creationId xmlns:a16="http://schemas.microsoft.com/office/drawing/2014/main" id="{0AEE7629-BC37-406C-ACE1-903850927152}"/>
              </a:ext>
            </a:extLst>
          </p:cNvPr>
          <p:cNvSpPr>
            <a:spLocks noGrp="1"/>
          </p:cNvSpPr>
          <p:nvPr/>
        </p:nvSpPr>
        <p:spPr>
          <a:xfrm>
            <a:off x="685800" y="3219450"/>
            <a:ext cx="5334000" cy="666750"/>
          </a:xfrm>
          <a:prstGeom prst="rect">
            <a:avLst/>
          </a:prstGeom>
          <a:noFill/>
          <a:ln w="0">
            <a:noFill/>
            <a:prstDash val="solid"/>
          </a:ln>
        </p:spPr>
        <p:txBody>
          <a:bodyPr/>
          <a:lstStyle/>
          <a:p>
            <a:pPr algn="l">
              <a:buNone/>
              <a:defRPr sz="1875" b="0">
                <a:solidFill>
                  <a:srgbClr val="D7E5DF"/>
                </a:solidFill>
              </a:defRPr>
            </a:pPr>
            <a:r>
              <a:rPr sz="1875" b="0">
                <a:solidFill>
                  <a:srgbClr val="D7E5DF"/>
                </a:solidFill>
                <a:latin typeface="Calibri"/>
                <a:ea typeface="맑은 고딕"/>
                <a:cs typeface="맑은 고딕"/>
              </a:rPr>
              <a:t>smaXtec / CowTalk 실무 교육</a:t>
            </a:r>
          </a:p>
        </p:txBody>
      </p:sp>
      <p:sp>
        <p:nvSpPr>
          <p:cNvPr id="7" name="직사각형 6">
            <a:extLst>
              <a:ext uri="{FF2B5EF4-FFF2-40B4-BE49-F238E27FC236}">
                <a16:creationId xmlns:a16="http://schemas.microsoft.com/office/drawing/2014/main" id="{250EEBA7-952D-4AAE-B8A2-8F952B9A5984}"/>
              </a:ext>
            </a:extLst>
          </p:cNvPr>
          <p:cNvSpPr>
            <a:spLocks noGrp="1"/>
          </p:cNvSpPr>
          <p:nvPr/>
        </p:nvSpPr>
        <p:spPr>
          <a:xfrm>
            <a:off x="685800" y="4343400"/>
            <a:ext cx="5810250" cy="323850"/>
          </a:xfrm>
          <a:prstGeom prst="rect">
            <a:avLst/>
          </a:prstGeom>
          <a:noFill/>
          <a:ln w="0">
            <a:noFill/>
            <a:prstDash val="solid"/>
          </a:ln>
        </p:spPr>
        <p:txBody>
          <a:bodyPr/>
          <a:lstStyle/>
          <a:p>
            <a:pPr algn="l">
              <a:buNone/>
              <a:defRPr sz="1425" b="1">
                <a:solidFill>
                  <a:srgbClr val="65D44A"/>
                </a:solidFill>
              </a:defRPr>
            </a:pPr>
            <a:r>
              <a:rPr sz="1425" b="1">
                <a:solidFill>
                  <a:srgbClr val="65D44A"/>
                </a:solidFill>
                <a:latin typeface="Calibri"/>
                <a:ea typeface="맑은 고딕"/>
                <a:cs typeface="맑은 고딕"/>
              </a:rPr>
              <a:t>건강 • 번식 • 사양</a:t>
            </a:r>
          </a:p>
        </p:txBody>
      </p:sp>
      <p:sp>
        <p:nvSpPr>
          <p:cNvPr id="8" name="직사각형 7">
            <a:extLst>
              <a:ext uri="{FF2B5EF4-FFF2-40B4-BE49-F238E27FC236}">
                <a16:creationId xmlns:a16="http://schemas.microsoft.com/office/drawing/2014/main" id="{6A5C6EF3-2258-454A-8D1E-635FA53CEFF1}"/>
              </a:ext>
            </a:extLst>
          </p:cNvPr>
          <p:cNvSpPr>
            <a:spLocks noGrp="1"/>
          </p:cNvSpPr>
          <p:nvPr/>
        </p:nvSpPr>
        <p:spPr>
          <a:xfrm>
            <a:off x="685800" y="6191250"/>
            <a:ext cx="4953000" cy="209550"/>
          </a:xfrm>
          <a:prstGeom prst="rect">
            <a:avLst/>
          </a:prstGeom>
          <a:noFill/>
          <a:ln w="0">
            <a:noFill/>
            <a:prstDash val="solid"/>
          </a:ln>
        </p:spPr>
        <p:txBody>
          <a:bodyPr/>
          <a:lstStyle/>
          <a:p>
            <a:pPr algn="l">
              <a:buNone/>
              <a:defRPr sz="975" b="0">
                <a:solidFill>
                  <a:srgbClr val="FFFFFF"/>
                </a:solidFill>
              </a:defRPr>
            </a:pPr>
            <a:r>
              <a:rPr sz="975" b="0">
                <a:solidFill>
                  <a:srgbClr val="FFFFFF"/>
                </a:solidFill>
                <a:latin typeface="Calibri"/>
                <a:ea typeface="맑은 고딕"/>
                <a:cs typeface="맑은 고딕"/>
              </a:rPr>
              <a:t>16:9 | 한국어 | 발표자 노트 포함</a:t>
            </a:r>
          </a:p>
        </p:txBody>
      </p:sp>
    </p:spTree>
    <p:extLst>
      <p:ext uri="{BB962C8B-B14F-4D97-AF65-F5344CB8AC3E}">
        <p14:creationId xmlns:p14="http://schemas.microsoft.com/office/powerpoint/2010/main" val="5316639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AE518FAD-7C9B-49CD-9639-55367FB66F71}"/>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학습 목표</a:t>
            </a:r>
          </a:p>
        </p:txBody>
      </p:sp>
      <p:sp>
        <p:nvSpPr>
          <p:cNvPr id="2" name="직사각형 1">
            <a:extLst>
              <a:ext uri="{FF2B5EF4-FFF2-40B4-BE49-F238E27FC236}">
                <a16:creationId xmlns:a16="http://schemas.microsoft.com/office/drawing/2014/main" id="{78A8AF5A-3C6D-4F3C-BBF3-CE36E3BA9D0C}"/>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센서 신호를 현장의 행동으로 바꾼다</a:t>
            </a:r>
          </a:p>
        </p:txBody>
      </p:sp>
      <p:sp>
        <p:nvSpPr>
          <p:cNvPr id="3" name="직사각형 2">
            <a:extLst>
              <a:ext uri="{FF2B5EF4-FFF2-40B4-BE49-F238E27FC236}">
                <a16:creationId xmlns:a16="http://schemas.microsoft.com/office/drawing/2014/main" id="{26873E84-8F8B-439C-9AD2-13A580806D93}"/>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5D854680-0CD4-427A-8C5B-5C237BBDF37C}"/>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02</a:t>
            </a:r>
          </a:p>
        </p:txBody>
      </p:sp>
      <p:sp>
        <p:nvSpPr>
          <p:cNvPr id="5" name="직사각형 4">
            <a:extLst>
              <a:ext uri="{FF2B5EF4-FFF2-40B4-BE49-F238E27FC236}">
                <a16:creationId xmlns:a16="http://schemas.microsoft.com/office/drawing/2014/main" id="{F488FB7E-5A47-4C1A-AF14-CA7026ED7D74}"/>
              </a:ext>
            </a:extLst>
          </p:cNvPr>
          <p:cNvSpPr>
            <a:spLocks noGrp="1"/>
          </p:cNvSpPr>
          <p:nvPr/>
        </p:nvSpPr>
        <p:spPr>
          <a:xfrm>
            <a:off x="685800" y="17526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latin typeface="Calibri"/>
                <a:ea typeface="맑은 고딕"/>
                <a:cs typeface="맑은 고딕"/>
              </a:rPr>
              <a:t>01</a:t>
            </a:r>
          </a:p>
        </p:txBody>
      </p:sp>
      <p:sp>
        <p:nvSpPr>
          <p:cNvPr id="6" name="직사각형 5">
            <a:extLst>
              <a:ext uri="{FF2B5EF4-FFF2-40B4-BE49-F238E27FC236}">
                <a16:creationId xmlns:a16="http://schemas.microsoft.com/office/drawing/2014/main" id="{F1C15775-D52D-4800-9D0E-6731BCCECDC1}"/>
              </a:ext>
            </a:extLst>
          </p:cNvPr>
          <p:cNvSpPr>
            <a:spLocks noGrp="1"/>
          </p:cNvSpPr>
          <p:nvPr/>
        </p:nvSpPr>
        <p:spPr>
          <a:xfrm>
            <a:off x="1524000" y="17526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latin typeface="Calibri"/>
                <a:ea typeface="맑은 고딕"/>
                <a:cs typeface="맑은 고딕"/>
              </a:rPr>
              <a:t>체내 측정</a:t>
            </a:r>
          </a:p>
        </p:txBody>
      </p:sp>
      <p:sp>
        <p:nvSpPr>
          <p:cNvPr id="7" name="직사각형 6">
            <a:extLst>
              <a:ext uri="{FF2B5EF4-FFF2-40B4-BE49-F238E27FC236}">
                <a16:creationId xmlns:a16="http://schemas.microsoft.com/office/drawing/2014/main" id="{27865602-D19E-4443-9D68-1EBBB33914D8}"/>
              </a:ext>
            </a:extLst>
          </p:cNvPr>
          <p:cNvSpPr>
            <a:spLocks noGrp="1"/>
          </p:cNvSpPr>
          <p:nvPr/>
        </p:nvSpPr>
        <p:spPr>
          <a:xfrm>
            <a:off x="4381500" y="17526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latin typeface="Calibri"/>
                <a:ea typeface="맑은 고딕"/>
                <a:cs typeface="맑은 고딕"/>
              </a:rPr>
              <a:t>벌집위 신호가 더 안정적인 이유</a:t>
            </a:r>
          </a:p>
        </p:txBody>
      </p:sp>
      <p:sp>
        <p:nvSpPr>
          <p:cNvPr id="8" name="직사각형 7">
            <a:extLst>
              <a:ext uri="{FF2B5EF4-FFF2-40B4-BE49-F238E27FC236}">
                <a16:creationId xmlns:a16="http://schemas.microsoft.com/office/drawing/2014/main" id="{E784E464-DC98-4385-B91C-61367FB68D5D}"/>
              </a:ext>
            </a:extLst>
          </p:cNvPr>
          <p:cNvSpPr>
            <a:spLocks noGrp="1"/>
          </p:cNvSpPr>
          <p:nvPr/>
        </p:nvSpPr>
        <p:spPr>
          <a:xfrm>
            <a:off x="1524000" y="2400300"/>
            <a:ext cx="9715500" cy="19050"/>
          </a:xfrm>
          <a:prstGeom prst="rect">
            <a:avLst/>
          </a:prstGeom>
          <a:solidFill>
            <a:srgbClr val="ECF1EE"/>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29F10EF2-1A1C-4A3E-B02B-75E32BE16717}"/>
              </a:ext>
            </a:extLst>
          </p:cNvPr>
          <p:cNvSpPr>
            <a:spLocks noGrp="1"/>
          </p:cNvSpPr>
          <p:nvPr/>
        </p:nvSpPr>
        <p:spPr>
          <a:xfrm>
            <a:off x="685800" y="27432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latin typeface="Calibri"/>
                <a:ea typeface="맑은 고딕"/>
                <a:cs typeface="맑은 고딕"/>
              </a:rPr>
              <a:t>02</a:t>
            </a:r>
          </a:p>
        </p:txBody>
      </p:sp>
      <p:sp>
        <p:nvSpPr>
          <p:cNvPr id="10" name="직사각형 9">
            <a:extLst>
              <a:ext uri="{FF2B5EF4-FFF2-40B4-BE49-F238E27FC236}">
                <a16:creationId xmlns:a16="http://schemas.microsoft.com/office/drawing/2014/main" id="{D1FD1DCB-9D82-4088-98B3-ADA92D4C1AEF}"/>
              </a:ext>
            </a:extLst>
          </p:cNvPr>
          <p:cNvSpPr>
            <a:spLocks noGrp="1"/>
          </p:cNvSpPr>
          <p:nvPr/>
        </p:nvSpPr>
        <p:spPr>
          <a:xfrm>
            <a:off x="1524000" y="27432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latin typeface="Calibri"/>
                <a:ea typeface="맑은 고딕"/>
                <a:cs typeface="맑은 고딕"/>
              </a:rPr>
              <a:t>그래프 읽기</a:t>
            </a:r>
          </a:p>
        </p:txBody>
      </p:sp>
      <p:sp>
        <p:nvSpPr>
          <p:cNvPr id="11" name="직사각형 10">
            <a:extLst>
              <a:ext uri="{FF2B5EF4-FFF2-40B4-BE49-F238E27FC236}">
                <a16:creationId xmlns:a16="http://schemas.microsoft.com/office/drawing/2014/main" id="{F6A06A1E-C4B6-4DB1-B59E-1519C8D17B7D}"/>
              </a:ext>
            </a:extLst>
          </p:cNvPr>
          <p:cNvSpPr>
            <a:spLocks noGrp="1"/>
          </p:cNvSpPr>
          <p:nvPr/>
        </p:nvSpPr>
        <p:spPr>
          <a:xfrm>
            <a:off x="4381500" y="27432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latin typeface="Calibri"/>
                <a:ea typeface="맑은 고딕"/>
                <a:cs typeface="맑은 고딕"/>
              </a:rPr>
              <a:t>체온·음수·반추·활동량·pH를 함께 해석한다</a:t>
            </a:r>
          </a:p>
        </p:txBody>
      </p:sp>
      <p:sp>
        <p:nvSpPr>
          <p:cNvPr id="12" name="직사각형 11">
            <a:extLst>
              <a:ext uri="{FF2B5EF4-FFF2-40B4-BE49-F238E27FC236}">
                <a16:creationId xmlns:a16="http://schemas.microsoft.com/office/drawing/2014/main" id="{697A18E0-3EE1-4CDF-9893-805A08E61B4B}"/>
              </a:ext>
            </a:extLst>
          </p:cNvPr>
          <p:cNvSpPr>
            <a:spLocks noGrp="1"/>
          </p:cNvSpPr>
          <p:nvPr/>
        </p:nvSpPr>
        <p:spPr>
          <a:xfrm>
            <a:off x="1524000" y="3390900"/>
            <a:ext cx="9715500" cy="19050"/>
          </a:xfrm>
          <a:prstGeom prst="rect">
            <a:avLst/>
          </a:prstGeom>
          <a:solidFill>
            <a:srgbClr val="ECF1EE"/>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FC2D0792-18C4-44B3-B401-4786BF95A9B3}"/>
              </a:ext>
            </a:extLst>
          </p:cNvPr>
          <p:cNvSpPr>
            <a:spLocks noGrp="1"/>
          </p:cNvSpPr>
          <p:nvPr/>
        </p:nvSpPr>
        <p:spPr>
          <a:xfrm>
            <a:off x="685800" y="37338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latin typeface="Calibri"/>
                <a:ea typeface="맑은 고딕"/>
                <a:cs typeface="맑은 고딕"/>
              </a:rPr>
              <a:t>03</a:t>
            </a:r>
          </a:p>
        </p:txBody>
      </p:sp>
      <p:sp>
        <p:nvSpPr>
          <p:cNvPr id="14" name="직사각형 13">
            <a:extLst>
              <a:ext uri="{FF2B5EF4-FFF2-40B4-BE49-F238E27FC236}">
                <a16:creationId xmlns:a16="http://schemas.microsoft.com/office/drawing/2014/main" id="{E6C7F5A1-AB65-45C0-AA84-310906FFB748}"/>
              </a:ext>
            </a:extLst>
          </p:cNvPr>
          <p:cNvSpPr>
            <a:spLocks noGrp="1"/>
          </p:cNvSpPr>
          <p:nvPr/>
        </p:nvSpPr>
        <p:spPr>
          <a:xfrm>
            <a:off x="1524000" y="37338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latin typeface="Calibri"/>
                <a:ea typeface="맑은 고딕"/>
                <a:cs typeface="맑은 고딕"/>
              </a:rPr>
              <a:t>업무 흐름</a:t>
            </a:r>
          </a:p>
        </p:txBody>
      </p:sp>
      <p:sp>
        <p:nvSpPr>
          <p:cNvPr id="15" name="직사각형 14">
            <a:extLst>
              <a:ext uri="{FF2B5EF4-FFF2-40B4-BE49-F238E27FC236}">
                <a16:creationId xmlns:a16="http://schemas.microsoft.com/office/drawing/2014/main" id="{ADADE694-F90C-4277-B852-D97B91CAF2A0}"/>
              </a:ext>
            </a:extLst>
          </p:cNvPr>
          <p:cNvSpPr>
            <a:spLocks noGrp="1"/>
          </p:cNvSpPr>
          <p:nvPr/>
        </p:nvSpPr>
        <p:spPr>
          <a:xfrm>
            <a:off x="4381500" y="37338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latin typeface="Calibri"/>
                <a:ea typeface="맑은 고딕"/>
                <a:cs typeface="맑은 고딕"/>
              </a:rPr>
              <a:t>알람 → 확인 → 기록 → 후속조치 → 종결</a:t>
            </a:r>
          </a:p>
        </p:txBody>
      </p:sp>
      <p:sp>
        <p:nvSpPr>
          <p:cNvPr id="16" name="직사각형 15">
            <a:extLst>
              <a:ext uri="{FF2B5EF4-FFF2-40B4-BE49-F238E27FC236}">
                <a16:creationId xmlns:a16="http://schemas.microsoft.com/office/drawing/2014/main" id="{7B30E455-4176-484A-9629-7C5FC8AA7DFC}"/>
              </a:ext>
            </a:extLst>
          </p:cNvPr>
          <p:cNvSpPr>
            <a:spLocks noGrp="1"/>
          </p:cNvSpPr>
          <p:nvPr/>
        </p:nvSpPr>
        <p:spPr>
          <a:xfrm>
            <a:off x="1524000" y="4381500"/>
            <a:ext cx="9715500" cy="19050"/>
          </a:xfrm>
          <a:prstGeom prst="rect">
            <a:avLst/>
          </a:prstGeom>
          <a:solidFill>
            <a:srgbClr val="ECF1EE"/>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8FE90290-CB0A-4D3F-BAC8-4EDC452AF3B1}"/>
              </a:ext>
            </a:extLst>
          </p:cNvPr>
          <p:cNvSpPr>
            <a:spLocks noGrp="1"/>
          </p:cNvSpPr>
          <p:nvPr/>
        </p:nvSpPr>
        <p:spPr>
          <a:xfrm>
            <a:off x="685800" y="4724400"/>
            <a:ext cx="666750" cy="495300"/>
          </a:xfrm>
          <a:prstGeom prst="rect">
            <a:avLst/>
          </a:prstGeom>
          <a:noFill/>
          <a:ln w="0">
            <a:noFill/>
            <a:prstDash val="solid"/>
          </a:ln>
        </p:spPr>
        <p:txBody>
          <a:bodyPr/>
          <a:lstStyle/>
          <a:p>
            <a:pPr algn="l">
              <a:buNone/>
              <a:defRPr sz="2550" b="1">
                <a:solidFill>
                  <a:srgbClr val="15A98C"/>
                </a:solidFill>
              </a:defRPr>
            </a:pPr>
            <a:r>
              <a:rPr sz="2550" b="1">
                <a:solidFill>
                  <a:srgbClr val="15A98C"/>
                </a:solidFill>
                <a:latin typeface="Calibri"/>
                <a:ea typeface="맑은 고딕"/>
                <a:cs typeface="맑은 고딕"/>
              </a:rPr>
              <a:t>04</a:t>
            </a:r>
          </a:p>
        </p:txBody>
      </p:sp>
      <p:sp>
        <p:nvSpPr>
          <p:cNvPr id="18" name="직사각형 17">
            <a:extLst>
              <a:ext uri="{FF2B5EF4-FFF2-40B4-BE49-F238E27FC236}">
                <a16:creationId xmlns:a16="http://schemas.microsoft.com/office/drawing/2014/main" id="{E0BD1298-1BB7-40C9-9FF3-063912AB8A4F}"/>
              </a:ext>
            </a:extLst>
          </p:cNvPr>
          <p:cNvSpPr>
            <a:spLocks noGrp="1"/>
          </p:cNvSpPr>
          <p:nvPr/>
        </p:nvSpPr>
        <p:spPr>
          <a:xfrm>
            <a:off x="1524000" y="4724400"/>
            <a:ext cx="2667000" cy="361950"/>
          </a:xfrm>
          <a:prstGeom prst="rect">
            <a:avLst/>
          </a:prstGeom>
          <a:noFill/>
          <a:ln w="0">
            <a:noFill/>
            <a:prstDash val="solid"/>
          </a:ln>
        </p:spPr>
        <p:txBody>
          <a:bodyPr/>
          <a:lstStyle/>
          <a:p>
            <a:pPr algn="l">
              <a:buNone/>
              <a:defRPr sz="1800" b="1">
                <a:solidFill>
                  <a:srgbClr val="10251F"/>
                </a:solidFill>
              </a:defRPr>
            </a:pPr>
            <a:r>
              <a:rPr sz="1800" b="1">
                <a:solidFill>
                  <a:srgbClr val="10251F"/>
                </a:solidFill>
                <a:latin typeface="Calibri"/>
                <a:ea typeface="맑은 고딕"/>
                <a:cs typeface="맑은 고딕"/>
              </a:rPr>
              <a:t>관리</a:t>
            </a:r>
          </a:p>
        </p:txBody>
      </p:sp>
      <p:sp>
        <p:nvSpPr>
          <p:cNvPr id="19" name="직사각형 18">
            <a:extLst>
              <a:ext uri="{FF2B5EF4-FFF2-40B4-BE49-F238E27FC236}">
                <a16:creationId xmlns:a16="http://schemas.microsoft.com/office/drawing/2014/main" id="{15CCEFDE-7590-4A44-949A-7726A44FFFF1}"/>
              </a:ext>
            </a:extLst>
          </p:cNvPr>
          <p:cNvSpPr>
            <a:spLocks noGrp="1"/>
          </p:cNvSpPr>
          <p:nvPr/>
        </p:nvSpPr>
        <p:spPr>
          <a:xfrm>
            <a:off x="4381500" y="4724400"/>
            <a:ext cx="6858000" cy="476250"/>
          </a:xfrm>
          <a:prstGeom prst="rect">
            <a:avLst/>
          </a:prstGeom>
          <a:noFill/>
          <a:ln w="0">
            <a:noFill/>
            <a:prstDash val="solid"/>
          </a:ln>
        </p:spPr>
        <p:txBody>
          <a:bodyPr/>
          <a:lstStyle/>
          <a:p>
            <a:pPr algn="l">
              <a:buNone/>
              <a:defRPr sz="1425" b="0">
                <a:solidFill>
                  <a:srgbClr val="66746F"/>
                </a:solidFill>
              </a:defRPr>
            </a:pPr>
            <a:r>
              <a:rPr sz="1425" b="0">
                <a:solidFill>
                  <a:srgbClr val="66746F"/>
                </a:solidFill>
                <a:latin typeface="Calibri"/>
                <a:ea typeface="맑은 고딕"/>
                <a:cs typeface="맑은 고딕"/>
              </a:rPr>
              <a:t>우군, 사료, 작업목록, 성과지표</a:t>
            </a:r>
          </a:p>
        </p:txBody>
      </p:sp>
      <p:sp>
        <p:nvSpPr>
          <p:cNvPr id="20" name="직사각형 19">
            <a:extLst>
              <a:ext uri="{FF2B5EF4-FFF2-40B4-BE49-F238E27FC236}">
                <a16:creationId xmlns:a16="http://schemas.microsoft.com/office/drawing/2014/main" id="{F5A4DA31-082F-41CB-BD41-D8701A677B63}"/>
              </a:ext>
            </a:extLst>
          </p:cNvPr>
          <p:cNvSpPr>
            <a:spLocks noGrp="1"/>
          </p:cNvSpPr>
          <p:nvPr/>
        </p:nvSpPr>
        <p:spPr>
          <a:xfrm>
            <a:off x="1524000" y="5372100"/>
            <a:ext cx="9715500" cy="19050"/>
          </a:xfrm>
          <a:prstGeom prst="rect">
            <a:avLst/>
          </a:prstGeom>
          <a:solidFill>
            <a:srgbClr val="ECF1EE"/>
          </a:solidFill>
          <a:ln w="0">
            <a:noFill/>
            <a:prstDash val="solid"/>
          </a:ln>
        </p:spPr>
        <p:txBody>
          <a:bodyPr/>
          <a:lstStyle/>
          <a:p>
            <a:endParaRPr lang="ko-KR" altLang="en-US"/>
          </a:p>
        </p:txBody>
      </p:sp>
    </p:spTree>
    <p:extLst>
      <p:ext uri="{BB962C8B-B14F-4D97-AF65-F5344CB8AC3E}">
        <p14:creationId xmlns:p14="http://schemas.microsoft.com/office/powerpoint/2010/main" val="1678718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A5E13D1F-084B-4374-906E-3406563B485C}"/>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전체 그림</a:t>
            </a:r>
          </a:p>
        </p:txBody>
      </p:sp>
      <p:sp>
        <p:nvSpPr>
          <p:cNvPr id="2" name="직사각형 1">
            <a:extLst>
              <a:ext uri="{FF2B5EF4-FFF2-40B4-BE49-F238E27FC236}">
                <a16:creationId xmlns:a16="http://schemas.microsoft.com/office/drawing/2014/main" id="{FADA5D8B-D08F-4226-9D85-C415AFBB5E11}"/>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하나의 시스템, 세 가지 관리 질문</a:t>
            </a:r>
          </a:p>
        </p:txBody>
      </p:sp>
      <p:sp>
        <p:nvSpPr>
          <p:cNvPr id="3" name="직사각형 2">
            <a:extLst>
              <a:ext uri="{FF2B5EF4-FFF2-40B4-BE49-F238E27FC236}">
                <a16:creationId xmlns:a16="http://schemas.microsoft.com/office/drawing/2014/main" id="{E5201BB2-A810-446F-B095-87511445F6CA}"/>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D35256E8-4C3D-4B48-A4AC-AC9B1FCE66B0}"/>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03</a:t>
            </a:r>
          </a:p>
        </p:txBody>
      </p:sp>
      <p:sp>
        <p:nvSpPr>
          <p:cNvPr id="5" name="모서리가 둥근 직사각형 4">
            <a:extLst>
              <a:ext uri="{FF2B5EF4-FFF2-40B4-BE49-F238E27FC236}">
                <a16:creationId xmlns:a16="http://schemas.microsoft.com/office/drawing/2014/main" id="{8260D49D-6189-4D15-80DF-FE3818072E6A}"/>
              </a:ext>
            </a:extLst>
          </p:cNvPr>
          <p:cNvSpPr>
            <a:spLocks noGrp="1"/>
          </p:cNvSpPr>
          <p:nvPr/>
        </p:nvSpPr>
        <p:spPr>
          <a:xfrm>
            <a:off x="685800" y="1905000"/>
            <a:ext cx="3162300" cy="3048000"/>
          </a:xfrm>
          <a:prstGeom prst="roundRect">
            <a:avLst>
              <a:gd name="adj" fmla="val 5000"/>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40AC07DF-9280-4A56-A2D3-7221FB1421E5}"/>
              </a:ext>
            </a:extLst>
          </p:cNvPr>
          <p:cNvSpPr>
            <a:spLocks noGrp="1"/>
          </p:cNvSpPr>
          <p:nvPr/>
        </p:nvSpPr>
        <p:spPr>
          <a:xfrm>
            <a:off x="685800" y="1905000"/>
            <a:ext cx="3162300" cy="114300"/>
          </a:xfrm>
          <a:prstGeom prst="rect">
            <a:avLst/>
          </a:prstGeom>
          <a:solidFill>
            <a:srgbClr val="E96155"/>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7152B54-F44B-47A7-97C6-0531BD4E76AA}"/>
              </a:ext>
            </a:extLst>
          </p:cNvPr>
          <p:cNvSpPr>
            <a:spLocks noGrp="1"/>
          </p:cNvSpPr>
          <p:nvPr/>
        </p:nvSpPr>
        <p:spPr>
          <a:xfrm>
            <a:off x="952500" y="2247900"/>
            <a:ext cx="2571750" cy="333375"/>
          </a:xfrm>
          <a:prstGeom prst="rect">
            <a:avLst/>
          </a:prstGeom>
          <a:noFill/>
          <a:ln w="0">
            <a:noFill/>
            <a:prstDash val="solid"/>
          </a:ln>
        </p:spPr>
        <p:txBody>
          <a:bodyPr/>
          <a:lstStyle/>
          <a:p>
            <a:pPr algn="l">
              <a:buNone/>
              <a:defRPr sz="1350" b="1">
                <a:solidFill>
                  <a:srgbClr val="E96155"/>
                </a:solidFill>
              </a:defRPr>
            </a:pPr>
            <a:r>
              <a:rPr sz="1350" b="1">
                <a:solidFill>
                  <a:srgbClr val="E96155"/>
                </a:solidFill>
                <a:latin typeface="Calibri"/>
                <a:ea typeface="맑은 고딕"/>
                <a:cs typeface="맑은 고딕"/>
              </a:rPr>
              <a:t>건강</a:t>
            </a:r>
          </a:p>
        </p:txBody>
      </p:sp>
      <p:sp>
        <p:nvSpPr>
          <p:cNvPr id="8" name="직사각형 7">
            <a:extLst>
              <a:ext uri="{FF2B5EF4-FFF2-40B4-BE49-F238E27FC236}">
                <a16:creationId xmlns:a16="http://schemas.microsoft.com/office/drawing/2014/main" id="{5738E658-736F-4EDF-B177-27C41C3BF489}"/>
              </a:ext>
            </a:extLst>
          </p:cNvPr>
          <p:cNvSpPr>
            <a:spLocks noGrp="1"/>
          </p:cNvSpPr>
          <p:nvPr/>
        </p:nvSpPr>
        <p:spPr>
          <a:xfrm>
            <a:off x="952500" y="2914650"/>
            <a:ext cx="2571750" cy="1181100"/>
          </a:xfrm>
          <a:prstGeom prst="rect">
            <a:avLst/>
          </a:prstGeom>
          <a:noFill/>
          <a:ln w="0">
            <a:noFill/>
            <a:prstDash val="solid"/>
          </a:ln>
        </p:spPr>
        <p:txBody>
          <a:bodyPr/>
          <a:lstStyle/>
          <a:p>
            <a:pPr algn="l">
              <a:buNone/>
              <a:defRPr sz="2175" b="1">
                <a:solidFill>
                  <a:srgbClr val="10251F"/>
                </a:solidFill>
              </a:defRPr>
            </a:pPr>
            <a:r>
              <a:rPr sz="2175" b="1">
                <a:solidFill>
                  <a:srgbClr val="10251F"/>
                </a:solidFill>
                <a:latin typeface="Calibri"/>
                <a:ea typeface="맑은 고딕"/>
                <a:cs typeface="맑은 고딕"/>
              </a:rPr>
              <a:t>지금 어느 소를 봐야 하는가?</a:t>
            </a:r>
          </a:p>
        </p:txBody>
      </p:sp>
      <p:sp>
        <p:nvSpPr>
          <p:cNvPr id="9" name="모서리가 둥근 직사각형 8">
            <a:extLst>
              <a:ext uri="{FF2B5EF4-FFF2-40B4-BE49-F238E27FC236}">
                <a16:creationId xmlns:a16="http://schemas.microsoft.com/office/drawing/2014/main" id="{DFC3259B-F7BA-45A8-9B7B-4EB1C3ED28D8}"/>
              </a:ext>
            </a:extLst>
          </p:cNvPr>
          <p:cNvSpPr>
            <a:spLocks noGrp="1"/>
          </p:cNvSpPr>
          <p:nvPr/>
        </p:nvSpPr>
        <p:spPr>
          <a:xfrm>
            <a:off x="4171950" y="1905000"/>
            <a:ext cx="3162300" cy="3048000"/>
          </a:xfrm>
          <a:prstGeom prst="roundRect">
            <a:avLst>
              <a:gd name="adj" fmla="val 5000"/>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52DF3C2B-BFC5-42BF-BE28-87D3D819368F}"/>
              </a:ext>
            </a:extLst>
          </p:cNvPr>
          <p:cNvSpPr>
            <a:spLocks noGrp="1"/>
          </p:cNvSpPr>
          <p:nvPr/>
        </p:nvSpPr>
        <p:spPr>
          <a:xfrm>
            <a:off x="4171950" y="1905000"/>
            <a:ext cx="3162300" cy="114300"/>
          </a:xfrm>
          <a:prstGeom prst="rect">
            <a:avLst/>
          </a:prstGeom>
          <a:solidFill>
            <a:srgbClr val="4C8DD9"/>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9D1515C6-7E76-4AE9-8BA7-8C0D8E173ED0}"/>
              </a:ext>
            </a:extLst>
          </p:cNvPr>
          <p:cNvSpPr>
            <a:spLocks noGrp="1"/>
          </p:cNvSpPr>
          <p:nvPr/>
        </p:nvSpPr>
        <p:spPr>
          <a:xfrm>
            <a:off x="4438650" y="2247900"/>
            <a:ext cx="2571750" cy="333375"/>
          </a:xfrm>
          <a:prstGeom prst="rect">
            <a:avLst/>
          </a:prstGeom>
          <a:noFill/>
          <a:ln w="0">
            <a:noFill/>
            <a:prstDash val="solid"/>
          </a:ln>
        </p:spPr>
        <p:txBody>
          <a:bodyPr/>
          <a:lstStyle/>
          <a:p>
            <a:pPr algn="l">
              <a:buNone/>
              <a:defRPr sz="1350" b="1">
                <a:solidFill>
                  <a:srgbClr val="4C8DD9"/>
                </a:solidFill>
              </a:defRPr>
            </a:pPr>
            <a:r>
              <a:rPr sz="1350" b="1">
                <a:solidFill>
                  <a:srgbClr val="4C8DD9"/>
                </a:solidFill>
                <a:latin typeface="Calibri"/>
                <a:ea typeface="맑은 고딕"/>
                <a:cs typeface="맑은 고딕"/>
              </a:rPr>
              <a:t>번식</a:t>
            </a:r>
          </a:p>
        </p:txBody>
      </p:sp>
      <p:sp>
        <p:nvSpPr>
          <p:cNvPr id="12" name="직사각형 11">
            <a:extLst>
              <a:ext uri="{FF2B5EF4-FFF2-40B4-BE49-F238E27FC236}">
                <a16:creationId xmlns:a16="http://schemas.microsoft.com/office/drawing/2014/main" id="{D6C0C7CF-96F1-4E89-A9B9-1C8F3DA4879A}"/>
              </a:ext>
            </a:extLst>
          </p:cNvPr>
          <p:cNvSpPr>
            <a:spLocks noGrp="1"/>
          </p:cNvSpPr>
          <p:nvPr/>
        </p:nvSpPr>
        <p:spPr>
          <a:xfrm>
            <a:off x="4438650" y="2914650"/>
            <a:ext cx="2571750" cy="1181100"/>
          </a:xfrm>
          <a:prstGeom prst="rect">
            <a:avLst/>
          </a:prstGeom>
          <a:noFill/>
          <a:ln w="0">
            <a:noFill/>
            <a:prstDash val="solid"/>
          </a:ln>
        </p:spPr>
        <p:txBody>
          <a:bodyPr/>
          <a:lstStyle/>
          <a:p>
            <a:pPr algn="l">
              <a:buNone/>
              <a:defRPr sz="2175" b="1">
                <a:solidFill>
                  <a:srgbClr val="10251F"/>
                </a:solidFill>
              </a:defRPr>
            </a:pPr>
            <a:r>
              <a:rPr sz="2175" b="1">
                <a:solidFill>
                  <a:srgbClr val="10251F"/>
                </a:solidFill>
                <a:latin typeface="Calibri"/>
                <a:ea typeface="맑은 고딕"/>
                <a:cs typeface="맑은 고딕"/>
              </a:rPr>
              <a:t>언제 수정하고, 언제 분만을 준비하는가?</a:t>
            </a:r>
          </a:p>
        </p:txBody>
      </p:sp>
      <p:sp>
        <p:nvSpPr>
          <p:cNvPr id="13" name="모서리가 둥근 직사각형 12">
            <a:extLst>
              <a:ext uri="{FF2B5EF4-FFF2-40B4-BE49-F238E27FC236}">
                <a16:creationId xmlns:a16="http://schemas.microsoft.com/office/drawing/2014/main" id="{29E10949-66DB-41E1-A538-57DED2351B45}"/>
              </a:ext>
            </a:extLst>
          </p:cNvPr>
          <p:cNvSpPr>
            <a:spLocks noGrp="1"/>
          </p:cNvSpPr>
          <p:nvPr/>
        </p:nvSpPr>
        <p:spPr>
          <a:xfrm>
            <a:off x="7658100" y="1905000"/>
            <a:ext cx="3162300" cy="3048000"/>
          </a:xfrm>
          <a:prstGeom prst="roundRect">
            <a:avLst>
              <a:gd name="adj" fmla="val 5000"/>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53214C79-C08B-4696-A3F8-18F28F8103FF}"/>
              </a:ext>
            </a:extLst>
          </p:cNvPr>
          <p:cNvSpPr>
            <a:spLocks noGrp="1"/>
          </p:cNvSpPr>
          <p:nvPr/>
        </p:nvSpPr>
        <p:spPr>
          <a:xfrm>
            <a:off x="7658100" y="1905000"/>
            <a:ext cx="3162300" cy="114300"/>
          </a:xfrm>
          <a:prstGeom prst="rect">
            <a:avLst/>
          </a:prstGeom>
          <a:solidFill>
            <a:srgbClr val="F6B846"/>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139343B9-4629-4947-9766-CC52B3DF2EAA}"/>
              </a:ext>
            </a:extLst>
          </p:cNvPr>
          <p:cNvSpPr>
            <a:spLocks noGrp="1"/>
          </p:cNvSpPr>
          <p:nvPr/>
        </p:nvSpPr>
        <p:spPr>
          <a:xfrm>
            <a:off x="7924800" y="2247900"/>
            <a:ext cx="2571750" cy="333375"/>
          </a:xfrm>
          <a:prstGeom prst="rect">
            <a:avLst/>
          </a:prstGeom>
          <a:noFill/>
          <a:ln w="0">
            <a:noFill/>
            <a:prstDash val="solid"/>
          </a:ln>
        </p:spPr>
        <p:txBody>
          <a:bodyPr/>
          <a:lstStyle/>
          <a:p>
            <a:pPr algn="l">
              <a:buNone/>
              <a:defRPr sz="1350" b="1">
                <a:solidFill>
                  <a:srgbClr val="F6B846"/>
                </a:solidFill>
              </a:defRPr>
            </a:pPr>
            <a:r>
              <a:rPr sz="1350" b="1">
                <a:solidFill>
                  <a:srgbClr val="F6B846"/>
                </a:solidFill>
                <a:latin typeface="Calibri"/>
                <a:ea typeface="맑은 고딕"/>
                <a:cs typeface="맑은 고딕"/>
              </a:rPr>
              <a:t>사양</a:t>
            </a:r>
          </a:p>
        </p:txBody>
      </p:sp>
      <p:sp>
        <p:nvSpPr>
          <p:cNvPr id="16" name="직사각형 15">
            <a:extLst>
              <a:ext uri="{FF2B5EF4-FFF2-40B4-BE49-F238E27FC236}">
                <a16:creationId xmlns:a16="http://schemas.microsoft.com/office/drawing/2014/main" id="{3736F63E-91AD-4F15-A95C-6F4521A6FDC9}"/>
              </a:ext>
            </a:extLst>
          </p:cNvPr>
          <p:cNvSpPr>
            <a:spLocks noGrp="1"/>
          </p:cNvSpPr>
          <p:nvPr/>
        </p:nvSpPr>
        <p:spPr>
          <a:xfrm>
            <a:off x="7924800" y="2914650"/>
            <a:ext cx="2571750" cy="1181100"/>
          </a:xfrm>
          <a:prstGeom prst="rect">
            <a:avLst/>
          </a:prstGeom>
          <a:noFill/>
          <a:ln w="0">
            <a:noFill/>
            <a:prstDash val="solid"/>
          </a:ln>
        </p:spPr>
        <p:txBody>
          <a:bodyPr/>
          <a:lstStyle/>
          <a:p>
            <a:pPr algn="l">
              <a:buNone/>
              <a:defRPr sz="2175" b="1">
                <a:solidFill>
                  <a:srgbClr val="10251F"/>
                </a:solidFill>
              </a:defRPr>
            </a:pPr>
            <a:r>
              <a:rPr sz="2175" b="1">
                <a:solidFill>
                  <a:srgbClr val="10251F"/>
                </a:solidFill>
                <a:latin typeface="Calibri"/>
                <a:ea typeface="맑은 고딕"/>
                <a:cs typeface="맑은 고딕"/>
              </a:rPr>
              <a:t>어느 우군 또는 사료가 달라졌는가?</a:t>
            </a:r>
          </a:p>
        </p:txBody>
      </p:sp>
      <p:sp>
        <p:nvSpPr>
          <p:cNvPr id="17" name="직사각형 16">
            <a:extLst>
              <a:ext uri="{FF2B5EF4-FFF2-40B4-BE49-F238E27FC236}">
                <a16:creationId xmlns:a16="http://schemas.microsoft.com/office/drawing/2014/main" id="{9F10E8F8-3370-4862-B375-4242F3F513C7}"/>
              </a:ext>
            </a:extLst>
          </p:cNvPr>
          <p:cNvSpPr>
            <a:spLocks noGrp="1"/>
          </p:cNvSpPr>
          <p:nvPr/>
        </p:nvSpPr>
        <p:spPr>
          <a:xfrm>
            <a:off x="685800" y="5467350"/>
            <a:ext cx="10820400" cy="381000"/>
          </a:xfrm>
          <a:prstGeom prst="rect">
            <a:avLst/>
          </a:prstGeom>
          <a:noFill/>
          <a:ln w="0">
            <a:noFill/>
            <a:prstDash val="solid"/>
          </a:ln>
        </p:spPr>
        <p:txBody>
          <a:bodyPr/>
          <a:lstStyle/>
          <a:p>
            <a:pPr algn="ctr">
              <a:buNone/>
              <a:defRPr sz="1800" b="1">
                <a:solidFill>
                  <a:srgbClr val="15A98C"/>
                </a:solidFill>
              </a:defRPr>
            </a:pPr>
            <a:r>
              <a:rPr sz="1800" b="1">
                <a:solidFill>
                  <a:srgbClr val="15A98C"/>
                </a:solidFill>
                <a:latin typeface="Calibri"/>
                <a:ea typeface="맑은 고딕"/>
                <a:cs typeface="맑은 고딕"/>
              </a:rPr>
              <a:t>같은 체내 데이터 → 서로 다른 결정 → 하나의 일과</a:t>
            </a:r>
          </a:p>
        </p:txBody>
      </p:sp>
    </p:spTree>
    <p:extLst>
      <p:ext uri="{BB962C8B-B14F-4D97-AF65-F5344CB8AC3E}">
        <p14:creationId xmlns:p14="http://schemas.microsoft.com/office/powerpoint/2010/main" val="20356333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14C9898C-BB1E-4860-99B7-BBE6EE4DA7E4}"/>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latin typeface="Calibri"/>
                <a:ea typeface="맑은 고딕"/>
                <a:cs typeface="맑은 고딕"/>
              </a:rPr>
              <a:t>01</a:t>
            </a:r>
          </a:p>
        </p:txBody>
      </p:sp>
      <p:sp>
        <p:nvSpPr>
          <p:cNvPr id="2" name="직사각형 1">
            <a:extLst>
              <a:ext uri="{FF2B5EF4-FFF2-40B4-BE49-F238E27FC236}">
                <a16:creationId xmlns:a16="http://schemas.microsoft.com/office/drawing/2014/main" id="{35BE836B-2BA1-44EC-921F-1DE05980E61E}"/>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latin typeface="Calibri"/>
                <a:ea typeface="맑은 고딕"/>
                <a:cs typeface="맑은 고딕"/>
              </a:rPr>
              <a:t>몸속에서 측정한다</a:t>
            </a:r>
          </a:p>
        </p:txBody>
      </p:sp>
      <p:sp>
        <p:nvSpPr>
          <p:cNvPr id="3" name="직사각형 2">
            <a:extLst>
              <a:ext uri="{FF2B5EF4-FFF2-40B4-BE49-F238E27FC236}">
                <a16:creationId xmlns:a16="http://schemas.microsoft.com/office/drawing/2014/main" id="{AC37F355-968E-4D55-A0B0-D60898B4ED15}"/>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latin typeface="Calibri"/>
                <a:ea typeface="맑은 고딕"/>
                <a:cs typeface="맑은 고딕"/>
              </a:rPr>
              <a:t>벌집위는 외부 잡음이 적은 상태에서 생리 신호를 연속으로 제공한다.</a:t>
            </a:r>
          </a:p>
        </p:txBody>
      </p:sp>
      <p:sp>
        <p:nvSpPr>
          <p:cNvPr id="5" name="타원 4">
            <a:extLst>
              <a:ext uri="{FF2B5EF4-FFF2-40B4-BE49-F238E27FC236}">
                <a16:creationId xmlns:a16="http://schemas.microsoft.com/office/drawing/2014/main" id="{4D970705-ED29-443F-8EEB-CA2FCB5005BE}"/>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5FFE2E23-626D-42CE-9A4C-E7E6D84BB27A}"/>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EF970CD7-A1F0-4105-BACB-6AF24BB89F42}"/>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1CF79B35-DABC-4665-8646-8C83DB781F3A}"/>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CED4919A-A636-42EB-B17D-9E3C09690514}"/>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EB6DF7EF-6CBF-4857-8584-E243A7352BD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latin typeface="Calibri"/>
                <a:ea typeface="맑은 고딕"/>
                <a:cs typeface="맑은 고딕"/>
              </a:rPr>
              <a:t>smaXtec × CowTalk | 통합 교육자료</a:t>
            </a:r>
          </a:p>
        </p:txBody>
      </p:sp>
      <p:sp>
        <p:nvSpPr>
          <p:cNvPr id="11" name="직사각형 10">
            <a:extLst>
              <a:ext uri="{FF2B5EF4-FFF2-40B4-BE49-F238E27FC236}">
                <a16:creationId xmlns:a16="http://schemas.microsoft.com/office/drawing/2014/main" id="{072EE4F6-FACE-43C6-B143-36FE421475B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latin typeface="Calibri"/>
                <a:ea typeface="맑은 고딕"/>
                <a:cs typeface="맑은 고딕"/>
              </a:rPr>
              <a:t>04</a:t>
            </a:r>
          </a:p>
        </p:txBody>
      </p:sp>
      <p:sp>
        <p:nvSpPr>
          <p:cNvPr id="13" name="official-product-panel">
            <a:extLst>
              <a:ext uri="{FF2B5EF4-FFF2-40B4-BE49-F238E27FC236}">
                <a16:creationId xmlns:a16="http://schemas.microsoft.com/office/drawing/2014/main" id="{6F92D059-26E4-4A80-A98A-95984D1C3A16}"/>
              </a:ext>
            </a:extLst>
          </p:cNvPr>
          <p:cNvSpPr>
            <a:spLocks noGrp="1"/>
          </p:cNvSpPr>
          <p:nvPr/>
        </p:nvSpPr>
        <p:spPr>
          <a:xfrm>
            <a:off x="9906000" y="0"/>
            <a:ext cx="2286000" cy="6858000"/>
          </a:xfrm>
          <a:prstGeom prst="rect">
            <a:avLst/>
          </a:prstGeom>
          <a:solidFill>
            <a:srgbClr val="1BAF91"/>
          </a:solidFill>
          <a:ln w="0">
            <a:noFill/>
            <a:prstDash val="solid"/>
          </a:ln>
        </p:spPr>
        <p:txBody>
          <a:bodyPr/>
          <a:lstStyle/>
          <a:p>
            <a:endParaRPr lang="ko-KR" altLang="en-US"/>
          </a:p>
        </p:txBody>
      </p:sp>
      <p:pic>
        <p:nvPicPr>
          <p:cNvPr id="26" name="그림 25"/>
          <p:cNvPicPr>
            <a:picLocks noChangeAspect="1"/>
          </p:cNvPicPr>
          <p:nvPr/>
        </p:nvPicPr>
        <p:blipFill>
          <a:blip r:embed="rId3"/>
          <a:stretch/>
        </p:blipFill>
        <p:spPr>
          <a:xfrm>
            <a:off x="10001250" y="2190750"/>
            <a:ext cx="2095500" cy="2095500"/>
          </a:xfrm>
          <a:prstGeom prst="rect">
            <a:avLst/>
          </a:prstGeom>
        </p:spPr>
      </p:pic>
    </p:spTree>
    <p:extLst>
      <p:ext uri="{BB962C8B-B14F-4D97-AF65-F5344CB8AC3E}">
        <p14:creationId xmlns:p14="http://schemas.microsoft.com/office/powerpoint/2010/main" val="199377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65E1BB67-C24A-4DE5-8CC3-8F89E3A4DD82}"/>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벌집위</a:t>
            </a:r>
          </a:p>
        </p:txBody>
      </p:sp>
      <p:sp>
        <p:nvSpPr>
          <p:cNvPr id="2" name="직사각형 1">
            <a:extLst>
              <a:ext uri="{FF2B5EF4-FFF2-40B4-BE49-F238E27FC236}">
                <a16:creationId xmlns:a16="http://schemas.microsoft.com/office/drawing/2014/main" id="{47CD12B3-B253-442F-B81A-8C0AC9EDB14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체내 측정의 강점은 맥락이 안정적이라는 것</a:t>
            </a:r>
          </a:p>
        </p:txBody>
      </p:sp>
      <p:sp>
        <p:nvSpPr>
          <p:cNvPr id="3" name="직사각형 2">
            <a:extLst>
              <a:ext uri="{FF2B5EF4-FFF2-40B4-BE49-F238E27FC236}">
                <a16:creationId xmlns:a16="http://schemas.microsoft.com/office/drawing/2014/main" id="{C2EC6316-C5DF-4C32-B859-F10D06C9906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4A1845AC-C214-47A9-94CD-2263729B1D19}"/>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05</a:t>
            </a:r>
          </a:p>
        </p:txBody>
      </p:sp>
      <p:sp>
        <p:nvSpPr>
          <p:cNvPr id="5" name="모서리가 둥근 직사각형 4">
            <a:extLst>
              <a:ext uri="{FF2B5EF4-FFF2-40B4-BE49-F238E27FC236}">
                <a16:creationId xmlns:a16="http://schemas.microsoft.com/office/drawing/2014/main" id="{77A76178-15B0-44E7-BDE3-29CC68667055}"/>
              </a:ext>
            </a:extLst>
          </p:cNvPr>
          <p:cNvSpPr>
            <a:spLocks noGrp="1"/>
          </p:cNvSpPr>
          <p:nvPr/>
        </p:nvSpPr>
        <p:spPr>
          <a:xfrm>
            <a:off x="685800" y="1733550"/>
            <a:ext cx="5143500" cy="4095750"/>
          </a:xfrm>
          <a:prstGeom prst="roundRect">
            <a:avLst>
              <a:gd name="adj" fmla="val 3721"/>
            </a:avLst>
          </a:prstGeom>
          <a:solidFill>
            <a:srgbClr val="FFFFFF"/>
          </a:solidFill>
          <a:ln w="0">
            <a:noFill/>
            <a:prstDash val="solid"/>
          </a:ln>
        </p:spPr>
        <p:txBody>
          <a:bodyPr/>
          <a:lstStyle/>
          <a:p>
            <a:endParaRPr lang="ko-KR" altLang="en-US"/>
          </a:p>
        </p:txBody>
      </p:sp>
      <p:sp>
        <p:nvSpPr>
          <p:cNvPr id="6" name="모서리가 둥근 직사각형 5">
            <a:extLst>
              <a:ext uri="{FF2B5EF4-FFF2-40B4-BE49-F238E27FC236}">
                <a16:creationId xmlns:a16="http://schemas.microsoft.com/office/drawing/2014/main" id="{CE458CA2-161E-4376-B086-8BE4BB9B74FB}"/>
              </a:ext>
            </a:extLst>
          </p:cNvPr>
          <p:cNvSpPr>
            <a:spLocks noGrp="1"/>
          </p:cNvSpPr>
          <p:nvPr/>
        </p:nvSpPr>
        <p:spPr>
          <a:xfrm>
            <a:off x="6096000" y="1733550"/>
            <a:ext cx="5410200" cy="4095750"/>
          </a:xfrm>
          <a:prstGeom prst="roundRect">
            <a:avLst>
              <a:gd name="adj" fmla="val 3721"/>
            </a:avLst>
          </a:prstGeom>
          <a:solidFill>
            <a:srgbClr val="10251F"/>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3F54202-B6E6-464D-B36D-743E8C18DC76}"/>
              </a:ext>
            </a:extLst>
          </p:cNvPr>
          <p:cNvSpPr>
            <a:spLocks noGrp="1"/>
          </p:cNvSpPr>
          <p:nvPr/>
        </p:nvSpPr>
        <p:spPr>
          <a:xfrm>
            <a:off x="990600" y="2038350"/>
            <a:ext cx="4533900" cy="476250"/>
          </a:xfrm>
          <a:prstGeom prst="rect">
            <a:avLst/>
          </a:prstGeom>
          <a:noFill/>
          <a:ln w="0">
            <a:noFill/>
            <a:prstDash val="solid"/>
          </a:ln>
        </p:spPr>
        <p:txBody>
          <a:bodyPr/>
          <a:lstStyle/>
          <a:p>
            <a:pPr algn="l">
              <a:buNone/>
              <a:defRPr sz="1950" b="1">
                <a:solidFill>
                  <a:srgbClr val="15A98C"/>
                </a:solidFill>
              </a:defRPr>
            </a:pPr>
            <a:r>
              <a:rPr sz="1950" b="1">
                <a:solidFill>
                  <a:srgbClr val="15A98C"/>
                </a:solidFill>
                <a:latin typeface="Calibri"/>
                <a:ea typeface="맑은 고딕"/>
                <a:cs typeface="맑은 고딕"/>
              </a:rPr>
              <a:t>외부 센서는 무엇에 흔들리는가?</a:t>
            </a:r>
          </a:p>
        </p:txBody>
      </p:sp>
      <p:sp>
        <p:nvSpPr>
          <p:cNvPr id="8" name="직사각형 7">
            <a:extLst>
              <a:ext uri="{FF2B5EF4-FFF2-40B4-BE49-F238E27FC236}">
                <a16:creationId xmlns:a16="http://schemas.microsoft.com/office/drawing/2014/main" id="{F6C3A0C7-66D1-43DC-A83C-02A533D250B2}"/>
              </a:ext>
            </a:extLst>
          </p:cNvPr>
          <p:cNvSpPr>
            <a:spLocks noGrp="1"/>
          </p:cNvSpPr>
          <p:nvPr/>
        </p:nvSpPr>
        <p:spPr>
          <a:xfrm>
            <a:off x="990600" y="2705100"/>
            <a:ext cx="4476750" cy="2571750"/>
          </a:xfrm>
          <a:prstGeom prst="rect">
            <a:avLst/>
          </a:prstGeom>
          <a:noFill/>
          <a:ln w="0">
            <a:noFill/>
            <a:prstDash val="solid"/>
          </a:ln>
        </p:spPr>
        <p:txBody>
          <a:bodyPr/>
          <a:lstStyle/>
          <a:p>
            <a:pPr algn="l">
              <a:buNone/>
              <a:defRPr sz="1575" b="0">
                <a:solidFill>
                  <a:srgbClr val="10251F"/>
                </a:solidFill>
              </a:defRPr>
            </a:pPr>
            <a:r>
              <a:rPr sz="1575" b="0">
                <a:solidFill>
                  <a:srgbClr val="10251F"/>
                </a:solidFill>
                <a:latin typeface="Calibri"/>
                <a:ea typeface="맑은 고딕"/>
                <a:cs typeface="맑은 고딕"/>
              </a:rPr>
              <a:t>• 오염, 마찰, 부착 위치</a:t>
            </a:r>
          </a:p>
          <a:p>
            <a:pPr algn="l">
              <a:buNone/>
              <a:defRPr sz="1575" b="0">
                <a:solidFill>
                  <a:srgbClr val="10251F"/>
                </a:solidFill>
              </a:defRPr>
            </a:pPr>
            <a:r>
              <a:rPr sz="1575" b="0">
                <a:solidFill>
                  <a:srgbClr val="10251F"/>
                </a:solidFill>
                <a:latin typeface="Calibri"/>
                <a:ea typeface="맑은 고딕"/>
                <a:cs typeface="맑은 고딕"/>
              </a:rPr>
              <a:t>• 환경·기계적 잡음</a:t>
            </a:r>
          </a:p>
          <a:p>
            <a:pPr algn="l">
              <a:buNone/>
              <a:defRPr sz="1575" b="0">
                <a:solidFill>
                  <a:srgbClr val="10251F"/>
                </a:solidFill>
              </a:defRPr>
            </a:pPr>
            <a:r>
              <a:rPr sz="1575" b="0">
                <a:solidFill>
                  <a:srgbClr val="10251F"/>
                </a:solidFill>
                <a:latin typeface="Calibri"/>
                <a:ea typeface="맑은 고딕"/>
                <a:cs typeface="맑은 고딕"/>
              </a:rPr>
              <a:t>• 탈락·이동 위험</a:t>
            </a:r>
          </a:p>
          <a:p>
            <a:pPr algn="l">
              <a:buNone/>
              <a:defRPr sz="1575" b="0">
                <a:solidFill>
                  <a:srgbClr val="10251F"/>
                </a:solidFill>
              </a:defRPr>
            </a:pPr>
            <a:r>
              <a:rPr sz="1575" b="0">
                <a:solidFill>
                  <a:srgbClr val="10251F"/>
                </a:solidFill>
                <a:latin typeface="Calibri"/>
                <a:ea typeface="맑은 고딕"/>
                <a:cs typeface="맑은 고딕"/>
              </a:rPr>
              <a:t>• 행동을 간접적으로 측정</a:t>
            </a:r>
          </a:p>
        </p:txBody>
      </p:sp>
      <p:sp>
        <p:nvSpPr>
          <p:cNvPr id="9" name="직사각형 8">
            <a:extLst>
              <a:ext uri="{FF2B5EF4-FFF2-40B4-BE49-F238E27FC236}">
                <a16:creationId xmlns:a16="http://schemas.microsoft.com/office/drawing/2014/main" id="{E142F0F8-14F9-4DE7-9E73-7F57FD86206A}"/>
              </a:ext>
            </a:extLst>
          </p:cNvPr>
          <p:cNvSpPr>
            <a:spLocks noGrp="1"/>
          </p:cNvSpPr>
          <p:nvPr/>
        </p:nvSpPr>
        <p:spPr>
          <a:xfrm>
            <a:off x="6419850" y="2038350"/>
            <a:ext cx="4762500" cy="476250"/>
          </a:xfrm>
          <a:prstGeom prst="rect">
            <a:avLst/>
          </a:prstGeom>
          <a:noFill/>
          <a:ln w="0">
            <a:noFill/>
            <a:prstDash val="solid"/>
          </a:ln>
        </p:spPr>
        <p:txBody>
          <a:bodyPr/>
          <a:lstStyle/>
          <a:p>
            <a:pPr algn="l">
              <a:buNone/>
              <a:defRPr sz="1950" b="1">
                <a:solidFill>
                  <a:srgbClr val="65D44A"/>
                </a:solidFill>
              </a:defRPr>
            </a:pPr>
            <a:r>
              <a:rPr sz="1950" b="1">
                <a:solidFill>
                  <a:srgbClr val="65D44A"/>
                </a:solidFill>
                <a:latin typeface="Calibri"/>
                <a:ea typeface="맑은 고딕"/>
                <a:cs typeface="맑은 고딕"/>
              </a:rPr>
              <a:t>체내 볼루스는 무엇을 주는가?</a:t>
            </a:r>
          </a:p>
        </p:txBody>
      </p:sp>
      <p:sp>
        <p:nvSpPr>
          <p:cNvPr id="10" name="직사각형 9">
            <a:extLst>
              <a:ext uri="{FF2B5EF4-FFF2-40B4-BE49-F238E27FC236}">
                <a16:creationId xmlns:a16="http://schemas.microsoft.com/office/drawing/2014/main" id="{4D450844-D394-461B-95AB-125155966545}"/>
              </a:ext>
            </a:extLst>
          </p:cNvPr>
          <p:cNvSpPr>
            <a:spLocks noGrp="1"/>
          </p:cNvSpPr>
          <p:nvPr/>
        </p:nvSpPr>
        <p:spPr>
          <a:xfrm>
            <a:off x="6419850" y="2705100"/>
            <a:ext cx="4667250" cy="2571750"/>
          </a:xfrm>
          <a:prstGeom prst="rect">
            <a:avLst/>
          </a:prstGeom>
          <a:noFill/>
          <a:ln w="0">
            <a:noFill/>
            <a:prstDash val="solid"/>
          </a:ln>
        </p:spPr>
        <p:txBody>
          <a:bodyPr/>
          <a:lstStyle/>
          <a:p>
            <a:pPr algn="l">
              <a:buNone/>
              <a:defRPr sz="1575" b="0">
                <a:solidFill>
                  <a:srgbClr val="FFFFFF"/>
                </a:solidFill>
              </a:defRPr>
            </a:pPr>
            <a:r>
              <a:rPr sz="1575" b="0">
                <a:solidFill>
                  <a:srgbClr val="FFFFFF"/>
                </a:solidFill>
                <a:latin typeface="Calibri"/>
                <a:ea typeface="맑은 고딕"/>
                <a:cs typeface="맑은 고딕"/>
              </a:rPr>
              <a:t>• 심부체온의 연속 추이</a:t>
            </a:r>
          </a:p>
          <a:p>
            <a:pPr algn="l">
              <a:buNone/>
              <a:defRPr sz="1575" b="0">
                <a:solidFill>
                  <a:srgbClr val="FFFFFF"/>
                </a:solidFill>
              </a:defRPr>
            </a:pPr>
            <a:r>
              <a:rPr sz="1575" b="0">
                <a:solidFill>
                  <a:srgbClr val="FFFFFF"/>
                </a:solidFill>
                <a:latin typeface="Calibri"/>
                <a:ea typeface="맑은 고딕"/>
                <a:cs typeface="맑은 고딕"/>
              </a:rPr>
              <a:t>• 음수 주기와 음수량</a:t>
            </a:r>
          </a:p>
          <a:p>
            <a:pPr algn="l">
              <a:buNone/>
              <a:defRPr sz="1575" b="0">
                <a:solidFill>
                  <a:srgbClr val="FFFFFF"/>
                </a:solidFill>
              </a:defRPr>
            </a:pPr>
            <a:r>
              <a:rPr sz="1575" b="0">
                <a:solidFill>
                  <a:srgbClr val="FFFFFF"/>
                </a:solidFill>
                <a:latin typeface="Calibri"/>
                <a:ea typeface="맑은 고딕"/>
                <a:cs typeface="맑은 고딕"/>
              </a:rPr>
              <a:t>• 벌집위 수축에서 얻는 반추</a:t>
            </a:r>
          </a:p>
          <a:p>
            <a:pPr algn="l">
              <a:buNone/>
              <a:defRPr sz="1575" b="0">
                <a:solidFill>
                  <a:srgbClr val="FFFFFF"/>
                </a:solidFill>
              </a:defRPr>
            </a:pPr>
            <a:r>
              <a:rPr sz="1575" b="0">
                <a:solidFill>
                  <a:srgbClr val="FFFFFF"/>
                </a:solidFill>
                <a:latin typeface="Calibri"/>
                <a:ea typeface="맑은 고딕"/>
                <a:cs typeface="맑은 고딕"/>
              </a:rPr>
              <a:t>• 활동량, 선택적으로 pH</a:t>
            </a:r>
          </a:p>
          <a:p>
            <a:pPr algn="l">
              <a:buNone/>
              <a:defRPr sz="1575" b="0">
                <a:solidFill>
                  <a:srgbClr val="FFFFFF"/>
                </a:solidFill>
              </a:defRPr>
            </a:pPr>
            <a:r>
              <a:rPr sz="1575" b="0">
                <a:solidFill>
                  <a:srgbClr val="FFFFFF"/>
                </a:solidFill>
                <a:latin typeface="Calibri"/>
                <a:ea typeface="맑은 고딕"/>
                <a:cs typeface="맑은 고딕"/>
              </a:rPr>
              <a:t>• 그 소 자신의 기준선과 비교</a:t>
            </a:r>
          </a:p>
        </p:txBody>
      </p:sp>
    </p:spTree>
    <p:extLst>
      <p:ext uri="{BB962C8B-B14F-4D97-AF65-F5344CB8AC3E}">
        <p14:creationId xmlns:p14="http://schemas.microsoft.com/office/powerpoint/2010/main" val="947650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31" name="직사각형 30">
            <a:extLst>
              <a:ext uri="{FF2B5EF4-FFF2-40B4-BE49-F238E27FC236}">
                <a16:creationId xmlns:a16="http://schemas.microsoft.com/office/drawing/2014/main" id="{584CE81E-FC98-4BCC-96DE-B44D7F5B0A9E}"/>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시스템 구조</a:t>
            </a:r>
          </a:p>
        </p:txBody>
      </p:sp>
      <p:sp>
        <p:nvSpPr>
          <p:cNvPr id="2" name="직사각형 1">
            <a:extLst>
              <a:ext uri="{FF2B5EF4-FFF2-40B4-BE49-F238E27FC236}">
                <a16:creationId xmlns:a16="http://schemas.microsoft.com/office/drawing/2014/main" id="{A026D55D-4AC7-45B7-A0EA-41AE8629963B}"/>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데이터는 자동으로 흐르고, 결정은 사람이 한다</a:t>
            </a:r>
          </a:p>
        </p:txBody>
      </p:sp>
      <p:sp>
        <p:nvSpPr>
          <p:cNvPr id="3" name="직사각형 2">
            <a:extLst>
              <a:ext uri="{FF2B5EF4-FFF2-40B4-BE49-F238E27FC236}">
                <a16:creationId xmlns:a16="http://schemas.microsoft.com/office/drawing/2014/main" id="{2F814644-211F-4F11-AD38-CEA18597594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AD2464B2-DDC7-4FEC-82C2-BA9CD7CE702A}"/>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06</a:t>
            </a:r>
          </a:p>
        </p:txBody>
      </p:sp>
      <p:sp>
        <p:nvSpPr>
          <p:cNvPr id="5" name="오른쪽 화살표[R] 4">
            <a:extLst>
              <a:ext uri="{FF2B5EF4-FFF2-40B4-BE49-F238E27FC236}">
                <a16:creationId xmlns:a16="http://schemas.microsoft.com/office/drawing/2014/main" id="{25436AA8-FAF5-4A78-99C2-B09105A45CD7}"/>
              </a:ext>
            </a:extLst>
          </p:cNvPr>
          <p:cNvSpPr>
            <a:spLocks noGrp="1"/>
          </p:cNvSpPr>
          <p:nvPr/>
        </p:nvSpPr>
        <p:spPr>
          <a:xfrm>
            <a:off x="2247900" y="2952750"/>
            <a:ext cx="552450" cy="323850"/>
          </a:xfrm>
          <a:prstGeom prst="rightArrow">
            <a:avLst/>
          </a:prstGeom>
          <a:solidFill>
            <a:srgbClr val="DFF4E8"/>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33B6E8C6-238A-4C4E-9A2A-4DB37FFACFA4}"/>
              </a:ext>
            </a:extLst>
          </p:cNvPr>
          <p:cNvSpPr>
            <a:spLocks noGrp="1"/>
          </p:cNvSpPr>
          <p:nvPr/>
        </p:nvSpPr>
        <p:spPr>
          <a:xfrm>
            <a:off x="476250" y="2247900"/>
            <a:ext cx="590550" cy="590550"/>
          </a:xfrm>
          <a:prstGeom prst="ellipse">
            <a:avLst/>
          </a:prstGeom>
          <a:solidFill>
            <a:srgbClr val="65D44A"/>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C7476094-E2DA-4944-9D92-1DEF597BA161}"/>
              </a:ext>
            </a:extLst>
          </p:cNvPr>
          <p:cNvSpPr>
            <a:spLocks noGrp="1"/>
          </p:cNvSpPr>
          <p:nvPr/>
        </p:nvSpPr>
        <p:spPr>
          <a:xfrm>
            <a:off x="476250"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latin typeface="Calibri"/>
                <a:ea typeface="맑은 고딕"/>
                <a:cs typeface="맑은 고딕"/>
              </a:rPr>
              <a:t>1</a:t>
            </a:r>
          </a:p>
        </p:txBody>
      </p:sp>
      <p:sp>
        <p:nvSpPr>
          <p:cNvPr id="8" name="직사각형 7">
            <a:extLst>
              <a:ext uri="{FF2B5EF4-FFF2-40B4-BE49-F238E27FC236}">
                <a16:creationId xmlns:a16="http://schemas.microsoft.com/office/drawing/2014/main" id="{EF334C2B-BD97-4236-B9A5-AA833DD41EB4}"/>
              </a:ext>
            </a:extLst>
          </p:cNvPr>
          <p:cNvSpPr>
            <a:spLocks noGrp="1"/>
          </p:cNvSpPr>
          <p:nvPr/>
        </p:nvSpPr>
        <p:spPr>
          <a:xfrm>
            <a:off x="476250"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볼루스</a:t>
            </a:r>
          </a:p>
        </p:txBody>
      </p:sp>
      <p:sp>
        <p:nvSpPr>
          <p:cNvPr id="9" name="직사각형 8">
            <a:extLst>
              <a:ext uri="{FF2B5EF4-FFF2-40B4-BE49-F238E27FC236}">
                <a16:creationId xmlns:a16="http://schemas.microsoft.com/office/drawing/2014/main" id="{9697CCA5-FA49-4DAF-82D8-8474838271FB}"/>
              </a:ext>
            </a:extLst>
          </p:cNvPr>
          <p:cNvSpPr>
            <a:spLocks noGrp="1"/>
          </p:cNvSpPr>
          <p:nvPr/>
        </p:nvSpPr>
        <p:spPr>
          <a:xfrm>
            <a:off x="476250"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체내 신호</a:t>
            </a:r>
          </a:p>
        </p:txBody>
      </p:sp>
      <p:sp>
        <p:nvSpPr>
          <p:cNvPr id="10" name="오른쪽 화살표[R] 9">
            <a:extLst>
              <a:ext uri="{FF2B5EF4-FFF2-40B4-BE49-F238E27FC236}">
                <a16:creationId xmlns:a16="http://schemas.microsoft.com/office/drawing/2014/main" id="{00612AD2-7B1E-43F1-B2C4-85FB409ABB9B}"/>
              </a:ext>
            </a:extLst>
          </p:cNvPr>
          <p:cNvSpPr>
            <a:spLocks noGrp="1"/>
          </p:cNvSpPr>
          <p:nvPr/>
        </p:nvSpPr>
        <p:spPr>
          <a:xfrm>
            <a:off x="4581525" y="2952750"/>
            <a:ext cx="552450" cy="323850"/>
          </a:xfrm>
          <a:prstGeom prst="rightArrow">
            <a:avLst/>
          </a:prstGeom>
          <a:solidFill>
            <a:srgbClr val="DFF4E8"/>
          </a:solidFill>
          <a:ln w="0">
            <a:noFill/>
            <a:prstDash val="solid"/>
          </a:ln>
        </p:spPr>
        <p:txBody>
          <a:bodyPr/>
          <a:lstStyle/>
          <a:p>
            <a:endParaRPr lang="ko-KR" altLang="en-US"/>
          </a:p>
        </p:txBody>
      </p:sp>
      <p:sp>
        <p:nvSpPr>
          <p:cNvPr id="11" name="타원 10">
            <a:extLst>
              <a:ext uri="{FF2B5EF4-FFF2-40B4-BE49-F238E27FC236}">
                <a16:creationId xmlns:a16="http://schemas.microsoft.com/office/drawing/2014/main" id="{48A736F1-0B3F-4180-AA5A-B6CBD9FF2670}"/>
              </a:ext>
            </a:extLst>
          </p:cNvPr>
          <p:cNvSpPr>
            <a:spLocks noGrp="1"/>
          </p:cNvSpPr>
          <p:nvPr/>
        </p:nvSpPr>
        <p:spPr>
          <a:xfrm>
            <a:off x="2809875" y="2247900"/>
            <a:ext cx="590550" cy="590550"/>
          </a:xfrm>
          <a:prstGeom prst="ellipse">
            <a:avLst/>
          </a:prstGeom>
          <a:solidFill>
            <a:srgbClr val="65D44A"/>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25942D40-3AF3-4ADF-83FF-DE85E7540B8E}"/>
              </a:ext>
            </a:extLst>
          </p:cNvPr>
          <p:cNvSpPr>
            <a:spLocks noGrp="1"/>
          </p:cNvSpPr>
          <p:nvPr/>
        </p:nvSpPr>
        <p:spPr>
          <a:xfrm>
            <a:off x="2809875"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latin typeface="Calibri"/>
                <a:ea typeface="맑은 고딕"/>
                <a:cs typeface="맑은 고딕"/>
              </a:rPr>
              <a:t>2</a:t>
            </a:r>
          </a:p>
        </p:txBody>
      </p:sp>
      <p:sp>
        <p:nvSpPr>
          <p:cNvPr id="13" name="직사각형 12">
            <a:extLst>
              <a:ext uri="{FF2B5EF4-FFF2-40B4-BE49-F238E27FC236}">
                <a16:creationId xmlns:a16="http://schemas.microsoft.com/office/drawing/2014/main" id="{B38FFA21-B49F-4B32-B8E1-E24EDA25F77F}"/>
              </a:ext>
            </a:extLst>
          </p:cNvPr>
          <p:cNvSpPr>
            <a:spLocks noGrp="1"/>
          </p:cNvSpPr>
          <p:nvPr/>
        </p:nvSpPr>
        <p:spPr>
          <a:xfrm>
            <a:off x="2809875"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기지국</a:t>
            </a:r>
          </a:p>
        </p:txBody>
      </p:sp>
      <p:sp>
        <p:nvSpPr>
          <p:cNvPr id="14" name="직사각형 13">
            <a:extLst>
              <a:ext uri="{FF2B5EF4-FFF2-40B4-BE49-F238E27FC236}">
                <a16:creationId xmlns:a16="http://schemas.microsoft.com/office/drawing/2014/main" id="{3F35D29C-118D-4559-B102-C71CBDDC96A8}"/>
              </a:ext>
            </a:extLst>
          </p:cNvPr>
          <p:cNvSpPr>
            <a:spLocks noGrp="1"/>
          </p:cNvSpPr>
          <p:nvPr/>
        </p:nvSpPr>
        <p:spPr>
          <a:xfrm>
            <a:off x="2809875"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자동 수신</a:t>
            </a:r>
          </a:p>
        </p:txBody>
      </p:sp>
      <p:sp>
        <p:nvSpPr>
          <p:cNvPr id="15" name="오른쪽 화살표[R] 14">
            <a:extLst>
              <a:ext uri="{FF2B5EF4-FFF2-40B4-BE49-F238E27FC236}">
                <a16:creationId xmlns:a16="http://schemas.microsoft.com/office/drawing/2014/main" id="{8A0A417E-8953-44D8-AE94-DB24E5516027}"/>
              </a:ext>
            </a:extLst>
          </p:cNvPr>
          <p:cNvSpPr>
            <a:spLocks noGrp="1"/>
          </p:cNvSpPr>
          <p:nvPr/>
        </p:nvSpPr>
        <p:spPr>
          <a:xfrm>
            <a:off x="6915150" y="2952750"/>
            <a:ext cx="552450" cy="323850"/>
          </a:xfrm>
          <a:prstGeom prst="rightArrow">
            <a:avLst/>
          </a:prstGeom>
          <a:solidFill>
            <a:srgbClr val="DFF4E8"/>
          </a:solidFill>
          <a:ln w="0">
            <a:noFill/>
            <a:prstDash val="solid"/>
          </a:ln>
        </p:spPr>
        <p:txBody>
          <a:bodyPr/>
          <a:lstStyle/>
          <a:p>
            <a:endParaRPr lang="ko-KR" altLang="en-US"/>
          </a:p>
        </p:txBody>
      </p:sp>
      <p:sp>
        <p:nvSpPr>
          <p:cNvPr id="16" name="타원 15">
            <a:extLst>
              <a:ext uri="{FF2B5EF4-FFF2-40B4-BE49-F238E27FC236}">
                <a16:creationId xmlns:a16="http://schemas.microsoft.com/office/drawing/2014/main" id="{6685756C-364C-4FCE-BFAB-B2B0E0122DA2}"/>
              </a:ext>
            </a:extLst>
          </p:cNvPr>
          <p:cNvSpPr>
            <a:spLocks noGrp="1"/>
          </p:cNvSpPr>
          <p:nvPr/>
        </p:nvSpPr>
        <p:spPr>
          <a:xfrm>
            <a:off x="5143500" y="2247900"/>
            <a:ext cx="590550" cy="590550"/>
          </a:xfrm>
          <a:prstGeom prst="ellipse">
            <a:avLst/>
          </a:prstGeom>
          <a:solidFill>
            <a:srgbClr val="65D44A"/>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E962CE5D-17AC-419A-AA05-D8D64F471E80}"/>
              </a:ext>
            </a:extLst>
          </p:cNvPr>
          <p:cNvSpPr>
            <a:spLocks noGrp="1"/>
          </p:cNvSpPr>
          <p:nvPr/>
        </p:nvSpPr>
        <p:spPr>
          <a:xfrm>
            <a:off x="5143500"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latin typeface="Calibri"/>
                <a:ea typeface="맑은 고딕"/>
                <a:cs typeface="맑은 고딕"/>
              </a:rPr>
              <a:t>3</a:t>
            </a:r>
          </a:p>
        </p:txBody>
      </p:sp>
      <p:sp>
        <p:nvSpPr>
          <p:cNvPr id="18" name="직사각형 17">
            <a:extLst>
              <a:ext uri="{FF2B5EF4-FFF2-40B4-BE49-F238E27FC236}">
                <a16:creationId xmlns:a16="http://schemas.microsoft.com/office/drawing/2014/main" id="{079A9792-ADD7-4698-A635-07B7B9916CA4}"/>
              </a:ext>
            </a:extLst>
          </p:cNvPr>
          <p:cNvSpPr>
            <a:spLocks noGrp="1"/>
          </p:cNvSpPr>
          <p:nvPr/>
        </p:nvSpPr>
        <p:spPr>
          <a:xfrm>
            <a:off x="5143500"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클라우드 TruD®</a:t>
            </a:r>
          </a:p>
        </p:txBody>
      </p:sp>
      <p:sp>
        <p:nvSpPr>
          <p:cNvPr id="19" name="직사각형 18">
            <a:extLst>
              <a:ext uri="{FF2B5EF4-FFF2-40B4-BE49-F238E27FC236}">
                <a16:creationId xmlns:a16="http://schemas.microsoft.com/office/drawing/2014/main" id="{949A695F-5460-465E-8ACF-6C84C3BA0095}"/>
              </a:ext>
            </a:extLst>
          </p:cNvPr>
          <p:cNvSpPr>
            <a:spLocks noGrp="1"/>
          </p:cNvSpPr>
          <p:nvPr/>
        </p:nvSpPr>
        <p:spPr>
          <a:xfrm>
            <a:off x="5143500"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알고리즘과 분석</a:t>
            </a:r>
          </a:p>
        </p:txBody>
      </p:sp>
      <p:sp>
        <p:nvSpPr>
          <p:cNvPr id="20" name="오른쪽 화살표[R] 19">
            <a:extLst>
              <a:ext uri="{FF2B5EF4-FFF2-40B4-BE49-F238E27FC236}">
                <a16:creationId xmlns:a16="http://schemas.microsoft.com/office/drawing/2014/main" id="{7CBFB828-D1F9-4017-ADD1-A76575C29A05}"/>
              </a:ext>
            </a:extLst>
          </p:cNvPr>
          <p:cNvSpPr>
            <a:spLocks noGrp="1"/>
          </p:cNvSpPr>
          <p:nvPr/>
        </p:nvSpPr>
        <p:spPr>
          <a:xfrm>
            <a:off x="9248775" y="2952750"/>
            <a:ext cx="552450" cy="323850"/>
          </a:xfrm>
          <a:prstGeom prst="rightArrow">
            <a:avLst/>
          </a:prstGeom>
          <a:solidFill>
            <a:srgbClr val="DFF4E8"/>
          </a:solidFill>
          <a:ln w="0">
            <a:noFill/>
            <a:prstDash val="solid"/>
          </a:ln>
        </p:spPr>
        <p:txBody>
          <a:bodyPr/>
          <a:lstStyle/>
          <a:p>
            <a:endParaRPr lang="ko-KR" altLang="en-US"/>
          </a:p>
        </p:txBody>
      </p:sp>
      <p:sp>
        <p:nvSpPr>
          <p:cNvPr id="21" name="타원 20">
            <a:extLst>
              <a:ext uri="{FF2B5EF4-FFF2-40B4-BE49-F238E27FC236}">
                <a16:creationId xmlns:a16="http://schemas.microsoft.com/office/drawing/2014/main" id="{39A4FE0E-B1DB-49E3-8521-6AA4C2347B8A}"/>
              </a:ext>
            </a:extLst>
          </p:cNvPr>
          <p:cNvSpPr>
            <a:spLocks noGrp="1"/>
          </p:cNvSpPr>
          <p:nvPr/>
        </p:nvSpPr>
        <p:spPr>
          <a:xfrm>
            <a:off x="7477125" y="2247900"/>
            <a:ext cx="590550" cy="590550"/>
          </a:xfrm>
          <a:prstGeom prst="ellipse">
            <a:avLst/>
          </a:prstGeom>
          <a:solidFill>
            <a:srgbClr val="65D44A"/>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C87230CF-9ECF-4506-9D20-EBB62A652B1F}"/>
              </a:ext>
            </a:extLst>
          </p:cNvPr>
          <p:cNvSpPr>
            <a:spLocks noGrp="1"/>
          </p:cNvSpPr>
          <p:nvPr/>
        </p:nvSpPr>
        <p:spPr>
          <a:xfrm>
            <a:off x="7477125"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latin typeface="Calibri"/>
                <a:ea typeface="맑은 고딕"/>
                <a:cs typeface="맑은 고딕"/>
              </a:rPr>
              <a:t>4</a:t>
            </a:r>
          </a:p>
        </p:txBody>
      </p:sp>
      <p:sp>
        <p:nvSpPr>
          <p:cNvPr id="23" name="직사각형 22">
            <a:extLst>
              <a:ext uri="{FF2B5EF4-FFF2-40B4-BE49-F238E27FC236}">
                <a16:creationId xmlns:a16="http://schemas.microsoft.com/office/drawing/2014/main" id="{E3CD0999-3807-4CAC-99D9-7C6F24CCDE61}"/>
              </a:ext>
            </a:extLst>
          </p:cNvPr>
          <p:cNvSpPr>
            <a:spLocks noGrp="1"/>
          </p:cNvSpPr>
          <p:nvPr/>
        </p:nvSpPr>
        <p:spPr>
          <a:xfrm>
            <a:off x="7477125"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메신저 / 앱</a:t>
            </a:r>
          </a:p>
        </p:txBody>
      </p:sp>
      <p:sp>
        <p:nvSpPr>
          <p:cNvPr id="24" name="직사각형 23">
            <a:extLst>
              <a:ext uri="{FF2B5EF4-FFF2-40B4-BE49-F238E27FC236}">
                <a16:creationId xmlns:a16="http://schemas.microsoft.com/office/drawing/2014/main" id="{F37B1143-5885-4B6D-B92E-3EF85494E9B9}"/>
              </a:ext>
            </a:extLst>
          </p:cNvPr>
          <p:cNvSpPr>
            <a:spLocks noGrp="1"/>
          </p:cNvSpPr>
          <p:nvPr/>
        </p:nvSpPr>
        <p:spPr>
          <a:xfrm>
            <a:off x="7477125"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알람과 그래프</a:t>
            </a:r>
          </a:p>
        </p:txBody>
      </p:sp>
      <p:sp>
        <p:nvSpPr>
          <p:cNvPr id="25" name="타원 24">
            <a:extLst>
              <a:ext uri="{FF2B5EF4-FFF2-40B4-BE49-F238E27FC236}">
                <a16:creationId xmlns:a16="http://schemas.microsoft.com/office/drawing/2014/main" id="{CD48DF70-1A4C-4F23-94EB-AE2176C680A2}"/>
              </a:ext>
            </a:extLst>
          </p:cNvPr>
          <p:cNvSpPr>
            <a:spLocks noGrp="1"/>
          </p:cNvSpPr>
          <p:nvPr/>
        </p:nvSpPr>
        <p:spPr>
          <a:xfrm>
            <a:off x="9810750" y="2247900"/>
            <a:ext cx="590550" cy="590550"/>
          </a:xfrm>
          <a:prstGeom prst="ellipse">
            <a:avLst/>
          </a:prstGeom>
          <a:solidFill>
            <a:srgbClr val="65D44A"/>
          </a:solidFill>
          <a:ln w="0">
            <a:noFill/>
            <a:prstDash val="solid"/>
          </a:ln>
        </p:spPr>
        <p:txBody>
          <a:bodyPr/>
          <a:lstStyle/>
          <a:p>
            <a:endParaRPr lang="ko-KR" altLang="en-US"/>
          </a:p>
        </p:txBody>
      </p:sp>
      <p:sp>
        <p:nvSpPr>
          <p:cNvPr id="26" name="직사각형 25">
            <a:extLst>
              <a:ext uri="{FF2B5EF4-FFF2-40B4-BE49-F238E27FC236}">
                <a16:creationId xmlns:a16="http://schemas.microsoft.com/office/drawing/2014/main" id="{589354C5-5A1E-4760-B801-8412AADCD3E3}"/>
              </a:ext>
            </a:extLst>
          </p:cNvPr>
          <p:cNvSpPr>
            <a:spLocks noGrp="1"/>
          </p:cNvSpPr>
          <p:nvPr/>
        </p:nvSpPr>
        <p:spPr>
          <a:xfrm>
            <a:off x="9810750" y="2381250"/>
            <a:ext cx="590550" cy="285750"/>
          </a:xfrm>
          <a:prstGeom prst="rect">
            <a:avLst/>
          </a:prstGeom>
          <a:noFill/>
          <a:ln w="0">
            <a:noFill/>
            <a:prstDash val="solid"/>
          </a:ln>
        </p:spPr>
        <p:txBody>
          <a:bodyPr/>
          <a:lstStyle/>
          <a:p>
            <a:pPr algn="ctr">
              <a:buNone/>
              <a:defRPr sz="1800" b="1">
                <a:solidFill>
                  <a:srgbClr val="0A1B17"/>
                </a:solidFill>
              </a:defRPr>
            </a:pPr>
            <a:r>
              <a:rPr sz="1800" b="1">
                <a:solidFill>
                  <a:srgbClr val="0A1B17"/>
                </a:solidFill>
                <a:latin typeface="Calibri"/>
                <a:ea typeface="맑은 고딕"/>
                <a:cs typeface="맑은 고딕"/>
              </a:rPr>
              <a:t>5</a:t>
            </a:r>
          </a:p>
        </p:txBody>
      </p:sp>
      <p:sp>
        <p:nvSpPr>
          <p:cNvPr id="27" name="직사각형 26">
            <a:extLst>
              <a:ext uri="{FF2B5EF4-FFF2-40B4-BE49-F238E27FC236}">
                <a16:creationId xmlns:a16="http://schemas.microsoft.com/office/drawing/2014/main" id="{276BFA75-A07B-4A5E-A5DE-90BC099092ED}"/>
              </a:ext>
            </a:extLst>
          </p:cNvPr>
          <p:cNvSpPr>
            <a:spLocks noGrp="1"/>
          </p:cNvSpPr>
          <p:nvPr/>
        </p:nvSpPr>
        <p:spPr>
          <a:xfrm>
            <a:off x="9810750" y="3095625"/>
            <a:ext cx="1847850" cy="3238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현장 팀</a:t>
            </a:r>
          </a:p>
        </p:txBody>
      </p:sp>
      <p:sp>
        <p:nvSpPr>
          <p:cNvPr id="28" name="직사각형 27">
            <a:extLst>
              <a:ext uri="{FF2B5EF4-FFF2-40B4-BE49-F238E27FC236}">
                <a16:creationId xmlns:a16="http://schemas.microsoft.com/office/drawing/2014/main" id="{854BB708-82ED-49B8-8D18-1B18DE6FC966}"/>
              </a:ext>
            </a:extLst>
          </p:cNvPr>
          <p:cNvSpPr>
            <a:spLocks noGrp="1"/>
          </p:cNvSpPr>
          <p:nvPr/>
        </p:nvSpPr>
        <p:spPr>
          <a:xfrm>
            <a:off x="9810750" y="3543300"/>
            <a:ext cx="1847850" cy="571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확인과 기록</a:t>
            </a:r>
          </a:p>
        </p:txBody>
      </p:sp>
      <p:sp>
        <p:nvSpPr>
          <p:cNvPr id="29" name="모서리가 둥근 직사각형 28">
            <a:extLst>
              <a:ext uri="{FF2B5EF4-FFF2-40B4-BE49-F238E27FC236}">
                <a16:creationId xmlns:a16="http://schemas.microsoft.com/office/drawing/2014/main" id="{BEC22636-FBAA-4BFF-88EE-D96A6CAE7658}"/>
              </a:ext>
            </a:extLst>
          </p:cNvPr>
          <p:cNvSpPr>
            <a:spLocks noGrp="1"/>
          </p:cNvSpPr>
          <p:nvPr/>
        </p:nvSpPr>
        <p:spPr>
          <a:xfrm>
            <a:off x="2324100" y="4953000"/>
            <a:ext cx="7543800" cy="628650"/>
          </a:xfrm>
          <a:prstGeom prst="roundRect">
            <a:avLst>
              <a:gd name="adj" fmla="val 18182"/>
            </a:avLst>
          </a:prstGeom>
          <a:solidFill>
            <a:srgbClr val="10251F"/>
          </a:solidFill>
          <a:ln w="0">
            <a:noFill/>
            <a:prstDash val="solid"/>
          </a:ln>
        </p:spPr>
        <p:txBody>
          <a:bodyPr/>
          <a:lstStyle/>
          <a:p>
            <a:endParaRPr lang="ko-KR" altLang="en-US"/>
          </a:p>
        </p:txBody>
      </p:sp>
      <p:sp>
        <p:nvSpPr>
          <p:cNvPr id="30" name="직사각형 29">
            <a:extLst>
              <a:ext uri="{FF2B5EF4-FFF2-40B4-BE49-F238E27FC236}">
                <a16:creationId xmlns:a16="http://schemas.microsoft.com/office/drawing/2014/main" id="{FC2CF3B4-33C7-4FA6-B951-FAA6CC64BD42}"/>
              </a:ext>
            </a:extLst>
          </p:cNvPr>
          <p:cNvSpPr>
            <a:spLocks noGrp="1"/>
          </p:cNvSpPr>
          <p:nvPr/>
        </p:nvSpPr>
        <p:spPr>
          <a:xfrm>
            <a:off x="2609850" y="5143500"/>
            <a:ext cx="6972300" cy="304800"/>
          </a:xfrm>
          <a:prstGeom prst="rect">
            <a:avLst/>
          </a:prstGeom>
          <a:noFill/>
          <a:ln w="0">
            <a:noFill/>
            <a:prstDash val="solid"/>
          </a:ln>
        </p:spPr>
        <p:txBody>
          <a:bodyPr/>
          <a:lstStyle/>
          <a:p>
            <a:pPr algn="ctr">
              <a:buNone/>
              <a:defRPr sz="1800" b="1">
                <a:solidFill>
                  <a:srgbClr val="FFFFFF"/>
                </a:solidFill>
              </a:defRPr>
            </a:pPr>
            <a:r>
              <a:rPr sz="1800" b="1">
                <a:solidFill>
                  <a:srgbClr val="FFFFFF"/>
                </a:solidFill>
                <a:latin typeface="Calibri"/>
                <a:ea typeface="맑은 고딕"/>
                <a:cs typeface="맑은 고딕"/>
              </a:rPr>
              <a:t>센서는 신호를 준다. 그것을 결과로 바꾸는 것은 표준절차(SOP)다.</a:t>
            </a:r>
          </a:p>
        </p:txBody>
      </p:sp>
    </p:spTree>
    <p:extLst>
      <p:ext uri="{BB962C8B-B14F-4D97-AF65-F5344CB8AC3E}">
        <p14:creationId xmlns:p14="http://schemas.microsoft.com/office/powerpoint/2010/main" val="8439749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BE267C42-8BCF-406F-AB91-31FB7214DC8F}"/>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신호</a:t>
            </a:r>
          </a:p>
        </p:txBody>
      </p:sp>
      <p:sp>
        <p:nvSpPr>
          <p:cNvPr id="2" name="직사각형 1">
            <a:extLst>
              <a:ext uri="{FF2B5EF4-FFF2-40B4-BE49-F238E27FC236}">
                <a16:creationId xmlns:a16="http://schemas.microsoft.com/office/drawing/2014/main" id="{E80B8350-0D25-4493-84CF-F53976C92C39}"/>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다섯 신호가 모여 그 소의 이야기를 만든다</a:t>
            </a:r>
          </a:p>
        </p:txBody>
      </p:sp>
      <p:sp>
        <p:nvSpPr>
          <p:cNvPr id="3" name="직사각형 2">
            <a:extLst>
              <a:ext uri="{FF2B5EF4-FFF2-40B4-BE49-F238E27FC236}">
                <a16:creationId xmlns:a16="http://schemas.microsoft.com/office/drawing/2014/main" id="{CFDCB164-60D6-41A4-8A1E-13B8497567F3}"/>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902EDE1D-E470-4420-BC40-90098F58B833}"/>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07</a:t>
            </a:r>
          </a:p>
        </p:txBody>
      </p:sp>
      <p:sp>
        <p:nvSpPr>
          <p:cNvPr id="5" name="타원 4">
            <a:extLst>
              <a:ext uri="{FF2B5EF4-FFF2-40B4-BE49-F238E27FC236}">
                <a16:creationId xmlns:a16="http://schemas.microsoft.com/office/drawing/2014/main" id="{7806E969-7E9E-404D-9E06-85C7A35BBC63}"/>
              </a:ext>
            </a:extLst>
          </p:cNvPr>
          <p:cNvSpPr>
            <a:spLocks noGrp="1"/>
          </p:cNvSpPr>
          <p:nvPr/>
        </p:nvSpPr>
        <p:spPr>
          <a:xfrm>
            <a:off x="666750" y="1924050"/>
            <a:ext cx="781050" cy="781050"/>
          </a:xfrm>
          <a:prstGeom prst="ellipse">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74FCCB2-9F13-4994-B786-8C5FC5F7423D}"/>
              </a:ext>
            </a:extLst>
          </p:cNvPr>
          <p:cNvSpPr>
            <a:spLocks noGrp="1"/>
          </p:cNvSpPr>
          <p:nvPr/>
        </p:nvSpPr>
        <p:spPr>
          <a:xfrm>
            <a:off x="66675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latin typeface="Calibri"/>
                <a:ea typeface="맑은 고딕"/>
                <a:cs typeface="맑은 고딕"/>
              </a:rPr>
              <a:t>°C</a:t>
            </a:r>
          </a:p>
        </p:txBody>
      </p:sp>
      <p:sp>
        <p:nvSpPr>
          <p:cNvPr id="7" name="직사각형 6">
            <a:extLst>
              <a:ext uri="{FF2B5EF4-FFF2-40B4-BE49-F238E27FC236}">
                <a16:creationId xmlns:a16="http://schemas.microsoft.com/office/drawing/2014/main" id="{1566BF88-923B-464F-B7C4-217F922E82A0}"/>
              </a:ext>
            </a:extLst>
          </p:cNvPr>
          <p:cNvSpPr>
            <a:spLocks noGrp="1"/>
          </p:cNvSpPr>
          <p:nvPr/>
        </p:nvSpPr>
        <p:spPr>
          <a:xfrm>
            <a:off x="47625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latin typeface="Calibri"/>
                <a:ea typeface="맑은 고딕"/>
                <a:cs typeface="맑은 고딕"/>
              </a:rPr>
              <a:t>심부체온</a:t>
            </a:r>
          </a:p>
        </p:txBody>
      </p:sp>
      <p:sp>
        <p:nvSpPr>
          <p:cNvPr id="8" name="직사각형 7">
            <a:extLst>
              <a:ext uri="{FF2B5EF4-FFF2-40B4-BE49-F238E27FC236}">
                <a16:creationId xmlns:a16="http://schemas.microsoft.com/office/drawing/2014/main" id="{FDEB7AAC-2B88-4539-8165-F7F547DD5F5E}"/>
              </a:ext>
            </a:extLst>
          </p:cNvPr>
          <p:cNvSpPr>
            <a:spLocks noGrp="1"/>
          </p:cNvSpPr>
          <p:nvPr/>
        </p:nvSpPr>
        <p:spPr>
          <a:xfrm>
            <a:off x="24765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latin typeface="Calibri"/>
                <a:ea typeface="맑은 고딕"/>
                <a:cs typeface="맑은 고딕"/>
              </a:rPr>
              <a:t>염증, 분만, 열스트레스</a:t>
            </a:r>
          </a:p>
        </p:txBody>
      </p:sp>
      <p:sp>
        <p:nvSpPr>
          <p:cNvPr id="9" name="타원 8">
            <a:extLst>
              <a:ext uri="{FF2B5EF4-FFF2-40B4-BE49-F238E27FC236}">
                <a16:creationId xmlns:a16="http://schemas.microsoft.com/office/drawing/2014/main" id="{38AF3C9E-1EDD-46E4-ACD7-F8A0022B83C0}"/>
              </a:ext>
            </a:extLst>
          </p:cNvPr>
          <p:cNvSpPr>
            <a:spLocks noGrp="1"/>
          </p:cNvSpPr>
          <p:nvPr/>
        </p:nvSpPr>
        <p:spPr>
          <a:xfrm>
            <a:off x="2933700" y="1924050"/>
            <a:ext cx="781050" cy="781050"/>
          </a:xfrm>
          <a:prstGeom prst="ellipse">
            <a:avLst/>
          </a:prstGeom>
          <a:solidFill>
            <a:srgbClr val="65D44A"/>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85F88AB9-46BD-4821-8715-F65F46ECD422}"/>
              </a:ext>
            </a:extLst>
          </p:cNvPr>
          <p:cNvSpPr>
            <a:spLocks noGrp="1"/>
          </p:cNvSpPr>
          <p:nvPr/>
        </p:nvSpPr>
        <p:spPr>
          <a:xfrm>
            <a:off x="293370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latin typeface="Calibri"/>
                <a:ea typeface="맑은 고딕"/>
                <a:cs typeface="맑은 고딕"/>
              </a:rPr>
              <a:t>H₂O</a:t>
            </a:r>
          </a:p>
        </p:txBody>
      </p:sp>
      <p:sp>
        <p:nvSpPr>
          <p:cNvPr id="11" name="직사각형 10">
            <a:extLst>
              <a:ext uri="{FF2B5EF4-FFF2-40B4-BE49-F238E27FC236}">
                <a16:creationId xmlns:a16="http://schemas.microsoft.com/office/drawing/2014/main" id="{8F5FBCE3-BF1A-494F-8219-36EBB75FD6FD}"/>
              </a:ext>
            </a:extLst>
          </p:cNvPr>
          <p:cNvSpPr>
            <a:spLocks noGrp="1"/>
          </p:cNvSpPr>
          <p:nvPr/>
        </p:nvSpPr>
        <p:spPr>
          <a:xfrm>
            <a:off x="274320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latin typeface="Calibri"/>
                <a:ea typeface="맑은 고딕"/>
                <a:cs typeface="맑은 고딕"/>
              </a:rPr>
              <a:t>음수</a:t>
            </a:r>
          </a:p>
        </p:txBody>
      </p:sp>
      <p:sp>
        <p:nvSpPr>
          <p:cNvPr id="12" name="직사각형 11">
            <a:extLst>
              <a:ext uri="{FF2B5EF4-FFF2-40B4-BE49-F238E27FC236}">
                <a16:creationId xmlns:a16="http://schemas.microsoft.com/office/drawing/2014/main" id="{399175C8-E4B5-4D5F-A788-47A725B0E735}"/>
              </a:ext>
            </a:extLst>
          </p:cNvPr>
          <p:cNvSpPr>
            <a:spLocks noGrp="1"/>
          </p:cNvSpPr>
          <p:nvPr/>
        </p:nvSpPr>
        <p:spPr>
          <a:xfrm>
            <a:off x="251460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latin typeface="Calibri"/>
                <a:ea typeface="맑은 고딕"/>
                <a:cs typeface="맑은 고딕"/>
              </a:rPr>
              <a:t>음수 횟수와 음수량의 변화</a:t>
            </a:r>
          </a:p>
        </p:txBody>
      </p:sp>
      <p:sp>
        <p:nvSpPr>
          <p:cNvPr id="13" name="타원 12">
            <a:extLst>
              <a:ext uri="{FF2B5EF4-FFF2-40B4-BE49-F238E27FC236}">
                <a16:creationId xmlns:a16="http://schemas.microsoft.com/office/drawing/2014/main" id="{3F3A094E-9405-4B47-837D-8521524824CF}"/>
              </a:ext>
            </a:extLst>
          </p:cNvPr>
          <p:cNvSpPr>
            <a:spLocks noGrp="1"/>
          </p:cNvSpPr>
          <p:nvPr/>
        </p:nvSpPr>
        <p:spPr>
          <a:xfrm>
            <a:off x="5200650" y="1924050"/>
            <a:ext cx="781050" cy="781050"/>
          </a:xfrm>
          <a:prstGeom prst="ellipse">
            <a:avLst/>
          </a:prstGeom>
          <a:solidFill>
            <a:srgbClr val="65D44A"/>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3E2352C2-8C37-46F0-B632-4D3D4FE018E2}"/>
              </a:ext>
            </a:extLst>
          </p:cNvPr>
          <p:cNvSpPr>
            <a:spLocks noGrp="1"/>
          </p:cNvSpPr>
          <p:nvPr/>
        </p:nvSpPr>
        <p:spPr>
          <a:xfrm>
            <a:off x="520065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latin typeface="Calibri"/>
                <a:ea typeface="맑은 고딕"/>
                <a:cs typeface="맑은 고딕"/>
              </a:rPr>
              <a:t>R</a:t>
            </a:r>
          </a:p>
        </p:txBody>
      </p:sp>
      <p:sp>
        <p:nvSpPr>
          <p:cNvPr id="15" name="직사각형 14">
            <a:extLst>
              <a:ext uri="{FF2B5EF4-FFF2-40B4-BE49-F238E27FC236}">
                <a16:creationId xmlns:a16="http://schemas.microsoft.com/office/drawing/2014/main" id="{590DD956-E71E-4BA8-90C7-2A89F57198B9}"/>
              </a:ext>
            </a:extLst>
          </p:cNvPr>
          <p:cNvSpPr>
            <a:spLocks noGrp="1"/>
          </p:cNvSpPr>
          <p:nvPr/>
        </p:nvSpPr>
        <p:spPr>
          <a:xfrm>
            <a:off x="501015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latin typeface="Calibri"/>
                <a:ea typeface="맑은 고딕"/>
                <a:cs typeface="맑은 고딕"/>
              </a:rPr>
              <a:t>반추</a:t>
            </a:r>
          </a:p>
        </p:txBody>
      </p:sp>
      <p:sp>
        <p:nvSpPr>
          <p:cNvPr id="16" name="직사각형 15">
            <a:extLst>
              <a:ext uri="{FF2B5EF4-FFF2-40B4-BE49-F238E27FC236}">
                <a16:creationId xmlns:a16="http://schemas.microsoft.com/office/drawing/2014/main" id="{3C31AE90-F3A6-4E95-B9E0-CD3D7B159FF1}"/>
              </a:ext>
            </a:extLst>
          </p:cNvPr>
          <p:cNvSpPr>
            <a:spLocks noGrp="1"/>
          </p:cNvSpPr>
          <p:nvPr/>
        </p:nvSpPr>
        <p:spPr>
          <a:xfrm>
            <a:off x="478155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latin typeface="Calibri"/>
                <a:ea typeface="맑은 고딕"/>
                <a:cs typeface="맑은 고딕"/>
              </a:rPr>
              <a:t>건강과 사료에 대한 반응</a:t>
            </a:r>
          </a:p>
        </p:txBody>
      </p:sp>
      <p:sp>
        <p:nvSpPr>
          <p:cNvPr id="17" name="타원 16">
            <a:extLst>
              <a:ext uri="{FF2B5EF4-FFF2-40B4-BE49-F238E27FC236}">
                <a16:creationId xmlns:a16="http://schemas.microsoft.com/office/drawing/2014/main" id="{DA38661F-B73B-4A46-9898-81BD91CCBD3A}"/>
              </a:ext>
            </a:extLst>
          </p:cNvPr>
          <p:cNvSpPr>
            <a:spLocks noGrp="1"/>
          </p:cNvSpPr>
          <p:nvPr/>
        </p:nvSpPr>
        <p:spPr>
          <a:xfrm>
            <a:off x="7467600" y="1924050"/>
            <a:ext cx="781050" cy="781050"/>
          </a:xfrm>
          <a:prstGeom prst="ellipse">
            <a:avLst/>
          </a:prstGeom>
          <a:solidFill>
            <a:srgbClr val="65D44A"/>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70468AAB-A65C-498A-B9C9-9717FC07CDF2}"/>
              </a:ext>
            </a:extLst>
          </p:cNvPr>
          <p:cNvSpPr>
            <a:spLocks noGrp="1"/>
          </p:cNvSpPr>
          <p:nvPr/>
        </p:nvSpPr>
        <p:spPr>
          <a:xfrm>
            <a:off x="746760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latin typeface="Calibri"/>
                <a:ea typeface="맑은 고딕"/>
                <a:cs typeface="맑은 고딕"/>
              </a:rPr>
              <a:t>A</a:t>
            </a:r>
          </a:p>
        </p:txBody>
      </p:sp>
      <p:sp>
        <p:nvSpPr>
          <p:cNvPr id="19" name="직사각형 18">
            <a:extLst>
              <a:ext uri="{FF2B5EF4-FFF2-40B4-BE49-F238E27FC236}">
                <a16:creationId xmlns:a16="http://schemas.microsoft.com/office/drawing/2014/main" id="{DEBD9721-2560-438E-8810-78FE5315F86D}"/>
              </a:ext>
            </a:extLst>
          </p:cNvPr>
          <p:cNvSpPr>
            <a:spLocks noGrp="1"/>
          </p:cNvSpPr>
          <p:nvPr/>
        </p:nvSpPr>
        <p:spPr>
          <a:xfrm>
            <a:off x="727710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latin typeface="Calibri"/>
                <a:ea typeface="맑은 고딕"/>
                <a:cs typeface="맑은 고딕"/>
              </a:rPr>
              <a:t>활동량</a:t>
            </a:r>
          </a:p>
        </p:txBody>
      </p:sp>
      <p:sp>
        <p:nvSpPr>
          <p:cNvPr id="20" name="직사각형 19">
            <a:extLst>
              <a:ext uri="{FF2B5EF4-FFF2-40B4-BE49-F238E27FC236}">
                <a16:creationId xmlns:a16="http://schemas.microsoft.com/office/drawing/2014/main" id="{333ACF2C-E558-497C-9BB4-47D8BF6C277D}"/>
              </a:ext>
            </a:extLst>
          </p:cNvPr>
          <p:cNvSpPr>
            <a:spLocks noGrp="1"/>
          </p:cNvSpPr>
          <p:nvPr/>
        </p:nvSpPr>
        <p:spPr>
          <a:xfrm>
            <a:off x="704850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latin typeface="Calibri"/>
                <a:ea typeface="맑은 고딕"/>
                <a:cs typeface="맑은 고딕"/>
              </a:rPr>
              <a:t>발정, 파행, 급격한 행동 변화</a:t>
            </a:r>
          </a:p>
        </p:txBody>
      </p:sp>
      <p:sp>
        <p:nvSpPr>
          <p:cNvPr id="21" name="타원 20">
            <a:extLst>
              <a:ext uri="{FF2B5EF4-FFF2-40B4-BE49-F238E27FC236}">
                <a16:creationId xmlns:a16="http://schemas.microsoft.com/office/drawing/2014/main" id="{B5B6CF9B-4A04-4BFB-B8E7-2015DB2B0FB2}"/>
              </a:ext>
            </a:extLst>
          </p:cNvPr>
          <p:cNvSpPr>
            <a:spLocks noGrp="1"/>
          </p:cNvSpPr>
          <p:nvPr/>
        </p:nvSpPr>
        <p:spPr>
          <a:xfrm>
            <a:off x="9734550" y="1924050"/>
            <a:ext cx="781050" cy="781050"/>
          </a:xfrm>
          <a:prstGeom prst="ellipse">
            <a:avLst/>
          </a:prstGeom>
          <a:solidFill>
            <a:srgbClr val="F6B846"/>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CD7D7EAA-C97D-45E8-A80F-EAACD5416D4F}"/>
              </a:ext>
            </a:extLst>
          </p:cNvPr>
          <p:cNvSpPr>
            <a:spLocks noGrp="1"/>
          </p:cNvSpPr>
          <p:nvPr/>
        </p:nvSpPr>
        <p:spPr>
          <a:xfrm>
            <a:off x="9734550" y="2152650"/>
            <a:ext cx="781050" cy="333375"/>
          </a:xfrm>
          <a:prstGeom prst="rect">
            <a:avLst/>
          </a:prstGeom>
          <a:noFill/>
          <a:ln w="0">
            <a:noFill/>
            <a:prstDash val="solid"/>
          </a:ln>
        </p:spPr>
        <p:txBody>
          <a:bodyPr/>
          <a:lstStyle/>
          <a:p>
            <a:pPr algn="ctr">
              <a:buNone/>
              <a:defRPr sz="1875" b="1">
                <a:solidFill>
                  <a:srgbClr val="0A1B17"/>
                </a:solidFill>
              </a:defRPr>
            </a:pPr>
            <a:r>
              <a:rPr sz="1875" b="1">
                <a:solidFill>
                  <a:srgbClr val="0A1B17"/>
                </a:solidFill>
                <a:latin typeface="Calibri"/>
                <a:ea typeface="맑은 고딕"/>
                <a:cs typeface="맑은 고딕"/>
              </a:rPr>
              <a:t>pH</a:t>
            </a:r>
          </a:p>
        </p:txBody>
      </p:sp>
      <p:sp>
        <p:nvSpPr>
          <p:cNvPr id="23" name="직사각형 22">
            <a:extLst>
              <a:ext uri="{FF2B5EF4-FFF2-40B4-BE49-F238E27FC236}">
                <a16:creationId xmlns:a16="http://schemas.microsoft.com/office/drawing/2014/main" id="{5E0697E2-5F56-444A-AEC4-8D7B77D64D8F}"/>
              </a:ext>
            </a:extLst>
          </p:cNvPr>
          <p:cNvSpPr>
            <a:spLocks noGrp="1"/>
          </p:cNvSpPr>
          <p:nvPr/>
        </p:nvSpPr>
        <p:spPr>
          <a:xfrm>
            <a:off x="9544050" y="2952750"/>
            <a:ext cx="1162050" cy="323850"/>
          </a:xfrm>
          <a:prstGeom prst="rect">
            <a:avLst/>
          </a:prstGeom>
          <a:noFill/>
          <a:ln w="0">
            <a:noFill/>
            <a:prstDash val="solid"/>
          </a:ln>
        </p:spPr>
        <p:txBody>
          <a:bodyPr/>
          <a:lstStyle/>
          <a:p>
            <a:pPr algn="ctr">
              <a:buNone/>
              <a:defRPr sz="1575" b="1">
                <a:solidFill>
                  <a:srgbClr val="10251F"/>
                </a:solidFill>
              </a:defRPr>
            </a:pPr>
            <a:r>
              <a:rPr sz="1575" b="1">
                <a:solidFill>
                  <a:srgbClr val="10251F"/>
                </a:solidFill>
                <a:latin typeface="Calibri"/>
                <a:ea typeface="맑은 고딕"/>
                <a:cs typeface="맑은 고딕"/>
              </a:rPr>
              <a:t>반추위 pH</a:t>
            </a:r>
          </a:p>
        </p:txBody>
      </p:sp>
      <p:sp>
        <p:nvSpPr>
          <p:cNvPr id="24" name="직사각형 23">
            <a:extLst>
              <a:ext uri="{FF2B5EF4-FFF2-40B4-BE49-F238E27FC236}">
                <a16:creationId xmlns:a16="http://schemas.microsoft.com/office/drawing/2014/main" id="{5F9B7448-2C50-4385-9DE8-1D4B7DC12769}"/>
              </a:ext>
            </a:extLst>
          </p:cNvPr>
          <p:cNvSpPr>
            <a:spLocks noGrp="1"/>
          </p:cNvSpPr>
          <p:nvPr/>
        </p:nvSpPr>
        <p:spPr>
          <a:xfrm>
            <a:off x="9315450" y="3467100"/>
            <a:ext cx="1619250" cy="990600"/>
          </a:xfrm>
          <a:prstGeom prst="rect">
            <a:avLst/>
          </a:prstGeom>
          <a:noFill/>
          <a:ln w="0">
            <a:noFill/>
            <a:prstDash val="solid"/>
          </a:ln>
        </p:spPr>
        <p:txBody>
          <a:bodyPr/>
          <a:lstStyle/>
          <a:p>
            <a:pPr algn="ctr">
              <a:buNone/>
              <a:defRPr sz="1200" b="0">
                <a:solidFill>
                  <a:srgbClr val="66746F"/>
                </a:solidFill>
              </a:defRPr>
            </a:pPr>
            <a:r>
              <a:rPr sz="1200" b="0">
                <a:solidFill>
                  <a:srgbClr val="66746F"/>
                </a:solidFill>
                <a:latin typeface="Calibri"/>
                <a:ea typeface="맑은 고딕"/>
                <a:cs typeface="맑은 고딕"/>
              </a:rPr>
              <a:t>발효 안정성과 아급성 산독증 위험</a:t>
            </a:r>
          </a:p>
        </p:txBody>
      </p:sp>
      <p:sp>
        <p:nvSpPr>
          <p:cNvPr id="25" name="직사각형 24">
            <a:extLst>
              <a:ext uri="{FF2B5EF4-FFF2-40B4-BE49-F238E27FC236}">
                <a16:creationId xmlns:a16="http://schemas.microsoft.com/office/drawing/2014/main" id="{0D236732-BA36-4025-A2C9-9530E9DF5410}"/>
              </a:ext>
            </a:extLst>
          </p:cNvPr>
          <p:cNvSpPr>
            <a:spLocks noGrp="1"/>
          </p:cNvSpPr>
          <p:nvPr/>
        </p:nvSpPr>
        <p:spPr>
          <a:xfrm>
            <a:off x="685800" y="5219700"/>
            <a:ext cx="10820400" cy="361950"/>
          </a:xfrm>
          <a:prstGeom prst="rect">
            <a:avLst/>
          </a:prstGeom>
          <a:noFill/>
          <a:ln w="0">
            <a:noFill/>
            <a:prstDash val="solid"/>
          </a:ln>
        </p:spPr>
        <p:txBody>
          <a:bodyPr/>
          <a:lstStyle/>
          <a:p>
            <a:pPr algn="ctr">
              <a:buNone/>
              <a:defRPr sz="1650" b="1">
                <a:solidFill>
                  <a:srgbClr val="15A98C"/>
                </a:solidFill>
              </a:defRPr>
            </a:pPr>
            <a:r>
              <a:rPr sz="1650" b="1">
                <a:solidFill>
                  <a:srgbClr val="15A98C"/>
                </a:solidFill>
                <a:latin typeface="Calibri"/>
                <a:ea typeface="맑은 고딕"/>
                <a:cs typeface="맑은 고딕"/>
              </a:rPr>
              <a:t>추이 &gt; 한 점   |   조합 &gt; 단일 신호   |   확인 &gt; 추측</a:t>
            </a:r>
          </a:p>
        </p:txBody>
      </p:sp>
    </p:spTree>
    <p:extLst>
      <p:ext uri="{BB962C8B-B14F-4D97-AF65-F5344CB8AC3E}">
        <p14:creationId xmlns:p14="http://schemas.microsoft.com/office/powerpoint/2010/main" val="19003123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02A0DE54-57D7-4430-80A4-15BBB4D3849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심부체온</a:t>
            </a:r>
          </a:p>
        </p:txBody>
      </p:sp>
      <p:sp>
        <p:nvSpPr>
          <p:cNvPr id="2" name="직사각형 1">
            <a:extLst>
              <a:ext uri="{FF2B5EF4-FFF2-40B4-BE49-F238E27FC236}">
                <a16:creationId xmlns:a16="http://schemas.microsoft.com/office/drawing/2014/main" id="{48E002E4-E002-4F13-BCFA-9737DA284ED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체온은 조기 확인을 이끄는 강력한 체내 신호다</a:t>
            </a:r>
          </a:p>
        </p:txBody>
      </p:sp>
      <p:sp>
        <p:nvSpPr>
          <p:cNvPr id="3" name="직사각형 2">
            <a:extLst>
              <a:ext uri="{FF2B5EF4-FFF2-40B4-BE49-F238E27FC236}">
                <a16:creationId xmlns:a16="http://schemas.microsoft.com/office/drawing/2014/main" id="{25CB0A2A-309B-47F1-906C-3F687EF60DD4}"/>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8EE44A08-006A-4CFE-A7DF-1BCA0B1C1613}"/>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08</a:t>
            </a:r>
          </a:p>
        </p:txBody>
      </p:sp>
      <p:sp>
        <p:nvSpPr>
          <p:cNvPr id="5" name="직사각형 4">
            <a:extLst>
              <a:ext uri="{FF2B5EF4-FFF2-40B4-BE49-F238E27FC236}">
                <a16:creationId xmlns:a16="http://schemas.microsoft.com/office/drawing/2014/main" id="{D460D05A-BBC3-427E-9B93-08C70D04D956}"/>
              </a:ext>
            </a:extLst>
          </p:cNvPr>
          <p:cNvSpPr>
            <a:spLocks noGrp="1"/>
          </p:cNvSpPr>
          <p:nvPr/>
        </p:nvSpPr>
        <p:spPr>
          <a:xfrm>
            <a:off x="685800" y="1885950"/>
            <a:ext cx="3048000" cy="609600"/>
          </a:xfrm>
          <a:prstGeom prst="rect">
            <a:avLst/>
          </a:prstGeom>
          <a:noFill/>
          <a:ln w="0">
            <a:noFill/>
            <a:prstDash val="solid"/>
          </a:ln>
        </p:spPr>
        <p:txBody>
          <a:bodyPr/>
          <a:lstStyle/>
          <a:p>
            <a:pPr algn="l">
              <a:buNone/>
              <a:defRPr sz="3600" b="1">
                <a:solidFill>
                  <a:srgbClr val="E96155"/>
                </a:solidFill>
              </a:defRPr>
            </a:pPr>
            <a:r>
              <a:rPr sz="3600" b="1">
                <a:solidFill>
                  <a:srgbClr val="E96155"/>
                </a:solidFill>
                <a:latin typeface="Calibri"/>
                <a:ea typeface="맑은 고딕"/>
                <a:cs typeface="맑은 고딕"/>
              </a:rPr>
              <a:t>±0.01 °C</a:t>
            </a:r>
          </a:p>
        </p:txBody>
      </p:sp>
      <p:sp>
        <p:nvSpPr>
          <p:cNvPr id="6" name="직사각형 5">
            <a:extLst>
              <a:ext uri="{FF2B5EF4-FFF2-40B4-BE49-F238E27FC236}">
                <a16:creationId xmlns:a16="http://schemas.microsoft.com/office/drawing/2014/main" id="{7745B9E6-4F6B-453A-A73D-15C7974FDFEC}"/>
              </a:ext>
            </a:extLst>
          </p:cNvPr>
          <p:cNvSpPr>
            <a:spLocks noGrp="1"/>
          </p:cNvSpPr>
          <p:nvPr/>
        </p:nvSpPr>
        <p:spPr>
          <a:xfrm>
            <a:off x="685800" y="2476500"/>
            <a:ext cx="3048000" cy="533400"/>
          </a:xfrm>
          <a:prstGeom prst="rect">
            <a:avLst/>
          </a:prstGeom>
          <a:noFill/>
          <a:ln w="0">
            <a:noFill/>
            <a:prstDash val="solid"/>
          </a:ln>
        </p:spPr>
        <p:txBody>
          <a:bodyPr/>
          <a:lstStyle/>
          <a:p>
            <a:pPr algn="l">
              <a:buNone/>
              <a:defRPr sz="1275" b="0">
                <a:solidFill>
                  <a:srgbClr val="66746F"/>
                </a:solidFill>
              </a:defRPr>
            </a:pPr>
            <a:r>
              <a:rPr sz="1275" b="0">
                <a:solidFill>
                  <a:srgbClr val="66746F"/>
                </a:solidFill>
                <a:latin typeface="Calibri"/>
                <a:ea typeface="맑은 고딕"/>
                <a:cs typeface="맑은 고딕"/>
              </a:rPr>
              <a:t>제조사가 밝힌 상대 측정 정확도</a:t>
            </a:r>
          </a:p>
        </p:txBody>
      </p:sp>
      <p:sp>
        <p:nvSpPr>
          <p:cNvPr id="7" name="타원 6">
            <a:extLst>
              <a:ext uri="{FF2B5EF4-FFF2-40B4-BE49-F238E27FC236}">
                <a16:creationId xmlns:a16="http://schemas.microsoft.com/office/drawing/2014/main" id="{6225F113-9436-4ECB-9664-EA54D16FE371}"/>
              </a:ext>
            </a:extLst>
          </p:cNvPr>
          <p:cNvSpPr>
            <a:spLocks noGrp="1"/>
          </p:cNvSpPr>
          <p:nvPr/>
        </p:nvSpPr>
        <p:spPr>
          <a:xfrm>
            <a:off x="4095750" y="1943100"/>
            <a:ext cx="114300" cy="114300"/>
          </a:xfrm>
          <a:prstGeom prst="ellipse">
            <a:avLst/>
          </a:prstGeom>
          <a:solidFill>
            <a:srgbClr val="65D44A"/>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FE729EF0-689A-4047-B77C-56B2FBABD48F}"/>
              </a:ext>
            </a:extLst>
          </p:cNvPr>
          <p:cNvSpPr>
            <a:spLocks noGrp="1"/>
          </p:cNvSpPr>
          <p:nvPr/>
        </p:nvSpPr>
        <p:spPr>
          <a:xfrm>
            <a:off x="4362450" y="186690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latin typeface="Calibri"/>
                <a:ea typeface="맑은 고딕"/>
                <a:cs typeface="맑은 고딕"/>
              </a:rPr>
              <a:t>그 소 자신의 기준선에서 얼마나 벗어났는지를 본다</a:t>
            </a:r>
          </a:p>
        </p:txBody>
      </p:sp>
      <p:sp>
        <p:nvSpPr>
          <p:cNvPr id="9" name="타원 8">
            <a:extLst>
              <a:ext uri="{FF2B5EF4-FFF2-40B4-BE49-F238E27FC236}">
                <a16:creationId xmlns:a16="http://schemas.microsoft.com/office/drawing/2014/main" id="{B20B7461-501A-4D87-BC4A-3F4391025B42}"/>
              </a:ext>
            </a:extLst>
          </p:cNvPr>
          <p:cNvSpPr>
            <a:spLocks noGrp="1"/>
          </p:cNvSpPr>
          <p:nvPr/>
        </p:nvSpPr>
        <p:spPr>
          <a:xfrm>
            <a:off x="4095750" y="2609850"/>
            <a:ext cx="114300" cy="114300"/>
          </a:xfrm>
          <a:prstGeom prst="ellipse">
            <a:avLst/>
          </a:prstGeom>
          <a:solidFill>
            <a:srgbClr val="65D44A"/>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D4989B85-D238-4E8E-8C63-6EFB1EEC6B79}"/>
              </a:ext>
            </a:extLst>
          </p:cNvPr>
          <p:cNvSpPr>
            <a:spLocks noGrp="1"/>
          </p:cNvSpPr>
          <p:nvPr/>
        </p:nvSpPr>
        <p:spPr>
          <a:xfrm>
            <a:off x="4362450" y="253365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latin typeface="Calibri"/>
                <a:ea typeface="맑은 고딕"/>
                <a:cs typeface="맑은 고딕"/>
              </a:rPr>
              <a:t>상승은 염증과 부합할 수 있다</a:t>
            </a:r>
          </a:p>
        </p:txBody>
      </p:sp>
      <p:sp>
        <p:nvSpPr>
          <p:cNvPr id="11" name="타원 10">
            <a:extLst>
              <a:ext uri="{FF2B5EF4-FFF2-40B4-BE49-F238E27FC236}">
                <a16:creationId xmlns:a16="http://schemas.microsoft.com/office/drawing/2014/main" id="{6EE88806-B30A-4069-B837-3C1D201AA562}"/>
              </a:ext>
            </a:extLst>
          </p:cNvPr>
          <p:cNvSpPr>
            <a:spLocks noGrp="1"/>
          </p:cNvSpPr>
          <p:nvPr/>
        </p:nvSpPr>
        <p:spPr>
          <a:xfrm>
            <a:off x="4095750" y="3276600"/>
            <a:ext cx="114300" cy="114300"/>
          </a:xfrm>
          <a:prstGeom prst="ellipse">
            <a:avLst/>
          </a:prstGeom>
          <a:solidFill>
            <a:srgbClr val="65D44A"/>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827A85D8-5AA6-4CDB-BF28-27B48AF269B1}"/>
              </a:ext>
            </a:extLst>
          </p:cNvPr>
          <p:cNvSpPr>
            <a:spLocks noGrp="1"/>
          </p:cNvSpPr>
          <p:nvPr/>
        </p:nvSpPr>
        <p:spPr>
          <a:xfrm>
            <a:off x="4362450" y="320040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latin typeface="Calibri"/>
                <a:ea typeface="맑은 고딕"/>
                <a:cs typeface="맑은 고딕"/>
              </a:rPr>
              <a:t>하강은 분만 맥락에서 다른 징후와 함께 볼 때 의미가 있다</a:t>
            </a:r>
          </a:p>
        </p:txBody>
      </p:sp>
      <p:sp>
        <p:nvSpPr>
          <p:cNvPr id="13" name="타원 12">
            <a:extLst>
              <a:ext uri="{FF2B5EF4-FFF2-40B4-BE49-F238E27FC236}">
                <a16:creationId xmlns:a16="http://schemas.microsoft.com/office/drawing/2014/main" id="{B40A7FFC-E702-4226-8BD7-DC29AC4BA2EA}"/>
              </a:ext>
            </a:extLst>
          </p:cNvPr>
          <p:cNvSpPr>
            <a:spLocks noGrp="1"/>
          </p:cNvSpPr>
          <p:nvPr/>
        </p:nvSpPr>
        <p:spPr>
          <a:xfrm>
            <a:off x="4095750" y="3943350"/>
            <a:ext cx="114300" cy="114300"/>
          </a:xfrm>
          <a:prstGeom prst="ellipse">
            <a:avLst/>
          </a:prstGeom>
          <a:solidFill>
            <a:srgbClr val="65D44A"/>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BFEDBAF2-CDC7-4DBF-A025-8DE046A256B6}"/>
              </a:ext>
            </a:extLst>
          </p:cNvPr>
          <p:cNvSpPr>
            <a:spLocks noGrp="1"/>
          </p:cNvSpPr>
          <p:nvPr/>
        </p:nvSpPr>
        <p:spPr>
          <a:xfrm>
            <a:off x="4362450" y="3867150"/>
            <a:ext cx="6591300" cy="628650"/>
          </a:xfrm>
          <a:prstGeom prst="rect">
            <a:avLst/>
          </a:prstGeom>
          <a:noFill/>
          <a:ln w="0">
            <a:noFill/>
            <a:prstDash val="solid"/>
          </a:ln>
        </p:spPr>
        <p:txBody>
          <a:bodyPr/>
          <a:lstStyle/>
          <a:p>
            <a:pPr algn="l">
              <a:buNone/>
              <a:defRPr sz="1650" b="0">
                <a:solidFill>
                  <a:srgbClr val="10251F"/>
                </a:solidFill>
              </a:defRPr>
            </a:pPr>
            <a:r>
              <a:rPr sz="1650" b="0">
                <a:solidFill>
                  <a:srgbClr val="10251F"/>
                </a:solidFill>
                <a:latin typeface="Calibri"/>
                <a:ea typeface="맑은 고딕"/>
                <a:cs typeface="맑은 고딕"/>
              </a:rPr>
              <a:t>열스트레스는 기후·음수·반추와 함께 읽는다</a:t>
            </a:r>
          </a:p>
        </p:txBody>
      </p:sp>
      <p:sp>
        <p:nvSpPr>
          <p:cNvPr id="15" name="모서리가 둥근 직사각형 14">
            <a:extLst>
              <a:ext uri="{FF2B5EF4-FFF2-40B4-BE49-F238E27FC236}">
                <a16:creationId xmlns:a16="http://schemas.microsoft.com/office/drawing/2014/main" id="{A5800FB2-AC6B-4AA4-8F28-B0892D2BDA54}"/>
              </a:ext>
            </a:extLst>
          </p:cNvPr>
          <p:cNvSpPr>
            <a:spLocks noGrp="1"/>
          </p:cNvSpPr>
          <p:nvPr/>
        </p:nvSpPr>
        <p:spPr>
          <a:xfrm>
            <a:off x="685800" y="4857750"/>
            <a:ext cx="10820400" cy="704850"/>
          </a:xfrm>
          <a:prstGeom prst="roundRect">
            <a:avLst>
              <a:gd name="adj" fmla="val 16216"/>
            </a:avLst>
          </a:prstGeom>
          <a:solidFill>
            <a:srgbClr val="DFF4E8"/>
          </a:solidFill>
          <a:ln w="0">
            <a:noFill/>
            <a:prstDash val="solid"/>
          </a:ln>
        </p:spPr>
        <p:txBody>
          <a:bodyPr/>
          <a:lstStyle/>
          <a:p>
            <a:endParaRPr lang="ko-KR" altLang="en-US"/>
          </a:p>
        </p:txBody>
      </p:sp>
      <p:sp>
        <p:nvSpPr>
          <p:cNvPr id="16" name="직사각형 15">
            <a:extLst>
              <a:ext uri="{FF2B5EF4-FFF2-40B4-BE49-F238E27FC236}">
                <a16:creationId xmlns:a16="http://schemas.microsoft.com/office/drawing/2014/main" id="{332B0D49-2C1B-41F1-B291-182857578011}"/>
              </a:ext>
            </a:extLst>
          </p:cNvPr>
          <p:cNvSpPr>
            <a:spLocks noGrp="1"/>
          </p:cNvSpPr>
          <p:nvPr/>
        </p:nvSpPr>
        <p:spPr>
          <a:xfrm>
            <a:off x="971550" y="5067300"/>
            <a:ext cx="10248900" cy="304800"/>
          </a:xfrm>
          <a:prstGeom prst="rect">
            <a:avLst/>
          </a:prstGeom>
          <a:noFill/>
          <a:ln w="0">
            <a:noFill/>
            <a:prstDash val="solid"/>
          </a:ln>
        </p:spPr>
        <p:txBody>
          <a:bodyPr/>
          <a:lstStyle/>
          <a:p>
            <a:pPr algn="ctr">
              <a:buNone/>
              <a:defRPr sz="1650" b="1">
                <a:solidFill>
                  <a:srgbClr val="10251F"/>
                </a:solidFill>
              </a:defRPr>
            </a:pPr>
            <a:r>
              <a:rPr sz="1650" b="1">
                <a:solidFill>
                  <a:srgbClr val="10251F"/>
                </a:solidFill>
                <a:latin typeface="Calibri"/>
                <a:ea typeface="맑은 고딕"/>
                <a:cs typeface="맑은 고딕"/>
              </a:rPr>
              <a:t>알람은 진단이 아니다. 먼저 관찰하고, 재고, 이력과 표준절차를 확인한다.</a:t>
            </a:r>
          </a:p>
        </p:txBody>
      </p:sp>
    </p:spTree>
    <p:extLst>
      <p:ext uri="{BB962C8B-B14F-4D97-AF65-F5344CB8AC3E}">
        <p14:creationId xmlns:p14="http://schemas.microsoft.com/office/powerpoint/2010/main" val="19738302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00FC669C-C660-42CE-BD2A-35F41612104C}"/>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음수</a:t>
            </a:r>
          </a:p>
        </p:txBody>
      </p:sp>
      <p:sp>
        <p:nvSpPr>
          <p:cNvPr id="2" name="직사각형 1">
            <a:extLst>
              <a:ext uri="{FF2B5EF4-FFF2-40B4-BE49-F238E27FC236}">
                <a16:creationId xmlns:a16="http://schemas.microsoft.com/office/drawing/2014/main" id="{45345639-BB1D-430F-8304-59B0FC92DA74}"/>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음수 신호는 유량이 변하기 전에 문제를 드러낼 수 있다</a:t>
            </a:r>
          </a:p>
        </p:txBody>
      </p:sp>
      <p:sp>
        <p:nvSpPr>
          <p:cNvPr id="3" name="직사각형 2">
            <a:extLst>
              <a:ext uri="{FF2B5EF4-FFF2-40B4-BE49-F238E27FC236}">
                <a16:creationId xmlns:a16="http://schemas.microsoft.com/office/drawing/2014/main" id="{D7471110-55C8-48AD-B7B2-A51279D9648E}"/>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E87FB937-E9B9-4E2B-843B-F07449904539}"/>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09</a:t>
            </a:r>
          </a:p>
        </p:txBody>
      </p:sp>
      <p:sp>
        <p:nvSpPr>
          <p:cNvPr id="5" name="직사각형 4">
            <a:extLst>
              <a:ext uri="{FF2B5EF4-FFF2-40B4-BE49-F238E27FC236}">
                <a16:creationId xmlns:a16="http://schemas.microsoft.com/office/drawing/2014/main" id="{773DE68C-AEF4-4B4D-8745-AD055887D41E}"/>
              </a:ext>
            </a:extLst>
          </p:cNvPr>
          <p:cNvSpPr>
            <a:spLocks noGrp="1"/>
          </p:cNvSpPr>
          <p:nvPr/>
        </p:nvSpPr>
        <p:spPr>
          <a:xfrm>
            <a:off x="685800" y="1809750"/>
            <a:ext cx="2857500" cy="381000"/>
          </a:xfrm>
          <a:prstGeom prst="rect">
            <a:avLst/>
          </a:prstGeom>
          <a:noFill/>
          <a:ln w="0">
            <a:noFill/>
            <a:prstDash val="solid"/>
          </a:ln>
        </p:spPr>
        <p:txBody>
          <a:bodyPr/>
          <a:lstStyle/>
          <a:p>
            <a:pPr algn="l">
              <a:buNone/>
              <a:defRPr sz="2025" b="1">
                <a:solidFill>
                  <a:srgbClr val="15A98C"/>
                </a:solidFill>
              </a:defRPr>
            </a:pPr>
            <a:r>
              <a:rPr sz="2025" b="1">
                <a:solidFill>
                  <a:srgbClr val="15A98C"/>
                </a:solidFill>
                <a:latin typeface="Calibri"/>
                <a:ea typeface="맑은 고딕"/>
                <a:cs typeface="맑은 고딕"/>
              </a:rPr>
              <a:t>무엇을 보는가?</a:t>
            </a:r>
          </a:p>
        </p:txBody>
      </p:sp>
      <p:sp>
        <p:nvSpPr>
          <p:cNvPr id="6" name="타원 5">
            <a:extLst>
              <a:ext uri="{FF2B5EF4-FFF2-40B4-BE49-F238E27FC236}">
                <a16:creationId xmlns:a16="http://schemas.microsoft.com/office/drawing/2014/main" id="{42FA046E-1118-4F58-BF50-8C594E2AEE5A}"/>
              </a:ext>
            </a:extLst>
          </p:cNvPr>
          <p:cNvSpPr>
            <a:spLocks noGrp="1"/>
          </p:cNvSpPr>
          <p:nvPr/>
        </p:nvSpPr>
        <p:spPr>
          <a:xfrm>
            <a:off x="685800" y="2457450"/>
            <a:ext cx="114300" cy="114300"/>
          </a:xfrm>
          <a:prstGeom prst="ellipse">
            <a:avLst/>
          </a:prstGeom>
          <a:solidFill>
            <a:srgbClr val="65D44A"/>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93099AEF-34A3-4D41-B175-21900ADB1D86}"/>
              </a:ext>
            </a:extLst>
          </p:cNvPr>
          <p:cNvSpPr>
            <a:spLocks noGrp="1"/>
          </p:cNvSpPr>
          <p:nvPr/>
        </p:nvSpPr>
        <p:spPr>
          <a:xfrm>
            <a:off x="952500" y="238125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latin typeface="Calibri"/>
                <a:ea typeface="맑은 고딕"/>
                <a:cs typeface="맑은 고딕"/>
              </a:rPr>
              <a:t>음수 횟수</a:t>
            </a:r>
          </a:p>
        </p:txBody>
      </p:sp>
      <p:sp>
        <p:nvSpPr>
          <p:cNvPr id="8" name="타원 7">
            <a:extLst>
              <a:ext uri="{FF2B5EF4-FFF2-40B4-BE49-F238E27FC236}">
                <a16:creationId xmlns:a16="http://schemas.microsoft.com/office/drawing/2014/main" id="{434470BD-F499-4288-9B0D-BE4C514C84BC}"/>
              </a:ext>
            </a:extLst>
          </p:cNvPr>
          <p:cNvSpPr>
            <a:spLocks noGrp="1"/>
          </p:cNvSpPr>
          <p:nvPr/>
        </p:nvSpPr>
        <p:spPr>
          <a:xfrm>
            <a:off x="685800" y="3048000"/>
            <a:ext cx="114300" cy="114300"/>
          </a:xfrm>
          <a:prstGeom prst="ellipse">
            <a:avLst/>
          </a:prstGeom>
          <a:solidFill>
            <a:srgbClr val="65D44A"/>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DF57E18E-ED90-4527-8FB7-0E10216CF974}"/>
              </a:ext>
            </a:extLst>
          </p:cNvPr>
          <p:cNvSpPr>
            <a:spLocks noGrp="1"/>
          </p:cNvSpPr>
          <p:nvPr/>
        </p:nvSpPr>
        <p:spPr>
          <a:xfrm>
            <a:off x="952500" y="297180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latin typeface="Calibri"/>
                <a:ea typeface="맑은 고딕"/>
                <a:cs typeface="맑은 고딕"/>
              </a:rPr>
              <a:t>개체별 음수량</a:t>
            </a:r>
          </a:p>
        </p:txBody>
      </p:sp>
      <p:sp>
        <p:nvSpPr>
          <p:cNvPr id="10" name="타원 9">
            <a:extLst>
              <a:ext uri="{FF2B5EF4-FFF2-40B4-BE49-F238E27FC236}">
                <a16:creationId xmlns:a16="http://schemas.microsoft.com/office/drawing/2014/main" id="{4E4C5902-3E83-47E2-83B7-EBA1244E1901}"/>
              </a:ext>
            </a:extLst>
          </p:cNvPr>
          <p:cNvSpPr>
            <a:spLocks noGrp="1"/>
          </p:cNvSpPr>
          <p:nvPr/>
        </p:nvSpPr>
        <p:spPr>
          <a:xfrm>
            <a:off x="685800" y="3638550"/>
            <a:ext cx="114300" cy="114300"/>
          </a:xfrm>
          <a:prstGeom prst="ellipse">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F5AF95C9-282A-45DD-BE03-D8CE696F8EDF}"/>
              </a:ext>
            </a:extLst>
          </p:cNvPr>
          <p:cNvSpPr>
            <a:spLocks noGrp="1"/>
          </p:cNvSpPr>
          <p:nvPr/>
        </p:nvSpPr>
        <p:spPr>
          <a:xfrm>
            <a:off x="952500" y="356235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latin typeface="Calibri"/>
                <a:ea typeface="맑은 고딕"/>
                <a:cs typeface="맑은 고딕"/>
              </a:rPr>
              <a:t>일일 기준선에서의 이탈</a:t>
            </a:r>
          </a:p>
        </p:txBody>
      </p:sp>
      <p:sp>
        <p:nvSpPr>
          <p:cNvPr id="12" name="타원 11">
            <a:extLst>
              <a:ext uri="{FF2B5EF4-FFF2-40B4-BE49-F238E27FC236}">
                <a16:creationId xmlns:a16="http://schemas.microsoft.com/office/drawing/2014/main" id="{3C2213AE-0F36-4168-9697-14589AE87349}"/>
              </a:ext>
            </a:extLst>
          </p:cNvPr>
          <p:cNvSpPr>
            <a:spLocks noGrp="1"/>
          </p:cNvSpPr>
          <p:nvPr/>
        </p:nvSpPr>
        <p:spPr>
          <a:xfrm>
            <a:off x="685800" y="4229100"/>
            <a:ext cx="114300" cy="114300"/>
          </a:xfrm>
          <a:prstGeom prst="ellipse">
            <a:avLst/>
          </a:prstGeom>
          <a:solidFill>
            <a:srgbClr val="65D44A"/>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699FC868-014A-40F6-8C92-A05761C7C1DF}"/>
              </a:ext>
            </a:extLst>
          </p:cNvPr>
          <p:cNvSpPr>
            <a:spLocks noGrp="1"/>
          </p:cNvSpPr>
          <p:nvPr/>
        </p:nvSpPr>
        <p:spPr>
          <a:xfrm>
            <a:off x="952500" y="4152900"/>
            <a:ext cx="4019550" cy="552450"/>
          </a:xfrm>
          <a:prstGeom prst="rect">
            <a:avLst/>
          </a:prstGeom>
          <a:noFill/>
          <a:ln w="0">
            <a:noFill/>
            <a:prstDash val="solid"/>
          </a:ln>
        </p:spPr>
        <p:txBody>
          <a:bodyPr/>
          <a:lstStyle/>
          <a:p>
            <a:pPr algn="l">
              <a:buNone/>
              <a:defRPr sz="1575" b="0">
                <a:solidFill>
                  <a:srgbClr val="10251F"/>
                </a:solidFill>
              </a:defRPr>
            </a:pPr>
            <a:r>
              <a:rPr sz="1575" b="0">
                <a:solidFill>
                  <a:srgbClr val="10251F"/>
                </a:solidFill>
                <a:latin typeface="Calibri"/>
                <a:ea typeface="맑은 고딕"/>
                <a:cs typeface="맑은 고딕"/>
              </a:rPr>
              <a:t>우군 단위의 동시 변화</a:t>
            </a:r>
          </a:p>
        </p:txBody>
      </p:sp>
      <p:sp>
        <p:nvSpPr>
          <p:cNvPr id="14" name="모서리가 둥근 직사각형 13">
            <a:extLst>
              <a:ext uri="{FF2B5EF4-FFF2-40B4-BE49-F238E27FC236}">
                <a16:creationId xmlns:a16="http://schemas.microsoft.com/office/drawing/2014/main" id="{7D151DF6-5FC7-4B10-9CE3-BB67BB76DD54}"/>
              </a:ext>
            </a:extLst>
          </p:cNvPr>
          <p:cNvSpPr>
            <a:spLocks noGrp="1"/>
          </p:cNvSpPr>
          <p:nvPr/>
        </p:nvSpPr>
        <p:spPr>
          <a:xfrm>
            <a:off x="5715000" y="1714500"/>
            <a:ext cx="5791200" cy="3543300"/>
          </a:xfrm>
          <a:prstGeom prst="roundRect">
            <a:avLst>
              <a:gd name="adj" fmla="val 4301"/>
            </a:avLst>
          </a:prstGeom>
          <a:solidFill>
            <a:srgbClr val="10251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C9FD88F0-2245-4DA5-A536-09AF2F02AE66}"/>
              </a:ext>
            </a:extLst>
          </p:cNvPr>
          <p:cNvSpPr>
            <a:spLocks noGrp="1"/>
          </p:cNvSpPr>
          <p:nvPr/>
        </p:nvSpPr>
        <p:spPr>
          <a:xfrm>
            <a:off x="6096000" y="2095500"/>
            <a:ext cx="4762500" cy="228600"/>
          </a:xfrm>
          <a:prstGeom prst="rect">
            <a:avLst/>
          </a:prstGeom>
          <a:noFill/>
          <a:ln w="0">
            <a:noFill/>
            <a:prstDash val="solid"/>
          </a:ln>
        </p:spPr>
        <p:txBody>
          <a:bodyPr/>
          <a:lstStyle/>
          <a:p>
            <a:pPr algn="l">
              <a:buNone/>
              <a:defRPr sz="1125" b="1">
                <a:solidFill>
                  <a:srgbClr val="65D44A"/>
                </a:solidFill>
              </a:defRPr>
            </a:pPr>
            <a:r>
              <a:rPr sz="1125" b="1">
                <a:solidFill>
                  <a:srgbClr val="65D44A"/>
                </a:solidFill>
                <a:latin typeface="Calibri"/>
                <a:ea typeface="맑은 고딕"/>
                <a:cs typeface="맑은 고딕"/>
              </a:rPr>
              <a:t>즉시 판단할 질문</a:t>
            </a:r>
          </a:p>
        </p:txBody>
      </p:sp>
      <p:sp>
        <p:nvSpPr>
          <p:cNvPr id="16" name="직사각형 15">
            <a:extLst>
              <a:ext uri="{FF2B5EF4-FFF2-40B4-BE49-F238E27FC236}">
                <a16:creationId xmlns:a16="http://schemas.microsoft.com/office/drawing/2014/main" id="{E05D1E1D-E374-49DE-A7DD-757CD0DBF367}"/>
              </a:ext>
            </a:extLst>
          </p:cNvPr>
          <p:cNvSpPr>
            <a:spLocks noGrp="1"/>
          </p:cNvSpPr>
          <p:nvPr/>
        </p:nvSpPr>
        <p:spPr>
          <a:xfrm>
            <a:off x="6096000" y="2571750"/>
            <a:ext cx="4762500" cy="1047750"/>
          </a:xfrm>
          <a:prstGeom prst="rect">
            <a:avLst/>
          </a:prstGeom>
          <a:noFill/>
          <a:ln w="0">
            <a:noFill/>
            <a:prstDash val="solid"/>
          </a:ln>
        </p:spPr>
        <p:txBody>
          <a:bodyPr/>
          <a:lstStyle/>
          <a:p>
            <a:pPr algn="l">
              <a:buNone/>
              <a:defRPr sz="2775" b="1">
                <a:solidFill>
                  <a:srgbClr val="FFFFFF"/>
                </a:solidFill>
              </a:defRPr>
            </a:pPr>
            <a:r>
              <a:rPr sz="2775" b="1">
                <a:solidFill>
                  <a:srgbClr val="FFFFFF"/>
                </a:solidFill>
                <a:latin typeface="Calibri"/>
                <a:ea typeface="맑은 고딕"/>
                <a:cs typeface="맑은 고딕"/>
              </a:rPr>
              <a:t>한 마리인가</a:t>
            </a:r>
          </a:p>
          <a:p>
            <a:pPr algn="l">
              <a:buNone/>
              <a:defRPr sz="2775" b="1">
                <a:solidFill>
                  <a:srgbClr val="FFFFFF"/>
                </a:solidFill>
              </a:defRPr>
            </a:pPr>
            <a:r>
              <a:rPr sz="2775" b="1">
                <a:solidFill>
                  <a:srgbClr val="FFFFFF"/>
                </a:solidFill>
                <a:latin typeface="Calibri"/>
                <a:ea typeface="맑은 고딕"/>
                <a:cs typeface="맑은 고딕"/>
              </a:rPr>
              <a:t>우군 전체인가?</a:t>
            </a:r>
          </a:p>
        </p:txBody>
      </p:sp>
      <p:sp>
        <p:nvSpPr>
          <p:cNvPr id="17" name="직사각형 16">
            <a:extLst>
              <a:ext uri="{FF2B5EF4-FFF2-40B4-BE49-F238E27FC236}">
                <a16:creationId xmlns:a16="http://schemas.microsoft.com/office/drawing/2014/main" id="{45AF09A0-182C-4433-923E-45CB2D14C97D}"/>
              </a:ext>
            </a:extLst>
          </p:cNvPr>
          <p:cNvSpPr>
            <a:spLocks noGrp="1"/>
          </p:cNvSpPr>
          <p:nvPr/>
        </p:nvSpPr>
        <p:spPr>
          <a:xfrm>
            <a:off x="6096000" y="4000500"/>
            <a:ext cx="4857750" cy="685800"/>
          </a:xfrm>
          <a:prstGeom prst="rect">
            <a:avLst/>
          </a:prstGeom>
          <a:noFill/>
          <a:ln w="0">
            <a:noFill/>
            <a:prstDash val="solid"/>
          </a:ln>
        </p:spPr>
        <p:txBody>
          <a:bodyPr/>
          <a:lstStyle/>
          <a:p>
            <a:pPr algn="l">
              <a:buNone/>
              <a:defRPr sz="1500" b="0">
                <a:solidFill>
                  <a:srgbClr val="D7E5DF"/>
                </a:solidFill>
              </a:defRPr>
            </a:pPr>
            <a:r>
              <a:rPr sz="1500" b="0">
                <a:solidFill>
                  <a:srgbClr val="D7E5DF"/>
                </a:solidFill>
                <a:latin typeface="Calibri"/>
                <a:ea typeface="맑은 고딕"/>
                <a:cs typeface="맑은 고딕"/>
              </a:rPr>
              <a:t>한 마리 → 건강 또는 개체별 급수 접근</a:t>
            </a:r>
          </a:p>
          <a:p>
            <a:pPr algn="l">
              <a:buNone/>
              <a:defRPr sz="1500" b="0">
                <a:solidFill>
                  <a:srgbClr val="D7E5DF"/>
                </a:solidFill>
              </a:defRPr>
            </a:pPr>
            <a:r>
              <a:rPr sz="1500" b="0">
                <a:solidFill>
                  <a:srgbClr val="D7E5DF"/>
                </a:solidFill>
                <a:latin typeface="Calibri"/>
                <a:ea typeface="맑은 고딕"/>
                <a:cs typeface="맑은 고딕"/>
              </a:rPr>
              <a:t>우군 → 급수라인, 수압, 열스트레스, 사료</a:t>
            </a:r>
          </a:p>
        </p:txBody>
      </p:sp>
    </p:spTree>
    <p:extLst>
      <p:ext uri="{BB962C8B-B14F-4D97-AF65-F5344CB8AC3E}">
        <p14:creationId xmlns:p14="http://schemas.microsoft.com/office/powerpoint/2010/main" val="4531556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B594E3BF-58EF-495B-93FD-A909BD98C1CE}"/>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반추</a:t>
            </a:r>
          </a:p>
        </p:txBody>
      </p:sp>
      <p:sp>
        <p:nvSpPr>
          <p:cNvPr id="2" name="직사각형 1">
            <a:extLst>
              <a:ext uri="{FF2B5EF4-FFF2-40B4-BE49-F238E27FC236}">
                <a16:creationId xmlns:a16="http://schemas.microsoft.com/office/drawing/2014/main" id="{6644F0F2-3148-4847-B514-C0CBEECCE04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반추는 건강과 사양을 잇는다</a:t>
            </a:r>
          </a:p>
        </p:txBody>
      </p:sp>
      <p:sp>
        <p:nvSpPr>
          <p:cNvPr id="3" name="직사각형 2">
            <a:extLst>
              <a:ext uri="{FF2B5EF4-FFF2-40B4-BE49-F238E27FC236}">
                <a16:creationId xmlns:a16="http://schemas.microsoft.com/office/drawing/2014/main" id="{B5BDF1C0-53DC-44C3-9898-BBFA9019158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CD5CEEDA-3816-4346-90D2-941A065031BE}"/>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10</a:t>
            </a:r>
          </a:p>
        </p:txBody>
      </p:sp>
      <p:sp>
        <p:nvSpPr>
          <p:cNvPr id="5" name="직사각형 4">
            <a:extLst>
              <a:ext uri="{FF2B5EF4-FFF2-40B4-BE49-F238E27FC236}">
                <a16:creationId xmlns:a16="http://schemas.microsoft.com/office/drawing/2014/main" id="{EFDCCAED-A748-4ED8-87F3-ED8A17F7AE20}"/>
              </a:ext>
            </a:extLst>
          </p:cNvPr>
          <p:cNvSpPr>
            <a:spLocks noGrp="1"/>
          </p:cNvSpPr>
          <p:nvPr/>
        </p:nvSpPr>
        <p:spPr>
          <a:xfrm>
            <a:off x="685800" y="1885950"/>
            <a:ext cx="114300" cy="3143250"/>
          </a:xfrm>
          <a:prstGeom prst="rect">
            <a:avLst/>
          </a:prstGeom>
          <a:solidFill>
            <a:srgbClr val="15A98C"/>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BBBC5F2A-2862-4C67-8357-F26126C6B96D}"/>
              </a:ext>
            </a:extLst>
          </p:cNvPr>
          <p:cNvSpPr>
            <a:spLocks noGrp="1"/>
          </p:cNvSpPr>
          <p:nvPr/>
        </p:nvSpPr>
        <p:spPr>
          <a:xfrm>
            <a:off x="1066800" y="1924050"/>
            <a:ext cx="2476500" cy="457200"/>
          </a:xfrm>
          <a:prstGeom prst="rect">
            <a:avLst/>
          </a:prstGeom>
          <a:noFill/>
          <a:ln w="0">
            <a:noFill/>
            <a:prstDash val="solid"/>
          </a:ln>
        </p:spPr>
        <p:txBody>
          <a:bodyPr/>
          <a:lstStyle/>
          <a:p>
            <a:pPr algn="l">
              <a:buNone/>
              <a:defRPr sz="2550" b="1">
                <a:solidFill>
                  <a:srgbClr val="10251F"/>
                </a:solidFill>
              </a:defRPr>
            </a:pPr>
            <a:r>
              <a:rPr sz="2550" b="1">
                <a:solidFill>
                  <a:srgbClr val="10251F"/>
                </a:solidFill>
                <a:latin typeface="Calibri"/>
                <a:ea typeface="맑은 고딕"/>
                <a:cs typeface="맑은 고딕"/>
              </a:rPr>
              <a:t>감소</a:t>
            </a:r>
          </a:p>
        </p:txBody>
      </p:sp>
      <p:sp>
        <p:nvSpPr>
          <p:cNvPr id="7" name="직사각형 6">
            <a:extLst>
              <a:ext uri="{FF2B5EF4-FFF2-40B4-BE49-F238E27FC236}">
                <a16:creationId xmlns:a16="http://schemas.microsoft.com/office/drawing/2014/main" id="{A6D0AB2F-DFF8-4ACF-A1B2-B23122BCDD0C}"/>
              </a:ext>
            </a:extLst>
          </p:cNvPr>
          <p:cNvSpPr>
            <a:spLocks noGrp="1"/>
          </p:cNvSpPr>
          <p:nvPr/>
        </p:nvSpPr>
        <p:spPr>
          <a:xfrm>
            <a:off x="1066800" y="2571750"/>
            <a:ext cx="4095750" cy="1428750"/>
          </a:xfrm>
          <a:prstGeom prst="rect">
            <a:avLst/>
          </a:prstGeom>
          <a:noFill/>
          <a:ln w="0">
            <a:noFill/>
            <a:prstDash val="solid"/>
          </a:ln>
        </p:spPr>
        <p:txBody>
          <a:bodyPr/>
          <a:lstStyle/>
          <a:p>
            <a:pPr algn="l">
              <a:buNone/>
              <a:defRPr sz="1650" b="0">
                <a:solidFill>
                  <a:srgbClr val="66746F"/>
                </a:solidFill>
              </a:defRPr>
            </a:pPr>
            <a:r>
              <a:rPr sz="1650" b="0">
                <a:solidFill>
                  <a:srgbClr val="66746F"/>
                </a:solidFill>
                <a:latin typeface="Calibri"/>
                <a:ea typeface="맑은 고딕"/>
                <a:cs typeface="맑은 고딕"/>
              </a:rPr>
              <a:t>질병, 통증, 채식량 저하, 스트레스, 우군 변화와 관련될 수 있다.</a:t>
            </a:r>
          </a:p>
        </p:txBody>
      </p:sp>
      <p:sp>
        <p:nvSpPr>
          <p:cNvPr id="8" name="직사각형 7">
            <a:extLst>
              <a:ext uri="{FF2B5EF4-FFF2-40B4-BE49-F238E27FC236}">
                <a16:creationId xmlns:a16="http://schemas.microsoft.com/office/drawing/2014/main" id="{B278306E-15A7-4662-85A4-8CEE15F79433}"/>
              </a:ext>
            </a:extLst>
          </p:cNvPr>
          <p:cNvSpPr>
            <a:spLocks noGrp="1"/>
          </p:cNvSpPr>
          <p:nvPr/>
        </p:nvSpPr>
        <p:spPr>
          <a:xfrm>
            <a:off x="6096000" y="1924050"/>
            <a:ext cx="3143250" cy="457200"/>
          </a:xfrm>
          <a:prstGeom prst="rect">
            <a:avLst/>
          </a:prstGeom>
          <a:noFill/>
          <a:ln w="0">
            <a:noFill/>
            <a:prstDash val="solid"/>
          </a:ln>
        </p:spPr>
        <p:txBody>
          <a:bodyPr/>
          <a:lstStyle/>
          <a:p>
            <a:pPr algn="l">
              <a:buNone/>
              <a:defRPr sz="2550" b="1">
                <a:solidFill>
                  <a:srgbClr val="10251F"/>
                </a:solidFill>
              </a:defRPr>
            </a:pPr>
            <a:r>
              <a:rPr sz="2550" b="1">
                <a:solidFill>
                  <a:srgbClr val="10251F"/>
                </a:solidFill>
                <a:latin typeface="Calibri"/>
                <a:ea typeface="맑은 고딕"/>
                <a:cs typeface="맑은 고딕"/>
              </a:rPr>
              <a:t>회복</a:t>
            </a:r>
          </a:p>
        </p:txBody>
      </p:sp>
      <p:sp>
        <p:nvSpPr>
          <p:cNvPr id="9" name="직사각형 8">
            <a:extLst>
              <a:ext uri="{FF2B5EF4-FFF2-40B4-BE49-F238E27FC236}">
                <a16:creationId xmlns:a16="http://schemas.microsoft.com/office/drawing/2014/main" id="{CDC0D964-F8AB-47D4-84FA-9914D7AAF086}"/>
              </a:ext>
            </a:extLst>
          </p:cNvPr>
          <p:cNvSpPr>
            <a:spLocks noGrp="1"/>
          </p:cNvSpPr>
          <p:nvPr/>
        </p:nvSpPr>
        <p:spPr>
          <a:xfrm>
            <a:off x="6096000" y="2571750"/>
            <a:ext cx="4572000" cy="1428750"/>
          </a:xfrm>
          <a:prstGeom prst="rect">
            <a:avLst/>
          </a:prstGeom>
          <a:noFill/>
          <a:ln w="0">
            <a:noFill/>
            <a:prstDash val="solid"/>
          </a:ln>
        </p:spPr>
        <p:txBody>
          <a:bodyPr/>
          <a:lstStyle/>
          <a:p>
            <a:pPr algn="l">
              <a:buNone/>
              <a:defRPr sz="1650" b="0">
                <a:solidFill>
                  <a:srgbClr val="66746F"/>
                </a:solidFill>
              </a:defRPr>
            </a:pPr>
            <a:r>
              <a:rPr sz="1650" b="0">
                <a:solidFill>
                  <a:srgbClr val="66746F"/>
                </a:solidFill>
                <a:latin typeface="Calibri"/>
                <a:ea typeface="맑은 고딕"/>
                <a:cs typeface="맑은 고딕"/>
              </a:rPr>
              <a:t>치료 후 반응, 분만 후 회복, 사료 교정의 효과를 추적한다.</a:t>
            </a:r>
          </a:p>
        </p:txBody>
      </p:sp>
      <p:sp>
        <p:nvSpPr>
          <p:cNvPr id="10" name="모서리가 둥근 직사각형 9">
            <a:extLst>
              <a:ext uri="{FF2B5EF4-FFF2-40B4-BE49-F238E27FC236}">
                <a16:creationId xmlns:a16="http://schemas.microsoft.com/office/drawing/2014/main" id="{A1CF9D95-2D4D-46C3-B8E0-DD15A13C63E9}"/>
              </a:ext>
            </a:extLst>
          </p:cNvPr>
          <p:cNvSpPr>
            <a:spLocks noGrp="1"/>
          </p:cNvSpPr>
          <p:nvPr/>
        </p:nvSpPr>
        <p:spPr>
          <a:xfrm>
            <a:off x="1066800" y="4476750"/>
            <a:ext cx="1809750" cy="323850"/>
          </a:xfrm>
          <a:prstGeom prst="roundRect">
            <a:avLst>
              <a:gd name="adj" fmla="val 50000"/>
            </a:avLst>
          </a:prstGeom>
          <a:solidFill>
            <a:srgbClr val="DFF4E8"/>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268D5854-1132-4831-AD1C-317898655A29}"/>
              </a:ext>
            </a:extLst>
          </p:cNvPr>
          <p:cNvSpPr>
            <a:spLocks noGrp="1"/>
          </p:cNvSpPr>
          <p:nvPr/>
        </p:nvSpPr>
        <p:spPr>
          <a:xfrm>
            <a:off x="1162050" y="4533900"/>
            <a:ext cx="1619250" cy="190500"/>
          </a:xfrm>
          <a:prstGeom prst="rect">
            <a:avLst/>
          </a:prstGeom>
          <a:noFill/>
          <a:ln w="0">
            <a:noFill/>
            <a:prstDash val="solid"/>
          </a:ln>
        </p:spPr>
        <p:txBody>
          <a:bodyPr/>
          <a:lstStyle/>
          <a:p>
            <a:pPr algn="ctr">
              <a:buNone/>
              <a:defRPr sz="975" b="1">
                <a:solidFill>
                  <a:srgbClr val="15A98C"/>
                </a:solidFill>
              </a:defRPr>
            </a:pPr>
            <a:r>
              <a:rPr sz="975" b="1">
                <a:solidFill>
                  <a:srgbClr val="15A98C"/>
                </a:solidFill>
                <a:latin typeface="Calibri"/>
                <a:ea typeface="맑은 고딕"/>
                <a:cs typeface="맑은 고딕"/>
              </a:rPr>
              <a:t>개체 추이</a:t>
            </a:r>
          </a:p>
        </p:txBody>
      </p:sp>
      <p:sp>
        <p:nvSpPr>
          <p:cNvPr id="12" name="모서리가 둥근 직사각형 11">
            <a:extLst>
              <a:ext uri="{FF2B5EF4-FFF2-40B4-BE49-F238E27FC236}">
                <a16:creationId xmlns:a16="http://schemas.microsoft.com/office/drawing/2014/main" id="{F0C2B3F1-578E-4808-AD06-AC489A4A252F}"/>
              </a:ext>
            </a:extLst>
          </p:cNvPr>
          <p:cNvSpPr>
            <a:spLocks noGrp="1"/>
          </p:cNvSpPr>
          <p:nvPr/>
        </p:nvSpPr>
        <p:spPr>
          <a:xfrm>
            <a:off x="6096000" y="4476750"/>
            <a:ext cx="1619250" cy="323850"/>
          </a:xfrm>
          <a:prstGeom prst="roundRect">
            <a:avLst>
              <a:gd name="adj" fmla="val 50000"/>
            </a:avLst>
          </a:prstGeom>
          <a:solidFill>
            <a:srgbClr val="DFF4E8"/>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2DCE3DFD-1265-4660-843C-66829BCF91D4}"/>
              </a:ext>
            </a:extLst>
          </p:cNvPr>
          <p:cNvSpPr>
            <a:spLocks noGrp="1"/>
          </p:cNvSpPr>
          <p:nvPr/>
        </p:nvSpPr>
        <p:spPr>
          <a:xfrm>
            <a:off x="6191250" y="4533900"/>
            <a:ext cx="1428750" cy="190500"/>
          </a:xfrm>
          <a:prstGeom prst="rect">
            <a:avLst/>
          </a:prstGeom>
          <a:noFill/>
          <a:ln w="0">
            <a:noFill/>
            <a:prstDash val="solid"/>
          </a:ln>
        </p:spPr>
        <p:txBody>
          <a:bodyPr/>
          <a:lstStyle/>
          <a:p>
            <a:pPr algn="ctr">
              <a:buNone/>
              <a:defRPr sz="975" b="1">
                <a:solidFill>
                  <a:srgbClr val="15A98C"/>
                </a:solidFill>
              </a:defRPr>
            </a:pPr>
            <a:r>
              <a:rPr sz="975" b="1">
                <a:solidFill>
                  <a:srgbClr val="15A98C"/>
                </a:solidFill>
                <a:latin typeface="Calibri"/>
                <a:ea typeface="맑은 고딕"/>
                <a:cs typeface="맑은 고딕"/>
              </a:rPr>
              <a:t>우군 추이</a:t>
            </a:r>
          </a:p>
        </p:txBody>
      </p:sp>
    </p:spTree>
    <p:extLst>
      <p:ext uri="{BB962C8B-B14F-4D97-AF65-F5344CB8AC3E}">
        <p14:creationId xmlns:p14="http://schemas.microsoft.com/office/powerpoint/2010/main" val="2133208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F2038D87-CDBC-4F27-91B3-4794B3010873}"/>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활동량</a:t>
            </a:r>
          </a:p>
        </p:txBody>
      </p:sp>
      <p:sp>
        <p:nvSpPr>
          <p:cNvPr id="2" name="직사각형 1">
            <a:extLst>
              <a:ext uri="{FF2B5EF4-FFF2-40B4-BE49-F238E27FC236}">
                <a16:creationId xmlns:a16="http://schemas.microsoft.com/office/drawing/2014/main" id="{2C8031C9-6E19-4923-907E-442047322206}"/>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활동량은 번식 결정을 돕지만 맥락이 필요하다</a:t>
            </a:r>
          </a:p>
        </p:txBody>
      </p:sp>
      <p:sp>
        <p:nvSpPr>
          <p:cNvPr id="3" name="직사각형 2">
            <a:extLst>
              <a:ext uri="{FF2B5EF4-FFF2-40B4-BE49-F238E27FC236}">
                <a16:creationId xmlns:a16="http://schemas.microsoft.com/office/drawing/2014/main" id="{534D585B-5C8C-4B13-978B-A1F63FD59AA4}"/>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8560144B-BE5F-4CBE-8626-E0273D5BD950}"/>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11</a:t>
            </a:r>
          </a:p>
        </p:txBody>
      </p:sp>
      <p:sp>
        <p:nvSpPr>
          <p:cNvPr id="5" name="타원 4">
            <a:extLst>
              <a:ext uri="{FF2B5EF4-FFF2-40B4-BE49-F238E27FC236}">
                <a16:creationId xmlns:a16="http://schemas.microsoft.com/office/drawing/2014/main" id="{3299FED1-4DF2-469F-A5AE-56A20959AA17}"/>
              </a:ext>
            </a:extLst>
          </p:cNvPr>
          <p:cNvSpPr>
            <a:spLocks noGrp="1"/>
          </p:cNvSpPr>
          <p:nvPr/>
        </p:nvSpPr>
        <p:spPr>
          <a:xfrm>
            <a:off x="2286000" y="2476500"/>
            <a:ext cx="2095500" cy="2095500"/>
          </a:xfrm>
          <a:prstGeom prst="ellipse">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9BA10AC-B986-4E8E-BA88-9F9AF4F23126}"/>
              </a:ext>
            </a:extLst>
          </p:cNvPr>
          <p:cNvSpPr>
            <a:spLocks noGrp="1"/>
          </p:cNvSpPr>
          <p:nvPr/>
        </p:nvSpPr>
        <p:spPr>
          <a:xfrm>
            <a:off x="2476500" y="3352800"/>
            <a:ext cx="1714500" cy="381000"/>
          </a:xfrm>
          <a:prstGeom prst="rect">
            <a:avLst/>
          </a:prstGeom>
          <a:noFill/>
          <a:ln w="0">
            <a:noFill/>
            <a:prstDash val="solid"/>
          </a:ln>
        </p:spPr>
        <p:txBody>
          <a:bodyPr/>
          <a:lstStyle/>
          <a:p>
            <a:pPr algn="ctr">
              <a:buNone/>
              <a:defRPr sz="2250" b="1">
                <a:solidFill>
                  <a:srgbClr val="0A1B17"/>
                </a:solidFill>
              </a:defRPr>
            </a:pPr>
            <a:r>
              <a:rPr sz="2250" b="1">
                <a:solidFill>
                  <a:srgbClr val="0A1B17"/>
                </a:solidFill>
                <a:latin typeface="Calibri"/>
                <a:ea typeface="맑은 고딕"/>
                <a:cs typeface="맑은 고딕"/>
              </a:rPr>
              <a:t>활동량</a:t>
            </a:r>
          </a:p>
        </p:txBody>
      </p:sp>
      <p:sp>
        <p:nvSpPr>
          <p:cNvPr id="7" name="모서리가 둥근 직사각형 6">
            <a:extLst>
              <a:ext uri="{FF2B5EF4-FFF2-40B4-BE49-F238E27FC236}">
                <a16:creationId xmlns:a16="http://schemas.microsoft.com/office/drawing/2014/main" id="{678F045A-D095-42CB-AF55-FB5A227B3805}"/>
              </a:ext>
            </a:extLst>
          </p:cNvPr>
          <p:cNvSpPr>
            <a:spLocks noGrp="1"/>
          </p:cNvSpPr>
          <p:nvPr/>
        </p:nvSpPr>
        <p:spPr>
          <a:xfrm>
            <a:off x="6667500" y="2076450"/>
            <a:ext cx="4000500" cy="781050"/>
          </a:xfrm>
          <a:prstGeom prst="roundRect">
            <a:avLst>
              <a:gd name="adj" fmla="val 14634"/>
            </a:avLst>
          </a:prstGeom>
          <a:solidFill>
            <a:srgbClr val="FFFFFF"/>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493C6DBA-CBB9-4768-87C0-1D039253B63A}"/>
              </a:ext>
            </a:extLst>
          </p:cNvPr>
          <p:cNvSpPr>
            <a:spLocks noGrp="1"/>
          </p:cNvSpPr>
          <p:nvPr/>
        </p:nvSpPr>
        <p:spPr>
          <a:xfrm>
            <a:off x="6667500" y="2076450"/>
            <a:ext cx="95250" cy="781050"/>
          </a:xfrm>
          <a:prstGeom prst="rect">
            <a:avLst/>
          </a:prstGeom>
          <a:solidFill>
            <a:srgbClr val="E96155"/>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C079F3FA-EECF-4C72-89FC-6D3D8A0183A3}"/>
              </a:ext>
            </a:extLst>
          </p:cNvPr>
          <p:cNvSpPr>
            <a:spLocks noGrp="1"/>
          </p:cNvSpPr>
          <p:nvPr/>
        </p:nvSpPr>
        <p:spPr>
          <a:xfrm>
            <a:off x="6934200" y="2209800"/>
            <a:ext cx="1238250" cy="238125"/>
          </a:xfrm>
          <a:prstGeom prst="rect">
            <a:avLst/>
          </a:prstGeom>
          <a:noFill/>
          <a:ln w="0">
            <a:noFill/>
            <a:prstDash val="solid"/>
          </a:ln>
        </p:spPr>
        <p:txBody>
          <a:bodyPr/>
          <a:lstStyle/>
          <a:p>
            <a:pPr algn="l">
              <a:buNone/>
              <a:defRPr sz="1350" b="1">
                <a:solidFill>
                  <a:srgbClr val="E96155"/>
                </a:solidFill>
              </a:defRPr>
            </a:pPr>
            <a:r>
              <a:rPr sz="1350" b="1">
                <a:solidFill>
                  <a:srgbClr val="E96155"/>
                </a:solidFill>
                <a:latin typeface="Calibri"/>
                <a:ea typeface="맑은 고딕"/>
                <a:cs typeface="맑은 고딕"/>
              </a:rPr>
              <a:t>증가</a:t>
            </a:r>
          </a:p>
        </p:txBody>
      </p:sp>
      <p:sp>
        <p:nvSpPr>
          <p:cNvPr id="10" name="직사각형 9">
            <a:extLst>
              <a:ext uri="{FF2B5EF4-FFF2-40B4-BE49-F238E27FC236}">
                <a16:creationId xmlns:a16="http://schemas.microsoft.com/office/drawing/2014/main" id="{7013987C-F943-436B-AD38-82CD2DDF9B58}"/>
              </a:ext>
            </a:extLst>
          </p:cNvPr>
          <p:cNvSpPr>
            <a:spLocks noGrp="1"/>
          </p:cNvSpPr>
          <p:nvPr/>
        </p:nvSpPr>
        <p:spPr>
          <a:xfrm>
            <a:off x="8239125" y="2209800"/>
            <a:ext cx="2095500" cy="428625"/>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발정 가능성</a:t>
            </a:r>
          </a:p>
        </p:txBody>
      </p:sp>
      <p:sp>
        <p:nvSpPr>
          <p:cNvPr id="11" name="모서리가 둥근 직사각형 10">
            <a:extLst>
              <a:ext uri="{FF2B5EF4-FFF2-40B4-BE49-F238E27FC236}">
                <a16:creationId xmlns:a16="http://schemas.microsoft.com/office/drawing/2014/main" id="{1410B24C-5C4E-429F-B72F-7D9AF338B2CD}"/>
              </a:ext>
            </a:extLst>
          </p:cNvPr>
          <p:cNvSpPr>
            <a:spLocks noGrp="1"/>
          </p:cNvSpPr>
          <p:nvPr/>
        </p:nvSpPr>
        <p:spPr>
          <a:xfrm>
            <a:off x="6667500" y="3238500"/>
            <a:ext cx="4000500" cy="781050"/>
          </a:xfrm>
          <a:prstGeom prst="roundRect">
            <a:avLst>
              <a:gd name="adj" fmla="val 14634"/>
            </a:avLst>
          </a:prstGeom>
          <a:solidFill>
            <a:srgbClr val="FFFFFF"/>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B0651EAD-92EC-4489-BE16-A65C3607760B}"/>
              </a:ext>
            </a:extLst>
          </p:cNvPr>
          <p:cNvSpPr>
            <a:spLocks noGrp="1"/>
          </p:cNvSpPr>
          <p:nvPr/>
        </p:nvSpPr>
        <p:spPr>
          <a:xfrm>
            <a:off x="6667500" y="3238500"/>
            <a:ext cx="95250" cy="781050"/>
          </a:xfrm>
          <a:prstGeom prst="rect">
            <a:avLst/>
          </a:prstGeom>
          <a:solidFill>
            <a:srgbClr val="4C8DD9"/>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31C394F1-4F4F-471B-833E-B27485F3A24A}"/>
              </a:ext>
            </a:extLst>
          </p:cNvPr>
          <p:cNvSpPr>
            <a:spLocks noGrp="1"/>
          </p:cNvSpPr>
          <p:nvPr/>
        </p:nvSpPr>
        <p:spPr>
          <a:xfrm>
            <a:off x="6934200" y="3371850"/>
            <a:ext cx="1238250" cy="238125"/>
          </a:xfrm>
          <a:prstGeom prst="rect">
            <a:avLst/>
          </a:prstGeom>
          <a:noFill/>
          <a:ln w="0">
            <a:noFill/>
            <a:prstDash val="solid"/>
          </a:ln>
        </p:spPr>
        <p:txBody>
          <a:bodyPr/>
          <a:lstStyle/>
          <a:p>
            <a:pPr algn="l">
              <a:buNone/>
              <a:defRPr sz="1350" b="1">
                <a:solidFill>
                  <a:srgbClr val="4C8DD9"/>
                </a:solidFill>
              </a:defRPr>
            </a:pPr>
            <a:r>
              <a:rPr sz="1350" b="1">
                <a:solidFill>
                  <a:srgbClr val="4C8DD9"/>
                </a:solidFill>
                <a:latin typeface="Calibri"/>
                <a:ea typeface="맑은 고딕"/>
                <a:cs typeface="맑은 고딕"/>
              </a:rPr>
              <a:t>감소</a:t>
            </a:r>
          </a:p>
        </p:txBody>
      </p:sp>
      <p:sp>
        <p:nvSpPr>
          <p:cNvPr id="14" name="직사각형 13">
            <a:extLst>
              <a:ext uri="{FF2B5EF4-FFF2-40B4-BE49-F238E27FC236}">
                <a16:creationId xmlns:a16="http://schemas.microsoft.com/office/drawing/2014/main" id="{D8127F45-AD98-4F1B-BA8E-30E8092262C8}"/>
              </a:ext>
            </a:extLst>
          </p:cNvPr>
          <p:cNvSpPr>
            <a:spLocks noGrp="1"/>
          </p:cNvSpPr>
          <p:nvPr/>
        </p:nvSpPr>
        <p:spPr>
          <a:xfrm>
            <a:off x="8239125" y="3371850"/>
            <a:ext cx="2095500" cy="428625"/>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파행 / 질병</a:t>
            </a:r>
          </a:p>
        </p:txBody>
      </p:sp>
      <p:sp>
        <p:nvSpPr>
          <p:cNvPr id="15" name="모서리가 둥근 직사각형 14">
            <a:extLst>
              <a:ext uri="{FF2B5EF4-FFF2-40B4-BE49-F238E27FC236}">
                <a16:creationId xmlns:a16="http://schemas.microsoft.com/office/drawing/2014/main" id="{45E0B923-BC7B-4714-AE69-C07500030D46}"/>
              </a:ext>
            </a:extLst>
          </p:cNvPr>
          <p:cNvSpPr>
            <a:spLocks noGrp="1"/>
          </p:cNvSpPr>
          <p:nvPr/>
        </p:nvSpPr>
        <p:spPr>
          <a:xfrm>
            <a:off x="6667500" y="4400550"/>
            <a:ext cx="4000500" cy="781050"/>
          </a:xfrm>
          <a:prstGeom prst="roundRect">
            <a:avLst>
              <a:gd name="adj" fmla="val 14634"/>
            </a:avLst>
          </a:prstGeom>
          <a:solidFill>
            <a:srgbClr val="FFFFFF"/>
          </a:solidFill>
          <a:ln w="0">
            <a:noFill/>
            <a:prstDash val="solid"/>
          </a:ln>
        </p:spPr>
        <p:txBody>
          <a:bodyPr/>
          <a:lstStyle/>
          <a:p>
            <a:endParaRPr lang="ko-KR" altLang="en-US"/>
          </a:p>
        </p:txBody>
      </p:sp>
      <p:sp>
        <p:nvSpPr>
          <p:cNvPr id="16" name="직사각형 15">
            <a:extLst>
              <a:ext uri="{FF2B5EF4-FFF2-40B4-BE49-F238E27FC236}">
                <a16:creationId xmlns:a16="http://schemas.microsoft.com/office/drawing/2014/main" id="{9CFDD865-71E4-4715-9A6B-ABDB5DDFAEAF}"/>
              </a:ext>
            </a:extLst>
          </p:cNvPr>
          <p:cNvSpPr>
            <a:spLocks noGrp="1"/>
          </p:cNvSpPr>
          <p:nvPr/>
        </p:nvSpPr>
        <p:spPr>
          <a:xfrm>
            <a:off x="6667500" y="4400550"/>
            <a:ext cx="95250" cy="781050"/>
          </a:xfrm>
          <a:prstGeom prst="rect">
            <a:avLst/>
          </a:prstGeom>
          <a:solidFill>
            <a:srgbClr val="F6B846"/>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558F1C32-D948-4523-80E8-C87A7F0245C9}"/>
              </a:ext>
            </a:extLst>
          </p:cNvPr>
          <p:cNvSpPr>
            <a:spLocks noGrp="1"/>
          </p:cNvSpPr>
          <p:nvPr/>
        </p:nvSpPr>
        <p:spPr>
          <a:xfrm>
            <a:off x="6934200" y="4533900"/>
            <a:ext cx="1238250" cy="238125"/>
          </a:xfrm>
          <a:prstGeom prst="rect">
            <a:avLst/>
          </a:prstGeom>
          <a:noFill/>
          <a:ln w="0">
            <a:noFill/>
            <a:prstDash val="solid"/>
          </a:ln>
        </p:spPr>
        <p:txBody>
          <a:bodyPr/>
          <a:lstStyle/>
          <a:p>
            <a:pPr algn="l">
              <a:buNone/>
              <a:defRPr sz="1350" b="1">
                <a:solidFill>
                  <a:srgbClr val="F6B846"/>
                </a:solidFill>
              </a:defRPr>
            </a:pPr>
            <a:r>
              <a:rPr sz="1350" b="1">
                <a:solidFill>
                  <a:srgbClr val="F6B846"/>
                </a:solidFill>
                <a:latin typeface="Calibri"/>
                <a:ea typeface="맑은 고딕"/>
                <a:cs typeface="맑은 고딕"/>
              </a:rPr>
              <a:t>변화</a:t>
            </a:r>
          </a:p>
        </p:txBody>
      </p:sp>
      <p:sp>
        <p:nvSpPr>
          <p:cNvPr id="18" name="직사각형 17">
            <a:extLst>
              <a:ext uri="{FF2B5EF4-FFF2-40B4-BE49-F238E27FC236}">
                <a16:creationId xmlns:a16="http://schemas.microsoft.com/office/drawing/2014/main" id="{FE32B1B6-ABFB-4D8A-ADB7-843A885E98C5}"/>
              </a:ext>
            </a:extLst>
          </p:cNvPr>
          <p:cNvSpPr>
            <a:spLocks noGrp="1"/>
          </p:cNvSpPr>
          <p:nvPr/>
        </p:nvSpPr>
        <p:spPr>
          <a:xfrm>
            <a:off x="8239125" y="4533900"/>
            <a:ext cx="2095500" cy="428625"/>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이동 / 스트레스</a:t>
            </a:r>
          </a:p>
        </p:txBody>
      </p:sp>
    </p:spTree>
    <p:extLst>
      <p:ext uri="{BB962C8B-B14F-4D97-AF65-F5344CB8AC3E}">
        <p14:creationId xmlns:p14="http://schemas.microsoft.com/office/powerpoint/2010/main" val="16405818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27E57AF6-5CEB-4A0F-906A-BA9D126A490F}"/>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반추위 pH</a:t>
            </a:r>
          </a:p>
        </p:txBody>
      </p:sp>
      <p:sp>
        <p:nvSpPr>
          <p:cNvPr id="2" name="직사각형 1">
            <a:extLst>
              <a:ext uri="{FF2B5EF4-FFF2-40B4-BE49-F238E27FC236}">
                <a16:creationId xmlns:a16="http://schemas.microsoft.com/office/drawing/2014/main" id="{FADA665F-C445-4894-AC89-4C8F85381258}"/>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pH는 사료가 반추위에서 실제로 낸 효과를 보여준다</a:t>
            </a:r>
          </a:p>
        </p:txBody>
      </p:sp>
      <p:sp>
        <p:nvSpPr>
          <p:cNvPr id="3" name="직사각형 2">
            <a:extLst>
              <a:ext uri="{FF2B5EF4-FFF2-40B4-BE49-F238E27FC236}">
                <a16:creationId xmlns:a16="http://schemas.microsoft.com/office/drawing/2014/main" id="{3157A22B-7C5C-4FB0-96E3-77BD88DF6646}"/>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96603A02-7B18-411F-9166-7A30B7EA17F5}"/>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12</a:t>
            </a:r>
          </a:p>
        </p:txBody>
      </p:sp>
      <p:sp>
        <p:nvSpPr>
          <p:cNvPr id="5" name="직사각형 4">
            <a:extLst>
              <a:ext uri="{FF2B5EF4-FFF2-40B4-BE49-F238E27FC236}">
                <a16:creationId xmlns:a16="http://schemas.microsoft.com/office/drawing/2014/main" id="{78B9A6D7-7117-4762-8156-DE902F99E68A}"/>
              </a:ext>
            </a:extLst>
          </p:cNvPr>
          <p:cNvSpPr>
            <a:spLocks noGrp="1"/>
          </p:cNvSpPr>
          <p:nvPr/>
        </p:nvSpPr>
        <p:spPr>
          <a:xfrm>
            <a:off x="685800" y="1885950"/>
            <a:ext cx="3333750" cy="609600"/>
          </a:xfrm>
          <a:prstGeom prst="rect">
            <a:avLst/>
          </a:prstGeom>
          <a:noFill/>
          <a:ln w="0">
            <a:noFill/>
            <a:prstDash val="solid"/>
          </a:ln>
        </p:spPr>
        <p:txBody>
          <a:bodyPr/>
          <a:lstStyle/>
          <a:p>
            <a:pPr algn="l">
              <a:buNone/>
              <a:defRPr sz="3600" b="1">
                <a:solidFill>
                  <a:srgbClr val="F6B846"/>
                </a:solidFill>
              </a:defRPr>
            </a:pPr>
            <a:r>
              <a:rPr sz="3600" b="1">
                <a:solidFill>
                  <a:srgbClr val="F6B846"/>
                </a:solidFill>
                <a:latin typeface="Calibri"/>
                <a:ea typeface="맑은 고딕"/>
                <a:cs typeface="맑은 고딕"/>
              </a:rPr>
              <a:t>150일</a:t>
            </a:r>
          </a:p>
        </p:txBody>
      </p:sp>
      <p:sp>
        <p:nvSpPr>
          <p:cNvPr id="6" name="직사각형 5">
            <a:extLst>
              <a:ext uri="{FF2B5EF4-FFF2-40B4-BE49-F238E27FC236}">
                <a16:creationId xmlns:a16="http://schemas.microsoft.com/office/drawing/2014/main" id="{BC736F2F-B382-4D17-9AEF-AC6672006912}"/>
              </a:ext>
            </a:extLst>
          </p:cNvPr>
          <p:cNvSpPr>
            <a:spLocks noGrp="1"/>
          </p:cNvSpPr>
          <p:nvPr/>
        </p:nvSpPr>
        <p:spPr>
          <a:xfrm>
            <a:off x="685800" y="2476500"/>
            <a:ext cx="3333750" cy="533400"/>
          </a:xfrm>
          <a:prstGeom prst="rect">
            <a:avLst/>
          </a:prstGeom>
          <a:noFill/>
          <a:ln w="0">
            <a:noFill/>
            <a:prstDash val="solid"/>
          </a:ln>
        </p:spPr>
        <p:txBody>
          <a:bodyPr/>
          <a:lstStyle/>
          <a:p>
            <a:pPr algn="l">
              <a:buNone/>
              <a:defRPr sz="1275" b="0">
                <a:solidFill>
                  <a:srgbClr val="66746F"/>
                </a:solidFill>
              </a:defRPr>
            </a:pPr>
            <a:r>
              <a:rPr sz="1275" b="0">
                <a:solidFill>
                  <a:srgbClr val="66746F"/>
                </a:solidFill>
                <a:latin typeface="Calibri"/>
                <a:ea typeface="맑은 고딕"/>
                <a:cs typeface="맑은 고딕"/>
              </a:rPr>
              <a:t>pH 측정 기간. 그 외 신호는 배터리 수명 동안 측정</a:t>
            </a:r>
          </a:p>
        </p:txBody>
      </p:sp>
      <p:sp>
        <p:nvSpPr>
          <p:cNvPr id="7" name="모서리가 둥근 직사각형 6">
            <a:extLst>
              <a:ext uri="{FF2B5EF4-FFF2-40B4-BE49-F238E27FC236}">
                <a16:creationId xmlns:a16="http://schemas.microsoft.com/office/drawing/2014/main" id="{B98C19B4-9FC2-4E90-A885-6C7F33C52458}"/>
              </a:ext>
            </a:extLst>
          </p:cNvPr>
          <p:cNvSpPr>
            <a:spLocks noGrp="1"/>
          </p:cNvSpPr>
          <p:nvPr/>
        </p:nvSpPr>
        <p:spPr>
          <a:xfrm>
            <a:off x="4572000" y="1714500"/>
            <a:ext cx="6934200" cy="3429000"/>
          </a:xfrm>
          <a:prstGeom prst="roundRect">
            <a:avLst>
              <a:gd name="adj" fmla="val 4444"/>
            </a:avLst>
          </a:prstGeom>
          <a:solidFill>
            <a:srgbClr val="FFFFFF"/>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6A013186-29E2-4220-A80D-7161A00B277E}"/>
              </a:ext>
            </a:extLst>
          </p:cNvPr>
          <p:cNvSpPr>
            <a:spLocks noGrp="1"/>
          </p:cNvSpPr>
          <p:nvPr/>
        </p:nvSpPr>
        <p:spPr>
          <a:xfrm>
            <a:off x="4953000" y="2057400"/>
            <a:ext cx="2857500" cy="247650"/>
          </a:xfrm>
          <a:prstGeom prst="rect">
            <a:avLst/>
          </a:prstGeom>
          <a:noFill/>
          <a:ln w="0">
            <a:noFill/>
            <a:prstDash val="solid"/>
          </a:ln>
        </p:spPr>
        <p:txBody>
          <a:bodyPr/>
          <a:lstStyle/>
          <a:p>
            <a:pPr algn="l">
              <a:buNone/>
              <a:defRPr sz="1125" b="1">
                <a:solidFill>
                  <a:srgbClr val="15A98C"/>
                </a:solidFill>
              </a:defRPr>
            </a:pPr>
            <a:r>
              <a:rPr sz="1125" b="1">
                <a:solidFill>
                  <a:srgbClr val="15A98C"/>
                </a:solidFill>
                <a:latin typeface="Calibri"/>
                <a:ea typeface="맑은 고딕"/>
                <a:cs typeface="맑은 고딕"/>
              </a:rPr>
              <a:t>해석의 연결 고리</a:t>
            </a:r>
          </a:p>
        </p:txBody>
      </p:sp>
      <p:sp>
        <p:nvSpPr>
          <p:cNvPr id="9" name="오른쪽 화살표[R] 8">
            <a:extLst>
              <a:ext uri="{FF2B5EF4-FFF2-40B4-BE49-F238E27FC236}">
                <a16:creationId xmlns:a16="http://schemas.microsoft.com/office/drawing/2014/main" id="{01631159-4101-4D77-820E-AA953DEE6089}"/>
              </a:ext>
            </a:extLst>
          </p:cNvPr>
          <p:cNvSpPr>
            <a:spLocks noGrp="1"/>
          </p:cNvSpPr>
          <p:nvPr/>
        </p:nvSpPr>
        <p:spPr>
          <a:xfrm>
            <a:off x="6124575" y="3143250"/>
            <a:ext cx="361950" cy="247650"/>
          </a:xfrm>
          <a:prstGeom prst="rightArrow">
            <a:avLst/>
          </a:prstGeom>
          <a:solidFill>
            <a:srgbClr val="DFF4E8"/>
          </a:solidFill>
          <a:ln w="0">
            <a:noFill/>
            <a:prstDash val="solid"/>
          </a:ln>
        </p:spPr>
        <p:txBody>
          <a:bodyPr/>
          <a:lstStyle/>
          <a:p>
            <a:endParaRPr lang="ko-KR" altLang="en-US"/>
          </a:p>
        </p:txBody>
      </p:sp>
      <p:sp>
        <p:nvSpPr>
          <p:cNvPr id="10" name="모서리가 둥근 직사각형 9">
            <a:extLst>
              <a:ext uri="{FF2B5EF4-FFF2-40B4-BE49-F238E27FC236}">
                <a16:creationId xmlns:a16="http://schemas.microsoft.com/office/drawing/2014/main" id="{08FAAA6F-0CD9-48AE-A140-8065ADE66429}"/>
              </a:ext>
            </a:extLst>
          </p:cNvPr>
          <p:cNvSpPr>
            <a:spLocks noGrp="1"/>
          </p:cNvSpPr>
          <p:nvPr/>
        </p:nvSpPr>
        <p:spPr>
          <a:xfrm>
            <a:off x="4953000" y="2781300"/>
            <a:ext cx="1238250" cy="990600"/>
          </a:xfrm>
          <a:prstGeom prst="roundRect">
            <a:avLst>
              <a:gd name="adj" fmla="val 11538"/>
            </a:avLst>
          </a:prstGeom>
          <a:solidFill>
            <a:srgbClr val="ECF1EE"/>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57964559-315F-4BE3-B1B9-A60BAF18D0D6}"/>
              </a:ext>
            </a:extLst>
          </p:cNvPr>
          <p:cNvSpPr>
            <a:spLocks noGrp="1"/>
          </p:cNvSpPr>
          <p:nvPr/>
        </p:nvSpPr>
        <p:spPr>
          <a:xfrm>
            <a:off x="5048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latin typeface="Calibri"/>
                <a:ea typeface="맑은 고딕"/>
                <a:cs typeface="맑은 고딕"/>
              </a:rPr>
              <a:t>사료 / 배합</a:t>
            </a:r>
          </a:p>
        </p:txBody>
      </p:sp>
      <p:sp>
        <p:nvSpPr>
          <p:cNvPr id="12" name="오른쪽 화살표[R] 11">
            <a:extLst>
              <a:ext uri="{FF2B5EF4-FFF2-40B4-BE49-F238E27FC236}">
                <a16:creationId xmlns:a16="http://schemas.microsoft.com/office/drawing/2014/main" id="{39BEC0E8-5297-480C-B123-F559001D0EEE}"/>
              </a:ext>
            </a:extLst>
          </p:cNvPr>
          <p:cNvSpPr>
            <a:spLocks noGrp="1"/>
          </p:cNvSpPr>
          <p:nvPr/>
        </p:nvSpPr>
        <p:spPr>
          <a:xfrm>
            <a:off x="7648575" y="3143250"/>
            <a:ext cx="361950" cy="247650"/>
          </a:xfrm>
          <a:prstGeom prst="rightArrow">
            <a:avLst/>
          </a:prstGeom>
          <a:solidFill>
            <a:srgbClr val="DFF4E8"/>
          </a:solidFill>
          <a:ln w="0">
            <a:noFill/>
            <a:prstDash val="solid"/>
          </a:ln>
        </p:spPr>
        <p:txBody>
          <a:bodyPr/>
          <a:lstStyle/>
          <a:p>
            <a:endParaRPr lang="ko-KR" altLang="en-US"/>
          </a:p>
        </p:txBody>
      </p:sp>
      <p:sp>
        <p:nvSpPr>
          <p:cNvPr id="13" name="모서리가 둥근 직사각형 12">
            <a:extLst>
              <a:ext uri="{FF2B5EF4-FFF2-40B4-BE49-F238E27FC236}">
                <a16:creationId xmlns:a16="http://schemas.microsoft.com/office/drawing/2014/main" id="{FA596321-DC8E-473C-BCBA-F3E4D0653EE1}"/>
              </a:ext>
            </a:extLst>
          </p:cNvPr>
          <p:cNvSpPr>
            <a:spLocks noGrp="1"/>
          </p:cNvSpPr>
          <p:nvPr/>
        </p:nvSpPr>
        <p:spPr>
          <a:xfrm>
            <a:off x="6477000" y="2781300"/>
            <a:ext cx="1238250" cy="990600"/>
          </a:xfrm>
          <a:prstGeom prst="roundRect">
            <a:avLst>
              <a:gd name="adj" fmla="val 11538"/>
            </a:avLst>
          </a:prstGeom>
          <a:solidFill>
            <a:srgbClr val="F6B846"/>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139C3F01-36E6-4371-97ED-24E228AA9208}"/>
              </a:ext>
            </a:extLst>
          </p:cNvPr>
          <p:cNvSpPr>
            <a:spLocks noGrp="1"/>
          </p:cNvSpPr>
          <p:nvPr/>
        </p:nvSpPr>
        <p:spPr>
          <a:xfrm>
            <a:off x="6572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latin typeface="Calibri"/>
                <a:ea typeface="맑은 고딕"/>
                <a:cs typeface="맑은 고딕"/>
              </a:rPr>
              <a:t>pH 프로파일</a:t>
            </a:r>
          </a:p>
        </p:txBody>
      </p:sp>
      <p:sp>
        <p:nvSpPr>
          <p:cNvPr id="15" name="오른쪽 화살표[R] 14">
            <a:extLst>
              <a:ext uri="{FF2B5EF4-FFF2-40B4-BE49-F238E27FC236}">
                <a16:creationId xmlns:a16="http://schemas.microsoft.com/office/drawing/2014/main" id="{9C58AEF4-3F23-4951-9A43-BA98CC0C250A}"/>
              </a:ext>
            </a:extLst>
          </p:cNvPr>
          <p:cNvSpPr>
            <a:spLocks noGrp="1"/>
          </p:cNvSpPr>
          <p:nvPr/>
        </p:nvSpPr>
        <p:spPr>
          <a:xfrm>
            <a:off x="9172575" y="3143250"/>
            <a:ext cx="361950" cy="247650"/>
          </a:xfrm>
          <a:prstGeom prst="rightArrow">
            <a:avLst/>
          </a:prstGeom>
          <a:solidFill>
            <a:srgbClr val="DFF4E8"/>
          </a:solidFill>
          <a:ln w="0">
            <a:noFill/>
            <a:prstDash val="solid"/>
          </a:ln>
        </p:spPr>
        <p:txBody>
          <a:bodyPr/>
          <a:lstStyle/>
          <a:p>
            <a:endParaRPr lang="ko-KR" altLang="en-US"/>
          </a:p>
        </p:txBody>
      </p:sp>
      <p:sp>
        <p:nvSpPr>
          <p:cNvPr id="16" name="모서리가 둥근 직사각형 15">
            <a:extLst>
              <a:ext uri="{FF2B5EF4-FFF2-40B4-BE49-F238E27FC236}">
                <a16:creationId xmlns:a16="http://schemas.microsoft.com/office/drawing/2014/main" id="{DF62D0F3-4C7E-445C-B25E-B209EA8203A2}"/>
              </a:ext>
            </a:extLst>
          </p:cNvPr>
          <p:cNvSpPr>
            <a:spLocks noGrp="1"/>
          </p:cNvSpPr>
          <p:nvPr/>
        </p:nvSpPr>
        <p:spPr>
          <a:xfrm>
            <a:off x="8001000" y="2781300"/>
            <a:ext cx="1238250" cy="990600"/>
          </a:xfrm>
          <a:prstGeom prst="roundRect">
            <a:avLst>
              <a:gd name="adj" fmla="val 11538"/>
            </a:avLst>
          </a:prstGeom>
          <a:solidFill>
            <a:srgbClr val="ECF1EE"/>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A366A6C7-B735-4E62-A327-0C7B39CA207B}"/>
              </a:ext>
            </a:extLst>
          </p:cNvPr>
          <p:cNvSpPr>
            <a:spLocks noGrp="1"/>
          </p:cNvSpPr>
          <p:nvPr/>
        </p:nvSpPr>
        <p:spPr>
          <a:xfrm>
            <a:off x="8096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latin typeface="Calibri"/>
                <a:ea typeface="맑은 고딕"/>
                <a:cs typeface="맑은 고딕"/>
              </a:rPr>
              <a:t>반추와 음수</a:t>
            </a:r>
          </a:p>
        </p:txBody>
      </p:sp>
      <p:sp>
        <p:nvSpPr>
          <p:cNvPr id="18" name="모서리가 둥근 직사각형 17">
            <a:extLst>
              <a:ext uri="{FF2B5EF4-FFF2-40B4-BE49-F238E27FC236}">
                <a16:creationId xmlns:a16="http://schemas.microsoft.com/office/drawing/2014/main" id="{3E3BACCB-9959-4886-BBFF-244FF9D74931}"/>
              </a:ext>
            </a:extLst>
          </p:cNvPr>
          <p:cNvSpPr>
            <a:spLocks noGrp="1"/>
          </p:cNvSpPr>
          <p:nvPr/>
        </p:nvSpPr>
        <p:spPr>
          <a:xfrm>
            <a:off x="9525000" y="2781300"/>
            <a:ext cx="1238250" cy="990600"/>
          </a:xfrm>
          <a:prstGeom prst="roundRect">
            <a:avLst>
              <a:gd name="adj" fmla="val 11538"/>
            </a:avLst>
          </a:prstGeom>
          <a:solidFill>
            <a:srgbClr val="ECF1EE"/>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9C37C899-2C5E-4026-8870-F083500A75BB}"/>
              </a:ext>
            </a:extLst>
          </p:cNvPr>
          <p:cNvSpPr>
            <a:spLocks noGrp="1"/>
          </p:cNvSpPr>
          <p:nvPr/>
        </p:nvSpPr>
        <p:spPr>
          <a:xfrm>
            <a:off x="9620250" y="3028950"/>
            <a:ext cx="1047750" cy="514350"/>
          </a:xfrm>
          <a:prstGeom prst="rect">
            <a:avLst/>
          </a:prstGeom>
          <a:noFill/>
          <a:ln w="0">
            <a:noFill/>
            <a:prstDash val="solid"/>
          </a:ln>
        </p:spPr>
        <p:txBody>
          <a:bodyPr/>
          <a:lstStyle/>
          <a:p>
            <a:pPr algn="ctr">
              <a:buNone/>
              <a:defRPr sz="1275" b="1">
                <a:solidFill>
                  <a:srgbClr val="10251F"/>
                </a:solidFill>
              </a:defRPr>
            </a:pPr>
            <a:r>
              <a:rPr sz="1275" b="1">
                <a:solidFill>
                  <a:srgbClr val="10251F"/>
                </a:solidFill>
                <a:latin typeface="Calibri"/>
                <a:ea typeface="맑은 고딕"/>
                <a:cs typeface="맑은 고딕"/>
              </a:rPr>
              <a:t>우군 성적</a:t>
            </a:r>
          </a:p>
        </p:txBody>
      </p:sp>
      <p:sp>
        <p:nvSpPr>
          <p:cNvPr id="20" name="직사각형 19">
            <a:extLst>
              <a:ext uri="{FF2B5EF4-FFF2-40B4-BE49-F238E27FC236}">
                <a16:creationId xmlns:a16="http://schemas.microsoft.com/office/drawing/2014/main" id="{0E158FEA-9440-4D30-9CA8-0824EC29A6E1}"/>
              </a:ext>
            </a:extLst>
          </p:cNvPr>
          <p:cNvSpPr>
            <a:spLocks noGrp="1"/>
          </p:cNvSpPr>
          <p:nvPr/>
        </p:nvSpPr>
        <p:spPr>
          <a:xfrm>
            <a:off x="685800" y="5486400"/>
            <a:ext cx="10820400" cy="323850"/>
          </a:xfrm>
          <a:prstGeom prst="rect">
            <a:avLst/>
          </a:prstGeom>
          <a:noFill/>
          <a:ln w="0">
            <a:noFill/>
            <a:prstDash val="solid"/>
          </a:ln>
        </p:spPr>
        <p:txBody>
          <a:bodyPr/>
          <a:lstStyle/>
          <a:p>
            <a:pPr algn="ctr">
              <a:buNone/>
              <a:defRPr sz="1650" b="1">
                <a:solidFill>
                  <a:srgbClr val="15A98C"/>
                </a:solidFill>
              </a:defRPr>
            </a:pPr>
            <a:r>
              <a:rPr sz="1650" b="1">
                <a:solidFill>
                  <a:srgbClr val="15A98C"/>
                </a:solidFill>
                <a:latin typeface="Calibri"/>
                <a:ea typeface="맑은 고딕"/>
                <a:cs typeface="맑은 고딕"/>
              </a:rPr>
              <a:t>pH는 대표 개체를 골라 사양을 검증하는 도구다</a:t>
            </a:r>
          </a:p>
        </p:txBody>
      </p:sp>
    </p:spTree>
    <p:extLst>
      <p:ext uri="{BB962C8B-B14F-4D97-AF65-F5344CB8AC3E}">
        <p14:creationId xmlns:p14="http://schemas.microsoft.com/office/powerpoint/2010/main" val="1897684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CEE58DDF-1A75-414D-A2FB-D57BE284C941}"/>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latin typeface="Calibri"/>
                <a:ea typeface="맑은 고딕"/>
                <a:cs typeface="맑은 고딕"/>
              </a:rPr>
              <a:t>02</a:t>
            </a:r>
          </a:p>
        </p:txBody>
      </p:sp>
      <p:sp>
        <p:nvSpPr>
          <p:cNvPr id="2" name="직사각형 1">
            <a:extLst>
              <a:ext uri="{FF2B5EF4-FFF2-40B4-BE49-F238E27FC236}">
                <a16:creationId xmlns:a16="http://schemas.microsoft.com/office/drawing/2014/main" id="{DF76A1BB-C481-4DB4-A082-E61822097DBE}"/>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latin typeface="Calibri"/>
                <a:ea typeface="맑은 고딕"/>
                <a:cs typeface="맑은 고딕"/>
              </a:rPr>
              <a:t>메신저와 앱 그래프</a:t>
            </a:r>
          </a:p>
        </p:txBody>
      </p:sp>
      <p:sp>
        <p:nvSpPr>
          <p:cNvPr id="3" name="직사각형 2">
            <a:extLst>
              <a:ext uri="{FF2B5EF4-FFF2-40B4-BE49-F238E27FC236}">
                <a16:creationId xmlns:a16="http://schemas.microsoft.com/office/drawing/2014/main" id="{E1CE8FA3-58F2-469D-90D9-BB7D870D4D74}"/>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latin typeface="Calibri"/>
                <a:ea typeface="맑은 고딕"/>
                <a:cs typeface="맑은 고딕"/>
              </a:rPr>
              <a:t>그래프로 알람을 검증하고, 시간 흐름을 파악하고, 다음 확인을 정한다.</a:t>
            </a:r>
          </a:p>
        </p:txBody>
      </p:sp>
      <p:sp>
        <p:nvSpPr>
          <p:cNvPr id="5" name="타원 4">
            <a:extLst>
              <a:ext uri="{FF2B5EF4-FFF2-40B4-BE49-F238E27FC236}">
                <a16:creationId xmlns:a16="http://schemas.microsoft.com/office/drawing/2014/main" id="{F70ABAEB-543C-4917-915B-E1D1E0CA4357}"/>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2D3E0C62-AD0E-4E84-B248-833683BE9177}"/>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4B2D98E4-E549-49F6-8AE3-6962F0423AF0}"/>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E1999684-D145-4197-B45F-C0F7F50B9E39}"/>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8B6F5FC6-99B1-4DBF-8914-B0EA908CC299}"/>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4D10060E-09B0-4BA5-B574-E972475360D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latin typeface="Calibri"/>
                <a:ea typeface="맑은 고딕"/>
                <a:cs typeface="맑은 고딕"/>
              </a:rPr>
              <a:t>smaXtec × CowTalk | 통합 교육자료</a:t>
            </a:r>
          </a:p>
        </p:txBody>
      </p:sp>
      <p:sp>
        <p:nvSpPr>
          <p:cNvPr id="11" name="직사각형 10">
            <a:extLst>
              <a:ext uri="{FF2B5EF4-FFF2-40B4-BE49-F238E27FC236}">
                <a16:creationId xmlns:a16="http://schemas.microsoft.com/office/drawing/2014/main" id="{956BCB01-843A-403D-A5E3-E9401C0BE248}"/>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latin typeface="Calibri"/>
                <a:ea typeface="맑은 고딕"/>
                <a:cs typeface="맑은 고딕"/>
              </a:rPr>
              <a:t>13</a:t>
            </a:r>
          </a:p>
        </p:txBody>
      </p:sp>
      <p:pic>
        <p:nvPicPr>
          <p:cNvPr id="24" name="그림 23"/>
          <p:cNvPicPr>
            <a:picLocks noChangeAspect="1"/>
          </p:cNvPicPr>
          <p:nvPr/>
        </p:nvPicPr>
        <p:blipFill>
          <a:blip r:embed="rId3"/>
          <a:srcRect l="10046" r="10046"/>
          <a:stretch>
            <a:fillRect/>
          </a:stretch>
        </p:blipFill>
        <p:spPr>
          <a:xfrm>
            <a:off x="9906000" y="0"/>
            <a:ext cx="2286000" cy="6858000"/>
          </a:xfrm>
          <a:prstGeom prst="rect">
            <a:avLst/>
          </a:prstGeom>
        </p:spPr>
      </p:pic>
    </p:spTree>
    <p:extLst>
      <p:ext uri="{BB962C8B-B14F-4D97-AF65-F5344CB8AC3E}">
        <p14:creationId xmlns:p14="http://schemas.microsoft.com/office/powerpoint/2010/main" val="641367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9144ECDE-E9ED-40A0-BE28-B8FC626A23C9}"/>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그래프 학습 예시</a:t>
            </a:r>
          </a:p>
        </p:txBody>
      </p:sp>
      <p:sp>
        <p:nvSpPr>
          <p:cNvPr id="2" name="직사각형 1">
            <a:extLst>
              <a:ext uri="{FF2B5EF4-FFF2-40B4-BE49-F238E27FC236}">
                <a16:creationId xmlns:a16="http://schemas.microsoft.com/office/drawing/2014/main" id="{C6B52E39-28D3-4579-B0AF-78E5DF204C86}"/>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그래프는 왼쪽에서 오른쪽으로 — 사건에서 결정까지</a:t>
            </a:r>
          </a:p>
        </p:txBody>
      </p:sp>
      <p:sp>
        <p:nvSpPr>
          <p:cNvPr id="3" name="직사각형 2">
            <a:extLst>
              <a:ext uri="{FF2B5EF4-FFF2-40B4-BE49-F238E27FC236}">
                <a16:creationId xmlns:a16="http://schemas.microsoft.com/office/drawing/2014/main" id="{BBFAA03F-F962-41FF-840A-1D447B75C27D}"/>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FBE08C7D-EBC9-4291-BC9A-A1404A5AF37F}"/>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14</a:t>
            </a:r>
          </a:p>
        </p:txBody>
      </p:sp>
      <p:sp>
        <p:nvSpPr>
          <p:cNvPr id="5" name="모서리가 둥근 직사각형 4">
            <a:extLst>
              <a:ext uri="{FF2B5EF4-FFF2-40B4-BE49-F238E27FC236}">
                <a16:creationId xmlns:a16="http://schemas.microsoft.com/office/drawing/2014/main" id="{7053BADF-A57E-4040-AC34-4B395A24F555}"/>
              </a:ext>
            </a:extLst>
          </p:cNvPr>
          <p:cNvSpPr>
            <a:spLocks noGrp="1"/>
          </p:cNvSpPr>
          <p:nvPr/>
        </p:nvSpPr>
        <p:spPr>
          <a:xfrm>
            <a:off x="8572500" y="466725"/>
            <a:ext cx="2667000" cy="323850"/>
          </a:xfrm>
          <a:prstGeom prst="roundRect">
            <a:avLst>
              <a:gd name="adj" fmla="val 50000"/>
            </a:avLst>
          </a:prstGeom>
          <a:solidFill>
            <a:srgbClr val="F6B846"/>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06D00443-F569-45A7-937E-7F182DBA266A}"/>
              </a:ext>
            </a:extLst>
          </p:cNvPr>
          <p:cNvSpPr>
            <a:spLocks noGrp="1"/>
          </p:cNvSpPr>
          <p:nvPr/>
        </p:nvSpPr>
        <p:spPr>
          <a:xfrm>
            <a:off x="8667750" y="523875"/>
            <a:ext cx="2476500" cy="190500"/>
          </a:xfrm>
          <a:prstGeom prst="rect">
            <a:avLst/>
          </a:prstGeom>
          <a:noFill/>
          <a:ln w="0">
            <a:noFill/>
            <a:prstDash val="solid"/>
          </a:ln>
        </p:spPr>
        <p:txBody>
          <a:bodyPr/>
          <a:lstStyle/>
          <a:p>
            <a:pPr algn="ctr">
              <a:buNone/>
              <a:defRPr sz="975" b="1">
                <a:solidFill>
                  <a:srgbClr val="0A1B17"/>
                </a:solidFill>
              </a:defRPr>
            </a:pPr>
            <a:r>
              <a:rPr sz="975" b="1">
                <a:solidFill>
                  <a:srgbClr val="0A1B17"/>
                </a:solidFill>
                <a:latin typeface="Calibri"/>
                <a:ea typeface="맑은 고딕"/>
                <a:cs typeface="맑은 고딕"/>
              </a:rPr>
              <a:t>학습용 예시 — 실제 화면이 아님</a:t>
            </a:r>
          </a:p>
        </p:txBody>
      </p:sp>
      <p:graphicFrame>
        <p:nvGraphicFramePr>
          <p:cNvPr id="24" name="Chart"/>
          <p:cNvGraphicFramePr/>
          <p:nvPr/>
        </p:nvGraphicFramePr>
        <p:xfrm>
          <a:off x="685800" y="1809750"/>
          <a:ext cx="781050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8" name="직사각형 7">
            <a:extLst>
              <a:ext uri="{FF2B5EF4-FFF2-40B4-BE49-F238E27FC236}">
                <a16:creationId xmlns:a16="http://schemas.microsoft.com/office/drawing/2014/main" id="{37462653-8DD8-4AB9-930D-3571BB68763A}"/>
              </a:ext>
            </a:extLst>
          </p:cNvPr>
          <p:cNvSpPr>
            <a:spLocks noGrp="1"/>
          </p:cNvSpPr>
          <p:nvPr/>
        </p:nvSpPr>
        <p:spPr>
          <a:xfrm>
            <a:off x="8858250" y="19621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latin typeface="Calibri"/>
                <a:ea typeface="맑은 고딕"/>
                <a:cs typeface="맑은 고딕"/>
              </a:rPr>
              <a:t>1</a:t>
            </a:r>
          </a:p>
        </p:txBody>
      </p:sp>
      <p:sp>
        <p:nvSpPr>
          <p:cNvPr id="9" name="직사각형 8">
            <a:extLst>
              <a:ext uri="{FF2B5EF4-FFF2-40B4-BE49-F238E27FC236}">
                <a16:creationId xmlns:a16="http://schemas.microsoft.com/office/drawing/2014/main" id="{7CF31592-08BB-4BFF-9B4D-A42FE8294FB1}"/>
              </a:ext>
            </a:extLst>
          </p:cNvPr>
          <p:cNvSpPr>
            <a:spLocks noGrp="1"/>
          </p:cNvSpPr>
          <p:nvPr/>
        </p:nvSpPr>
        <p:spPr>
          <a:xfrm>
            <a:off x="9410700" y="2000250"/>
            <a:ext cx="1809750" cy="285750"/>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기준선을 찾는다</a:t>
            </a:r>
          </a:p>
        </p:txBody>
      </p:sp>
      <p:sp>
        <p:nvSpPr>
          <p:cNvPr id="10" name="직사각형 9">
            <a:extLst>
              <a:ext uri="{FF2B5EF4-FFF2-40B4-BE49-F238E27FC236}">
                <a16:creationId xmlns:a16="http://schemas.microsoft.com/office/drawing/2014/main" id="{DC08BC8B-7D67-46D3-83BC-F88ED2CBF115}"/>
              </a:ext>
            </a:extLst>
          </p:cNvPr>
          <p:cNvSpPr>
            <a:spLocks noGrp="1"/>
          </p:cNvSpPr>
          <p:nvPr/>
        </p:nvSpPr>
        <p:spPr>
          <a:xfrm>
            <a:off x="8858250" y="28003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latin typeface="Calibri"/>
                <a:ea typeface="맑은 고딕"/>
                <a:cs typeface="맑은 고딕"/>
              </a:rPr>
              <a:t>2</a:t>
            </a:r>
          </a:p>
        </p:txBody>
      </p:sp>
      <p:sp>
        <p:nvSpPr>
          <p:cNvPr id="11" name="직사각형 10">
            <a:extLst>
              <a:ext uri="{FF2B5EF4-FFF2-40B4-BE49-F238E27FC236}">
                <a16:creationId xmlns:a16="http://schemas.microsoft.com/office/drawing/2014/main" id="{D50954EA-965B-4B42-B814-3BF4BB35A755}"/>
              </a:ext>
            </a:extLst>
          </p:cNvPr>
          <p:cNvSpPr>
            <a:spLocks noGrp="1"/>
          </p:cNvSpPr>
          <p:nvPr/>
        </p:nvSpPr>
        <p:spPr>
          <a:xfrm>
            <a:off x="9410700" y="2838450"/>
            <a:ext cx="1905000" cy="476250"/>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변곡점을 찾는다</a:t>
            </a:r>
          </a:p>
        </p:txBody>
      </p:sp>
      <p:sp>
        <p:nvSpPr>
          <p:cNvPr id="12" name="직사각형 11">
            <a:extLst>
              <a:ext uri="{FF2B5EF4-FFF2-40B4-BE49-F238E27FC236}">
                <a16:creationId xmlns:a16="http://schemas.microsoft.com/office/drawing/2014/main" id="{D1474510-586D-40BA-A4E3-4787996BBE6B}"/>
              </a:ext>
            </a:extLst>
          </p:cNvPr>
          <p:cNvSpPr>
            <a:spLocks noGrp="1"/>
          </p:cNvSpPr>
          <p:nvPr/>
        </p:nvSpPr>
        <p:spPr>
          <a:xfrm>
            <a:off x="8858250" y="37909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latin typeface="Calibri"/>
                <a:ea typeface="맑은 고딕"/>
                <a:cs typeface="맑은 고딕"/>
              </a:rPr>
              <a:t>3</a:t>
            </a:r>
          </a:p>
        </p:txBody>
      </p:sp>
      <p:sp>
        <p:nvSpPr>
          <p:cNvPr id="13" name="직사각형 12">
            <a:extLst>
              <a:ext uri="{FF2B5EF4-FFF2-40B4-BE49-F238E27FC236}">
                <a16:creationId xmlns:a16="http://schemas.microsoft.com/office/drawing/2014/main" id="{C6FD1F85-9B0D-4520-BCE0-3CA7AE53C383}"/>
              </a:ext>
            </a:extLst>
          </p:cNvPr>
          <p:cNvSpPr>
            <a:spLocks noGrp="1"/>
          </p:cNvSpPr>
          <p:nvPr/>
        </p:nvSpPr>
        <p:spPr>
          <a:xfrm>
            <a:off x="9410700" y="3829050"/>
            <a:ext cx="1905000" cy="476250"/>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신호를 조합한다</a:t>
            </a:r>
          </a:p>
        </p:txBody>
      </p:sp>
      <p:sp>
        <p:nvSpPr>
          <p:cNvPr id="14" name="직사각형 13">
            <a:extLst>
              <a:ext uri="{FF2B5EF4-FFF2-40B4-BE49-F238E27FC236}">
                <a16:creationId xmlns:a16="http://schemas.microsoft.com/office/drawing/2014/main" id="{9357A0F3-91B7-4A2E-93FD-263C709BF68B}"/>
              </a:ext>
            </a:extLst>
          </p:cNvPr>
          <p:cNvSpPr>
            <a:spLocks noGrp="1"/>
          </p:cNvSpPr>
          <p:nvPr/>
        </p:nvSpPr>
        <p:spPr>
          <a:xfrm>
            <a:off x="8858250" y="4781550"/>
            <a:ext cx="400050" cy="400050"/>
          </a:xfrm>
          <a:prstGeom prst="rect">
            <a:avLst/>
          </a:prstGeom>
          <a:noFill/>
          <a:ln w="0">
            <a:noFill/>
            <a:prstDash val="solid"/>
          </a:ln>
        </p:spPr>
        <p:txBody>
          <a:bodyPr/>
          <a:lstStyle/>
          <a:p>
            <a:pPr algn="l">
              <a:buNone/>
              <a:defRPr sz="2250" b="1">
                <a:solidFill>
                  <a:srgbClr val="65D44A"/>
                </a:solidFill>
              </a:defRPr>
            </a:pPr>
            <a:r>
              <a:rPr sz="2250" b="1">
                <a:solidFill>
                  <a:srgbClr val="65D44A"/>
                </a:solidFill>
                <a:latin typeface="Calibri"/>
                <a:ea typeface="맑은 고딕"/>
                <a:cs typeface="맑은 고딕"/>
              </a:rPr>
              <a:t>4</a:t>
            </a:r>
          </a:p>
        </p:txBody>
      </p:sp>
      <p:sp>
        <p:nvSpPr>
          <p:cNvPr id="15" name="직사각형 14">
            <a:extLst>
              <a:ext uri="{FF2B5EF4-FFF2-40B4-BE49-F238E27FC236}">
                <a16:creationId xmlns:a16="http://schemas.microsoft.com/office/drawing/2014/main" id="{73932DA3-3289-4BE4-9BA4-AB3AE9FE6D83}"/>
              </a:ext>
            </a:extLst>
          </p:cNvPr>
          <p:cNvSpPr>
            <a:spLocks noGrp="1"/>
          </p:cNvSpPr>
          <p:nvPr/>
        </p:nvSpPr>
        <p:spPr>
          <a:xfrm>
            <a:off x="9410700" y="4819650"/>
            <a:ext cx="1905000" cy="571500"/>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사건과 조치를 기록한다</a:t>
            </a:r>
          </a:p>
        </p:txBody>
      </p:sp>
    </p:spTree>
    <p:extLst>
      <p:ext uri="{BB962C8B-B14F-4D97-AF65-F5344CB8AC3E}">
        <p14:creationId xmlns:p14="http://schemas.microsoft.com/office/powerpoint/2010/main" val="5042170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1" name="직사각형 10">
            <a:extLst>
              <a:ext uri="{FF2B5EF4-FFF2-40B4-BE49-F238E27FC236}">
                <a16:creationId xmlns:a16="http://schemas.microsoft.com/office/drawing/2014/main" id="{4D8736AD-AE22-4ACE-B5F9-B83AEEDCAF79}"/>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보기 수준</a:t>
            </a:r>
          </a:p>
        </p:txBody>
      </p:sp>
      <p:sp>
        <p:nvSpPr>
          <p:cNvPr id="2" name="직사각형 1">
            <a:extLst>
              <a:ext uri="{FF2B5EF4-FFF2-40B4-BE49-F238E27FC236}">
                <a16:creationId xmlns:a16="http://schemas.microsoft.com/office/drawing/2014/main" id="{25867626-4515-4818-BB21-7E471D463991}"/>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개체 보기와 우군 보기는 다른 질문에 답한다</a:t>
            </a:r>
          </a:p>
        </p:txBody>
      </p:sp>
      <p:sp>
        <p:nvSpPr>
          <p:cNvPr id="3" name="직사각형 2">
            <a:extLst>
              <a:ext uri="{FF2B5EF4-FFF2-40B4-BE49-F238E27FC236}">
                <a16:creationId xmlns:a16="http://schemas.microsoft.com/office/drawing/2014/main" id="{4304229A-B717-4A9D-846D-0A3EE3541D5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33E656C7-BA4B-4127-879A-4067D07A68E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15</a:t>
            </a:r>
          </a:p>
        </p:txBody>
      </p:sp>
      <p:sp>
        <p:nvSpPr>
          <p:cNvPr id="5" name="모서리가 둥근 직사각형 4">
            <a:extLst>
              <a:ext uri="{FF2B5EF4-FFF2-40B4-BE49-F238E27FC236}">
                <a16:creationId xmlns:a16="http://schemas.microsoft.com/office/drawing/2014/main" id="{B35D7DC6-D91C-4281-B227-0C04201D7444}"/>
              </a:ext>
            </a:extLst>
          </p:cNvPr>
          <p:cNvSpPr>
            <a:spLocks noGrp="1"/>
          </p:cNvSpPr>
          <p:nvPr/>
        </p:nvSpPr>
        <p:spPr>
          <a:xfrm>
            <a:off x="685800" y="1733550"/>
            <a:ext cx="5143500" cy="4095750"/>
          </a:xfrm>
          <a:prstGeom prst="roundRect">
            <a:avLst>
              <a:gd name="adj" fmla="val 3721"/>
            </a:avLst>
          </a:prstGeom>
          <a:solidFill>
            <a:srgbClr val="FFFFFF"/>
          </a:solidFill>
          <a:ln w="0">
            <a:noFill/>
            <a:prstDash val="solid"/>
          </a:ln>
        </p:spPr>
        <p:txBody>
          <a:bodyPr/>
          <a:lstStyle/>
          <a:p>
            <a:endParaRPr lang="ko-KR" altLang="en-US"/>
          </a:p>
        </p:txBody>
      </p:sp>
      <p:sp>
        <p:nvSpPr>
          <p:cNvPr id="6" name="모서리가 둥근 직사각형 5">
            <a:extLst>
              <a:ext uri="{FF2B5EF4-FFF2-40B4-BE49-F238E27FC236}">
                <a16:creationId xmlns:a16="http://schemas.microsoft.com/office/drawing/2014/main" id="{0F33E6BE-1C1D-4AA0-A2CC-D234B1E963C4}"/>
              </a:ext>
            </a:extLst>
          </p:cNvPr>
          <p:cNvSpPr>
            <a:spLocks noGrp="1"/>
          </p:cNvSpPr>
          <p:nvPr/>
        </p:nvSpPr>
        <p:spPr>
          <a:xfrm>
            <a:off x="6096000" y="1733550"/>
            <a:ext cx="5410200" cy="4095750"/>
          </a:xfrm>
          <a:prstGeom prst="roundRect">
            <a:avLst>
              <a:gd name="adj" fmla="val 3721"/>
            </a:avLst>
          </a:prstGeom>
          <a:solidFill>
            <a:srgbClr val="10251F"/>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95F8AE95-E77D-4083-A2D9-16B14D0A1415}"/>
              </a:ext>
            </a:extLst>
          </p:cNvPr>
          <p:cNvSpPr>
            <a:spLocks noGrp="1"/>
          </p:cNvSpPr>
          <p:nvPr/>
        </p:nvSpPr>
        <p:spPr>
          <a:xfrm>
            <a:off x="990600" y="2038350"/>
            <a:ext cx="4533900" cy="476250"/>
          </a:xfrm>
          <a:prstGeom prst="rect">
            <a:avLst/>
          </a:prstGeom>
          <a:noFill/>
          <a:ln w="0">
            <a:noFill/>
            <a:prstDash val="solid"/>
          </a:ln>
        </p:spPr>
        <p:txBody>
          <a:bodyPr/>
          <a:lstStyle/>
          <a:p>
            <a:pPr algn="l">
              <a:buNone/>
              <a:defRPr sz="1950" b="1">
                <a:solidFill>
                  <a:srgbClr val="15A98C"/>
                </a:solidFill>
              </a:defRPr>
            </a:pPr>
            <a:r>
              <a:rPr sz="1950" b="1">
                <a:solidFill>
                  <a:srgbClr val="15A98C"/>
                </a:solidFill>
                <a:latin typeface="Calibri"/>
                <a:ea typeface="맑은 고딕"/>
                <a:cs typeface="맑은 고딕"/>
              </a:rPr>
              <a:t>개체</a:t>
            </a:r>
          </a:p>
        </p:txBody>
      </p:sp>
      <p:sp>
        <p:nvSpPr>
          <p:cNvPr id="8" name="직사각형 7">
            <a:extLst>
              <a:ext uri="{FF2B5EF4-FFF2-40B4-BE49-F238E27FC236}">
                <a16:creationId xmlns:a16="http://schemas.microsoft.com/office/drawing/2014/main" id="{3BCB44FA-3D4B-4C21-8AE0-1A5D01211700}"/>
              </a:ext>
            </a:extLst>
          </p:cNvPr>
          <p:cNvSpPr>
            <a:spLocks noGrp="1"/>
          </p:cNvSpPr>
          <p:nvPr/>
        </p:nvSpPr>
        <p:spPr>
          <a:xfrm>
            <a:off x="990600" y="2705100"/>
            <a:ext cx="4476750" cy="2571750"/>
          </a:xfrm>
          <a:prstGeom prst="rect">
            <a:avLst/>
          </a:prstGeom>
          <a:noFill/>
          <a:ln w="0">
            <a:noFill/>
            <a:prstDash val="solid"/>
          </a:ln>
        </p:spPr>
        <p:txBody>
          <a:bodyPr/>
          <a:lstStyle/>
          <a:p>
            <a:pPr algn="l">
              <a:buNone/>
              <a:defRPr sz="1575" b="0">
                <a:solidFill>
                  <a:srgbClr val="10251F"/>
                </a:solidFill>
              </a:defRPr>
            </a:pPr>
            <a:r>
              <a:rPr sz="1575" b="0">
                <a:solidFill>
                  <a:srgbClr val="10251F"/>
                </a:solidFill>
                <a:latin typeface="Calibri"/>
                <a:ea typeface="맑은 고딕"/>
                <a:cs typeface="맑은 고딕"/>
              </a:rPr>
              <a:t>• 어느 소가 달라졌는가?</a:t>
            </a:r>
          </a:p>
          <a:p>
            <a:pPr algn="l">
              <a:buNone/>
              <a:defRPr sz="1575" b="0">
                <a:solidFill>
                  <a:srgbClr val="10251F"/>
                </a:solidFill>
              </a:defRPr>
            </a:pPr>
            <a:r>
              <a:rPr sz="1575" b="0">
                <a:solidFill>
                  <a:srgbClr val="10251F"/>
                </a:solidFill>
                <a:latin typeface="Calibri"/>
                <a:ea typeface="맑은 고딕"/>
                <a:cs typeface="맑은 고딕"/>
              </a:rPr>
              <a:t>• 기준선에서 얼마나 벗어났는가?</a:t>
            </a:r>
          </a:p>
          <a:p>
            <a:pPr algn="l">
              <a:buNone/>
              <a:defRPr sz="1575" b="0">
                <a:solidFill>
                  <a:srgbClr val="10251F"/>
                </a:solidFill>
              </a:defRPr>
            </a:pPr>
            <a:r>
              <a:rPr sz="1575" b="0">
                <a:solidFill>
                  <a:srgbClr val="10251F"/>
                </a:solidFill>
                <a:latin typeface="Calibri"/>
                <a:ea typeface="맑은 고딕"/>
                <a:cs typeface="맑은 고딕"/>
              </a:rPr>
              <a:t>• 알람 전에 무슨 일이 있었는가?</a:t>
            </a:r>
          </a:p>
          <a:p>
            <a:pPr algn="l">
              <a:buNone/>
              <a:defRPr sz="1575" b="0">
                <a:solidFill>
                  <a:srgbClr val="10251F"/>
                </a:solidFill>
              </a:defRPr>
            </a:pPr>
            <a:r>
              <a:rPr sz="1575" b="0">
                <a:solidFill>
                  <a:srgbClr val="10251F"/>
                </a:solidFill>
                <a:latin typeface="Calibri"/>
                <a:ea typeface="맑은 고딕"/>
                <a:cs typeface="맑은 고딕"/>
              </a:rPr>
              <a:t>• 확인·치료 후 회복했는가?</a:t>
            </a:r>
          </a:p>
        </p:txBody>
      </p:sp>
      <p:sp>
        <p:nvSpPr>
          <p:cNvPr id="9" name="직사각형 8">
            <a:extLst>
              <a:ext uri="{FF2B5EF4-FFF2-40B4-BE49-F238E27FC236}">
                <a16:creationId xmlns:a16="http://schemas.microsoft.com/office/drawing/2014/main" id="{4E796CC2-94EB-4F3C-922A-1BA88DF35750}"/>
              </a:ext>
            </a:extLst>
          </p:cNvPr>
          <p:cNvSpPr>
            <a:spLocks noGrp="1"/>
          </p:cNvSpPr>
          <p:nvPr/>
        </p:nvSpPr>
        <p:spPr>
          <a:xfrm>
            <a:off x="6419850" y="2038350"/>
            <a:ext cx="4762500" cy="476250"/>
          </a:xfrm>
          <a:prstGeom prst="rect">
            <a:avLst/>
          </a:prstGeom>
          <a:noFill/>
          <a:ln w="0">
            <a:noFill/>
            <a:prstDash val="solid"/>
          </a:ln>
        </p:spPr>
        <p:txBody>
          <a:bodyPr/>
          <a:lstStyle/>
          <a:p>
            <a:pPr algn="l">
              <a:buNone/>
              <a:defRPr sz="1950" b="1">
                <a:solidFill>
                  <a:srgbClr val="65D44A"/>
                </a:solidFill>
              </a:defRPr>
            </a:pPr>
            <a:r>
              <a:rPr sz="1950" b="1">
                <a:solidFill>
                  <a:srgbClr val="65D44A"/>
                </a:solidFill>
                <a:latin typeface="Calibri"/>
                <a:ea typeface="맑은 고딕"/>
                <a:cs typeface="맑은 고딕"/>
              </a:rPr>
              <a:t>우군</a:t>
            </a:r>
          </a:p>
        </p:txBody>
      </p:sp>
      <p:sp>
        <p:nvSpPr>
          <p:cNvPr id="10" name="직사각형 9">
            <a:extLst>
              <a:ext uri="{FF2B5EF4-FFF2-40B4-BE49-F238E27FC236}">
                <a16:creationId xmlns:a16="http://schemas.microsoft.com/office/drawing/2014/main" id="{AB06B5DD-02D8-4C48-8243-D864F942C846}"/>
              </a:ext>
            </a:extLst>
          </p:cNvPr>
          <p:cNvSpPr>
            <a:spLocks noGrp="1"/>
          </p:cNvSpPr>
          <p:nvPr/>
        </p:nvSpPr>
        <p:spPr>
          <a:xfrm>
            <a:off x="6419850" y="2705100"/>
            <a:ext cx="4667250" cy="2571750"/>
          </a:xfrm>
          <a:prstGeom prst="rect">
            <a:avLst/>
          </a:prstGeom>
          <a:noFill/>
          <a:ln w="0">
            <a:noFill/>
            <a:prstDash val="solid"/>
          </a:ln>
        </p:spPr>
        <p:txBody>
          <a:bodyPr/>
          <a:lstStyle/>
          <a:p>
            <a:pPr algn="l">
              <a:buNone/>
              <a:defRPr sz="1575" b="0">
                <a:solidFill>
                  <a:srgbClr val="FFFFFF"/>
                </a:solidFill>
              </a:defRPr>
            </a:pPr>
            <a:r>
              <a:rPr sz="1575" b="0">
                <a:solidFill>
                  <a:srgbClr val="FFFFFF"/>
                </a:solidFill>
                <a:latin typeface="Calibri"/>
                <a:ea typeface="맑은 고딕"/>
                <a:cs typeface="맑은 고딕"/>
              </a:rPr>
              <a:t>• 몇 마리가 함께 변했는가?</a:t>
            </a:r>
          </a:p>
          <a:p>
            <a:pPr algn="l">
              <a:buNone/>
              <a:defRPr sz="1575" b="0">
                <a:solidFill>
                  <a:srgbClr val="FFFFFF"/>
                </a:solidFill>
              </a:defRPr>
            </a:pPr>
            <a:r>
              <a:rPr sz="1575" b="0">
                <a:solidFill>
                  <a:srgbClr val="FFFFFF"/>
                </a:solidFill>
                <a:latin typeface="Calibri"/>
                <a:ea typeface="맑은 고딕"/>
                <a:cs typeface="맑은 고딕"/>
              </a:rPr>
              <a:t>• 사료·급수·기후 사건이 있었는가?</a:t>
            </a:r>
          </a:p>
          <a:p>
            <a:pPr algn="l">
              <a:buNone/>
              <a:defRPr sz="1575" b="0">
                <a:solidFill>
                  <a:srgbClr val="FFFFFF"/>
                </a:solidFill>
              </a:defRPr>
            </a:pPr>
            <a:r>
              <a:rPr sz="1575" b="0">
                <a:solidFill>
                  <a:srgbClr val="FFFFFF"/>
                </a:solidFill>
                <a:latin typeface="Calibri"/>
                <a:ea typeface="맑은 고딕"/>
                <a:cs typeface="맑은 고딕"/>
              </a:rPr>
              <a:t>• 어느 사료 우군이 가장 영향을 받았는가?</a:t>
            </a:r>
          </a:p>
          <a:p>
            <a:pPr algn="l">
              <a:buNone/>
              <a:defRPr sz="1575" b="0">
                <a:solidFill>
                  <a:srgbClr val="FFFFFF"/>
                </a:solidFill>
              </a:defRPr>
            </a:pPr>
            <a:r>
              <a:rPr sz="1575" b="0">
                <a:solidFill>
                  <a:srgbClr val="FFFFFF"/>
                </a:solidFill>
                <a:latin typeface="Calibri"/>
                <a:ea typeface="맑은 고딕"/>
                <a:cs typeface="맑은 고딕"/>
              </a:rPr>
              <a:t>• 변화가 얼마나 지속됐는가?</a:t>
            </a:r>
          </a:p>
        </p:txBody>
      </p:sp>
    </p:spTree>
    <p:extLst>
      <p:ext uri="{BB962C8B-B14F-4D97-AF65-F5344CB8AC3E}">
        <p14:creationId xmlns:p14="http://schemas.microsoft.com/office/powerpoint/2010/main" val="15106213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FB590081-0A69-421C-AE63-207F02A169E2}"/>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알람 분류</a:t>
            </a:r>
          </a:p>
        </p:txBody>
      </p:sp>
      <p:sp>
        <p:nvSpPr>
          <p:cNvPr id="2" name="직사각형 1">
            <a:extLst>
              <a:ext uri="{FF2B5EF4-FFF2-40B4-BE49-F238E27FC236}">
                <a16:creationId xmlns:a16="http://schemas.microsoft.com/office/drawing/2014/main" id="{17474A71-D9A9-466F-8A4B-F62A5E5A53D0}"/>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목표는 알람을 닫는 것이 아니라 올바르게 분류하는 것</a:t>
            </a:r>
          </a:p>
        </p:txBody>
      </p:sp>
      <p:sp>
        <p:nvSpPr>
          <p:cNvPr id="3" name="직사각형 2">
            <a:extLst>
              <a:ext uri="{FF2B5EF4-FFF2-40B4-BE49-F238E27FC236}">
                <a16:creationId xmlns:a16="http://schemas.microsoft.com/office/drawing/2014/main" id="{1DA22836-FE1B-4BE5-9720-7E664AC744EE}"/>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8404B979-1AF5-4CED-B008-5D887E2D967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16</a:t>
            </a:r>
          </a:p>
        </p:txBody>
      </p:sp>
      <p:sp>
        <p:nvSpPr>
          <p:cNvPr id="5" name="모서리가 둥근 직사각형 4">
            <a:extLst>
              <a:ext uri="{FF2B5EF4-FFF2-40B4-BE49-F238E27FC236}">
                <a16:creationId xmlns:a16="http://schemas.microsoft.com/office/drawing/2014/main" id="{2911D7ED-1679-49AC-A6AC-1CAD4D4028B5}"/>
              </a:ext>
            </a:extLst>
          </p:cNvPr>
          <p:cNvSpPr>
            <a:spLocks noGrp="1"/>
          </p:cNvSpPr>
          <p:nvPr/>
        </p:nvSpPr>
        <p:spPr>
          <a:xfrm>
            <a:off x="5524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EEF9C864-BB8A-4358-B3AE-5A9B0BFFDBE3}"/>
              </a:ext>
            </a:extLst>
          </p:cNvPr>
          <p:cNvSpPr>
            <a:spLocks noGrp="1"/>
          </p:cNvSpPr>
          <p:nvPr/>
        </p:nvSpPr>
        <p:spPr>
          <a:xfrm>
            <a:off x="7429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latin typeface="Calibri"/>
                <a:ea typeface="맑은 고딕"/>
                <a:cs typeface="맑은 고딕"/>
              </a:rPr>
              <a:t>1</a:t>
            </a:r>
          </a:p>
        </p:txBody>
      </p:sp>
      <p:sp>
        <p:nvSpPr>
          <p:cNvPr id="7" name="직사각형 6">
            <a:extLst>
              <a:ext uri="{FF2B5EF4-FFF2-40B4-BE49-F238E27FC236}">
                <a16:creationId xmlns:a16="http://schemas.microsoft.com/office/drawing/2014/main" id="{CF4BB530-EC63-487E-9F98-218D8BAB0482}"/>
              </a:ext>
            </a:extLst>
          </p:cNvPr>
          <p:cNvSpPr>
            <a:spLocks noGrp="1"/>
          </p:cNvSpPr>
          <p:nvPr/>
        </p:nvSpPr>
        <p:spPr>
          <a:xfrm>
            <a:off x="7429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열기</a:t>
            </a:r>
          </a:p>
        </p:txBody>
      </p:sp>
      <p:sp>
        <p:nvSpPr>
          <p:cNvPr id="8" name="직사각형 7">
            <a:extLst>
              <a:ext uri="{FF2B5EF4-FFF2-40B4-BE49-F238E27FC236}">
                <a16:creationId xmlns:a16="http://schemas.microsoft.com/office/drawing/2014/main" id="{6DB94ECE-4AD5-4572-A163-E4F2F7CFC022}"/>
              </a:ext>
            </a:extLst>
          </p:cNvPr>
          <p:cNvSpPr>
            <a:spLocks noGrp="1"/>
          </p:cNvSpPr>
          <p:nvPr/>
        </p:nvSpPr>
        <p:spPr>
          <a:xfrm>
            <a:off x="7429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신호, 시각, 지속시간</a:t>
            </a:r>
          </a:p>
        </p:txBody>
      </p:sp>
      <p:sp>
        <p:nvSpPr>
          <p:cNvPr id="9" name="모서리가 둥근 직사각형 8">
            <a:extLst>
              <a:ext uri="{FF2B5EF4-FFF2-40B4-BE49-F238E27FC236}">
                <a16:creationId xmlns:a16="http://schemas.microsoft.com/office/drawing/2014/main" id="{85CD941B-A17A-41E4-911E-2A92392D08B5}"/>
              </a:ext>
            </a:extLst>
          </p:cNvPr>
          <p:cNvSpPr>
            <a:spLocks noGrp="1"/>
          </p:cNvSpPr>
          <p:nvPr/>
        </p:nvSpPr>
        <p:spPr>
          <a:xfrm>
            <a:off x="28765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9A23F063-9B36-4EA7-92C7-28ED5B067634}"/>
              </a:ext>
            </a:extLst>
          </p:cNvPr>
          <p:cNvSpPr>
            <a:spLocks noGrp="1"/>
          </p:cNvSpPr>
          <p:nvPr/>
        </p:nvSpPr>
        <p:spPr>
          <a:xfrm>
            <a:off x="30670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latin typeface="Calibri"/>
                <a:ea typeface="맑은 고딕"/>
                <a:cs typeface="맑은 고딕"/>
              </a:rPr>
              <a:t>2</a:t>
            </a:r>
          </a:p>
        </p:txBody>
      </p:sp>
      <p:sp>
        <p:nvSpPr>
          <p:cNvPr id="11" name="직사각형 10">
            <a:extLst>
              <a:ext uri="{FF2B5EF4-FFF2-40B4-BE49-F238E27FC236}">
                <a16:creationId xmlns:a16="http://schemas.microsoft.com/office/drawing/2014/main" id="{DCC24003-9B01-4C92-88DE-0B025E58F276}"/>
              </a:ext>
            </a:extLst>
          </p:cNvPr>
          <p:cNvSpPr>
            <a:spLocks noGrp="1"/>
          </p:cNvSpPr>
          <p:nvPr/>
        </p:nvSpPr>
        <p:spPr>
          <a:xfrm>
            <a:off x="30670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맥락</a:t>
            </a:r>
          </a:p>
        </p:txBody>
      </p:sp>
      <p:sp>
        <p:nvSpPr>
          <p:cNvPr id="12" name="직사각형 11">
            <a:extLst>
              <a:ext uri="{FF2B5EF4-FFF2-40B4-BE49-F238E27FC236}">
                <a16:creationId xmlns:a16="http://schemas.microsoft.com/office/drawing/2014/main" id="{3FD468AD-C702-4102-8CD6-4B8003465DC5}"/>
              </a:ext>
            </a:extLst>
          </p:cNvPr>
          <p:cNvSpPr>
            <a:spLocks noGrp="1"/>
          </p:cNvSpPr>
          <p:nvPr/>
        </p:nvSpPr>
        <p:spPr>
          <a:xfrm>
            <a:off x="30670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착유단계, 분만, 우군</a:t>
            </a:r>
          </a:p>
        </p:txBody>
      </p:sp>
      <p:sp>
        <p:nvSpPr>
          <p:cNvPr id="13" name="모서리가 둥근 직사각형 12">
            <a:extLst>
              <a:ext uri="{FF2B5EF4-FFF2-40B4-BE49-F238E27FC236}">
                <a16:creationId xmlns:a16="http://schemas.microsoft.com/office/drawing/2014/main" id="{F98674D5-A03B-4E70-AE71-4AA980491329}"/>
              </a:ext>
            </a:extLst>
          </p:cNvPr>
          <p:cNvSpPr>
            <a:spLocks noGrp="1"/>
          </p:cNvSpPr>
          <p:nvPr/>
        </p:nvSpPr>
        <p:spPr>
          <a:xfrm>
            <a:off x="5200650" y="2038350"/>
            <a:ext cx="2000250" cy="2400300"/>
          </a:xfrm>
          <a:prstGeom prst="roundRect">
            <a:avLst>
              <a:gd name="adj" fmla="val 7619"/>
            </a:avLst>
          </a:prstGeom>
          <a:solidFill>
            <a:srgbClr val="65D44A"/>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AF289B31-3A2F-490A-BC3A-00E572118E07}"/>
              </a:ext>
            </a:extLst>
          </p:cNvPr>
          <p:cNvSpPr>
            <a:spLocks noGrp="1"/>
          </p:cNvSpPr>
          <p:nvPr/>
        </p:nvSpPr>
        <p:spPr>
          <a:xfrm>
            <a:off x="5391150" y="2228850"/>
            <a:ext cx="400050" cy="400050"/>
          </a:xfrm>
          <a:prstGeom prst="rect">
            <a:avLst/>
          </a:prstGeom>
          <a:noFill/>
          <a:ln w="0">
            <a:noFill/>
            <a:prstDash val="solid"/>
          </a:ln>
        </p:spPr>
        <p:txBody>
          <a:bodyPr/>
          <a:lstStyle/>
          <a:p>
            <a:pPr algn="l">
              <a:buNone/>
              <a:defRPr sz="2250" b="1">
                <a:solidFill>
                  <a:srgbClr val="0A1B17"/>
                </a:solidFill>
              </a:defRPr>
            </a:pPr>
            <a:r>
              <a:rPr sz="2250" b="1">
                <a:solidFill>
                  <a:srgbClr val="0A1B17"/>
                </a:solidFill>
                <a:latin typeface="Calibri"/>
                <a:ea typeface="맑은 고딕"/>
                <a:cs typeface="맑은 고딕"/>
              </a:rPr>
              <a:t>3</a:t>
            </a:r>
          </a:p>
        </p:txBody>
      </p:sp>
      <p:sp>
        <p:nvSpPr>
          <p:cNvPr id="15" name="직사각형 14">
            <a:extLst>
              <a:ext uri="{FF2B5EF4-FFF2-40B4-BE49-F238E27FC236}">
                <a16:creationId xmlns:a16="http://schemas.microsoft.com/office/drawing/2014/main" id="{6BDDCD43-86B4-42C2-AB83-D953B2273EF2}"/>
              </a:ext>
            </a:extLst>
          </p:cNvPr>
          <p:cNvSpPr>
            <a:spLocks noGrp="1"/>
          </p:cNvSpPr>
          <p:nvPr/>
        </p:nvSpPr>
        <p:spPr>
          <a:xfrm>
            <a:off x="53911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확인</a:t>
            </a:r>
          </a:p>
        </p:txBody>
      </p:sp>
      <p:sp>
        <p:nvSpPr>
          <p:cNvPr id="16" name="직사각형 15">
            <a:extLst>
              <a:ext uri="{FF2B5EF4-FFF2-40B4-BE49-F238E27FC236}">
                <a16:creationId xmlns:a16="http://schemas.microsoft.com/office/drawing/2014/main" id="{643DA623-C68D-45D6-B9AC-0EE238E5C3DC}"/>
              </a:ext>
            </a:extLst>
          </p:cNvPr>
          <p:cNvSpPr>
            <a:spLocks noGrp="1"/>
          </p:cNvSpPr>
          <p:nvPr/>
        </p:nvSpPr>
        <p:spPr>
          <a:xfrm>
            <a:off x="53911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개체, 환경, 장비</a:t>
            </a:r>
          </a:p>
        </p:txBody>
      </p:sp>
      <p:sp>
        <p:nvSpPr>
          <p:cNvPr id="17" name="모서리가 둥근 직사각형 16">
            <a:extLst>
              <a:ext uri="{FF2B5EF4-FFF2-40B4-BE49-F238E27FC236}">
                <a16:creationId xmlns:a16="http://schemas.microsoft.com/office/drawing/2014/main" id="{538A648E-A485-47C1-A445-5853AE84C61E}"/>
              </a:ext>
            </a:extLst>
          </p:cNvPr>
          <p:cNvSpPr>
            <a:spLocks noGrp="1"/>
          </p:cNvSpPr>
          <p:nvPr/>
        </p:nvSpPr>
        <p:spPr>
          <a:xfrm>
            <a:off x="75247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81D2CEF1-B759-4814-8895-F2489B0C2963}"/>
              </a:ext>
            </a:extLst>
          </p:cNvPr>
          <p:cNvSpPr>
            <a:spLocks noGrp="1"/>
          </p:cNvSpPr>
          <p:nvPr/>
        </p:nvSpPr>
        <p:spPr>
          <a:xfrm>
            <a:off x="77152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latin typeface="Calibri"/>
                <a:ea typeface="맑은 고딕"/>
                <a:cs typeface="맑은 고딕"/>
              </a:rPr>
              <a:t>4</a:t>
            </a:r>
          </a:p>
        </p:txBody>
      </p:sp>
      <p:sp>
        <p:nvSpPr>
          <p:cNvPr id="19" name="직사각형 18">
            <a:extLst>
              <a:ext uri="{FF2B5EF4-FFF2-40B4-BE49-F238E27FC236}">
                <a16:creationId xmlns:a16="http://schemas.microsoft.com/office/drawing/2014/main" id="{3C0F03F7-7256-41F3-8CFC-E256CB78A09C}"/>
              </a:ext>
            </a:extLst>
          </p:cNvPr>
          <p:cNvSpPr>
            <a:spLocks noGrp="1"/>
          </p:cNvSpPr>
          <p:nvPr/>
        </p:nvSpPr>
        <p:spPr>
          <a:xfrm>
            <a:off x="77152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기록</a:t>
            </a:r>
          </a:p>
        </p:txBody>
      </p:sp>
      <p:sp>
        <p:nvSpPr>
          <p:cNvPr id="20" name="직사각형 19">
            <a:extLst>
              <a:ext uri="{FF2B5EF4-FFF2-40B4-BE49-F238E27FC236}">
                <a16:creationId xmlns:a16="http://schemas.microsoft.com/office/drawing/2014/main" id="{F0EF6469-6CA2-4EA5-BA9A-A0FBFFBE42B8}"/>
              </a:ext>
            </a:extLst>
          </p:cNvPr>
          <p:cNvSpPr>
            <a:spLocks noGrp="1"/>
          </p:cNvSpPr>
          <p:nvPr/>
        </p:nvSpPr>
        <p:spPr>
          <a:xfrm>
            <a:off x="77152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소견과 조치</a:t>
            </a:r>
          </a:p>
        </p:txBody>
      </p:sp>
      <p:sp>
        <p:nvSpPr>
          <p:cNvPr id="21" name="모서리가 둥근 직사각형 20">
            <a:extLst>
              <a:ext uri="{FF2B5EF4-FFF2-40B4-BE49-F238E27FC236}">
                <a16:creationId xmlns:a16="http://schemas.microsoft.com/office/drawing/2014/main" id="{80033CA5-9E22-451C-84C8-FAD1E2D37878}"/>
              </a:ext>
            </a:extLst>
          </p:cNvPr>
          <p:cNvSpPr>
            <a:spLocks noGrp="1"/>
          </p:cNvSpPr>
          <p:nvPr/>
        </p:nvSpPr>
        <p:spPr>
          <a:xfrm>
            <a:off x="9848850" y="2038350"/>
            <a:ext cx="2000250" cy="2400300"/>
          </a:xfrm>
          <a:prstGeom prst="roundRect">
            <a:avLst>
              <a:gd name="adj" fmla="val 7619"/>
            </a:avLst>
          </a:prstGeom>
          <a:solidFill>
            <a:srgbClr val="FFFFFF"/>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C0083C59-D252-4CFD-BA18-F774513CAAF5}"/>
              </a:ext>
            </a:extLst>
          </p:cNvPr>
          <p:cNvSpPr>
            <a:spLocks noGrp="1"/>
          </p:cNvSpPr>
          <p:nvPr/>
        </p:nvSpPr>
        <p:spPr>
          <a:xfrm>
            <a:off x="10039350" y="2228850"/>
            <a:ext cx="400050" cy="400050"/>
          </a:xfrm>
          <a:prstGeom prst="rect">
            <a:avLst/>
          </a:prstGeom>
          <a:noFill/>
          <a:ln w="0">
            <a:noFill/>
            <a:prstDash val="solid"/>
          </a:ln>
        </p:spPr>
        <p:txBody>
          <a:bodyPr/>
          <a:lstStyle/>
          <a:p>
            <a:pPr algn="l">
              <a:buNone/>
              <a:defRPr sz="2250" b="1">
                <a:solidFill>
                  <a:srgbClr val="15A98C"/>
                </a:solidFill>
              </a:defRPr>
            </a:pPr>
            <a:r>
              <a:rPr sz="2250" b="1">
                <a:solidFill>
                  <a:srgbClr val="15A98C"/>
                </a:solidFill>
                <a:latin typeface="Calibri"/>
                <a:ea typeface="맑은 고딕"/>
                <a:cs typeface="맑은 고딕"/>
              </a:rPr>
              <a:t>5</a:t>
            </a:r>
          </a:p>
        </p:txBody>
      </p:sp>
      <p:sp>
        <p:nvSpPr>
          <p:cNvPr id="23" name="직사각형 22">
            <a:extLst>
              <a:ext uri="{FF2B5EF4-FFF2-40B4-BE49-F238E27FC236}">
                <a16:creationId xmlns:a16="http://schemas.microsoft.com/office/drawing/2014/main" id="{52238241-1FD2-45A6-B994-C446D7386FB3}"/>
              </a:ext>
            </a:extLst>
          </p:cNvPr>
          <p:cNvSpPr>
            <a:spLocks noGrp="1"/>
          </p:cNvSpPr>
          <p:nvPr/>
        </p:nvSpPr>
        <p:spPr>
          <a:xfrm>
            <a:off x="10039350" y="2895600"/>
            <a:ext cx="161925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후속조치</a:t>
            </a:r>
          </a:p>
        </p:txBody>
      </p:sp>
      <p:sp>
        <p:nvSpPr>
          <p:cNvPr id="24" name="직사각형 23">
            <a:extLst>
              <a:ext uri="{FF2B5EF4-FFF2-40B4-BE49-F238E27FC236}">
                <a16:creationId xmlns:a16="http://schemas.microsoft.com/office/drawing/2014/main" id="{DB54D00B-12E8-46D1-BC88-F04D6651B4D8}"/>
              </a:ext>
            </a:extLst>
          </p:cNvPr>
          <p:cNvSpPr>
            <a:spLocks noGrp="1"/>
          </p:cNvSpPr>
          <p:nvPr/>
        </p:nvSpPr>
        <p:spPr>
          <a:xfrm>
            <a:off x="10039350" y="3429000"/>
            <a:ext cx="1619250" cy="5905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추이가 회복됐는가?</a:t>
            </a:r>
          </a:p>
        </p:txBody>
      </p:sp>
      <p:sp>
        <p:nvSpPr>
          <p:cNvPr id="25" name="직사각형 24">
            <a:extLst>
              <a:ext uri="{FF2B5EF4-FFF2-40B4-BE49-F238E27FC236}">
                <a16:creationId xmlns:a16="http://schemas.microsoft.com/office/drawing/2014/main" id="{4D59C26F-F6A9-4F85-978A-BA7CF286E690}"/>
              </a:ext>
            </a:extLst>
          </p:cNvPr>
          <p:cNvSpPr>
            <a:spLocks noGrp="1"/>
          </p:cNvSpPr>
          <p:nvPr/>
        </p:nvSpPr>
        <p:spPr>
          <a:xfrm>
            <a:off x="685800" y="5124450"/>
            <a:ext cx="10820400" cy="400050"/>
          </a:xfrm>
          <a:prstGeom prst="rect">
            <a:avLst/>
          </a:prstGeom>
          <a:noFill/>
          <a:ln w="0">
            <a:noFill/>
            <a:prstDash val="solid"/>
          </a:ln>
        </p:spPr>
        <p:txBody>
          <a:bodyPr/>
          <a:lstStyle/>
          <a:p>
            <a:pPr algn="ctr">
              <a:buNone/>
              <a:defRPr sz="1575" b="1">
                <a:solidFill>
                  <a:srgbClr val="15A98C"/>
                </a:solidFill>
              </a:defRPr>
            </a:pPr>
            <a:r>
              <a:rPr sz="1575" b="1">
                <a:solidFill>
                  <a:srgbClr val="15A98C"/>
                </a:solidFill>
                <a:latin typeface="Calibri"/>
                <a:ea typeface="맑은 고딕"/>
                <a:cs typeface="맑은 고딕"/>
              </a:rPr>
              <a:t>위급 알람 → 담당자에게 즉시   |   불명확한 알람 → 재확인 후 추적</a:t>
            </a:r>
          </a:p>
        </p:txBody>
      </p:sp>
    </p:spTree>
    <p:extLst>
      <p:ext uri="{BB962C8B-B14F-4D97-AF65-F5344CB8AC3E}">
        <p14:creationId xmlns:p14="http://schemas.microsoft.com/office/powerpoint/2010/main" val="3807856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4EF2C0BD-032F-48E0-BFD1-F2834DA17CA8}"/>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latin typeface="Calibri"/>
                <a:ea typeface="맑은 고딕"/>
                <a:cs typeface="맑은 고딕"/>
              </a:rPr>
              <a:t>03</a:t>
            </a:r>
          </a:p>
        </p:txBody>
      </p:sp>
      <p:sp>
        <p:nvSpPr>
          <p:cNvPr id="2" name="직사각형 1">
            <a:extLst>
              <a:ext uri="{FF2B5EF4-FFF2-40B4-BE49-F238E27FC236}">
                <a16:creationId xmlns:a16="http://schemas.microsoft.com/office/drawing/2014/main" id="{4232DE3B-B58F-4C17-9AED-C5FCA9346519}"/>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latin typeface="Calibri"/>
                <a:ea typeface="맑은 고딕"/>
                <a:cs typeface="맑은 고딕"/>
              </a:rPr>
              <a:t>조기 건강관리</a:t>
            </a:r>
          </a:p>
        </p:txBody>
      </p:sp>
      <p:sp>
        <p:nvSpPr>
          <p:cNvPr id="3" name="직사각형 2">
            <a:extLst>
              <a:ext uri="{FF2B5EF4-FFF2-40B4-BE49-F238E27FC236}">
                <a16:creationId xmlns:a16="http://schemas.microsoft.com/office/drawing/2014/main" id="{E9B72057-90A0-4680-8CAB-1DFD3377B3FB}"/>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latin typeface="Calibri"/>
                <a:ea typeface="맑은 고딕"/>
                <a:cs typeface="맑은 고딕"/>
              </a:rPr>
              <a:t>조기 신호의 가치는 병명을 붙이는 것이 아니라 확인 시점을 앞당기는 데 있다.</a:t>
            </a:r>
          </a:p>
        </p:txBody>
      </p:sp>
      <p:sp>
        <p:nvSpPr>
          <p:cNvPr id="5" name="타원 4">
            <a:extLst>
              <a:ext uri="{FF2B5EF4-FFF2-40B4-BE49-F238E27FC236}">
                <a16:creationId xmlns:a16="http://schemas.microsoft.com/office/drawing/2014/main" id="{575AF46E-0357-43DD-9DC4-D0491228ED3D}"/>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E870DC79-D1C2-43DC-85F3-7E05C40D48F7}"/>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5F91E857-7A00-41AD-9611-D64971C984B7}"/>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DA3EB91E-C16A-4BFE-9B43-7A68D387760C}"/>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B99F3835-E825-4BF1-82AC-03000FE6316A}"/>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162E9ABB-7B53-488F-B40A-6C53BCF1CA2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latin typeface="Calibri"/>
                <a:ea typeface="맑은 고딕"/>
                <a:cs typeface="맑은 고딕"/>
              </a:rPr>
              <a:t>smaXtec × CowTalk | 통합 교육자료</a:t>
            </a:r>
          </a:p>
        </p:txBody>
      </p:sp>
      <p:sp>
        <p:nvSpPr>
          <p:cNvPr id="11" name="직사각형 10">
            <a:extLst>
              <a:ext uri="{FF2B5EF4-FFF2-40B4-BE49-F238E27FC236}">
                <a16:creationId xmlns:a16="http://schemas.microsoft.com/office/drawing/2014/main" id="{F8955DBC-0094-4452-B244-9F61A51A06C4}"/>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latin typeface="Calibri"/>
                <a:ea typeface="맑은 고딕"/>
                <a:cs typeface="맑은 고딕"/>
              </a:rPr>
              <a:t>17</a:t>
            </a:r>
          </a:p>
        </p:txBody>
      </p:sp>
      <p:pic>
        <p:nvPicPr>
          <p:cNvPr id="24" name="그림 23"/>
          <p:cNvPicPr>
            <a:picLocks noChangeAspect="1"/>
          </p:cNvPicPr>
          <p:nvPr/>
        </p:nvPicPr>
        <p:blipFill>
          <a:blip r:embed="rId3"/>
          <a:srcRect l="9484" r="9484"/>
          <a:stretch>
            <a:fillRect/>
          </a:stretch>
        </p:blipFill>
        <p:spPr>
          <a:xfrm>
            <a:off x="9906000" y="0"/>
            <a:ext cx="2286000" cy="6858000"/>
          </a:xfrm>
          <a:prstGeom prst="rect">
            <a:avLst/>
          </a:prstGeom>
        </p:spPr>
      </p:pic>
    </p:spTree>
    <p:extLst>
      <p:ext uri="{BB962C8B-B14F-4D97-AF65-F5344CB8AC3E}">
        <p14:creationId xmlns:p14="http://schemas.microsoft.com/office/powerpoint/2010/main" val="1558415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 name="직사각형 20">
            <a:extLst>
              <a:ext uri="{FF2B5EF4-FFF2-40B4-BE49-F238E27FC236}">
                <a16:creationId xmlns:a16="http://schemas.microsoft.com/office/drawing/2014/main" id="{B91F08FE-0F7B-4C50-9610-11146E9B8081}"/>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조기 발견</a:t>
            </a:r>
          </a:p>
        </p:txBody>
      </p:sp>
      <p:sp>
        <p:nvSpPr>
          <p:cNvPr id="2" name="직사각형 1">
            <a:extLst>
              <a:ext uri="{FF2B5EF4-FFF2-40B4-BE49-F238E27FC236}">
                <a16:creationId xmlns:a16="http://schemas.microsoft.com/office/drawing/2014/main" id="{238CE81C-2FE3-4D3C-AC2D-9B0665D63DC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진단이 아니라 이탈을 일찍 잡는다</a:t>
            </a:r>
          </a:p>
        </p:txBody>
      </p:sp>
      <p:sp>
        <p:nvSpPr>
          <p:cNvPr id="3" name="직사각형 2">
            <a:extLst>
              <a:ext uri="{FF2B5EF4-FFF2-40B4-BE49-F238E27FC236}">
                <a16:creationId xmlns:a16="http://schemas.microsoft.com/office/drawing/2014/main" id="{F5CCD47F-2C4B-4C93-82F3-A7504CD674E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539375AD-C270-4EE4-AE13-5F8C2FDF9921}"/>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18</a:t>
            </a:r>
          </a:p>
        </p:txBody>
      </p:sp>
      <p:sp>
        <p:nvSpPr>
          <p:cNvPr id="5" name="모서리가 둥근 직사각형 4">
            <a:extLst>
              <a:ext uri="{FF2B5EF4-FFF2-40B4-BE49-F238E27FC236}">
                <a16:creationId xmlns:a16="http://schemas.microsoft.com/office/drawing/2014/main" id="{46320016-BF29-4592-815B-EE586399A172}"/>
              </a:ext>
            </a:extLst>
          </p:cNvPr>
          <p:cNvSpPr>
            <a:spLocks noGrp="1"/>
          </p:cNvSpPr>
          <p:nvPr/>
        </p:nvSpPr>
        <p:spPr>
          <a:xfrm>
            <a:off x="685800" y="2305050"/>
            <a:ext cx="2362200" cy="1619250"/>
          </a:xfrm>
          <a:prstGeom prst="roundRect">
            <a:avLst>
              <a:gd name="adj" fmla="val 9412"/>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EC6A0DC-3C4D-42D5-9019-B8D62F985A50}"/>
              </a:ext>
            </a:extLst>
          </p:cNvPr>
          <p:cNvSpPr>
            <a:spLocks noGrp="1"/>
          </p:cNvSpPr>
          <p:nvPr/>
        </p:nvSpPr>
        <p:spPr>
          <a:xfrm>
            <a:off x="895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latin typeface="Calibri"/>
                <a:ea typeface="맑은 고딕"/>
                <a:cs typeface="맑은 고딕"/>
              </a:rPr>
              <a:t>잠복 단계</a:t>
            </a:r>
          </a:p>
        </p:txBody>
      </p:sp>
      <p:sp>
        <p:nvSpPr>
          <p:cNvPr id="7" name="직사각형 6">
            <a:extLst>
              <a:ext uri="{FF2B5EF4-FFF2-40B4-BE49-F238E27FC236}">
                <a16:creationId xmlns:a16="http://schemas.microsoft.com/office/drawing/2014/main" id="{B77AED8F-81EC-462B-A15E-53209E952B74}"/>
              </a:ext>
            </a:extLst>
          </p:cNvPr>
          <p:cNvSpPr>
            <a:spLocks noGrp="1"/>
          </p:cNvSpPr>
          <p:nvPr/>
        </p:nvSpPr>
        <p:spPr>
          <a:xfrm>
            <a:off x="895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latin typeface="Calibri"/>
                <a:ea typeface="맑은 고딕"/>
                <a:cs typeface="맑은 고딕"/>
              </a:rPr>
              <a:t>체내 추이 변화</a:t>
            </a:r>
          </a:p>
        </p:txBody>
      </p:sp>
      <p:sp>
        <p:nvSpPr>
          <p:cNvPr id="8" name="오른쪽 화살표[R] 7">
            <a:extLst>
              <a:ext uri="{FF2B5EF4-FFF2-40B4-BE49-F238E27FC236}">
                <a16:creationId xmlns:a16="http://schemas.microsoft.com/office/drawing/2014/main" id="{4DE3BAFA-9324-463C-9083-827D66F507CD}"/>
              </a:ext>
            </a:extLst>
          </p:cNvPr>
          <p:cNvSpPr>
            <a:spLocks noGrp="1"/>
          </p:cNvSpPr>
          <p:nvPr/>
        </p:nvSpPr>
        <p:spPr>
          <a:xfrm>
            <a:off x="2952750" y="2924175"/>
            <a:ext cx="495300" cy="361950"/>
          </a:xfrm>
          <a:prstGeom prst="rightArrow">
            <a:avLst/>
          </a:prstGeom>
          <a:solidFill>
            <a:srgbClr val="10251F"/>
          </a:solidFill>
          <a:ln w="0">
            <a:noFill/>
            <a:prstDash val="solid"/>
          </a:ln>
        </p:spPr>
        <p:txBody>
          <a:bodyPr/>
          <a:lstStyle/>
          <a:p>
            <a:endParaRPr lang="ko-KR" altLang="en-US"/>
          </a:p>
        </p:txBody>
      </p:sp>
      <p:sp>
        <p:nvSpPr>
          <p:cNvPr id="9" name="모서리가 둥근 직사각형 8">
            <a:extLst>
              <a:ext uri="{FF2B5EF4-FFF2-40B4-BE49-F238E27FC236}">
                <a16:creationId xmlns:a16="http://schemas.microsoft.com/office/drawing/2014/main" id="{F6894741-326C-49DE-8EF0-101D2A2E381B}"/>
              </a:ext>
            </a:extLst>
          </p:cNvPr>
          <p:cNvSpPr>
            <a:spLocks noGrp="1"/>
          </p:cNvSpPr>
          <p:nvPr/>
        </p:nvSpPr>
        <p:spPr>
          <a:xfrm>
            <a:off x="3352800" y="2305050"/>
            <a:ext cx="2362200" cy="1619250"/>
          </a:xfrm>
          <a:prstGeom prst="roundRect">
            <a:avLst>
              <a:gd name="adj" fmla="val 9412"/>
            </a:avLst>
          </a:prstGeom>
          <a:solidFill>
            <a:srgbClr val="F6B846"/>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256EDCD2-159E-4C06-86FE-F1061FC789B0}"/>
              </a:ext>
            </a:extLst>
          </p:cNvPr>
          <p:cNvSpPr>
            <a:spLocks noGrp="1"/>
          </p:cNvSpPr>
          <p:nvPr/>
        </p:nvSpPr>
        <p:spPr>
          <a:xfrm>
            <a:off x="3562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latin typeface="Calibri"/>
                <a:ea typeface="맑은 고딕"/>
                <a:cs typeface="맑은 고딕"/>
              </a:rPr>
              <a:t>준임상 단계</a:t>
            </a:r>
          </a:p>
        </p:txBody>
      </p:sp>
      <p:sp>
        <p:nvSpPr>
          <p:cNvPr id="11" name="직사각형 10">
            <a:extLst>
              <a:ext uri="{FF2B5EF4-FFF2-40B4-BE49-F238E27FC236}">
                <a16:creationId xmlns:a16="http://schemas.microsoft.com/office/drawing/2014/main" id="{91C1A309-CCB8-46FD-A796-479E5E0B876C}"/>
              </a:ext>
            </a:extLst>
          </p:cNvPr>
          <p:cNvSpPr>
            <a:spLocks noGrp="1"/>
          </p:cNvSpPr>
          <p:nvPr/>
        </p:nvSpPr>
        <p:spPr>
          <a:xfrm>
            <a:off x="3562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latin typeface="Calibri"/>
                <a:ea typeface="맑은 고딕"/>
                <a:cs typeface="맑은 고딕"/>
              </a:rPr>
              <a:t>알람 + 확인</a:t>
            </a:r>
          </a:p>
        </p:txBody>
      </p:sp>
      <p:sp>
        <p:nvSpPr>
          <p:cNvPr id="12" name="오른쪽 화살표[R] 11">
            <a:extLst>
              <a:ext uri="{FF2B5EF4-FFF2-40B4-BE49-F238E27FC236}">
                <a16:creationId xmlns:a16="http://schemas.microsoft.com/office/drawing/2014/main" id="{9250E01D-074F-4A75-8A85-D1B171EFD3AC}"/>
              </a:ext>
            </a:extLst>
          </p:cNvPr>
          <p:cNvSpPr>
            <a:spLocks noGrp="1"/>
          </p:cNvSpPr>
          <p:nvPr/>
        </p:nvSpPr>
        <p:spPr>
          <a:xfrm>
            <a:off x="5619750" y="2924175"/>
            <a:ext cx="495300" cy="361950"/>
          </a:xfrm>
          <a:prstGeom prst="rightArrow">
            <a:avLst/>
          </a:prstGeom>
          <a:solidFill>
            <a:srgbClr val="10251F"/>
          </a:solidFill>
          <a:ln w="0">
            <a:noFill/>
            <a:prstDash val="solid"/>
          </a:ln>
        </p:spPr>
        <p:txBody>
          <a:bodyPr/>
          <a:lstStyle/>
          <a:p>
            <a:endParaRPr lang="ko-KR" altLang="en-US"/>
          </a:p>
        </p:txBody>
      </p:sp>
      <p:sp>
        <p:nvSpPr>
          <p:cNvPr id="13" name="모서리가 둥근 직사각형 12">
            <a:extLst>
              <a:ext uri="{FF2B5EF4-FFF2-40B4-BE49-F238E27FC236}">
                <a16:creationId xmlns:a16="http://schemas.microsoft.com/office/drawing/2014/main" id="{98386806-D875-4022-B619-23C41E82E8EE}"/>
              </a:ext>
            </a:extLst>
          </p:cNvPr>
          <p:cNvSpPr>
            <a:spLocks noGrp="1"/>
          </p:cNvSpPr>
          <p:nvPr/>
        </p:nvSpPr>
        <p:spPr>
          <a:xfrm>
            <a:off x="6019800" y="2305050"/>
            <a:ext cx="2362200" cy="1619250"/>
          </a:xfrm>
          <a:prstGeom prst="roundRect">
            <a:avLst>
              <a:gd name="adj" fmla="val 9412"/>
            </a:avLst>
          </a:prstGeom>
          <a:solidFill>
            <a:srgbClr val="E96155"/>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10E8F69B-4A80-43EF-AF01-1795ED66A282}"/>
              </a:ext>
            </a:extLst>
          </p:cNvPr>
          <p:cNvSpPr>
            <a:spLocks noGrp="1"/>
          </p:cNvSpPr>
          <p:nvPr/>
        </p:nvSpPr>
        <p:spPr>
          <a:xfrm>
            <a:off x="6229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latin typeface="Calibri"/>
                <a:ea typeface="맑은 고딕"/>
                <a:cs typeface="맑은 고딕"/>
              </a:rPr>
              <a:t>임상 단계</a:t>
            </a:r>
          </a:p>
        </p:txBody>
      </p:sp>
      <p:sp>
        <p:nvSpPr>
          <p:cNvPr id="15" name="직사각형 14">
            <a:extLst>
              <a:ext uri="{FF2B5EF4-FFF2-40B4-BE49-F238E27FC236}">
                <a16:creationId xmlns:a16="http://schemas.microsoft.com/office/drawing/2014/main" id="{BB542BF4-83D1-4CD1-AE18-682BBB4D7CE0}"/>
              </a:ext>
            </a:extLst>
          </p:cNvPr>
          <p:cNvSpPr>
            <a:spLocks noGrp="1"/>
          </p:cNvSpPr>
          <p:nvPr/>
        </p:nvSpPr>
        <p:spPr>
          <a:xfrm>
            <a:off x="6229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latin typeface="Calibri"/>
                <a:ea typeface="맑은 고딕"/>
                <a:cs typeface="맑은 고딕"/>
              </a:rPr>
              <a:t>눈에 보이는 증상</a:t>
            </a:r>
          </a:p>
        </p:txBody>
      </p:sp>
      <p:sp>
        <p:nvSpPr>
          <p:cNvPr id="16" name="오른쪽 화살표[R] 15">
            <a:extLst>
              <a:ext uri="{FF2B5EF4-FFF2-40B4-BE49-F238E27FC236}">
                <a16:creationId xmlns:a16="http://schemas.microsoft.com/office/drawing/2014/main" id="{96625D72-EF8B-4D93-B787-CDC8A03EABF3}"/>
              </a:ext>
            </a:extLst>
          </p:cNvPr>
          <p:cNvSpPr>
            <a:spLocks noGrp="1"/>
          </p:cNvSpPr>
          <p:nvPr/>
        </p:nvSpPr>
        <p:spPr>
          <a:xfrm>
            <a:off x="8286750" y="2924175"/>
            <a:ext cx="495300" cy="361950"/>
          </a:xfrm>
          <a:prstGeom prst="rightArrow">
            <a:avLst/>
          </a:prstGeom>
          <a:solidFill>
            <a:srgbClr val="10251F"/>
          </a:solidFill>
          <a:ln w="0">
            <a:noFill/>
            <a:prstDash val="solid"/>
          </a:ln>
        </p:spPr>
        <p:txBody>
          <a:bodyPr/>
          <a:lstStyle/>
          <a:p>
            <a:endParaRPr lang="ko-KR" altLang="en-US"/>
          </a:p>
        </p:txBody>
      </p:sp>
      <p:sp>
        <p:nvSpPr>
          <p:cNvPr id="17" name="모서리가 둥근 직사각형 16">
            <a:extLst>
              <a:ext uri="{FF2B5EF4-FFF2-40B4-BE49-F238E27FC236}">
                <a16:creationId xmlns:a16="http://schemas.microsoft.com/office/drawing/2014/main" id="{180E67D0-1AD9-4363-B368-7D1F43F30CF5}"/>
              </a:ext>
            </a:extLst>
          </p:cNvPr>
          <p:cNvSpPr>
            <a:spLocks noGrp="1"/>
          </p:cNvSpPr>
          <p:nvPr/>
        </p:nvSpPr>
        <p:spPr>
          <a:xfrm>
            <a:off x="8686800" y="2305050"/>
            <a:ext cx="2362200" cy="1619250"/>
          </a:xfrm>
          <a:prstGeom prst="roundRect">
            <a:avLst>
              <a:gd name="adj" fmla="val 9412"/>
            </a:avLst>
          </a:prstGeom>
          <a:solidFill>
            <a:srgbClr val="15A98C"/>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93BBA4E0-1AAB-4786-8962-16830461967F}"/>
              </a:ext>
            </a:extLst>
          </p:cNvPr>
          <p:cNvSpPr>
            <a:spLocks noGrp="1"/>
          </p:cNvSpPr>
          <p:nvPr/>
        </p:nvSpPr>
        <p:spPr>
          <a:xfrm>
            <a:off x="8896350" y="2590800"/>
            <a:ext cx="1943100" cy="304800"/>
          </a:xfrm>
          <a:prstGeom prst="rect">
            <a:avLst/>
          </a:prstGeom>
          <a:noFill/>
          <a:ln w="0">
            <a:noFill/>
            <a:prstDash val="solid"/>
          </a:ln>
        </p:spPr>
        <p:txBody>
          <a:bodyPr/>
          <a:lstStyle/>
          <a:p>
            <a:pPr algn="l">
              <a:buNone/>
              <a:defRPr sz="1650" b="1">
                <a:solidFill>
                  <a:srgbClr val="0A1B17"/>
                </a:solidFill>
              </a:defRPr>
            </a:pPr>
            <a:r>
              <a:rPr sz="1650" b="1">
                <a:solidFill>
                  <a:srgbClr val="0A1B17"/>
                </a:solidFill>
                <a:latin typeface="Calibri"/>
                <a:ea typeface="맑은 고딕"/>
                <a:cs typeface="맑은 고딕"/>
              </a:rPr>
              <a:t>회복</a:t>
            </a:r>
          </a:p>
        </p:txBody>
      </p:sp>
      <p:sp>
        <p:nvSpPr>
          <p:cNvPr id="19" name="직사각형 18">
            <a:extLst>
              <a:ext uri="{FF2B5EF4-FFF2-40B4-BE49-F238E27FC236}">
                <a16:creationId xmlns:a16="http://schemas.microsoft.com/office/drawing/2014/main" id="{68CA3691-A91F-4C20-A82B-FFF90CD4E7E9}"/>
              </a:ext>
            </a:extLst>
          </p:cNvPr>
          <p:cNvSpPr>
            <a:spLocks noGrp="1"/>
          </p:cNvSpPr>
          <p:nvPr/>
        </p:nvSpPr>
        <p:spPr>
          <a:xfrm>
            <a:off x="8896350" y="3124200"/>
            <a:ext cx="1943100" cy="514350"/>
          </a:xfrm>
          <a:prstGeom prst="rect">
            <a:avLst/>
          </a:prstGeom>
          <a:noFill/>
          <a:ln w="0">
            <a:noFill/>
            <a:prstDash val="solid"/>
          </a:ln>
        </p:spPr>
        <p:txBody>
          <a:bodyPr/>
          <a:lstStyle/>
          <a:p>
            <a:pPr algn="l">
              <a:buNone/>
              <a:defRPr sz="1350" b="0">
                <a:solidFill>
                  <a:srgbClr val="0A1B17"/>
                </a:solidFill>
              </a:defRPr>
            </a:pPr>
            <a:r>
              <a:rPr sz="1350" b="0">
                <a:solidFill>
                  <a:srgbClr val="0A1B17"/>
                </a:solidFill>
                <a:latin typeface="Calibri"/>
                <a:ea typeface="맑은 고딕"/>
                <a:cs typeface="맑은 고딕"/>
              </a:rPr>
              <a:t>추이 관찰</a:t>
            </a:r>
          </a:p>
        </p:txBody>
      </p:sp>
      <p:sp>
        <p:nvSpPr>
          <p:cNvPr id="20" name="직사각형 19">
            <a:extLst>
              <a:ext uri="{FF2B5EF4-FFF2-40B4-BE49-F238E27FC236}">
                <a16:creationId xmlns:a16="http://schemas.microsoft.com/office/drawing/2014/main" id="{48DE7ECA-6A30-40FD-A9D7-4B88F680FDAD}"/>
              </a:ext>
            </a:extLst>
          </p:cNvPr>
          <p:cNvSpPr>
            <a:spLocks noGrp="1"/>
          </p:cNvSpPr>
          <p:nvPr/>
        </p:nvSpPr>
        <p:spPr>
          <a:xfrm>
            <a:off x="685800" y="4762500"/>
            <a:ext cx="10820400" cy="533400"/>
          </a:xfrm>
          <a:prstGeom prst="rect">
            <a:avLst/>
          </a:prstGeom>
          <a:noFill/>
          <a:ln w="0">
            <a:noFill/>
            <a:prstDash val="solid"/>
          </a:ln>
        </p:spPr>
        <p:txBody>
          <a:bodyPr/>
          <a:lstStyle/>
          <a:p>
            <a:pPr algn="ctr">
              <a:buNone/>
              <a:defRPr sz="1950" b="1">
                <a:solidFill>
                  <a:srgbClr val="10251F"/>
                </a:solidFill>
              </a:defRPr>
            </a:pPr>
            <a:r>
              <a:rPr sz="1950" b="1">
                <a:solidFill>
                  <a:srgbClr val="10251F"/>
                </a:solidFill>
                <a:latin typeface="Calibri"/>
                <a:ea typeface="맑은 고딕"/>
                <a:cs typeface="맑은 고딕"/>
              </a:rPr>
              <a:t>목표: 임상적으로 악화되기 전에 확인하고 표적 조치를 시작하는 것</a:t>
            </a:r>
          </a:p>
        </p:txBody>
      </p:sp>
    </p:spTree>
    <p:extLst>
      <p:ext uri="{BB962C8B-B14F-4D97-AF65-F5344CB8AC3E}">
        <p14:creationId xmlns:p14="http://schemas.microsoft.com/office/powerpoint/2010/main" val="662881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2E84CF7E-3049-465D-9666-8CC158D347A6}"/>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실무 표준절차</a:t>
            </a:r>
          </a:p>
        </p:txBody>
      </p:sp>
      <p:sp>
        <p:nvSpPr>
          <p:cNvPr id="2" name="직사각형 1">
            <a:extLst>
              <a:ext uri="{FF2B5EF4-FFF2-40B4-BE49-F238E27FC236}">
                <a16:creationId xmlns:a16="http://schemas.microsoft.com/office/drawing/2014/main" id="{E344ABE2-B406-4298-95DE-578855D62B7A}"/>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건강 표준절차는 어떤 알람에도 똑같이 작동해야 한다</a:t>
            </a:r>
          </a:p>
        </p:txBody>
      </p:sp>
      <p:sp>
        <p:nvSpPr>
          <p:cNvPr id="3" name="직사각형 2">
            <a:extLst>
              <a:ext uri="{FF2B5EF4-FFF2-40B4-BE49-F238E27FC236}">
                <a16:creationId xmlns:a16="http://schemas.microsoft.com/office/drawing/2014/main" id="{7A4AFBE1-FC8D-4273-A96C-21746063E66E}"/>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0FBFF41B-DC44-451A-990A-12053AC85539}"/>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19</a:t>
            </a:r>
          </a:p>
        </p:txBody>
      </p:sp>
      <p:sp>
        <p:nvSpPr>
          <p:cNvPr id="5" name="직사각형 4">
            <a:extLst>
              <a:ext uri="{FF2B5EF4-FFF2-40B4-BE49-F238E27FC236}">
                <a16:creationId xmlns:a16="http://schemas.microsoft.com/office/drawing/2014/main" id="{CB951A3C-6C0B-408F-8E36-1DFEDD4BBE9A}"/>
              </a:ext>
            </a:extLst>
          </p:cNvPr>
          <p:cNvSpPr>
            <a:spLocks noGrp="1"/>
          </p:cNvSpPr>
          <p:nvPr/>
        </p:nvSpPr>
        <p:spPr>
          <a:xfrm>
            <a:off x="685800" y="1714500"/>
            <a:ext cx="10820400" cy="647700"/>
          </a:xfrm>
          <a:prstGeom prst="rect">
            <a:avLst/>
          </a:prstGeom>
          <a:solidFill>
            <a:srgbClr val="ECF1EE"/>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71015B63-074C-4149-A8DB-640BB2228AEB}"/>
              </a:ext>
            </a:extLst>
          </p:cNvPr>
          <p:cNvSpPr>
            <a:spLocks noGrp="1"/>
          </p:cNvSpPr>
          <p:nvPr/>
        </p:nvSpPr>
        <p:spPr>
          <a:xfrm>
            <a:off x="876300" y="188595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0~15분</a:t>
            </a:r>
          </a:p>
        </p:txBody>
      </p:sp>
      <p:sp>
        <p:nvSpPr>
          <p:cNvPr id="7" name="직사각형 6">
            <a:extLst>
              <a:ext uri="{FF2B5EF4-FFF2-40B4-BE49-F238E27FC236}">
                <a16:creationId xmlns:a16="http://schemas.microsoft.com/office/drawing/2014/main" id="{77ED16AB-1D12-48F0-8FD2-39AE8176C897}"/>
              </a:ext>
            </a:extLst>
          </p:cNvPr>
          <p:cNvSpPr>
            <a:spLocks noGrp="1"/>
          </p:cNvSpPr>
          <p:nvPr/>
        </p:nvSpPr>
        <p:spPr>
          <a:xfrm>
            <a:off x="2571750" y="188595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latin typeface="Calibri"/>
                <a:ea typeface="맑은 고딕"/>
                <a:cs typeface="맑은 고딕"/>
              </a:rPr>
              <a:t>알람 수신</a:t>
            </a:r>
          </a:p>
        </p:txBody>
      </p:sp>
      <p:sp>
        <p:nvSpPr>
          <p:cNvPr id="8" name="직사각형 7">
            <a:extLst>
              <a:ext uri="{FF2B5EF4-FFF2-40B4-BE49-F238E27FC236}">
                <a16:creationId xmlns:a16="http://schemas.microsoft.com/office/drawing/2014/main" id="{5E2BD9F6-3278-434F-B272-4D519011CCFF}"/>
              </a:ext>
            </a:extLst>
          </p:cNvPr>
          <p:cNvSpPr>
            <a:spLocks noGrp="1"/>
          </p:cNvSpPr>
          <p:nvPr/>
        </p:nvSpPr>
        <p:spPr>
          <a:xfrm>
            <a:off x="5715000" y="188595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개체번호, 위치, 위험등급</a:t>
            </a:r>
          </a:p>
        </p:txBody>
      </p:sp>
      <p:sp>
        <p:nvSpPr>
          <p:cNvPr id="9" name="직사각형 8">
            <a:extLst>
              <a:ext uri="{FF2B5EF4-FFF2-40B4-BE49-F238E27FC236}">
                <a16:creationId xmlns:a16="http://schemas.microsoft.com/office/drawing/2014/main" id="{75C69ADE-7894-4468-98E5-198DC67801EA}"/>
              </a:ext>
            </a:extLst>
          </p:cNvPr>
          <p:cNvSpPr>
            <a:spLocks noGrp="1"/>
          </p:cNvSpPr>
          <p:nvPr/>
        </p:nvSpPr>
        <p:spPr>
          <a:xfrm>
            <a:off x="685800" y="2495550"/>
            <a:ext cx="10820400" cy="647700"/>
          </a:xfrm>
          <a:prstGeom prst="rect">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4DD7FAD1-9333-48F2-969F-975BAE4DE6FD}"/>
              </a:ext>
            </a:extLst>
          </p:cNvPr>
          <p:cNvSpPr>
            <a:spLocks noGrp="1"/>
          </p:cNvSpPr>
          <p:nvPr/>
        </p:nvSpPr>
        <p:spPr>
          <a:xfrm>
            <a:off x="876300" y="266700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15~60분</a:t>
            </a:r>
          </a:p>
        </p:txBody>
      </p:sp>
      <p:sp>
        <p:nvSpPr>
          <p:cNvPr id="11" name="직사각형 10">
            <a:extLst>
              <a:ext uri="{FF2B5EF4-FFF2-40B4-BE49-F238E27FC236}">
                <a16:creationId xmlns:a16="http://schemas.microsoft.com/office/drawing/2014/main" id="{199BF304-D621-4CCA-81D6-FC105EC61CC3}"/>
              </a:ext>
            </a:extLst>
          </p:cNvPr>
          <p:cNvSpPr>
            <a:spLocks noGrp="1"/>
          </p:cNvSpPr>
          <p:nvPr/>
        </p:nvSpPr>
        <p:spPr>
          <a:xfrm>
            <a:off x="2571750" y="266700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latin typeface="Calibri"/>
                <a:ea typeface="맑은 고딕"/>
                <a:cs typeface="맑은 고딕"/>
              </a:rPr>
              <a:t>현장 확인</a:t>
            </a:r>
          </a:p>
        </p:txBody>
      </p:sp>
      <p:sp>
        <p:nvSpPr>
          <p:cNvPr id="12" name="직사각형 11">
            <a:extLst>
              <a:ext uri="{FF2B5EF4-FFF2-40B4-BE49-F238E27FC236}">
                <a16:creationId xmlns:a16="http://schemas.microsoft.com/office/drawing/2014/main" id="{32280780-3B3F-4A46-B23B-1EE094C86241}"/>
              </a:ext>
            </a:extLst>
          </p:cNvPr>
          <p:cNvSpPr>
            <a:spLocks noGrp="1"/>
          </p:cNvSpPr>
          <p:nvPr/>
        </p:nvSpPr>
        <p:spPr>
          <a:xfrm>
            <a:off x="5715000" y="266700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체온, 유방, 분비물, 분변, 보행</a:t>
            </a:r>
          </a:p>
        </p:txBody>
      </p:sp>
      <p:sp>
        <p:nvSpPr>
          <p:cNvPr id="13" name="직사각형 12">
            <a:extLst>
              <a:ext uri="{FF2B5EF4-FFF2-40B4-BE49-F238E27FC236}">
                <a16:creationId xmlns:a16="http://schemas.microsoft.com/office/drawing/2014/main" id="{FECDE3C8-5085-4363-A362-72F1BDAF1F82}"/>
              </a:ext>
            </a:extLst>
          </p:cNvPr>
          <p:cNvSpPr>
            <a:spLocks noGrp="1"/>
          </p:cNvSpPr>
          <p:nvPr/>
        </p:nvSpPr>
        <p:spPr>
          <a:xfrm>
            <a:off x="685800" y="3276600"/>
            <a:ext cx="10820400" cy="647700"/>
          </a:xfrm>
          <a:prstGeom prst="rect">
            <a:avLst/>
          </a:prstGeom>
          <a:solidFill>
            <a:srgbClr val="ECF1EE"/>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C28448E0-A73F-4100-8544-BD525C65A32D}"/>
              </a:ext>
            </a:extLst>
          </p:cNvPr>
          <p:cNvSpPr>
            <a:spLocks noGrp="1"/>
          </p:cNvSpPr>
          <p:nvPr/>
        </p:nvSpPr>
        <p:spPr>
          <a:xfrm>
            <a:off x="876300" y="344805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같은 근무조 내</a:t>
            </a:r>
          </a:p>
        </p:txBody>
      </p:sp>
      <p:sp>
        <p:nvSpPr>
          <p:cNvPr id="15" name="직사각형 14">
            <a:extLst>
              <a:ext uri="{FF2B5EF4-FFF2-40B4-BE49-F238E27FC236}">
                <a16:creationId xmlns:a16="http://schemas.microsoft.com/office/drawing/2014/main" id="{F1BAC131-E4FB-478D-8A61-A775AB9D1A6E}"/>
              </a:ext>
            </a:extLst>
          </p:cNvPr>
          <p:cNvSpPr>
            <a:spLocks noGrp="1"/>
          </p:cNvSpPr>
          <p:nvPr/>
        </p:nvSpPr>
        <p:spPr>
          <a:xfrm>
            <a:off x="2571750" y="344805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latin typeface="Calibri"/>
                <a:ea typeface="맑은 고딕"/>
                <a:cs typeface="맑은 고딕"/>
              </a:rPr>
              <a:t>결정과 기록</a:t>
            </a:r>
          </a:p>
        </p:txBody>
      </p:sp>
      <p:sp>
        <p:nvSpPr>
          <p:cNvPr id="16" name="직사각형 15">
            <a:extLst>
              <a:ext uri="{FF2B5EF4-FFF2-40B4-BE49-F238E27FC236}">
                <a16:creationId xmlns:a16="http://schemas.microsoft.com/office/drawing/2014/main" id="{135AB65E-187D-443F-A5EC-97D1C1B203EE}"/>
              </a:ext>
            </a:extLst>
          </p:cNvPr>
          <p:cNvSpPr>
            <a:spLocks noGrp="1"/>
          </p:cNvSpPr>
          <p:nvPr/>
        </p:nvSpPr>
        <p:spPr>
          <a:xfrm>
            <a:off x="5715000" y="344805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관찰 / 격리 / 전문가 / 치료</a:t>
            </a:r>
          </a:p>
        </p:txBody>
      </p:sp>
      <p:sp>
        <p:nvSpPr>
          <p:cNvPr id="17" name="직사각형 16">
            <a:extLst>
              <a:ext uri="{FF2B5EF4-FFF2-40B4-BE49-F238E27FC236}">
                <a16:creationId xmlns:a16="http://schemas.microsoft.com/office/drawing/2014/main" id="{B890D60F-5078-474C-A02C-867AEB0BD40A}"/>
              </a:ext>
            </a:extLst>
          </p:cNvPr>
          <p:cNvSpPr>
            <a:spLocks noGrp="1"/>
          </p:cNvSpPr>
          <p:nvPr/>
        </p:nvSpPr>
        <p:spPr>
          <a:xfrm>
            <a:off x="685800" y="4057650"/>
            <a:ext cx="10820400" cy="647700"/>
          </a:xfrm>
          <a:prstGeom prst="rect">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2A2DC4A0-018F-42D3-8106-ECF86CDF7F58}"/>
              </a:ext>
            </a:extLst>
          </p:cNvPr>
          <p:cNvSpPr>
            <a:spLocks noGrp="1"/>
          </p:cNvSpPr>
          <p:nvPr/>
        </p:nvSpPr>
        <p:spPr>
          <a:xfrm>
            <a:off x="876300" y="422910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이후 24시간</a:t>
            </a:r>
          </a:p>
        </p:txBody>
      </p:sp>
      <p:sp>
        <p:nvSpPr>
          <p:cNvPr id="19" name="직사각형 18">
            <a:extLst>
              <a:ext uri="{FF2B5EF4-FFF2-40B4-BE49-F238E27FC236}">
                <a16:creationId xmlns:a16="http://schemas.microsoft.com/office/drawing/2014/main" id="{9663CF9D-070A-4038-B00F-E09941C28085}"/>
              </a:ext>
            </a:extLst>
          </p:cNvPr>
          <p:cNvSpPr>
            <a:spLocks noGrp="1"/>
          </p:cNvSpPr>
          <p:nvPr/>
        </p:nvSpPr>
        <p:spPr>
          <a:xfrm>
            <a:off x="2571750" y="422910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latin typeface="Calibri"/>
                <a:ea typeface="맑은 고딕"/>
                <a:cs typeface="맑은 고딕"/>
              </a:rPr>
              <a:t>추이 관찰</a:t>
            </a:r>
          </a:p>
        </p:txBody>
      </p:sp>
      <p:sp>
        <p:nvSpPr>
          <p:cNvPr id="20" name="직사각형 19">
            <a:extLst>
              <a:ext uri="{FF2B5EF4-FFF2-40B4-BE49-F238E27FC236}">
                <a16:creationId xmlns:a16="http://schemas.microsoft.com/office/drawing/2014/main" id="{6155AA46-82F6-4EBA-9A34-30BC93A86910}"/>
              </a:ext>
            </a:extLst>
          </p:cNvPr>
          <p:cNvSpPr>
            <a:spLocks noGrp="1"/>
          </p:cNvSpPr>
          <p:nvPr/>
        </p:nvSpPr>
        <p:spPr>
          <a:xfrm>
            <a:off x="5715000" y="422910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체온, 반추, 음수, 임상 반응</a:t>
            </a:r>
          </a:p>
        </p:txBody>
      </p:sp>
      <p:sp>
        <p:nvSpPr>
          <p:cNvPr id="21" name="직사각형 20">
            <a:extLst>
              <a:ext uri="{FF2B5EF4-FFF2-40B4-BE49-F238E27FC236}">
                <a16:creationId xmlns:a16="http://schemas.microsoft.com/office/drawing/2014/main" id="{9D3E7425-FB44-4591-8AA4-98FBCEF2B67E}"/>
              </a:ext>
            </a:extLst>
          </p:cNvPr>
          <p:cNvSpPr>
            <a:spLocks noGrp="1"/>
          </p:cNvSpPr>
          <p:nvPr/>
        </p:nvSpPr>
        <p:spPr>
          <a:xfrm>
            <a:off x="685800" y="4838700"/>
            <a:ext cx="10820400" cy="647700"/>
          </a:xfrm>
          <a:prstGeom prst="rect">
            <a:avLst/>
          </a:prstGeom>
          <a:solidFill>
            <a:srgbClr val="ECF1EE"/>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6C3D6153-97D9-438B-B49E-4420F1CD40F8}"/>
              </a:ext>
            </a:extLst>
          </p:cNvPr>
          <p:cNvSpPr>
            <a:spLocks noGrp="1"/>
          </p:cNvSpPr>
          <p:nvPr/>
        </p:nvSpPr>
        <p:spPr>
          <a:xfrm>
            <a:off x="876300" y="5010150"/>
            <a:ext cx="1428750" cy="2667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종결</a:t>
            </a:r>
          </a:p>
        </p:txBody>
      </p:sp>
      <p:sp>
        <p:nvSpPr>
          <p:cNvPr id="23" name="직사각형 22">
            <a:extLst>
              <a:ext uri="{FF2B5EF4-FFF2-40B4-BE49-F238E27FC236}">
                <a16:creationId xmlns:a16="http://schemas.microsoft.com/office/drawing/2014/main" id="{614D6235-438E-4CDB-AA1E-8664621E82D6}"/>
              </a:ext>
            </a:extLst>
          </p:cNvPr>
          <p:cNvSpPr>
            <a:spLocks noGrp="1"/>
          </p:cNvSpPr>
          <p:nvPr/>
        </p:nvSpPr>
        <p:spPr>
          <a:xfrm>
            <a:off x="2571750" y="5010150"/>
            <a:ext cx="2857500" cy="266700"/>
          </a:xfrm>
          <a:prstGeom prst="rect">
            <a:avLst/>
          </a:prstGeom>
          <a:noFill/>
          <a:ln w="0">
            <a:noFill/>
            <a:prstDash val="solid"/>
          </a:ln>
        </p:spPr>
        <p:txBody>
          <a:bodyPr/>
          <a:lstStyle/>
          <a:p>
            <a:pPr algn="l">
              <a:buNone/>
              <a:defRPr sz="1425" b="1">
                <a:solidFill>
                  <a:srgbClr val="10251F"/>
                </a:solidFill>
              </a:defRPr>
            </a:pPr>
            <a:r>
              <a:rPr sz="1425" b="1">
                <a:solidFill>
                  <a:srgbClr val="10251F"/>
                </a:solidFill>
                <a:latin typeface="Calibri"/>
                <a:ea typeface="맑은 고딕"/>
                <a:cs typeface="맑은 고딕"/>
              </a:rPr>
              <a:t>결과 확정</a:t>
            </a:r>
          </a:p>
        </p:txBody>
      </p:sp>
      <p:sp>
        <p:nvSpPr>
          <p:cNvPr id="24" name="직사각형 23">
            <a:extLst>
              <a:ext uri="{FF2B5EF4-FFF2-40B4-BE49-F238E27FC236}">
                <a16:creationId xmlns:a16="http://schemas.microsoft.com/office/drawing/2014/main" id="{7E9F9F73-30FA-4E18-816C-3A4C66D653BC}"/>
              </a:ext>
            </a:extLst>
          </p:cNvPr>
          <p:cNvSpPr>
            <a:spLocks noGrp="1"/>
          </p:cNvSpPr>
          <p:nvPr/>
        </p:nvSpPr>
        <p:spPr>
          <a:xfrm>
            <a:off x="5715000" y="5010150"/>
            <a:ext cx="542925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원인, 조치, 재발 방지</a:t>
            </a:r>
          </a:p>
        </p:txBody>
      </p:sp>
    </p:spTree>
    <p:extLst>
      <p:ext uri="{BB962C8B-B14F-4D97-AF65-F5344CB8AC3E}">
        <p14:creationId xmlns:p14="http://schemas.microsoft.com/office/powerpoint/2010/main" val="19195458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358C7955-C39A-426A-B941-5B8C1DD998A3}"/>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latin typeface="Calibri"/>
                <a:ea typeface="맑은 고딕"/>
                <a:cs typeface="맑은 고딕"/>
              </a:rPr>
              <a:t>04</a:t>
            </a:r>
          </a:p>
        </p:txBody>
      </p:sp>
      <p:sp>
        <p:nvSpPr>
          <p:cNvPr id="2" name="직사각형 1">
            <a:extLst>
              <a:ext uri="{FF2B5EF4-FFF2-40B4-BE49-F238E27FC236}">
                <a16:creationId xmlns:a16="http://schemas.microsoft.com/office/drawing/2014/main" id="{C3572C42-1A7B-41FD-95A4-786ACB2C172A}"/>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latin typeface="Calibri"/>
                <a:ea typeface="맑은 고딕"/>
                <a:cs typeface="맑은 고딕"/>
              </a:rPr>
              <a:t>번식</a:t>
            </a:r>
          </a:p>
        </p:txBody>
      </p:sp>
      <p:sp>
        <p:nvSpPr>
          <p:cNvPr id="3" name="직사각형 2">
            <a:extLst>
              <a:ext uri="{FF2B5EF4-FFF2-40B4-BE49-F238E27FC236}">
                <a16:creationId xmlns:a16="http://schemas.microsoft.com/office/drawing/2014/main" id="{7F337174-B8D7-4507-9B64-14FC00FED3C9}"/>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latin typeface="Calibri"/>
                <a:ea typeface="맑은 고딕"/>
                <a:cs typeface="맑은 고딕"/>
              </a:rPr>
              <a:t>활동량·체온·이력이 발정, 수정, 분만 결정을 날카롭게 만든다.</a:t>
            </a:r>
          </a:p>
        </p:txBody>
      </p:sp>
      <p:sp>
        <p:nvSpPr>
          <p:cNvPr id="5" name="타원 4">
            <a:extLst>
              <a:ext uri="{FF2B5EF4-FFF2-40B4-BE49-F238E27FC236}">
                <a16:creationId xmlns:a16="http://schemas.microsoft.com/office/drawing/2014/main" id="{953C11D2-87F8-4B39-900C-97146ECA2AB9}"/>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009B0B32-DE8B-45E5-819E-04D5C867476B}"/>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F06DEF30-940A-4CD5-ACE9-5B1F65802258}"/>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5FBBCE41-1D95-49F4-838E-7718B65828AA}"/>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E6263E50-55A6-4FFB-932F-15CED837EDC7}"/>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E4058EB9-D9E0-4EDC-8060-877019AEE62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latin typeface="Calibri"/>
                <a:ea typeface="맑은 고딕"/>
                <a:cs typeface="맑은 고딕"/>
              </a:rPr>
              <a:t>smaXtec × CowTalk | 통합 교육자료</a:t>
            </a:r>
          </a:p>
        </p:txBody>
      </p:sp>
      <p:sp>
        <p:nvSpPr>
          <p:cNvPr id="11" name="직사각형 10">
            <a:extLst>
              <a:ext uri="{FF2B5EF4-FFF2-40B4-BE49-F238E27FC236}">
                <a16:creationId xmlns:a16="http://schemas.microsoft.com/office/drawing/2014/main" id="{874668B4-C22C-4FA1-B0DA-07B4C81070A8}"/>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latin typeface="Calibri"/>
                <a:ea typeface="맑은 고딕"/>
                <a:cs typeface="맑은 고딕"/>
              </a:rPr>
              <a:t>20</a:t>
            </a:r>
          </a:p>
        </p:txBody>
      </p:sp>
      <p:pic>
        <p:nvPicPr>
          <p:cNvPr id="24" name="그림 23"/>
          <p:cNvPicPr>
            <a:picLocks noChangeAspect="1"/>
          </p:cNvPicPr>
          <p:nvPr/>
        </p:nvPicPr>
        <p:blipFill>
          <a:blip r:embed="rId3"/>
          <a:srcRect l="9369" r="9369"/>
          <a:stretch>
            <a:fillRect/>
          </a:stretch>
        </p:blipFill>
        <p:spPr>
          <a:xfrm>
            <a:off x="9906000" y="0"/>
            <a:ext cx="2286000" cy="6858000"/>
          </a:xfrm>
          <a:prstGeom prst="rect">
            <a:avLst/>
          </a:prstGeom>
        </p:spPr>
      </p:pic>
    </p:spTree>
    <p:extLst>
      <p:ext uri="{BB962C8B-B14F-4D97-AF65-F5344CB8AC3E}">
        <p14:creationId xmlns:p14="http://schemas.microsoft.com/office/powerpoint/2010/main" val="7296787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0E7937E8-9226-47E2-98A8-F7DCF5BB2B26}"/>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발정</a:t>
            </a:r>
          </a:p>
        </p:txBody>
      </p:sp>
      <p:sp>
        <p:nvSpPr>
          <p:cNvPr id="2" name="직사각형 1">
            <a:extLst>
              <a:ext uri="{FF2B5EF4-FFF2-40B4-BE49-F238E27FC236}">
                <a16:creationId xmlns:a16="http://schemas.microsoft.com/office/drawing/2014/main" id="{5856299B-0DBC-4849-97D1-632C7DA56BE7}"/>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발정 알람은 수정 적기를 관리하는 도구다</a:t>
            </a:r>
          </a:p>
        </p:txBody>
      </p:sp>
      <p:sp>
        <p:nvSpPr>
          <p:cNvPr id="3" name="직사각형 2">
            <a:extLst>
              <a:ext uri="{FF2B5EF4-FFF2-40B4-BE49-F238E27FC236}">
                <a16:creationId xmlns:a16="http://schemas.microsoft.com/office/drawing/2014/main" id="{D5E1D932-EF65-4625-B4CB-4BB02910C2D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6BB17697-AFF6-453E-837E-5271928DFD7C}"/>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21</a:t>
            </a:r>
          </a:p>
        </p:txBody>
      </p:sp>
      <p:sp>
        <p:nvSpPr>
          <p:cNvPr id="5" name="모서리가 둥근 직사각형 4">
            <a:extLst>
              <a:ext uri="{FF2B5EF4-FFF2-40B4-BE49-F238E27FC236}">
                <a16:creationId xmlns:a16="http://schemas.microsoft.com/office/drawing/2014/main" id="{3FD5AD8B-AFA7-42DD-A03F-1AC86BD62C3F}"/>
              </a:ext>
            </a:extLst>
          </p:cNvPr>
          <p:cNvSpPr>
            <a:spLocks noGrp="1"/>
          </p:cNvSpPr>
          <p:nvPr/>
        </p:nvSpPr>
        <p:spPr>
          <a:xfrm>
            <a:off x="685800" y="1790700"/>
            <a:ext cx="10820400" cy="1428750"/>
          </a:xfrm>
          <a:prstGeom prst="roundRect">
            <a:avLst>
              <a:gd name="adj" fmla="val 10667"/>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0912B94A-7B8F-45AB-A158-6B32862644CA}"/>
              </a:ext>
            </a:extLst>
          </p:cNvPr>
          <p:cNvSpPr>
            <a:spLocks noGrp="1"/>
          </p:cNvSpPr>
          <p:nvPr/>
        </p:nvSpPr>
        <p:spPr>
          <a:xfrm>
            <a:off x="8763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latin typeface="Calibri"/>
                <a:ea typeface="맑은 고딕"/>
                <a:cs typeface="맑은 고딕"/>
              </a:rPr>
              <a:t>1</a:t>
            </a:r>
          </a:p>
        </p:txBody>
      </p:sp>
      <p:sp>
        <p:nvSpPr>
          <p:cNvPr id="7" name="직사각형 6">
            <a:extLst>
              <a:ext uri="{FF2B5EF4-FFF2-40B4-BE49-F238E27FC236}">
                <a16:creationId xmlns:a16="http://schemas.microsoft.com/office/drawing/2014/main" id="{A78ACA4C-7CDB-4D5C-AC05-EC2C4553F6C4}"/>
              </a:ext>
            </a:extLst>
          </p:cNvPr>
          <p:cNvSpPr>
            <a:spLocks noGrp="1"/>
          </p:cNvSpPr>
          <p:nvPr/>
        </p:nvSpPr>
        <p:spPr>
          <a:xfrm>
            <a:off x="8763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활동량이 오른다</a:t>
            </a:r>
          </a:p>
        </p:txBody>
      </p:sp>
      <p:sp>
        <p:nvSpPr>
          <p:cNvPr id="8" name="오른쪽 화살표[R] 7">
            <a:extLst>
              <a:ext uri="{FF2B5EF4-FFF2-40B4-BE49-F238E27FC236}">
                <a16:creationId xmlns:a16="http://schemas.microsoft.com/office/drawing/2014/main" id="{2C3293CD-38F0-4BDE-82D3-8391E844965E}"/>
              </a:ext>
            </a:extLst>
          </p:cNvPr>
          <p:cNvSpPr>
            <a:spLocks noGrp="1"/>
          </p:cNvSpPr>
          <p:nvPr/>
        </p:nvSpPr>
        <p:spPr>
          <a:xfrm>
            <a:off x="2971800" y="2400300"/>
            <a:ext cx="457200" cy="266700"/>
          </a:xfrm>
          <a:prstGeom prst="rightArrow">
            <a:avLst/>
          </a:prstGeom>
          <a:solidFill>
            <a:srgbClr val="DFF4E8"/>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24E86364-A9AD-4C04-A95C-DCD3776DC445}"/>
              </a:ext>
            </a:extLst>
          </p:cNvPr>
          <p:cNvSpPr>
            <a:spLocks noGrp="1"/>
          </p:cNvSpPr>
          <p:nvPr/>
        </p:nvSpPr>
        <p:spPr>
          <a:xfrm>
            <a:off x="35052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latin typeface="Calibri"/>
                <a:ea typeface="맑은 고딕"/>
                <a:cs typeface="맑은 고딕"/>
              </a:rPr>
              <a:t>2</a:t>
            </a:r>
          </a:p>
        </p:txBody>
      </p:sp>
      <p:sp>
        <p:nvSpPr>
          <p:cNvPr id="10" name="직사각형 9">
            <a:extLst>
              <a:ext uri="{FF2B5EF4-FFF2-40B4-BE49-F238E27FC236}">
                <a16:creationId xmlns:a16="http://schemas.microsoft.com/office/drawing/2014/main" id="{2A3B89EC-0566-48FC-BF3F-CA2D3C46912B}"/>
              </a:ext>
            </a:extLst>
          </p:cNvPr>
          <p:cNvSpPr>
            <a:spLocks noGrp="1"/>
          </p:cNvSpPr>
          <p:nvPr/>
        </p:nvSpPr>
        <p:spPr>
          <a:xfrm>
            <a:off x="35052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알고리즘이 발정 지수를 산출</a:t>
            </a:r>
          </a:p>
        </p:txBody>
      </p:sp>
      <p:sp>
        <p:nvSpPr>
          <p:cNvPr id="11" name="오른쪽 화살표[R] 10">
            <a:extLst>
              <a:ext uri="{FF2B5EF4-FFF2-40B4-BE49-F238E27FC236}">
                <a16:creationId xmlns:a16="http://schemas.microsoft.com/office/drawing/2014/main" id="{06EA66D1-02D1-41C6-9A85-4B6876BC386E}"/>
              </a:ext>
            </a:extLst>
          </p:cNvPr>
          <p:cNvSpPr>
            <a:spLocks noGrp="1"/>
          </p:cNvSpPr>
          <p:nvPr/>
        </p:nvSpPr>
        <p:spPr>
          <a:xfrm>
            <a:off x="5600700" y="2400300"/>
            <a:ext cx="457200" cy="266700"/>
          </a:xfrm>
          <a:prstGeom prst="rightArrow">
            <a:avLst/>
          </a:prstGeom>
          <a:solidFill>
            <a:srgbClr val="DFF4E8"/>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4DB5676E-5B62-4DE3-B44C-FD2593B81F86}"/>
              </a:ext>
            </a:extLst>
          </p:cNvPr>
          <p:cNvSpPr>
            <a:spLocks noGrp="1"/>
          </p:cNvSpPr>
          <p:nvPr/>
        </p:nvSpPr>
        <p:spPr>
          <a:xfrm>
            <a:off x="61341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latin typeface="Calibri"/>
                <a:ea typeface="맑은 고딕"/>
                <a:cs typeface="맑은 고딕"/>
              </a:rPr>
              <a:t>3</a:t>
            </a:r>
          </a:p>
        </p:txBody>
      </p:sp>
      <p:sp>
        <p:nvSpPr>
          <p:cNvPr id="13" name="직사각형 12">
            <a:extLst>
              <a:ext uri="{FF2B5EF4-FFF2-40B4-BE49-F238E27FC236}">
                <a16:creationId xmlns:a16="http://schemas.microsoft.com/office/drawing/2014/main" id="{38AE8B3F-012D-47BA-8FD3-FFDBD62D458C}"/>
              </a:ext>
            </a:extLst>
          </p:cNvPr>
          <p:cNvSpPr>
            <a:spLocks noGrp="1"/>
          </p:cNvSpPr>
          <p:nvPr/>
        </p:nvSpPr>
        <p:spPr>
          <a:xfrm>
            <a:off x="61341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권장 수정 적기 제시</a:t>
            </a:r>
          </a:p>
        </p:txBody>
      </p:sp>
      <p:sp>
        <p:nvSpPr>
          <p:cNvPr id="14" name="오른쪽 화살표[R] 13">
            <a:extLst>
              <a:ext uri="{FF2B5EF4-FFF2-40B4-BE49-F238E27FC236}">
                <a16:creationId xmlns:a16="http://schemas.microsoft.com/office/drawing/2014/main" id="{495C0808-6C1F-4F87-A498-C9C642AC4706}"/>
              </a:ext>
            </a:extLst>
          </p:cNvPr>
          <p:cNvSpPr>
            <a:spLocks noGrp="1"/>
          </p:cNvSpPr>
          <p:nvPr/>
        </p:nvSpPr>
        <p:spPr>
          <a:xfrm>
            <a:off x="8229600" y="2400300"/>
            <a:ext cx="457200" cy="266700"/>
          </a:xfrm>
          <a:prstGeom prst="rightArrow">
            <a:avLst/>
          </a:prstGeom>
          <a:solidFill>
            <a:srgbClr val="DFF4E8"/>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FD8B045E-17C8-4338-A65A-1EC781FD7ABC}"/>
              </a:ext>
            </a:extLst>
          </p:cNvPr>
          <p:cNvSpPr>
            <a:spLocks noGrp="1"/>
          </p:cNvSpPr>
          <p:nvPr/>
        </p:nvSpPr>
        <p:spPr>
          <a:xfrm>
            <a:off x="8763000" y="2076450"/>
            <a:ext cx="323850" cy="323850"/>
          </a:xfrm>
          <a:prstGeom prst="rect">
            <a:avLst/>
          </a:prstGeom>
          <a:noFill/>
          <a:ln w="0">
            <a:noFill/>
            <a:prstDash val="solid"/>
          </a:ln>
        </p:spPr>
        <p:txBody>
          <a:bodyPr/>
          <a:lstStyle/>
          <a:p>
            <a:pPr algn="l">
              <a:buNone/>
              <a:defRPr sz="1875" b="1">
                <a:solidFill>
                  <a:srgbClr val="65D44A"/>
                </a:solidFill>
              </a:defRPr>
            </a:pPr>
            <a:r>
              <a:rPr sz="1875" b="1">
                <a:solidFill>
                  <a:srgbClr val="65D44A"/>
                </a:solidFill>
                <a:latin typeface="Calibri"/>
                <a:ea typeface="맑은 고딕"/>
                <a:cs typeface="맑은 고딕"/>
              </a:rPr>
              <a:t>4</a:t>
            </a:r>
          </a:p>
        </p:txBody>
      </p:sp>
      <p:sp>
        <p:nvSpPr>
          <p:cNvPr id="16" name="직사각형 15">
            <a:extLst>
              <a:ext uri="{FF2B5EF4-FFF2-40B4-BE49-F238E27FC236}">
                <a16:creationId xmlns:a16="http://schemas.microsoft.com/office/drawing/2014/main" id="{51CB2A18-5FC9-4737-A8F9-958FC6D386EB}"/>
              </a:ext>
            </a:extLst>
          </p:cNvPr>
          <p:cNvSpPr>
            <a:spLocks noGrp="1"/>
          </p:cNvSpPr>
          <p:nvPr/>
        </p:nvSpPr>
        <p:spPr>
          <a:xfrm>
            <a:off x="8763000" y="2533650"/>
            <a:ext cx="2095500" cy="45720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결과를 기록</a:t>
            </a:r>
          </a:p>
        </p:txBody>
      </p:sp>
      <p:sp>
        <p:nvSpPr>
          <p:cNvPr id="17" name="타원 16">
            <a:extLst>
              <a:ext uri="{FF2B5EF4-FFF2-40B4-BE49-F238E27FC236}">
                <a16:creationId xmlns:a16="http://schemas.microsoft.com/office/drawing/2014/main" id="{B7950F00-A84E-4722-AA07-98DC03EF5EA8}"/>
              </a:ext>
            </a:extLst>
          </p:cNvPr>
          <p:cNvSpPr>
            <a:spLocks noGrp="1"/>
          </p:cNvSpPr>
          <p:nvPr/>
        </p:nvSpPr>
        <p:spPr>
          <a:xfrm>
            <a:off x="1714500" y="3924300"/>
            <a:ext cx="114300" cy="114300"/>
          </a:xfrm>
          <a:prstGeom prst="ellipse">
            <a:avLst/>
          </a:prstGeom>
          <a:solidFill>
            <a:srgbClr val="65D44A"/>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373B8A64-89D0-40F8-9CAE-DE06CBA83DB3}"/>
              </a:ext>
            </a:extLst>
          </p:cNvPr>
          <p:cNvSpPr>
            <a:spLocks noGrp="1"/>
          </p:cNvSpPr>
          <p:nvPr/>
        </p:nvSpPr>
        <p:spPr>
          <a:xfrm>
            <a:off x="1981200" y="384810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번식 상태와 착유일수를 확인한다</a:t>
            </a:r>
          </a:p>
        </p:txBody>
      </p:sp>
      <p:sp>
        <p:nvSpPr>
          <p:cNvPr id="19" name="타원 18">
            <a:extLst>
              <a:ext uri="{FF2B5EF4-FFF2-40B4-BE49-F238E27FC236}">
                <a16:creationId xmlns:a16="http://schemas.microsoft.com/office/drawing/2014/main" id="{123C618F-6DED-4BC1-B579-D6116ED9477F}"/>
              </a:ext>
            </a:extLst>
          </p:cNvPr>
          <p:cNvSpPr>
            <a:spLocks noGrp="1"/>
          </p:cNvSpPr>
          <p:nvPr/>
        </p:nvSpPr>
        <p:spPr>
          <a:xfrm>
            <a:off x="1714500" y="4400550"/>
            <a:ext cx="114300" cy="114300"/>
          </a:xfrm>
          <a:prstGeom prst="ellipse">
            <a:avLst/>
          </a:prstGeom>
          <a:solidFill>
            <a:srgbClr val="65D44A"/>
          </a:solidFill>
          <a:ln w="0">
            <a:noFill/>
            <a:prstDash val="solid"/>
          </a:ln>
        </p:spPr>
        <p:txBody>
          <a:bodyPr/>
          <a:lstStyle/>
          <a:p>
            <a:endParaRPr lang="ko-KR" altLang="en-US"/>
          </a:p>
        </p:txBody>
      </p:sp>
      <p:sp>
        <p:nvSpPr>
          <p:cNvPr id="20" name="직사각형 19">
            <a:extLst>
              <a:ext uri="{FF2B5EF4-FFF2-40B4-BE49-F238E27FC236}">
                <a16:creationId xmlns:a16="http://schemas.microsoft.com/office/drawing/2014/main" id="{21F74938-A388-4560-8F31-BB12B3491925}"/>
              </a:ext>
            </a:extLst>
          </p:cNvPr>
          <p:cNvSpPr>
            <a:spLocks noGrp="1"/>
          </p:cNvSpPr>
          <p:nvPr/>
        </p:nvSpPr>
        <p:spPr>
          <a:xfrm>
            <a:off x="1981200" y="432435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관찰된 징후를 확인한다</a:t>
            </a:r>
          </a:p>
        </p:txBody>
      </p:sp>
      <p:sp>
        <p:nvSpPr>
          <p:cNvPr id="21" name="타원 20">
            <a:extLst>
              <a:ext uri="{FF2B5EF4-FFF2-40B4-BE49-F238E27FC236}">
                <a16:creationId xmlns:a16="http://schemas.microsoft.com/office/drawing/2014/main" id="{B2EA8B1F-C9E3-4840-8298-B51A2DE53B19}"/>
              </a:ext>
            </a:extLst>
          </p:cNvPr>
          <p:cNvSpPr>
            <a:spLocks noGrp="1"/>
          </p:cNvSpPr>
          <p:nvPr/>
        </p:nvSpPr>
        <p:spPr>
          <a:xfrm>
            <a:off x="1714500" y="4876800"/>
            <a:ext cx="114300" cy="114300"/>
          </a:xfrm>
          <a:prstGeom prst="ellipse">
            <a:avLst/>
          </a:prstGeom>
          <a:solidFill>
            <a:srgbClr val="65D44A"/>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9C87012E-83F7-48D1-A30E-90792F390254}"/>
              </a:ext>
            </a:extLst>
          </p:cNvPr>
          <p:cNvSpPr>
            <a:spLocks noGrp="1"/>
          </p:cNvSpPr>
          <p:nvPr/>
        </p:nvSpPr>
        <p:spPr>
          <a:xfrm>
            <a:off x="1981200" y="480060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일반 정액과 성감별 정액에 맞춰 시점을 정한다</a:t>
            </a:r>
          </a:p>
        </p:txBody>
      </p:sp>
      <p:sp>
        <p:nvSpPr>
          <p:cNvPr id="23" name="타원 22">
            <a:extLst>
              <a:ext uri="{FF2B5EF4-FFF2-40B4-BE49-F238E27FC236}">
                <a16:creationId xmlns:a16="http://schemas.microsoft.com/office/drawing/2014/main" id="{567A600C-7E04-47E1-AFB4-79F1E0F60A8A}"/>
              </a:ext>
            </a:extLst>
          </p:cNvPr>
          <p:cNvSpPr>
            <a:spLocks noGrp="1"/>
          </p:cNvSpPr>
          <p:nvPr/>
        </p:nvSpPr>
        <p:spPr>
          <a:xfrm>
            <a:off x="1714500" y="5353050"/>
            <a:ext cx="114300" cy="114300"/>
          </a:xfrm>
          <a:prstGeom prst="ellipse">
            <a:avLst/>
          </a:prstGeom>
          <a:solidFill>
            <a:srgbClr val="65D44A"/>
          </a:solidFill>
          <a:ln w="0">
            <a:noFill/>
            <a:prstDash val="solid"/>
          </a:ln>
        </p:spPr>
        <p:txBody>
          <a:bodyPr/>
          <a:lstStyle/>
          <a:p>
            <a:endParaRPr lang="ko-KR" altLang="en-US"/>
          </a:p>
        </p:txBody>
      </p:sp>
      <p:sp>
        <p:nvSpPr>
          <p:cNvPr id="24" name="직사각형 23">
            <a:extLst>
              <a:ext uri="{FF2B5EF4-FFF2-40B4-BE49-F238E27FC236}">
                <a16:creationId xmlns:a16="http://schemas.microsoft.com/office/drawing/2014/main" id="{5CB4A401-00C1-4B47-A5F9-B52ED1F5F62D}"/>
              </a:ext>
            </a:extLst>
          </p:cNvPr>
          <p:cNvSpPr>
            <a:spLocks noGrp="1"/>
          </p:cNvSpPr>
          <p:nvPr/>
        </p:nvSpPr>
        <p:spPr>
          <a:xfrm>
            <a:off x="1981200" y="5276850"/>
            <a:ext cx="8305800" cy="43815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수정 결과를 앱에 즉시 입력한다</a:t>
            </a:r>
          </a:p>
        </p:txBody>
      </p:sp>
    </p:spTree>
    <p:extLst>
      <p:ext uri="{BB962C8B-B14F-4D97-AF65-F5344CB8AC3E}">
        <p14:creationId xmlns:p14="http://schemas.microsoft.com/office/powerpoint/2010/main" val="12329211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9" name="직사각형 18">
            <a:extLst>
              <a:ext uri="{FF2B5EF4-FFF2-40B4-BE49-F238E27FC236}">
                <a16:creationId xmlns:a16="http://schemas.microsoft.com/office/drawing/2014/main" id="{B6E6EA97-CC9C-4303-B69A-FD2E35FA0D56}"/>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분만</a:t>
            </a:r>
          </a:p>
        </p:txBody>
      </p:sp>
      <p:sp>
        <p:nvSpPr>
          <p:cNvPr id="2" name="직사각형 1">
            <a:extLst>
              <a:ext uri="{FF2B5EF4-FFF2-40B4-BE49-F238E27FC236}">
                <a16:creationId xmlns:a16="http://schemas.microsoft.com/office/drawing/2014/main" id="{E45C7CD7-6B2B-49C2-8B66-54B3C088439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분만 알람은 준비할 시간을 만들어 준다</a:t>
            </a:r>
          </a:p>
        </p:txBody>
      </p:sp>
      <p:sp>
        <p:nvSpPr>
          <p:cNvPr id="3" name="직사각형 2">
            <a:extLst>
              <a:ext uri="{FF2B5EF4-FFF2-40B4-BE49-F238E27FC236}">
                <a16:creationId xmlns:a16="http://schemas.microsoft.com/office/drawing/2014/main" id="{D4ECE1CD-2798-4578-9C56-A6053E78E5E8}"/>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7467E4CC-F47F-4C96-BC53-28BCF07B42BB}"/>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22</a:t>
            </a:r>
          </a:p>
        </p:txBody>
      </p:sp>
      <p:sp>
        <p:nvSpPr>
          <p:cNvPr id="5" name="직사각형 4">
            <a:extLst>
              <a:ext uri="{FF2B5EF4-FFF2-40B4-BE49-F238E27FC236}">
                <a16:creationId xmlns:a16="http://schemas.microsoft.com/office/drawing/2014/main" id="{4D63E324-272E-40E5-A26C-24036086E498}"/>
              </a:ext>
            </a:extLst>
          </p:cNvPr>
          <p:cNvSpPr>
            <a:spLocks noGrp="1"/>
          </p:cNvSpPr>
          <p:nvPr/>
        </p:nvSpPr>
        <p:spPr>
          <a:xfrm>
            <a:off x="685800" y="1790700"/>
            <a:ext cx="3238500" cy="609600"/>
          </a:xfrm>
          <a:prstGeom prst="rect">
            <a:avLst/>
          </a:prstGeom>
          <a:noFill/>
          <a:ln w="0">
            <a:noFill/>
            <a:prstDash val="solid"/>
          </a:ln>
        </p:spPr>
        <p:txBody>
          <a:bodyPr/>
          <a:lstStyle/>
          <a:p>
            <a:pPr algn="l">
              <a:buNone/>
              <a:defRPr sz="3600" b="1">
                <a:solidFill>
                  <a:srgbClr val="65D44A"/>
                </a:solidFill>
              </a:defRPr>
            </a:pPr>
            <a:r>
              <a:rPr sz="3600" b="1">
                <a:solidFill>
                  <a:srgbClr val="65D44A"/>
                </a:solidFill>
                <a:latin typeface="Calibri"/>
                <a:ea typeface="맑은 고딕"/>
                <a:cs typeface="맑은 고딕"/>
              </a:rPr>
              <a:t>약 15시간</a:t>
            </a:r>
          </a:p>
        </p:txBody>
      </p:sp>
      <p:sp>
        <p:nvSpPr>
          <p:cNvPr id="6" name="직사각형 5">
            <a:extLst>
              <a:ext uri="{FF2B5EF4-FFF2-40B4-BE49-F238E27FC236}">
                <a16:creationId xmlns:a16="http://schemas.microsoft.com/office/drawing/2014/main" id="{8F7EF1EA-1D1F-41B9-AEB8-0A8ABB8E363D}"/>
              </a:ext>
            </a:extLst>
          </p:cNvPr>
          <p:cNvSpPr>
            <a:spLocks noGrp="1"/>
          </p:cNvSpPr>
          <p:nvPr/>
        </p:nvSpPr>
        <p:spPr>
          <a:xfrm>
            <a:off x="685800" y="2381250"/>
            <a:ext cx="3238500" cy="533400"/>
          </a:xfrm>
          <a:prstGeom prst="rect">
            <a:avLst/>
          </a:prstGeom>
          <a:noFill/>
          <a:ln w="0">
            <a:noFill/>
            <a:prstDash val="solid"/>
          </a:ln>
        </p:spPr>
        <p:txBody>
          <a:bodyPr/>
          <a:lstStyle/>
          <a:p>
            <a:pPr algn="l">
              <a:buNone/>
              <a:defRPr sz="1275" b="0">
                <a:solidFill>
                  <a:srgbClr val="66746F"/>
                </a:solidFill>
              </a:defRPr>
            </a:pPr>
            <a:r>
              <a:rPr sz="1275" b="0">
                <a:solidFill>
                  <a:srgbClr val="66746F"/>
                </a:solidFill>
                <a:latin typeface="Calibri"/>
                <a:ea typeface="맑은 고딕"/>
                <a:cs typeface="맑은 고딕"/>
              </a:rPr>
              <a:t>제조사가 밝힌 평균 사전 통보 시간</a:t>
            </a:r>
          </a:p>
        </p:txBody>
      </p:sp>
      <p:sp>
        <p:nvSpPr>
          <p:cNvPr id="7" name="모서리가 둥근 직사각형 6">
            <a:extLst>
              <a:ext uri="{FF2B5EF4-FFF2-40B4-BE49-F238E27FC236}">
                <a16:creationId xmlns:a16="http://schemas.microsoft.com/office/drawing/2014/main" id="{791AF62D-B36B-44A0-B16B-41A303F69598}"/>
              </a:ext>
            </a:extLst>
          </p:cNvPr>
          <p:cNvSpPr>
            <a:spLocks noGrp="1"/>
          </p:cNvSpPr>
          <p:nvPr/>
        </p:nvSpPr>
        <p:spPr>
          <a:xfrm>
            <a:off x="4095750" y="1809750"/>
            <a:ext cx="3333750" cy="1428750"/>
          </a:xfrm>
          <a:prstGeom prst="roundRect">
            <a:avLst>
              <a:gd name="adj" fmla="val 8000"/>
            </a:avLst>
          </a:prstGeom>
          <a:solidFill>
            <a:srgbClr val="65D44A"/>
          </a:solidFill>
          <a:ln w="0">
            <a:noFill/>
            <a:prstDash val="solid"/>
          </a:ln>
        </p:spPr>
        <p:txBody>
          <a:bodyPr/>
          <a:lstStyle/>
          <a:p>
            <a:endParaRPr lang="ko-KR" altLang="en-US"/>
          </a:p>
        </p:txBody>
      </p:sp>
      <p:sp>
        <p:nvSpPr>
          <p:cNvPr id="8" name="직사각형 7">
            <a:extLst>
              <a:ext uri="{FF2B5EF4-FFF2-40B4-BE49-F238E27FC236}">
                <a16:creationId xmlns:a16="http://schemas.microsoft.com/office/drawing/2014/main" id="{20C07D45-55F5-4FA5-9AB2-6A4E534742DB}"/>
              </a:ext>
            </a:extLst>
          </p:cNvPr>
          <p:cNvSpPr>
            <a:spLocks noGrp="1"/>
          </p:cNvSpPr>
          <p:nvPr/>
        </p:nvSpPr>
        <p:spPr>
          <a:xfrm>
            <a:off x="4305300" y="203835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분리</a:t>
            </a:r>
          </a:p>
        </p:txBody>
      </p:sp>
      <p:sp>
        <p:nvSpPr>
          <p:cNvPr id="9" name="직사각형 8">
            <a:extLst>
              <a:ext uri="{FF2B5EF4-FFF2-40B4-BE49-F238E27FC236}">
                <a16:creationId xmlns:a16="http://schemas.microsoft.com/office/drawing/2014/main" id="{B20271BD-33BC-48CA-8B9C-AEB57D523519}"/>
              </a:ext>
            </a:extLst>
          </p:cNvPr>
          <p:cNvSpPr>
            <a:spLocks noGrp="1"/>
          </p:cNvSpPr>
          <p:nvPr/>
        </p:nvSpPr>
        <p:spPr>
          <a:xfrm>
            <a:off x="4305300" y="243840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latin typeface="Calibri"/>
                <a:ea typeface="맑은 고딕"/>
                <a:cs typeface="맑은 고딕"/>
              </a:rPr>
              <a:t>청결하고 안전한 분만 공간</a:t>
            </a:r>
          </a:p>
        </p:txBody>
      </p:sp>
      <p:sp>
        <p:nvSpPr>
          <p:cNvPr id="10" name="모서리가 둥근 직사각형 9">
            <a:extLst>
              <a:ext uri="{FF2B5EF4-FFF2-40B4-BE49-F238E27FC236}">
                <a16:creationId xmlns:a16="http://schemas.microsoft.com/office/drawing/2014/main" id="{2FF64159-947B-4618-9F49-1F7BE681C178}"/>
              </a:ext>
            </a:extLst>
          </p:cNvPr>
          <p:cNvSpPr>
            <a:spLocks noGrp="1"/>
          </p:cNvSpPr>
          <p:nvPr/>
        </p:nvSpPr>
        <p:spPr>
          <a:xfrm>
            <a:off x="7715250" y="1809750"/>
            <a:ext cx="3333750" cy="1428750"/>
          </a:xfrm>
          <a:prstGeom prst="roundRect">
            <a:avLst>
              <a:gd name="adj" fmla="val 8000"/>
            </a:avLst>
          </a:prstGeom>
          <a:solidFill>
            <a:srgbClr val="FFFFFF"/>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02DA2976-DCFA-4FE8-82B6-D11BF89F4443}"/>
              </a:ext>
            </a:extLst>
          </p:cNvPr>
          <p:cNvSpPr>
            <a:spLocks noGrp="1"/>
          </p:cNvSpPr>
          <p:nvPr/>
        </p:nvSpPr>
        <p:spPr>
          <a:xfrm>
            <a:off x="7924800" y="203835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준비</a:t>
            </a:r>
          </a:p>
        </p:txBody>
      </p:sp>
      <p:sp>
        <p:nvSpPr>
          <p:cNvPr id="12" name="직사각형 11">
            <a:extLst>
              <a:ext uri="{FF2B5EF4-FFF2-40B4-BE49-F238E27FC236}">
                <a16:creationId xmlns:a16="http://schemas.microsoft.com/office/drawing/2014/main" id="{EAB3D864-BF03-4D5B-B33C-8F5C1275897B}"/>
              </a:ext>
            </a:extLst>
          </p:cNvPr>
          <p:cNvSpPr>
            <a:spLocks noGrp="1"/>
          </p:cNvSpPr>
          <p:nvPr/>
        </p:nvSpPr>
        <p:spPr>
          <a:xfrm>
            <a:off x="7924800" y="243840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latin typeface="Calibri"/>
                <a:ea typeface="맑은 고딕"/>
                <a:cs typeface="맑은 고딕"/>
              </a:rPr>
              <a:t>인력, 장비, 칼슘, 기록</a:t>
            </a:r>
          </a:p>
        </p:txBody>
      </p:sp>
      <p:sp>
        <p:nvSpPr>
          <p:cNvPr id="13" name="모서리가 둥근 직사각형 12">
            <a:extLst>
              <a:ext uri="{FF2B5EF4-FFF2-40B4-BE49-F238E27FC236}">
                <a16:creationId xmlns:a16="http://schemas.microsoft.com/office/drawing/2014/main" id="{2A041659-4029-415C-B7B1-52C58D277B82}"/>
              </a:ext>
            </a:extLst>
          </p:cNvPr>
          <p:cNvSpPr>
            <a:spLocks noGrp="1"/>
          </p:cNvSpPr>
          <p:nvPr/>
        </p:nvSpPr>
        <p:spPr>
          <a:xfrm>
            <a:off x="4095750" y="3619500"/>
            <a:ext cx="3333750" cy="1428750"/>
          </a:xfrm>
          <a:prstGeom prst="roundRect">
            <a:avLst>
              <a:gd name="adj" fmla="val 8000"/>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2BD6FD14-3E77-421A-95D3-000B5AF0C24E}"/>
              </a:ext>
            </a:extLst>
          </p:cNvPr>
          <p:cNvSpPr>
            <a:spLocks noGrp="1"/>
          </p:cNvSpPr>
          <p:nvPr/>
        </p:nvSpPr>
        <p:spPr>
          <a:xfrm>
            <a:off x="4305300" y="384810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관찰</a:t>
            </a:r>
          </a:p>
        </p:txBody>
      </p:sp>
      <p:sp>
        <p:nvSpPr>
          <p:cNvPr id="15" name="직사각형 14">
            <a:extLst>
              <a:ext uri="{FF2B5EF4-FFF2-40B4-BE49-F238E27FC236}">
                <a16:creationId xmlns:a16="http://schemas.microsoft.com/office/drawing/2014/main" id="{D85A11F0-9FAE-42DC-93EC-6017C2BCB376}"/>
              </a:ext>
            </a:extLst>
          </p:cNvPr>
          <p:cNvSpPr>
            <a:spLocks noGrp="1"/>
          </p:cNvSpPr>
          <p:nvPr/>
        </p:nvSpPr>
        <p:spPr>
          <a:xfrm>
            <a:off x="4305300" y="424815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latin typeface="Calibri"/>
                <a:ea typeface="맑은 고딕"/>
                <a:cs typeface="맑은 고딕"/>
              </a:rPr>
              <a:t>체온, 활동량, 분만 진행</a:t>
            </a:r>
          </a:p>
        </p:txBody>
      </p:sp>
      <p:sp>
        <p:nvSpPr>
          <p:cNvPr id="16" name="모서리가 둥근 직사각형 15">
            <a:extLst>
              <a:ext uri="{FF2B5EF4-FFF2-40B4-BE49-F238E27FC236}">
                <a16:creationId xmlns:a16="http://schemas.microsoft.com/office/drawing/2014/main" id="{114B6647-AB19-4A72-A259-51FC69924292}"/>
              </a:ext>
            </a:extLst>
          </p:cNvPr>
          <p:cNvSpPr>
            <a:spLocks noGrp="1"/>
          </p:cNvSpPr>
          <p:nvPr/>
        </p:nvSpPr>
        <p:spPr>
          <a:xfrm>
            <a:off x="7715250" y="3619500"/>
            <a:ext cx="3333750" cy="1428750"/>
          </a:xfrm>
          <a:prstGeom prst="roundRect">
            <a:avLst>
              <a:gd name="adj" fmla="val 8000"/>
            </a:avLst>
          </a:prstGeom>
          <a:solidFill>
            <a:srgbClr val="FFFFFF"/>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724BE61D-56C3-42CD-9D01-85944E86CD50}"/>
              </a:ext>
            </a:extLst>
          </p:cNvPr>
          <p:cNvSpPr>
            <a:spLocks noGrp="1"/>
          </p:cNvSpPr>
          <p:nvPr/>
        </p:nvSpPr>
        <p:spPr>
          <a:xfrm>
            <a:off x="7924800" y="3848100"/>
            <a:ext cx="2857500" cy="24765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분만 후</a:t>
            </a:r>
          </a:p>
        </p:txBody>
      </p:sp>
      <p:sp>
        <p:nvSpPr>
          <p:cNvPr id="18" name="직사각형 17">
            <a:extLst>
              <a:ext uri="{FF2B5EF4-FFF2-40B4-BE49-F238E27FC236}">
                <a16:creationId xmlns:a16="http://schemas.microsoft.com/office/drawing/2014/main" id="{A83876B0-691C-4DC7-B2BA-4FAEB1D8ED69}"/>
              </a:ext>
            </a:extLst>
          </p:cNvPr>
          <p:cNvSpPr>
            <a:spLocks noGrp="1"/>
          </p:cNvSpPr>
          <p:nvPr/>
        </p:nvSpPr>
        <p:spPr>
          <a:xfrm>
            <a:off x="7924800" y="4248150"/>
            <a:ext cx="2857500" cy="533400"/>
          </a:xfrm>
          <a:prstGeom prst="rect">
            <a:avLst/>
          </a:prstGeom>
          <a:noFill/>
          <a:ln w="0">
            <a:noFill/>
            <a:prstDash val="solid"/>
          </a:ln>
        </p:spPr>
        <p:txBody>
          <a:bodyPr/>
          <a:lstStyle/>
          <a:p>
            <a:pPr algn="l">
              <a:buNone/>
              <a:defRPr sz="1575" b="1">
                <a:solidFill>
                  <a:srgbClr val="10251F"/>
                </a:solidFill>
              </a:defRPr>
            </a:pPr>
            <a:r>
              <a:rPr sz="1575" b="1">
                <a:solidFill>
                  <a:srgbClr val="10251F"/>
                </a:solidFill>
                <a:latin typeface="Calibri"/>
                <a:ea typeface="맑은 고딕"/>
                <a:cs typeface="맑은 고딕"/>
              </a:rPr>
              <a:t>후산, 음수, 반추, 회복</a:t>
            </a:r>
          </a:p>
        </p:txBody>
      </p:sp>
    </p:spTree>
    <p:extLst>
      <p:ext uri="{BB962C8B-B14F-4D97-AF65-F5344CB8AC3E}">
        <p14:creationId xmlns:p14="http://schemas.microsoft.com/office/powerpoint/2010/main" val="16450521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C5D54BC1-845C-4461-A99B-1D339BED03E3}"/>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유산 / 임신 손실</a:t>
            </a:r>
          </a:p>
        </p:txBody>
      </p:sp>
      <p:sp>
        <p:nvSpPr>
          <p:cNvPr id="2" name="직사각형 1">
            <a:extLst>
              <a:ext uri="{FF2B5EF4-FFF2-40B4-BE49-F238E27FC236}">
                <a16:creationId xmlns:a16="http://schemas.microsoft.com/office/drawing/2014/main" id="{818A62E2-4AF3-4C9C-84BD-DE6935EE565A}"/>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유산 알람은 최우선으로 확인해야 한다</a:t>
            </a:r>
          </a:p>
        </p:txBody>
      </p:sp>
      <p:sp>
        <p:nvSpPr>
          <p:cNvPr id="3" name="직사각형 2">
            <a:extLst>
              <a:ext uri="{FF2B5EF4-FFF2-40B4-BE49-F238E27FC236}">
                <a16:creationId xmlns:a16="http://schemas.microsoft.com/office/drawing/2014/main" id="{45F34BFE-A502-4CAE-8556-C48C90BCACFA}"/>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397D6DE9-910E-40AF-BDAE-4D6AC864376E}"/>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23</a:t>
            </a:r>
          </a:p>
        </p:txBody>
      </p:sp>
      <p:sp>
        <p:nvSpPr>
          <p:cNvPr id="5" name="모서리가 둥근 직사각형 4">
            <a:extLst>
              <a:ext uri="{FF2B5EF4-FFF2-40B4-BE49-F238E27FC236}">
                <a16:creationId xmlns:a16="http://schemas.microsoft.com/office/drawing/2014/main" id="{A2BCABAF-D138-422C-A406-D67766DDC5F5}"/>
              </a:ext>
            </a:extLst>
          </p:cNvPr>
          <p:cNvSpPr>
            <a:spLocks noGrp="1"/>
          </p:cNvSpPr>
          <p:nvPr/>
        </p:nvSpPr>
        <p:spPr>
          <a:xfrm>
            <a:off x="685800" y="1809750"/>
            <a:ext cx="4476750" cy="3333750"/>
          </a:xfrm>
          <a:prstGeom prst="roundRect">
            <a:avLst>
              <a:gd name="adj" fmla="val 4571"/>
            </a:avLst>
          </a:prstGeom>
          <a:solidFill>
            <a:srgbClr val="E96155"/>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E4C5CEE0-DC99-46C5-89FF-F39306706EB8}"/>
              </a:ext>
            </a:extLst>
          </p:cNvPr>
          <p:cNvSpPr>
            <a:spLocks noGrp="1"/>
          </p:cNvSpPr>
          <p:nvPr/>
        </p:nvSpPr>
        <p:spPr>
          <a:xfrm>
            <a:off x="1047750" y="2114550"/>
            <a:ext cx="3714750" cy="400050"/>
          </a:xfrm>
          <a:prstGeom prst="rect">
            <a:avLst/>
          </a:prstGeom>
          <a:noFill/>
          <a:ln w="0">
            <a:noFill/>
            <a:prstDash val="solid"/>
          </a:ln>
        </p:spPr>
        <p:txBody>
          <a:bodyPr/>
          <a:lstStyle/>
          <a:p>
            <a:pPr algn="l">
              <a:buNone/>
              <a:defRPr sz="2100" b="1">
                <a:solidFill>
                  <a:srgbClr val="FFFFFF"/>
                </a:solidFill>
              </a:defRPr>
            </a:pPr>
            <a:r>
              <a:rPr sz="2100" b="1">
                <a:solidFill>
                  <a:srgbClr val="FFFFFF"/>
                </a:solidFill>
                <a:latin typeface="Calibri"/>
                <a:ea typeface="맑은 고딕"/>
                <a:cs typeface="맑은 고딕"/>
              </a:rPr>
              <a:t>즉시</a:t>
            </a:r>
          </a:p>
        </p:txBody>
      </p:sp>
      <p:sp>
        <p:nvSpPr>
          <p:cNvPr id="7" name="직사각형 6">
            <a:extLst>
              <a:ext uri="{FF2B5EF4-FFF2-40B4-BE49-F238E27FC236}">
                <a16:creationId xmlns:a16="http://schemas.microsoft.com/office/drawing/2014/main" id="{278B21D1-7AEE-48BF-B17E-B062766E2343}"/>
              </a:ext>
            </a:extLst>
          </p:cNvPr>
          <p:cNvSpPr>
            <a:spLocks noGrp="1"/>
          </p:cNvSpPr>
          <p:nvPr/>
        </p:nvSpPr>
        <p:spPr>
          <a:xfrm>
            <a:off x="1047750" y="2838450"/>
            <a:ext cx="3714750" cy="1809750"/>
          </a:xfrm>
          <a:prstGeom prst="rect">
            <a:avLst/>
          </a:prstGeom>
          <a:noFill/>
          <a:ln w="0">
            <a:noFill/>
            <a:prstDash val="solid"/>
          </a:ln>
        </p:spPr>
        <p:txBody>
          <a:bodyPr/>
          <a:lstStyle/>
          <a:p>
            <a:pPr algn="l">
              <a:buNone/>
              <a:defRPr sz="1650" b="0">
                <a:solidFill>
                  <a:srgbClr val="FFFFFF"/>
                </a:solidFill>
              </a:defRPr>
            </a:pPr>
            <a:r>
              <a:rPr sz="1650" b="0">
                <a:solidFill>
                  <a:srgbClr val="FFFFFF"/>
                </a:solidFill>
                <a:latin typeface="Calibri"/>
                <a:ea typeface="맑은 고딕"/>
                <a:cs typeface="맑은 고딕"/>
              </a:rPr>
              <a:t>• 해당 개체를 찾아 상태를 확인한다</a:t>
            </a:r>
          </a:p>
          <a:p>
            <a:pPr algn="l">
              <a:buNone/>
              <a:defRPr sz="1650" b="0">
                <a:solidFill>
                  <a:srgbClr val="FFFFFF"/>
                </a:solidFill>
              </a:defRPr>
            </a:pPr>
            <a:r>
              <a:rPr sz="1650" b="0">
                <a:solidFill>
                  <a:srgbClr val="FFFFFF"/>
                </a:solidFill>
                <a:latin typeface="Calibri"/>
                <a:ea typeface="맑은 고딕"/>
                <a:cs typeface="맑은 고딕"/>
              </a:rPr>
              <a:t>• 수의사와 담당자에게 알린다</a:t>
            </a:r>
          </a:p>
          <a:p>
            <a:pPr algn="l">
              <a:buNone/>
              <a:defRPr sz="1650" b="0">
                <a:solidFill>
                  <a:srgbClr val="FFFFFF"/>
                </a:solidFill>
              </a:defRPr>
            </a:pPr>
            <a:r>
              <a:rPr sz="1650" b="0">
                <a:solidFill>
                  <a:srgbClr val="FFFFFF"/>
                </a:solidFill>
                <a:latin typeface="Calibri"/>
                <a:ea typeface="맑은 고딕"/>
                <a:cs typeface="맑은 고딕"/>
              </a:rPr>
              <a:t>• 방역·시료채취 표준절차를 따른다</a:t>
            </a:r>
          </a:p>
          <a:p>
            <a:pPr algn="l">
              <a:buNone/>
              <a:defRPr sz="1650" b="0">
                <a:solidFill>
                  <a:srgbClr val="FFFFFF"/>
                </a:solidFill>
              </a:defRPr>
            </a:pPr>
            <a:r>
              <a:rPr sz="1650" b="0">
                <a:solidFill>
                  <a:srgbClr val="FFFFFF"/>
                </a:solidFill>
                <a:latin typeface="Calibri"/>
                <a:ea typeface="맑은 고딕"/>
                <a:cs typeface="맑은 고딕"/>
              </a:rPr>
              <a:t>• 발생 시각과 소견을 기록한다</a:t>
            </a:r>
          </a:p>
        </p:txBody>
      </p:sp>
      <p:sp>
        <p:nvSpPr>
          <p:cNvPr id="8" name="모서리가 둥근 직사각형 7">
            <a:extLst>
              <a:ext uri="{FF2B5EF4-FFF2-40B4-BE49-F238E27FC236}">
                <a16:creationId xmlns:a16="http://schemas.microsoft.com/office/drawing/2014/main" id="{2E9A4230-E09C-4A0B-91D5-C4FB4424000F}"/>
              </a:ext>
            </a:extLst>
          </p:cNvPr>
          <p:cNvSpPr>
            <a:spLocks noGrp="1"/>
          </p:cNvSpPr>
          <p:nvPr/>
        </p:nvSpPr>
        <p:spPr>
          <a:xfrm>
            <a:off x="5619750" y="1809750"/>
            <a:ext cx="5886450" cy="3333750"/>
          </a:xfrm>
          <a:prstGeom prst="roundRect">
            <a:avLst>
              <a:gd name="adj" fmla="val 4571"/>
            </a:avLst>
          </a:prstGeom>
          <a:solidFill>
            <a:srgbClr val="FFFFFF"/>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DD821F10-65FC-429B-9289-42E6D7695E0F}"/>
              </a:ext>
            </a:extLst>
          </p:cNvPr>
          <p:cNvSpPr>
            <a:spLocks noGrp="1"/>
          </p:cNvSpPr>
          <p:nvPr/>
        </p:nvSpPr>
        <p:spPr>
          <a:xfrm>
            <a:off x="5981700" y="2114550"/>
            <a:ext cx="4953000" cy="400050"/>
          </a:xfrm>
          <a:prstGeom prst="rect">
            <a:avLst/>
          </a:prstGeom>
          <a:noFill/>
          <a:ln w="0">
            <a:noFill/>
            <a:prstDash val="solid"/>
          </a:ln>
        </p:spPr>
        <p:txBody>
          <a:bodyPr/>
          <a:lstStyle/>
          <a:p>
            <a:pPr algn="l">
              <a:buNone/>
              <a:defRPr sz="2025" b="1">
                <a:solidFill>
                  <a:srgbClr val="10251F"/>
                </a:solidFill>
              </a:defRPr>
            </a:pPr>
            <a:r>
              <a:rPr sz="2025" b="1">
                <a:solidFill>
                  <a:srgbClr val="10251F"/>
                </a:solidFill>
                <a:latin typeface="Calibri"/>
                <a:ea typeface="맑은 고딕"/>
                <a:cs typeface="맑은 고딕"/>
              </a:rPr>
              <a:t>그래프에서 무엇을 보는가?</a:t>
            </a:r>
          </a:p>
        </p:txBody>
      </p:sp>
      <p:sp>
        <p:nvSpPr>
          <p:cNvPr id="10" name="타원 9">
            <a:extLst>
              <a:ext uri="{FF2B5EF4-FFF2-40B4-BE49-F238E27FC236}">
                <a16:creationId xmlns:a16="http://schemas.microsoft.com/office/drawing/2014/main" id="{540C78A7-2786-4006-BAD7-76082BD26C0A}"/>
              </a:ext>
            </a:extLst>
          </p:cNvPr>
          <p:cNvSpPr>
            <a:spLocks noGrp="1"/>
          </p:cNvSpPr>
          <p:nvPr/>
        </p:nvSpPr>
        <p:spPr>
          <a:xfrm>
            <a:off x="5981700" y="2914650"/>
            <a:ext cx="114300" cy="114300"/>
          </a:xfrm>
          <a:prstGeom prst="ellipse">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4C7D98FB-55A0-4242-8BEF-755DA728B6A2}"/>
              </a:ext>
            </a:extLst>
          </p:cNvPr>
          <p:cNvSpPr>
            <a:spLocks noGrp="1"/>
          </p:cNvSpPr>
          <p:nvPr/>
        </p:nvSpPr>
        <p:spPr>
          <a:xfrm>
            <a:off x="6248400" y="283845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latin typeface="Calibri"/>
                <a:ea typeface="맑은 고딕"/>
                <a:cs typeface="맑은 고딕"/>
              </a:rPr>
              <a:t>체온 변화와 지속시간</a:t>
            </a:r>
          </a:p>
        </p:txBody>
      </p:sp>
      <p:sp>
        <p:nvSpPr>
          <p:cNvPr id="12" name="타원 11">
            <a:extLst>
              <a:ext uri="{FF2B5EF4-FFF2-40B4-BE49-F238E27FC236}">
                <a16:creationId xmlns:a16="http://schemas.microsoft.com/office/drawing/2014/main" id="{83A122FA-1A9E-46B7-BAEB-14CD15AF634B}"/>
              </a:ext>
            </a:extLst>
          </p:cNvPr>
          <p:cNvSpPr>
            <a:spLocks noGrp="1"/>
          </p:cNvSpPr>
          <p:nvPr/>
        </p:nvSpPr>
        <p:spPr>
          <a:xfrm>
            <a:off x="5981700" y="3429000"/>
            <a:ext cx="114300" cy="114300"/>
          </a:xfrm>
          <a:prstGeom prst="ellipse">
            <a:avLst/>
          </a:prstGeom>
          <a:solidFill>
            <a:srgbClr val="65D44A"/>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FFFA3EFB-6236-4D3A-A6B0-09A889895184}"/>
              </a:ext>
            </a:extLst>
          </p:cNvPr>
          <p:cNvSpPr>
            <a:spLocks noGrp="1"/>
          </p:cNvSpPr>
          <p:nvPr/>
        </p:nvSpPr>
        <p:spPr>
          <a:xfrm>
            <a:off x="6248400" y="335280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latin typeface="Calibri"/>
                <a:ea typeface="맑은 고딕"/>
                <a:cs typeface="맑은 고딕"/>
              </a:rPr>
              <a:t>급격한 활동량 변화</a:t>
            </a:r>
          </a:p>
        </p:txBody>
      </p:sp>
      <p:sp>
        <p:nvSpPr>
          <p:cNvPr id="14" name="타원 13">
            <a:extLst>
              <a:ext uri="{FF2B5EF4-FFF2-40B4-BE49-F238E27FC236}">
                <a16:creationId xmlns:a16="http://schemas.microsoft.com/office/drawing/2014/main" id="{3882A656-3F70-4B34-957C-B09B41F2905A}"/>
              </a:ext>
            </a:extLst>
          </p:cNvPr>
          <p:cNvSpPr>
            <a:spLocks noGrp="1"/>
          </p:cNvSpPr>
          <p:nvPr/>
        </p:nvSpPr>
        <p:spPr>
          <a:xfrm>
            <a:off x="5981700" y="3943350"/>
            <a:ext cx="114300" cy="114300"/>
          </a:xfrm>
          <a:prstGeom prst="ellipse">
            <a:avLst/>
          </a:prstGeom>
          <a:solidFill>
            <a:srgbClr val="65D44A"/>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337C228F-6F95-4BBB-B2EA-4AD372FF8471}"/>
              </a:ext>
            </a:extLst>
          </p:cNvPr>
          <p:cNvSpPr>
            <a:spLocks noGrp="1"/>
          </p:cNvSpPr>
          <p:nvPr/>
        </p:nvSpPr>
        <p:spPr>
          <a:xfrm>
            <a:off x="6248400" y="386715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latin typeface="Calibri"/>
                <a:ea typeface="맑은 고딕"/>
                <a:cs typeface="맑은 고딕"/>
              </a:rPr>
              <a:t>반추와 음수의 동반 감소</a:t>
            </a:r>
          </a:p>
        </p:txBody>
      </p:sp>
      <p:sp>
        <p:nvSpPr>
          <p:cNvPr id="16" name="타원 15">
            <a:extLst>
              <a:ext uri="{FF2B5EF4-FFF2-40B4-BE49-F238E27FC236}">
                <a16:creationId xmlns:a16="http://schemas.microsoft.com/office/drawing/2014/main" id="{63A62ECC-2C18-4722-8579-BEB248C382DE}"/>
              </a:ext>
            </a:extLst>
          </p:cNvPr>
          <p:cNvSpPr>
            <a:spLocks noGrp="1"/>
          </p:cNvSpPr>
          <p:nvPr/>
        </p:nvSpPr>
        <p:spPr>
          <a:xfrm>
            <a:off x="5981700" y="4457700"/>
            <a:ext cx="114300" cy="114300"/>
          </a:xfrm>
          <a:prstGeom prst="ellipse">
            <a:avLst/>
          </a:prstGeom>
          <a:solidFill>
            <a:srgbClr val="65D44A"/>
          </a:solidFill>
          <a:ln w="0">
            <a:noFill/>
            <a:prstDash val="solid"/>
          </a:ln>
        </p:spPr>
        <p:txBody>
          <a:bodyPr/>
          <a:lstStyle/>
          <a:p>
            <a:endParaRPr lang="ko-KR" altLang="en-US"/>
          </a:p>
        </p:txBody>
      </p:sp>
      <p:sp>
        <p:nvSpPr>
          <p:cNvPr id="17" name="직사각형 16">
            <a:extLst>
              <a:ext uri="{FF2B5EF4-FFF2-40B4-BE49-F238E27FC236}">
                <a16:creationId xmlns:a16="http://schemas.microsoft.com/office/drawing/2014/main" id="{8E03D4BC-F922-4523-830B-5E938BDEFA9F}"/>
              </a:ext>
            </a:extLst>
          </p:cNvPr>
          <p:cNvSpPr>
            <a:spLocks noGrp="1"/>
          </p:cNvSpPr>
          <p:nvPr/>
        </p:nvSpPr>
        <p:spPr>
          <a:xfrm>
            <a:off x="6248400" y="4381500"/>
            <a:ext cx="4686300" cy="476250"/>
          </a:xfrm>
          <a:prstGeom prst="rect">
            <a:avLst/>
          </a:prstGeom>
          <a:noFill/>
          <a:ln w="0">
            <a:noFill/>
            <a:prstDash val="solid"/>
          </a:ln>
        </p:spPr>
        <p:txBody>
          <a:bodyPr/>
          <a:lstStyle/>
          <a:p>
            <a:pPr algn="l">
              <a:buNone/>
              <a:defRPr sz="1425" b="0">
                <a:solidFill>
                  <a:srgbClr val="10251F"/>
                </a:solidFill>
              </a:defRPr>
            </a:pPr>
            <a:r>
              <a:rPr sz="1425" b="0">
                <a:solidFill>
                  <a:srgbClr val="10251F"/>
                </a:solidFill>
                <a:latin typeface="Calibri"/>
                <a:ea typeface="맑은 고딕"/>
                <a:cs typeface="맑은 고딕"/>
              </a:rPr>
              <a:t>이전 번식·건강 이력</a:t>
            </a:r>
          </a:p>
        </p:txBody>
      </p:sp>
    </p:spTree>
    <p:extLst>
      <p:ext uri="{BB962C8B-B14F-4D97-AF65-F5344CB8AC3E}">
        <p14:creationId xmlns:p14="http://schemas.microsoft.com/office/powerpoint/2010/main" val="14224127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A3535A58-2713-44A6-B5E4-177F2054AD28}"/>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latin typeface="Calibri"/>
                <a:ea typeface="맑은 고딕"/>
                <a:cs typeface="맑은 고딕"/>
              </a:rPr>
              <a:t>05</a:t>
            </a:r>
          </a:p>
        </p:txBody>
      </p:sp>
      <p:sp>
        <p:nvSpPr>
          <p:cNvPr id="2" name="직사각형 1">
            <a:extLst>
              <a:ext uri="{FF2B5EF4-FFF2-40B4-BE49-F238E27FC236}">
                <a16:creationId xmlns:a16="http://schemas.microsoft.com/office/drawing/2014/main" id="{99DB36B7-D883-4FAB-BAA4-943E0DE285FF}"/>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latin typeface="Calibri"/>
                <a:ea typeface="맑은 고딕"/>
                <a:cs typeface="맑은 고딕"/>
              </a:rPr>
              <a:t>사양</a:t>
            </a:r>
          </a:p>
        </p:txBody>
      </p:sp>
      <p:sp>
        <p:nvSpPr>
          <p:cNvPr id="3" name="직사각형 2">
            <a:extLst>
              <a:ext uri="{FF2B5EF4-FFF2-40B4-BE49-F238E27FC236}">
                <a16:creationId xmlns:a16="http://schemas.microsoft.com/office/drawing/2014/main" id="{1B20F671-FA63-40DB-B764-2FB197A5F8F4}"/>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latin typeface="Calibri"/>
                <a:ea typeface="맑은 고딕"/>
                <a:cs typeface="맑은 고딕"/>
              </a:rPr>
              <a:t>사양 도구는 개체의 잡음을 우군 신호와 사료 결정으로 바꾼다.</a:t>
            </a:r>
          </a:p>
        </p:txBody>
      </p:sp>
      <p:sp>
        <p:nvSpPr>
          <p:cNvPr id="5" name="타원 4">
            <a:extLst>
              <a:ext uri="{FF2B5EF4-FFF2-40B4-BE49-F238E27FC236}">
                <a16:creationId xmlns:a16="http://schemas.microsoft.com/office/drawing/2014/main" id="{33623E51-B518-4B67-B70F-92087C41DA70}"/>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EABE8989-4780-4AFE-B0B5-7F77F69ABCE8}"/>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76C9664F-DF40-45D9-AB70-8D0F8D5C7DF1}"/>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CCB97422-1FA8-4E90-A3B0-34344B7DBE6C}"/>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23D8075D-5884-4256-983D-8DB5FA4F1CFA}"/>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37CFD8CB-E318-469E-A758-35440D3EF14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latin typeface="Calibri"/>
                <a:ea typeface="맑은 고딕"/>
                <a:cs typeface="맑은 고딕"/>
              </a:rPr>
              <a:t>smaXtec × CowTalk | 통합 교육자료</a:t>
            </a:r>
          </a:p>
        </p:txBody>
      </p:sp>
      <p:sp>
        <p:nvSpPr>
          <p:cNvPr id="11" name="직사각형 10">
            <a:extLst>
              <a:ext uri="{FF2B5EF4-FFF2-40B4-BE49-F238E27FC236}">
                <a16:creationId xmlns:a16="http://schemas.microsoft.com/office/drawing/2014/main" id="{1F1A9E65-2DF3-4847-8794-227DDA1E1DA3}"/>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latin typeface="Calibri"/>
                <a:ea typeface="맑은 고딕"/>
                <a:cs typeface="맑은 고딕"/>
              </a:rPr>
              <a:t>24</a:t>
            </a:r>
          </a:p>
        </p:txBody>
      </p:sp>
      <p:pic>
        <p:nvPicPr>
          <p:cNvPr id="24" name="그림 23"/>
          <p:cNvPicPr>
            <a:picLocks noChangeAspect="1"/>
          </p:cNvPicPr>
          <p:nvPr/>
        </p:nvPicPr>
        <p:blipFill>
          <a:blip r:embed="rId3"/>
          <a:srcRect l="9022" r="9022"/>
          <a:stretch>
            <a:fillRect/>
          </a:stretch>
        </p:blipFill>
        <p:spPr>
          <a:xfrm>
            <a:off x="9906000" y="0"/>
            <a:ext cx="2286000" cy="6858000"/>
          </a:xfrm>
          <a:prstGeom prst="rect">
            <a:avLst/>
          </a:prstGeom>
        </p:spPr>
      </p:pic>
    </p:spTree>
    <p:extLst>
      <p:ext uri="{BB962C8B-B14F-4D97-AF65-F5344CB8AC3E}">
        <p14:creationId xmlns:p14="http://schemas.microsoft.com/office/powerpoint/2010/main" val="6617963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3" name="직사각형 22">
            <a:extLst>
              <a:ext uri="{FF2B5EF4-FFF2-40B4-BE49-F238E27FC236}">
                <a16:creationId xmlns:a16="http://schemas.microsoft.com/office/drawing/2014/main" id="{D9B7DCE1-C291-49B1-981D-21184A8C9E45}"/>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사양 도구</a:t>
            </a:r>
          </a:p>
        </p:txBody>
      </p:sp>
      <p:sp>
        <p:nvSpPr>
          <p:cNvPr id="2" name="직사각형 1">
            <a:extLst>
              <a:ext uri="{FF2B5EF4-FFF2-40B4-BE49-F238E27FC236}">
                <a16:creationId xmlns:a16="http://schemas.microsoft.com/office/drawing/2014/main" id="{B2068148-3C25-4020-9FE2-158742CECBA3}"/>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사료 우군을 나누면 비교의 맥락이 깨끗해진다</a:t>
            </a:r>
          </a:p>
        </p:txBody>
      </p:sp>
      <p:sp>
        <p:nvSpPr>
          <p:cNvPr id="3" name="직사각형 2">
            <a:extLst>
              <a:ext uri="{FF2B5EF4-FFF2-40B4-BE49-F238E27FC236}">
                <a16:creationId xmlns:a16="http://schemas.microsoft.com/office/drawing/2014/main" id="{7CCAFED7-AC40-40A8-831F-6EC40BA104B5}"/>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97C9B908-0916-4870-80D4-CC21398A93DA}"/>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25</a:t>
            </a:r>
          </a:p>
        </p:txBody>
      </p:sp>
      <p:sp>
        <p:nvSpPr>
          <p:cNvPr id="5" name="모서리가 둥근 직사각형 4">
            <a:extLst>
              <a:ext uri="{FF2B5EF4-FFF2-40B4-BE49-F238E27FC236}">
                <a16:creationId xmlns:a16="http://schemas.microsoft.com/office/drawing/2014/main" id="{1312ED6B-B2E9-45D2-90E7-BD834A4C925D}"/>
              </a:ext>
            </a:extLst>
          </p:cNvPr>
          <p:cNvSpPr>
            <a:spLocks noGrp="1"/>
          </p:cNvSpPr>
          <p:nvPr/>
        </p:nvSpPr>
        <p:spPr>
          <a:xfrm>
            <a:off x="68580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F2BBA17F-CB6E-4208-9EEB-8B667772F1C6}"/>
              </a:ext>
            </a:extLst>
          </p:cNvPr>
          <p:cNvSpPr>
            <a:spLocks noGrp="1"/>
          </p:cNvSpPr>
          <p:nvPr/>
        </p:nvSpPr>
        <p:spPr>
          <a:xfrm>
            <a:off x="685800" y="1809750"/>
            <a:ext cx="2457450" cy="95250"/>
          </a:xfrm>
          <a:prstGeom prst="rect">
            <a:avLst/>
          </a:prstGeom>
          <a:solidFill>
            <a:srgbClr val="E96155"/>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15F82760-A392-48C6-A0A4-58FCF674A47F}"/>
              </a:ext>
            </a:extLst>
          </p:cNvPr>
          <p:cNvSpPr>
            <a:spLocks noGrp="1"/>
          </p:cNvSpPr>
          <p:nvPr/>
        </p:nvSpPr>
        <p:spPr>
          <a:xfrm>
            <a:off x="89535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latin typeface="Calibri"/>
                <a:ea typeface="맑은 고딕"/>
                <a:cs typeface="맑은 고딕"/>
              </a:rPr>
              <a:t>분만 직후우</a:t>
            </a:r>
          </a:p>
        </p:txBody>
      </p:sp>
      <p:sp>
        <p:nvSpPr>
          <p:cNvPr id="8" name="직사각형 7">
            <a:extLst>
              <a:ext uri="{FF2B5EF4-FFF2-40B4-BE49-F238E27FC236}">
                <a16:creationId xmlns:a16="http://schemas.microsoft.com/office/drawing/2014/main" id="{F80B45CF-FA5F-41F9-984F-469F74C48B0F}"/>
              </a:ext>
            </a:extLst>
          </p:cNvPr>
          <p:cNvSpPr>
            <a:spLocks noGrp="1"/>
          </p:cNvSpPr>
          <p:nvPr/>
        </p:nvSpPr>
        <p:spPr>
          <a:xfrm>
            <a:off x="895350" y="2895600"/>
            <a:ext cx="2038350" cy="285750"/>
          </a:xfrm>
          <a:prstGeom prst="rect">
            <a:avLst/>
          </a:prstGeom>
          <a:noFill/>
          <a:ln w="0">
            <a:noFill/>
            <a:prstDash val="solid"/>
          </a:ln>
        </p:spPr>
        <p:txBody>
          <a:bodyPr/>
          <a:lstStyle/>
          <a:p>
            <a:pPr algn="l">
              <a:buNone/>
              <a:defRPr sz="1350" b="1">
                <a:solidFill>
                  <a:srgbClr val="E96155"/>
                </a:solidFill>
              </a:defRPr>
            </a:pPr>
            <a:r>
              <a:rPr sz="1350" b="1">
                <a:solidFill>
                  <a:srgbClr val="E96155"/>
                </a:solidFill>
                <a:latin typeface="Calibri"/>
                <a:ea typeface="맑은 고딕"/>
                <a:cs typeface="맑은 고딕"/>
              </a:rPr>
              <a:t>착유 0~21일</a:t>
            </a:r>
          </a:p>
        </p:txBody>
      </p:sp>
      <p:sp>
        <p:nvSpPr>
          <p:cNvPr id="9" name="모서리가 둥근 직사각형 8">
            <a:extLst>
              <a:ext uri="{FF2B5EF4-FFF2-40B4-BE49-F238E27FC236}">
                <a16:creationId xmlns:a16="http://schemas.microsoft.com/office/drawing/2014/main" id="{FDF132E2-15DD-48DD-BAB2-6F8F8DD1FFF6}"/>
              </a:ext>
            </a:extLst>
          </p:cNvPr>
          <p:cNvSpPr>
            <a:spLocks noGrp="1"/>
          </p:cNvSpPr>
          <p:nvPr/>
        </p:nvSpPr>
        <p:spPr>
          <a:xfrm>
            <a:off x="337185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1A6BD9A7-CA6E-4E7C-A72B-6F5337E3B57A}"/>
              </a:ext>
            </a:extLst>
          </p:cNvPr>
          <p:cNvSpPr>
            <a:spLocks noGrp="1"/>
          </p:cNvSpPr>
          <p:nvPr/>
        </p:nvSpPr>
        <p:spPr>
          <a:xfrm>
            <a:off x="3371850" y="1809750"/>
            <a:ext cx="2457450" cy="95250"/>
          </a:xfrm>
          <a:prstGeom prst="rect">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DF4D7F4A-E243-43A5-8C46-15B46B95609E}"/>
              </a:ext>
            </a:extLst>
          </p:cNvPr>
          <p:cNvSpPr>
            <a:spLocks noGrp="1"/>
          </p:cNvSpPr>
          <p:nvPr/>
        </p:nvSpPr>
        <p:spPr>
          <a:xfrm>
            <a:off x="358140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latin typeface="Calibri"/>
                <a:ea typeface="맑은 고딕"/>
                <a:cs typeface="맑은 고딕"/>
              </a:rPr>
              <a:t>고비유우</a:t>
            </a:r>
          </a:p>
        </p:txBody>
      </p:sp>
      <p:sp>
        <p:nvSpPr>
          <p:cNvPr id="12" name="직사각형 11">
            <a:extLst>
              <a:ext uri="{FF2B5EF4-FFF2-40B4-BE49-F238E27FC236}">
                <a16:creationId xmlns:a16="http://schemas.microsoft.com/office/drawing/2014/main" id="{6A16D436-F7AF-475C-BF0E-301CB130FCC7}"/>
              </a:ext>
            </a:extLst>
          </p:cNvPr>
          <p:cNvSpPr>
            <a:spLocks noGrp="1"/>
          </p:cNvSpPr>
          <p:nvPr/>
        </p:nvSpPr>
        <p:spPr>
          <a:xfrm>
            <a:off x="3581400" y="2895600"/>
            <a:ext cx="2038350" cy="285750"/>
          </a:xfrm>
          <a:prstGeom prst="rect">
            <a:avLst/>
          </a:prstGeom>
          <a:noFill/>
          <a:ln w="0">
            <a:noFill/>
            <a:prstDash val="solid"/>
          </a:ln>
        </p:spPr>
        <p:txBody>
          <a:bodyPr/>
          <a:lstStyle/>
          <a:p>
            <a:pPr algn="l">
              <a:buNone/>
              <a:defRPr sz="1350" b="1">
                <a:solidFill>
                  <a:srgbClr val="65D44A"/>
                </a:solidFill>
              </a:defRPr>
            </a:pPr>
            <a:r>
              <a:rPr sz="1350" b="1">
                <a:solidFill>
                  <a:srgbClr val="65D44A"/>
                </a:solidFill>
                <a:latin typeface="Calibri"/>
                <a:ea typeface="맑은 고딕"/>
                <a:cs typeface="맑은 고딕"/>
              </a:rPr>
              <a:t>착유 22~150일</a:t>
            </a:r>
          </a:p>
        </p:txBody>
      </p:sp>
      <p:sp>
        <p:nvSpPr>
          <p:cNvPr id="13" name="모서리가 둥근 직사각형 12">
            <a:extLst>
              <a:ext uri="{FF2B5EF4-FFF2-40B4-BE49-F238E27FC236}">
                <a16:creationId xmlns:a16="http://schemas.microsoft.com/office/drawing/2014/main" id="{DC5B8D31-59E8-4251-9709-F68BF84E80BB}"/>
              </a:ext>
            </a:extLst>
          </p:cNvPr>
          <p:cNvSpPr>
            <a:spLocks noGrp="1"/>
          </p:cNvSpPr>
          <p:nvPr/>
        </p:nvSpPr>
        <p:spPr>
          <a:xfrm>
            <a:off x="605790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DD0A84DC-6598-4FFF-B90D-78BA3D075E78}"/>
              </a:ext>
            </a:extLst>
          </p:cNvPr>
          <p:cNvSpPr>
            <a:spLocks noGrp="1"/>
          </p:cNvSpPr>
          <p:nvPr/>
        </p:nvSpPr>
        <p:spPr>
          <a:xfrm>
            <a:off x="6057900" y="1809750"/>
            <a:ext cx="2457450" cy="95250"/>
          </a:xfrm>
          <a:prstGeom prst="rect">
            <a:avLst/>
          </a:prstGeom>
          <a:solidFill>
            <a:srgbClr val="4C8DD9"/>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C12D8F9B-A70A-493A-B410-8B5B17BBAA5A}"/>
              </a:ext>
            </a:extLst>
          </p:cNvPr>
          <p:cNvSpPr>
            <a:spLocks noGrp="1"/>
          </p:cNvSpPr>
          <p:nvPr/>
        </p:nvSpPr>
        <p:spPr>
          <a:xfrm>
            <a:off x="626745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latin typeface="Calibri"/>
                <a:ea typeface="맑은 고딕"/>
                <a:cs typeface="맑은 고딕"/>
              </a:rPr>
              <a:t>후기 비유우</a:t>
            </a:r>
          </a:p>
        </p:txBody>
      </p:sp>
      <p:sp>
        <p:nvSpPr>
          <p:cNvPr id="16" name="직사각형 15">
            <a:extLst>
              <a:ext uri="{FF2B5EF4-FFF2-40B4-BE49-F238E27FC236}">
                <a16:creationId xmlns:a16="http://schemas.microsoft.com/office/drawing/2014/main" id="{C6906519-C1D1-455D-99AF-A209EA5988D3}"/>
              </a:ext>
            </a:extLst>
          </p:cNvPr>
          <p:cNvSpPr>
            <a:spLocks noGrp="1"/>
          </p:cNvSpPr>
          <p:nvPr/>
        </p:nvSpPr>
        <p:spPr>
          <a:xfrm>
            <a:off x="6267450" y="2895600"/>
            <a:ext cx="2038350" cy="285750"/>
          </a:xfrm>
          <a:prstGeom prst="rect">
            <a:avLst/>
          </a:prstGeom>
          <a:noFill/>
          <a:ln w="0">
            <a:noFill/>
            <a:prstDash val="solid"/>
          </a:ln>
        </p:spPr>
        <p:txBody>
          <a:bodyPr/>
          <a:lstStyle/>
          <a:p>
            <a:pPr algn="l">
              <a:buNone/>
              <a:defRPr sz="1350" b="1">
                <a:solidFill>
                  <a:srgbClr val="4C8DD9"/>
                </a:solidFill>
              </a:defRPr>
            </a:pPr>
            <a:r>
              <a:rPr sz="1350" b="1">
                <a:solidFill>
                  <a:srgbClr val="4C8DD9"/>
                </a:solidFill>
                <a:latin typeface="Calibri"/>
                <a:ea typeface="맑은 고딕"/>
                <a:cs typeface="맑은 고딕"/>
              </a:rPr>
              <a:t>착유 150일 초과</a:t>
            </a:r>
          </a:p>
        </p:txBody>
      </p:sp>
      <p:sp>
        <p:nvSpPr>
          <p:cNvPr id="17" name="모서리가 둥근 직사각형 16">
            <a:extLst>
              <a:ext uri="{FF2B5EF4-FFF2-40B4-BE49-F238E27FC236}">
                <a16:creationId xmlns:a16="http://schemas.microsoft.com/office/drawing/2014/main" id="{57E9BE0E-9C33-4F3B-B951-B2E16CFEB670}"/>
              </a:ext>
            </a:extLst>
          </p:cNvPr>
          <p:cNvSpPr>
            <a:spLocks noGrp="1"/>
          </p:cNvSpPr>
          <p:nvPr/>
        </p:nvSpPr>
        <p:spPr>
          <a:xfrm>
            <a:off x="8743950" y="1809750"/>
            <a:ext cx="2457450" cy="2038350"/>
          </a:xfrm>
          <a:prstGeom prst="roundRect">
            <a:avLst>
              <a:gd name="adj" fmla="val 7477"/>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41CA4C86-6990-4901-9453-3AB084F7BEFB}"/>
              </a:ext>
            </a:extLst>
          </p:cNvPr>
          <p:cNvSpPr>
            <a:spLocks noGrp="1"/>
          </p:cNvSpPr>
          <p:nvPr/>
        </p:nvSpPr>
        <p:spPr>
          <a:xfrm>
            <a:off x="8743950" y="1809750"/>
            <a:ext cx="2457450" cy="95250"/>
          </a:xfrm>
          <a:prstGeom prst="rect">
            <a:avLst/>
          </a:prstGeom>
          <a:solidFill>
            <a:srgbClr val="F6B846"/>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63B599A5-A75D-4944-8CD2-8FF8DB053147}"/>
              </a:ext>
            </a:extLst>
          </p:cNvPr>
          <p:cNvSpPr>
            <a:spLocks noGrp="1"/>
          </p:cNvSpPr>
          <p:nvPr/>
        </p:nvSpPr>
        <p:spPr>
          <a:xfrm>
            <a:off x="8953500" y="2171700"/>
            <a:ext cx="2038350" cy="514350"/>
          </a:xfrm>
          <a:prstGeom prst="rect">
            <a:avLst/>
          </a:prstGeom>
          <a:noFill/>
          <a:ln w="0">
            <a:noFill/>
            <a:prstDash val="solid"/>
          </a:ln>
        </p:spPr>
        <p:txBody>
          <a:bodyPr/>
          <a:lstStyle/>
          <a:p>
            <a:pPr algn="l">
              <a:buNone/>
              <a:defRPr sz="1725" b="1">
                <a:solidFill>
                  <a:srgbClr val="10251F"/>
                </a:solidFill>
              </a:defRPr>
            </a:pPr>
            <a:r>
              <a:rPr sz="1725" b="1">
                <a:solidFill>
                  <a:srgbClr val="10251F"/>
                </a:solidFill>
                <a:latin typeface="Calibri"/>
                <a:ea typeface="맑은 고딕"/>
                <a:cs typeface="맑은 고딕"/>
              </a:rPr>
              <a:t>건유 / 전환기</a:t>
            </a:r>
          </a:p>
        </p:txBody>
      </p:sp>
      <p:sp>
        <p:nvSpPr>
          <p:cNvPr id="20" name="직사각형 19">
            <a:extLst>
              <a:ext uri="{FF2B5EF4-FFF2-40B4-BE49-F238E27FC236}">
                <a16:creationId xmlns:a16="http://schemas.microsoft.com/office/drawing/2014/main" id="{194807DE-8BBE-4591-8C3C-9B3B7DAC4684}"/>
              </a:ext>
            </a:extLst>
          </p:cNvPr>
          <p:cNvSpPr>
            <a:spLocks noGrp="1"/>
          </p:cNvSpPr>
          <p:nvPr/>
        </p:nvSpPr>
        <p:spPr>
          <a:xfrm>
            <a:off x="8953500" y="2895600"/>
            <a:ext cx="2038350" cy="285750"/>
          </a:xfrm>
          <a:prstGeom prst="rect">
            <a:avLst/>
          </a:prstGeom>
          <a:noFill/>
          <a:ln w="0">
            <a:noFill/>
            <a:prstDash val="solid"/>
          </a:ln>
        </p:spPr>
        <p:txBody>
          <a:bodyPr/>
          <a:lstStyle/>
          <a:p>
            <a:pPr algn="l">
              <a:buNone/>
              <a:defRPr sz="1350" b="1">
                <a:solidFill>
                  <a:srgbClr val="F6B846"/>
                </a:solidFill>
              </a:defRPr>
            </a:pPr>
            <a:r>
              <a:rPr sz="1350" b="1">
                <a:solidFill>
                  <a:srgbClr val="F6B846"/>
                </a:solidFill>
                <a:latin typeface="Calibri"/>
                <a:ea typeface="맑은 고딕"/>
                <a:cs typeface="맑은 고딕"/>
              </a:rPr>
              <a:t>분만 전후</a:t>
            </a:r>
          </a:p>
        </p:txBody>
      </p:sp>
      <p:sp>
        <p:nvSpPr>
          <p:cNvPr id="21" name="직사각형 20">
            <a:extLst>
              <a:ext uri="{FF2B5EF4-FFF2-40B4-BE49-F238E27FC236}">
                <a16:creationId xmlns:a16="http://schemas.microsoft.com/office/drawing/2014/main" id="{33ED58B4-5CEF-4735-96AF-A1CC1933F28B}"/>
              </a:ext>
            </a:extLst>
          </p:cNvPr>
          <p:cNvSpPr>
            <a:spLocks noGrp="1"/>
          </p:cNvSpPr>
          <p:nvPr/>
        </p:nvSpPr>
        <p:spPr>
          <a:xfrm>
            <a:off x="857250" y="4495800"/>
            <a:ext cx="10477500" cy="552450"/>
          </a:xfrm>
          <a:prstGeom prst="rect">
            <a:avLst/>
          </a:prstGeom>
          <a:noFill/>
          <a:ln w="0">
            <a:noFill/>
            <a:prstDash val="solid"/>
          </a:ln>
        </p:spPr>
        <p:txBody>
          <a:bodyPr/>
          <a:lstStyle/>
          <a:p>
            <a:pPr algn="ctr">
              <a:buNone/>
              <a:defRPr sz="1875" b="1">
                <a:solidFill>
                  <a:srgbClr val="15A98C"/>
                </a:solidFill>
              </a:defRPr>
            </a:pPr>
            <a:r>
              <a:rPr sz="1875" b="1">
                <a:solidFill>
                  <a:srgbClr val="15A98C"/>
                </a:solidFill>
                <a:latin typeface="Calibri"/>
                <a:ea typeface="맑은 고딕"/>
                <a:cs typeface="맑은 고딕"/>
              </a:rPr>
              <a:t>한 우군은 같은 사료, 비슷한 생리 단계, 명확한 날짜 기준을 공유해야 한다.</a:t>
            </a:r>
          </a:p>
        </p:txBody>
      </p:sp>
      <p:sp>
        <p:nvSpPr>
          <p:cNvPr id="22" name="직사각형 21">
            <a:extLst>
              <a:ext uri="{FF2B5EF4-FFF2-40B4-BE49-F238E27FC236}">
                <a16:creationId xmlns:a16="http://schemas.microsoft.com/office/drawing/2014/main" id="{FF249DE8-36FA-4915-A156-38B2DCD6468B}"/>
              </a:ext>
            </a:extLst>
          </p:cNvPr>
          <p:cNvSpPr>
            <a:spLocks noGrp="1"/>
          </p:cNvSpPr>
          <p:nvPr/>
        </p:nvSpPr>
        <p:spPr>
          <a:xfrm>
            <a:off x="685800" y="5429250"/>
            <a:ext cx="10820400" cy="228600"/>
          </a:xfrm>
          <a:prstGeom prst="rect">
            <a:avLst/>
          </a:prstGeom>
          <a:noFill/>
          <a:ln w="0">
            <a:noFill/>
            <a:prstDash val="solid"/>
          </a:ln>
        </p:spPr>
        <p:txBody>
          <a:bodyPr/>
          <a:lstStyle/>
          <a:p>
            <a:pPr algn="ctr">
              <a:buNone/>
              <a:defRPr sz="1125" b="0">
                <a:solidFill>
                  <a:srgbClr val="66746F"/>
                </a:solidFill>
              </a:defRPr>
            </a:pPr>
            <a:r>
              <a:rPr sz="1125" b="0">
                <a:solidFill>
                  <a:srgbClr val="66746F"/>
                </a:solidFill>
                <a:latin typeface="Calibri"/>
                <a:ea typeface="맑은 고딕"/>
                <a:cs typeface="맑은 고딕"/>
              </a:rPr>
              <a:t>착유일수는 예시 — 목장 기준에 맞춰 조정한다</a:t>
            </a:r>
          </a:p>
        </p:txBody>
      </p:sp>
    </p:spTree>
    <p:extLst>
      <p:ext uri="{BB962C8B-B14F-4D97-AF65-F5344CB8AC3E}">
        <p14:creationId xmlns:p14="http://schemas.microsoft.com/office/powerpoint/2010/main" val="16729441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7" name="직사각형 16">
            <a:extLst>
              <a:ext uri="{FF2B5EF4-FFF2-40B4-BE49-F238E27FC236}">
                <a16:creationId xmlns:a16="http://schemas.microsoft.com/office/drawing/2014/main" id="{A31C1718-EB02-4932-9193-33A2E32B957D}"/>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사료 분석</a:t>
            </a:r>
          </a:p>
        </p:txBody>
      </p:sp>
      <p:sp>
        <p:nvSpPr>
          <p:cNvPr id="2" name="직사각형 1">
            <a:extLst>
              <a:ext uri="{FF2B5EF4-FFF2-40B4-BE49-F238E27FC236}">
                <a16:creationId xmlns:a16="http://schemas.microsoft.com/office/drawing/2014/main" id="{599E9104-6332-481F-8DE6-89FB3FEA42A7}"/>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사료 변경은 네 개의 층으로 평가한다</a:t>
            </a:r>
          </a:p>
        </p:txBody>
      </p:sp>
      <p:sp>
        <p:nvSpPr>
          <p:cNvPr id="3" name="직사각형 2">
            <a:extLst>
              <a:ext uri="{FF2B5EF4-FFF2-40B4-BE49-F238E27FC236}">
                <a16:creationId xmlns:a16="http://schemas.microsoft.com/office/drawing/2014/main" id="{03F5306E-0CAB-4B56-B1A6-3E53E9CB534B}"/>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42CC4E26-76FC-4FC1-B978-E13E4EA36474}"/>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26</a:t>
            </a:r>
          </a:p>
        </p:txBody>
      </p:sp>
      <p:sp>
        <p:nvSpPr>
          <p:cNvPr id="5" name="모서리가 둥근 직사각형 4">
            <a:extLst>
              <a:ext uri="{FF2B5EF4-FFF2-40B4-BE49-F238E27FC236}">
                <a16:creationId xmlns:a16="http://schemas.microsoft.com/office/drawing/2014/main" id="{1D73946B-272B-455C-9C75-752FD66A5304}"/>
              </a:ext>
            </a:extLst>
          </p:cNvPr>
          <p:cNvSpPr>
            <a:spLocks noGrp="1"/>
          </p:cNvSpPr>
          <p:nvPr/>
        </p:nvSpPr>
        <p:spPr>
          <a:xfrm>
            <a:off x="685800" y="1752600"/>
            <a:ext cx="10820400" cy="704850"/>
          </a:xfrm>
          <a:prstGeom prst="roundRect">
            <a:avLst>
              <a:gd name="adj" fmla="val 16216"/>
            </a:avLst>
          </a:prstGeom>
          <a:solidFill>
            <a:srgbClr val="ECF1EE"/>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DB0E1CA0-9935-4CCC-8E71-912B839F5CF2}"/>
              </a:ext>
            </a:extLst>
          </p:cNvPr>
          <p:cNvSpPr>
            <a:spLocks noGrp="1"/>
          </p:cNvSpPr>
          <p:nvPr/>
        </p:nvSpPr>
        <p:spPr>
          <a:xfrm>
            <a:off x="933450" y="1943100"/>
            <a:ext cx="2095500" cy="28575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1. 투입</a:t>
            </a:r>
          </a:p>
        </p:txBody>
      </p:sp>
      <p:sp>
        <p:nvSpPr>
          <p:cNvPr id="7" name="직사각형 6">
            <a:extLst>
              <a:ext uri="{FF2B5EF4-FFF2-40B4-BE49-F238E27FC236}">
                <a16:creationId xmlns:a16="http://schemas.microsoft.com/office/drawing/2014/main" id="{514CBBBD-8BD0-4357-BA58-9C3F4E044A36}"/>
              </a:ext>
            </a:extLst>
          </p:cNvPr>
          <p:cNvSpPr>
            <a:spLocks noGrp="1"/>
          </p:cNvSpPr>
          <p:nvPr/>
        </p:nvSpPr>
        <p:spPr>
          <a:xfrm>
            <a:off x="3333750" y="1943100"/>
            <a:ext cx="7810500" cy="32385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배합표, 건물률, 원료 로트, 배합</a:t>
            </a:r>
          </a:p>
        </p:txBody>
      </p:sp>
      <p:sp>
        <p:nvSpPr>
          <p:cNvPr id="8" name="모서리가 둥근 직사각형 7">
            <a:extLst>
              <a:ext uri="{FF2B5EF4-FFF2-40B4-BE49-F238E27FC236}">
                <a16:creationId xmlns:a16="http://schemas.microsoft.com/office/drawing/2014/main" id="{AB213A16-6D2E-45C1-B1FE-E8D50E96AC09}"/>
              </a:ext>
            </a:extLst>
          </p:cNvPr>
          <p:cNvSpPr>
            <a:spLocks noGrp="1"/>
          </p:cNvSpPr>
          <p:nvPr/>
        </p:nvSpPr>
        <p:spPr>
          <a:xfrm>
            <a:off x="685800" y="2647950"/>
            <a:ext cx="10820400" cy="704850"/>
          </a:xfrm>
          <a:prstGeom prst="roundRect">
            <a:avLst>
              <a:gd name="adj" fmla="val 16216"/>
            </a:avLst>
          </a:prstGeom>
          <a:solidFill>
            <a:srgbClr val="FFFFFF"/>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B99B2BB5-833A-4748-A913-9E7A24BFD9F3}"/>
              </a:ext>
            </a:extLst>
          </p:cNvPr>
          <p:cNvSpPr>
            <a:spLocks noGrp="1"/>
          </p:cNvSpPr>
          <p:nvPr/>
        </p:nvSpPr>
        <p:spPr>
          <a:xfrm>
            <a:off x="933450" y="2838450"/>
            <a:ext cx="2095500" cy="28575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2. 급여</a:t>
            </a:r>
          </a:p>
        </p:txBody>
      </p:sp>
      <p:sp>
        <p:nvSpPr>
          <p:cNvPr id="10" name="직사각형 9">
            <a:extLst>
              <a:ext uri="{FF2B5EF4-FFF2-40B4-BE49-F238E27FC236}">
                <a16:creationId xmlns:a16="http://schemas.microsoft.com/office/drawing/2014/main" id="{B6B89250-2EC5-4F71-866E-FC8FF2DE7F5D}"/>
              </a:ext>
            </a:extLst>
          </p:cNvPr>
          <p:cNvSpPr>
            <a:spLocks noGrp="1"/>
          </p:cNvSpPr>
          <p:nvPr/>
        </p:nvSpPr>
        <p:spPr>
          <a:xfrm>
            <a:off x="3333750" y="2838450"/>
            <a:ext cx="7810500" cy="32385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급여 시각, 사료 밀어주기, 선택채식, 사료대 공간</a:t>
            </a:r>
          </a:p>
        </p:txBody>
      </p:sp>
      <p:sp>
        <p:nvSpPr>
          <p:cNvPr id="11" name="모서리가 둥근 직사각형 10">
            <a:extLst>
              <a:ext uri="{FF2B5EF4-FFF2-40B4-BE49-F238E27FC236}">
                <a16:creationId xmlns:a16="http://schemas.microsoft.com/office/drawing/2014/main" id="{CD416FE0-FE7F-4456-B496-1FE36FF1621F}"/>
              </a:ext>
            </a:extLst>
          </p:cNvPr>
          <p:cNvSpPr>
            <a:spLocks noGrp="1"/>
          </p:cNvSpPr>
          <p:nvPr/>
        </p:nvSpPr>
        <p:spPr>
          <a:xfrm>
            <a:off x="685800" y="3543300"/>
            <a:ext cx="10820400" cy="704850"/>
          </a:xfrm>
          <a:prstGeom prst="roundRect">
            <a:avLst>
              <a:gd name="adj" fmla="val 16216"/>
            </a:avLst>
          </a:prstGeom>
          <a:solidFill>
            <a:srgbClr val="65D44A"/>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601EEEB1-875A-43AC-A4C0-06ACC50C111D}"/>
              </a:ext>
            </a:extLst>
          </p:cNvPr>
          <p:cNvSpPr>
            <a:spLocks noGrp="1"/>
          </p:cNvSpPr>
          <p:nvPr/>
        </p:nvSpPr>
        <p:spPr>
          <a:xfrm>
            <a:off x="933450" y="3733800"/>
            <a:ext cx="2095500" cy="285750"/>
          </a:xfrm>
          <a:prstGeom prst="rect">
            <a:avLst/>
          </a:prstGeom>
          <a:noFill/>
          <a:ln w="0">
            <a:noFill/>
            <a:prstDash val="solid"/>
          </a:ln>
        </p:spPr>
        <p:txBody>
          <a:bodyPr/>
          <a:lstStyle/>
          <a:p>
            <a:pPr algn="l">
              <a:buNone/>
              <a:defRPr sz="1350" b="1">
                <a:solidFill>
                  <a:srgbClr val="0A1B17"/>
                </a:solidFill>
              </a:defRPr>
            </a:pPr>
            <a:r>
              <a:rPr sz="1350" b="1">
                <a:solidFill>
                  <a:srgbClr val="0A1B17"/>
                </a:solidFill>
                <a:latin typeface="Calibri"/>
                <a:ea typeface="맑은 고딕"/>
                <a:cs typeface="맑은 고딕"/>
              </a:rPr>
              <a:t>3. 소의 반응</a:t>
            </a:r>
          </a:p>
        </p:txBody>
      </p:sp>
      <p:sp>
        <p:nvSpPr>
          <p:cNvPr id="13" name="직사각형 12">
            <a:extLst>
              <a:ext uri="{FF2B5EF4-FFF2-40B4-BE49-F238E27FC236}">
                <a16:creationId xmlns:a16="http://schemas.microsoft.com/office/drawing/2014/main" id="{0CF0F39C-46C0-43E0-938C-1643DC80EDF4}"/>
              </a:ext>
            </a:extLst>
          </p:cNvPr>
          <p:cNvSpPr>
            <a:spLocks noGrp="1"/>
          </p:cNvSpPr>
          <p:nvPr/>
        </p:nvSpPr>
        <p:spPr>
          <a:xfrm>
            <a:off x="3333750" y="3733800"/>
            <a:ext cx="7810500" cy="323850"/>
          </a:xfrm>
          <a:prstGeom prst="rect">
            <a:avLst/>
          </a:prstGeom>
          <a:noFill/>
          <a:ln w="0">
            <a:noFill/>
            <a:prstDash val="solid"/>
          </a:ln>
        </p:spPr>
        <p:txBody>
          <a:bodyPr/>
          <a:lstStyle/>
          <a:p>
            <a:pPr algn="l">
              <a:buNone/>
              <a:defRPr sz="1500" b="1">
                <a:solidFill>
                  <a:srgbClr val="10251F"/>
                </a:solidFill>
              </a:defRPr>
            </a:pPr>
            <a:r>
              <a:rPr sz="1500" b="1">
                <a:solidFill>
                  <a:srgbClr val="10251F"/>
                </a:solidFill>
                <a:latin typeface="Calibri"/>
                <a:ea typeface="맑은 고딕"/>
                <a:cs typeface="맑은 고딕"/>
              </a:rPr>
              <a:t>pH, 반추, 음수, 활동량</a:t>
            </a:r>
          </a:p>
        </p:txBody>
      </p:sp>
      <p:sp>
        <p:nvSpPr>
          <p:cNvPr id="14" name="모서리가 둥근 직사각형 13">
            <a:extLst>
              <a:ext uri="{FF2B5EF4-FFF2-40B4-BE49-F238E27FC236}">
                <a16:creationId xmlns:a16="http://schemas.microsoft.com/office/drawing/2014/main" id="{FCA163A8-2122-4C9F-AAF0-ABAEAE71B42C}"/>
              </a:ext>
            </a:extLst>
          </p:cNvPr>
          <p:cNvSpPr>
            <a:spLocks noGrp="1"/>
          </p:cNvSpPr>
          <p:nvPr/>
        </p:nvSpPr>
        <p:spPr>
          <a:xfrm>
            <a:off x="685800" y="4438650"/>
            <a:ext cx="10820400" cy="704850"/>
          </a:xfrm>
          <a:prstGeom prst="roundRect">
            <a:avLst>
              <a:gd name="adj" fmla="val 16216"/>
            </a:avLst>
          </a:prstGeom>
          <a:solidFill>
            <a:srgbClr val="FFFFF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6297E040-C5AD-4C68-8DEC-801F24AAE65F}"/>
              </a:ext>
            </a:extLst>
          </p:cNvPr>
          <p:cNvSpPr>
            <a:spLocks noGrp="1"/>
          </p:cNvSpPr>
          <p:nvPr/>
        </p:nvSpPr>
        <p:spPr>
          <a:xfrm>
            <a:off x="933450" y="4629150"/>
            <a:ext cx="2095500" cy="28575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4. 결과</a:t>
            </a:r>
          </a:p>
        </p:txBody>
      </p:sp>
      <p:sp>
        <p:nvSpPr>
          <p:cNvPr id="16" name="직사각형 15">
            <a:extLst>
              <a:ext uri="{FF2B5EF4-FFF2-40B4-BE49-F238E27FC236}">
                <a16:creationId xmlns:a16="http://schemas.microsoft.com/office/drawing/2014/main" id="{10BF9DF5-C4CF-4ADF-8289-79449FE5A902}"/>
              </a:ext>
            </a:extLst>
          </p:cNvPr>
          <p:cNvSpPr>
            <a:spLocks noGrp="1"/>
          </p:cNvSpPr>
          <p:nvPr/>
        </p:nvSpPr>
        <p:spPr>
          <a:xfrm>
            <a:off x="3333750" y="4629150"/>
            <a:ext cx="7810500" cy="32385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유량, 유성분, 건강 사건</a:t>
            </a:r>
          </a:p>
        </p:txBody>
      </p:sp>
    </p:spTree>
    <p:extLst>
      <p:ext uri="{BB962C8B-B14F-4D97-AF65-F5344CB8AC3E}">
        <p14:creationId xmlns:p14="http://schemas.microsoft.com/office/powerpoint/2010/main" val="942303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6" name="직사각형 15">
            <a:extLst>
              <a:ext uri="{FF2B5EF4-FFF2-40B4-BE49-F238E27FC236}">
                <a16:creationId xmlns:a16="http://schemas.microsoft.com/office/drawing/2014/main" id="{9BC0EF4C-6973-4A0B-A08C-725D06217D6A}"/>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pH + 사양</a:t>
            </a:r>
          </a:p>
        </p:txBody>
      </p:sp>
      <p:sp>
        <p:nvSpPr>
          <p:cNvPr id="2" name="직사각형 1">
            <a:extLst>
              <a:ext uri="{FF2B5EF4-FFF2-40B4-BE49-F238E27FC236}">
                <a16:creationId xmlns:a16="http://schemas.microsoft.com/office/drawing/2014/main" id="{8A8FFC39-E726-406E-920B-839D72B8C89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pH 프로파일은 사료의 안정성을 보여준다</a:t>
            </a:r>
          </a:p>
        </p:txBody>
      </p:sp>
      <p:sp>
        <p:nvSpPr>
          <p:cNvPr id="3" name="직사각형 2">
            <a:extLst>
              <a:ext uri="{FF2B5EF4-FFF2-40B4-BE49-F238E27FC236}">
                <a16:creationId xmlns:a16="http://schemas.microsoft.com/office/drawing/2014/main" id="{E15D1325-AF05-4617-B8E4-11F17490EE86}"/>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C9F165A2-C3E7-4689-9F10-D3916394A6D7}"/>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27</a:t>
            </a:r>
          </a:p>
        </p:txBody>
      </p:sp>
      <p:graphicFrame>
        <p:nvGraphicFramePr>
          <p:cNvPr id="22" name="Chart"/>
          <p:cNvGraphicFramePr/>
          <p:nvPr/>
        </p:nvGraphicFramePr>
        <p:xfrm>
          <a:off x="685800" y="1847850"/>
          <a:ext cx="7334250"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6" name="모서리가 둥근 직사각형 5">
            <a:extLst>
              <a:ext uri="{FF2B5EF4-FFF2-40B4-BE49-F238E27FC236}">
                <a16:creationId xmlns:a16="http://schemas.microsoft.com/office/drawing/2014/main" id="{11DFD3A7-14A8-487B-AD07-41E83FFB9A91}"/>
              </a:ext>
            </a:extLst>
          </p:cNvPr>
          <p:cNvSpPr>
            <a:spLocks noGrp="1"/>
          </p:cNvSpPr>
          <p:nvPr/>
        </p:nvSpPr>
        <p:spPr>
          <a:xfrm>
            <a:off x="8763000" y="1771650"/>
            <a:ext cx="1524000" cy="323850"/>
          </a:xfrm>
          <a:prstGeom prst="roundRect">
            <a:avLst>
              <a:gd name="adj" fmla="val 50000"/>
            </a:avLst>
          </a:prstGeom>
          <a:solidFill>
            <a:srgbClr val="F6B846"/>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895329B-C4F8-49AD-8C5D-E6A992DE7232}"/>
              </a:ext>
            </a:extLst>
          </p:cNvPr>
          <p:cNvSpPr>
            <a:spLocks noGrp="1"/>
          </p:cNvSpPr>
          <p:nvPr/>
        </p:nvSpPr>
        <p:spPr>
          <a:xfrm>
            <a:off x="8858250" y="1828800"/>
            <a:ext cx="1333500" cy="190500"/>
          </a:xfrm>
          <a:prstGeom prst="rect">
            <a:avLst/>
          </a:prstGeom>
          <a:noFill/>
          <a:ln w="0">
            <a:noFill/>
            <a:prstDash val="solid"/>
          </a:ln>
        </p:spPr>
        <p:txBody>
          <a:bodyPr/>
          <a:lstStyle/>
          <a:p>
            <a:pPr algn="ctr">
              <a:buNone/>
              <a:defRPr sz="975" b="1">
                <a:solidFill>
                  <a:srgbClr val="0A1B17"/>
                </a:solidFill>
              </a:defRPr>
            </a:pPr>
            <a:r>
              <a:rPr sz="975" b="1">
                <a:solidFill>
                  <a:srgbClr val="0A1B17"/>
                </a:solidFill>
                <a:latin typeface="Calibri"/>
                <a:ea typeface="맑은 고딕"/>
                <a:cs typeface="맑은 고딕"/>
              </a:rPr>
              <a:t>학습용 예시</a:t>
            </a:r>
          </a:p>
        </p:txBody>
      </p:sp>
      <p:sp>
        <p:nvSpPr>
          <p:cNvPr id="8" name="타원 7">
            <a:extLst>
              <a:ext uri="{FF2B5EF4-FFF2-40B4-BE49-F238E27FC236}">
                <a16:creationId xmlns:a16="http://schemas.microsoft.com/office/drawing/2014/main" id="{162A66A2-2771-4D7E-AF97-D87D31BD2373}"/>
              </a:ext>
            </a:extLst>
          </p:cNvPr>
          <p:cNvSpPr>
            <a:spLocks noGrp="1"/>
          </p:cNvSpPr>
          <p:nvPr/>
        </p:nvSpPr>
        <p:spPr>
          <a:xfrm>
            <a:off x="8572500" y="2457450"/>
            <a:ext cx="114300" cy="114300"/>
          </a:xfrm>
          <a:prstGeom prst="ellipse">
            <a:avLst/>
          </a:prstGeom>
          <a:solidFill>
            <a:srgbClr val="65D44A"/>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630B9749-A60D-47E5-9E3D-3A72BB3E0BB0}"/>
              </a:ext>
            </a:extLst>
          </p:cNvPr>
          <p:cNvSpPr>
            <a:spLocks noGrp="1"/>
          </p:cNvSpPr>
          <p:nvPr/>
        </p:nvSpPr>
        <p:spPr>
          <a:xfrm>
            <a:off x="8839200" y="23812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latin typeface="Calibri"/>
                <a:ea typeface="맑은 고딕"/>
                <a:cs typeface="맑은 고딕"/>
              </a:rPr>
              <a:t>최저점만이 아니라 낮은 상태로 머문 시간을 본다</a:t>
            </a:r>
          </a:p>
        </p:txBody>
      </p:sp>
      <p:sp>
        <p:nvSpPr>
          <p:cNvPr id="10" name="타원 9">
            <a:extLst>
              <a:ext uri="{FF2B5EF4-FFF2-40B4-BE49-F238E27FC236}">
                <a16:creationId xmlns:a16="http://schemas.microsoft.com/office/drawing/2014/main" id="{84ECABA3-0248-4D32-9E45-8F55F751F880}"/>
              </a:ext>
            </a:extLst>
          </p:cNvPr>
          <p:cNvSpPr>
            <a:spLocks noGrp="1"/>
          </p:cNvSpPr>
          <p:nvPr/>
        </p:nvSpPr>
        <p:spPr>
          <a:xfrm>
            <a:off x="8572500" y="3105150"/>
            <a:ext cx="114300" cy="114300"/>
          </a:xfrm>
          <a:prstGeom prst="ellipse">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DCB5FEE8-212C-4DF6-910E-4555371529FC}"/>
              </a:ext>
            </a:extLst>
          </p:cNvPr>
          <p:cNvSpPr>
            <a:spLocks noGrp="1"/>
          </p:cNvSpPr>
          <p:nvPr/>
        </p:nvSpPr>
        <p:spPr>
          <a:xfrm>
            <a:off x="8839200" y="30289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latin typeface="Calibri"/>
                <a:ea typeface="맑은 고딕"/>
                <a:cs typeface="맑은 고딕"/>
              </a:rPr>
              <a:t>급여 시각을 그래프와 연결한다</a:t>
            </a:r>
          </a:p>
        </p:txBody>
      </p:sp>
      <p:sp>
        <p:nvSpPr>
          <p:cNvPr id="12" name="타원 11">
            <a:extLst>
              <a:ext uri="{FF2B5EF4-FFF2-40B4-BE49-F238E27FC236}">
                <a16:creationId xmlns:a16="http://schemas.microsoft.com/office/drawing/2014/main" id="{690D2E54-A833-45E7-BB70-21118006B41C}"/>
              </a:ext>
            </a:extLst>
          </p:cNvPr>
          <p:cNvSpPr>
            <a:spLocks noGrp="1"/>
          </p:cNvSpPr>
          <p:nvPr/>
        </p:nvSpPr>
        <p:spPr>
          <a:xfrm>
            <a:off x="8572500" y="3752850"/>
            <a:ext cx="114300" cy="114300"/>
          </a:xfrm>
          <a:prstGeom prst="ellipse">
            <a:avLst/>
          </a:prstGeom>
          <a:solidFill>
            <a:srgbClr val="65D44A"/>
          </a:solidFill>
          <a:ln w="0">
            <a:noFill/>
            <a:prstDash val="solid"/>
          </a:ln>
        </p:spPr>
        <p:txBody>
          <a:bodyPr/>
          <a:lstStyle/>
          <a:p>
            <a:endParaRPr lang="ko-KR" altLang="en-US"/>
          </a:p>
        </p:txBody>
      </p:sp>
      <p:sp>
        <p:nvSpPr>
          <p:cNvPr id="13" name="직사각형 12">
            <a:extLst>
              <a:ext uri="{FF2B5EF4-FFF2-40B4-BE49-F238E27FC236}">
                <a16:creationId xmlns:a16="http://schemas.microsoft.com/office/drawing/2014/main" id="{35662032-E3CA-4CF6-A16A-1F6932A9E3AA}"/>
              </a:ext>
            </a:extLst>
          </p:cNvPr>
          <p:cNvSpPr>
            <a:spLocks noGrp="1"/>
          </p:cNvSpPr>
          <p:nvPr/>
        </p:nvSpPr>
        <p:spPr>
          <a:xfrm>
            <a:off x="8839200" y="36766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latin typeface="Calibri"/>
                <a:ea typeface="맑은 고딕"/>
                <a:cs typeface="맑은 고딕"/>
              </a:rPr>
              <a:t>반추와 음수 추이를 함께 얹는다</a:t>
            </a:r>
          </a:p>
        </p:txBody>
      </p:sp>
      <p:sp>
        <p:nvSpPr>
          <p:cNvPr id="14" name="타원 13">
            <a:extLst>
              <a:ext uri="{FF2B5EF4-FFF2-40B4-BE49-F238E27FC236}">
                <a16:creationId xmlns:a16="http://schemas.microsoft.com/office/drawing/2014/main" id="{27F02442-9587-4852-A9CC-B521484C80AC}"/>
              </a:ext>
            </a:extLst>
          </p:cNvPr>
          <p:cNvSpPr>
            <a:spLocks noGrp="1"/>
          </p:cNvSpPr>
          <p:nvPr/>
        </p:nvSpPr>
        <p:spPr>
          <a:xfrm>
            <a:off x="8572500" y="4400550"/>
            <a:ext cx="114300" cy="114300"/>
          </a:xfrm>
          <a:prstGeom prst="ellipse">
            <a:avLst/>
          </a:prstGeom>
          <a:solidFill>
            <a:srgbClr val="65D44A"/>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53EC4BC6-5707-4697-8A37-D58ECB4F62AB}"/>
              </a:ext>
            </a:extLst>
          </p:cNvPr>
          <p:cNvSpPr>
            <a:spLocks noGrp="1"/>
          </p:cNvSpPr>
          <p:nvPr/>
        </p:nvSpPr>
        <p:spPr>
          <a:xfrm>
            <a:off x="8839200" y="4324350"/>
            <a:ext cx="2590800" cy="609600"/>
          </a:xfrm>
          <a:prstGeom prst="rect">
            <a:avLst/>
          </a:prstGeom>
          <a:noFill/>
          <a:ln w="0">
            <a:noFill/>
            <a:prstDash val="solid"/>
          </a:ln>
        </p:spPr>
        <p:txBody>
          <a:bodyPr/>
          <a:lstStyle/>
          <a:p>
            <a:pPr algn="l">
              <a:buNone/>
              <a:defRPr sz="1350" b="0">
                <a:solidFill>
                  <a:srgbClr val="10251F"/>
                </a:solidFill>
              </a:defRPr>
            </a:pPr>
            <a:r>
              <a:rPr sz="1350" b="0">
                <a:solidFill>
                  <a:srgbClr val="10251F"/>
                </a:solidFill>
                <a:latin typeface="Calibri"/>
                <a:ea typeface="맑은 고딕"/>
                <a:cs typeface="맑은 고딕"/>
              </a:rPr>
              <a:t>사료 변경 전후를 비교한다</a:t>
            </a:r>
          </a:p>
        </p:txBody>
      </p:sp>
    </p:spTree>
    <p:extLst>
      <p:ext uri="{BB962C8B-B14F-4D97-AF65-F5344CB8AC3E}">
        <p14:creationId xmlns:p14="http://schemas.microsoft.com/office/powerpoint/2010/main" val="1052178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2" name="직사각형 11">
            <a:extLst>
              <a:ext uri="{FF2B5EF4-FFF2-40B4-BE49-F238E27FC236}">
                <a16:creationId xmlns:a16="http://schemas.microsoft.com/office/drawing/2014/main" id="{2499479C-E58B-43C2-A63C-58EDD3085460}"/>
              </a:ext>
            </a:extLst>
          </p:cNvPr>
          <p:cNvSpPr>
            <a:spLocks noGrp="1"/>
          </p:cNvSpPr>
          <p:nvPr/>
        </p:nvSpPr>
        <p:spPr>
          <a:xfrm>
            <a:off x="685800" y="704850"/>
            <a:ext cx="2095500" cy="1238250"/>
          </a:xfrm>
          <a:prstGeom prst="rect">
            <a:avLst/>
          </a:prstGeom>
          <a:noFill/>
          <a:ln w="0">
            <a:noFill/>
            <a:prstDash val="solid"/>
          </a:ln>
        </p:spPr>
        <p:txBody>
          <a:bodyPr/>
          <a:lstStyle/>
          <a:p>
            <a:pPr algn="l">
              <a:buNone/>
              <a:defRPr sz="6900" b="1">
                <a:solidFill>
                  <a:srgbClr val="65D44A"/>
                </a:solidFill>
              </a:defRPr>
            </a:pPr>
            <a:r>
              <a:rPr sz="6900" b="1">
                <a:solidFill>
                  <a:srgbClr val="65D44A"/>
                </a:solidFill>
                <a:latin typeface="Calibri"/>
                <a:ea typeface="맑은 고딕"/>
                <a:cs typeface="맑은 고딕"/>
              </a:rPr>
              <a:t>06</a:t>
            </a:r>
          </a:p>
        </p:txBody>
      </p:sp>
      <p:sp>
        <p:nvSpPr>
          <p:cNvPr id="2" name="직사각형 1">
            <a:extLst>
              <a:ext uri="{FF2B5EF4-FFF2-40B4-BE49-F238E27FC236}">
                <a16:creationId xmlns:a16="http://schemas.microsoft.com/office/drawing/2014/main" id="{F90FD44F-EA2C-4C58-8BBB-AFB6E36CA702}"/>
              </a:ext>
            </a:extLst>
          </p:cNvPr>
          <p:cNvSpPr>
            <a:spLocks noGrp="1"/>
          </p:cNvSpPr>
          <p:nvPr/>
        </p:nvSpPr>
        <p:spPr>
          <a:xfrm>
            <a:off x="685800" y="2428875"/>
            <a:ext cx="8477250" cy="952500"/>
          </a:xfrm>
          <a:prstGeom prst="rect">
            <a:avLst/>
          </a:prstGeom>
          <a:noFill/>
          <a:ln w="0">
            <a:noFill/>
            <a:prstDash val="solid"/>
          </a:ln>
        </p:spPr>
        <p:txBody>
          <a:bodyPr/>
          <a:lstStyle/>
          <a:p>
            <a:pPr algn="l">
              <a:buNone/>
              <a:defRPr sz="4050" b="1">
                <a:solidFill>
                  <a:srgbClr val="FFFFFF"/>
                </a:solidFill>
              </a:defRPr>
            </a:pPr>
            <a:r>
              <a:rPr sz="4050" b="1">
                <a:solidFill>
                  <a:srgbClr val="FFFFFF"/>
                </a:solidFill>
                <a:latin typeface="Calibri"/>
                <a:ea typeface="맑은 고딕"/>
                <a:cs typeface="맑은 고딕"/>
              </a:rPr>
              <a:t>어시스턴트, 작업목록, 표준절차</a:t>
            </a:r>
          </a:p>
        </p:txBody>
      </p:sp>
      <p:sp>
        <p:nvSpPr>
          <p:cNvPr id="3" name="직사각형 2">
            <a:extLst>
              <a:ext uri="{FF2B5EF4-FFF2-40B4-BE49-F238E27FC236}">
                <a16:creationId xmlns:a16="http://schemas.microsoft.com/office/drawing/2014/main" id="{A52C29F5-1C58-4016-92B3-2E1C6362A4F3}"/>
              </a:ext>
            </a:extLst>
          </p:cNvPr>
          <p:cNvSpPr>
            <a:spLocks noGrp="1"/>
          </p:cNvSpPr>
          <p:nvPr/>
        </p:nvSpPr>
        <p:spPr>
          <a:xfrm>
            <a:off x="685800" y="3619500"/>
            <a:ext cx="7429500" cy="857250"/>
          </a:xfrm>
          <a:prstGeom prst="rect">
            <a:avLst/>
          </a:prstGeom>
          <a:noFill/>
          <a:ln w="0">
            <a:noFill/>
            <a:prstDash val="solid"/>
          </a:ln>
        </p:spPr>
        <p:txBody>
          <a:bodyPr/>
          <a:lstStyle/>
          <a:p>
            <a:pPr algn="l">
              <a:buNone/>
              <a:defRPr sz="1725" b="0">
                <a:solidFill>
                  <a:srgbClr val="C9D8D2"/>
                </a:solidFill>
              </a:defRPr>
            </a:pPr>
            <a:r>
              <a:rPr sz="1725" b="0">
                <a:solidFill>
                  <a:srgbClr val="C9D8D2"/>
                </a:solidFill>
                <a:latin typeface="Calibri"/>
                <a:ea typeface="맑은 고딕"/>
                <a:cs typeface="맑은 고딕"/>
              </a:rPr>
              <a:t>좋은 시스템은 매 근무조마다 같은 질문을 같은 순서로 하고, 답하지 않은 것을 남기지 않는다.</a:t>
            </a:r>
          </a:p>
        </p:txBody>
      </p:sp>
      <p:sp>
        <p:nvSpPr>
          <p:cNvPr id="5" name="타원 4">
            <a:extLst>
              <a:ext uri="{FF2B5EF4-FFF2-40B4-BE49-F238E27FC236}">
                <a16:creationId xmlns:a16="http://schemas.microsoft.com/office/drawing/2014/main" id="{D36ED3EE-DCC9-4C75-9C7C-CC695E577F82}"/>
              </a:ext>
            </a:extLst>
          </p:cNvPr>
          <p:cNvSpPr>
            <a:spLocks noGrp="1"/>
          </p:cNvSpPr>
          <p:nvPr/>
        </p:nvSpPr>
        <p:spPr>
          <a:xfrm>
            <a:off x="10382250" y="5381625"/>
            <a:ext cx="171450" cy="171450"/>
          </a:xfrm>
          <a:prstGeom prst="ellipse">
            <a:avLst/>
          </a:prstGeom>
          <a:solidFill>
            <a:srgbClr val="FFFFFF"/>
          </a:solidFill>
          <a:ln w="0">
            <a:noFill/>
            <a:prstDash val="solid"/>
          </a:ln>
        </p:spPr>
        <p:txBody>
          <a:bodyPr/>
          <a:lstStyle/>
          <a:p>
            <a:endParaRPr lang="ko-KR" altLang="en-US"/>
          </a:p>
        </p:txBody>
      </p:sp>
      <p:sp>
        <p:nvSpPr>
          <p:cNvPr id="6" name="타원 5">
            <a:extLst>
              <a:ext uri="{FF2B5EF4-FFF2-40B4-BE49-F238E27FC236}">
                <a16:creationId xmlns:a16="http://schemas.microsoft.com/office/drawing/2014/main" id="{B698144F-FA38-4939-BB6A-BA51174C9AA7}"/>
              </a:ext>
            </a:extLst>
          </p:cNvPr>
          <p:cNvSpPr>
            <a:spLocks noGrp="1"/>
          </p:cNvSpPr>
          <p:nvPr/>
        </p:nvSpPr>
        <p:spPr>
          <a:xfrm>
            <a:off x="10629900" y="5095875"/>
            <a:ext cx="247650" cy="247650"/>
          </a:xfrm>
          <a:prstGeom prst="ellipse">
            <a:avLst/>
          </a:prstGeom>
          <a:solidFill>
            <a:srgbClr val="65D44A"/>
          </a:solidFill>
          <a:ln w="0">
            <a:noFill/>
            <a:prstDash val="solid"/>
          </a:ln>
        </p:spPr>
        <p:txBody>
          <a:bodyPr/>
          <a:lstStyle/>
          <a:p>
            <a:endParaRPr lang="ko-KR" altLang="en-US"/>
          </a:p>
        </p:txBody>
      </p:sp>
      <p:sp>
        <p:nvSpPr>
          <p:cNvPr id="7" name="타원 6">
            <a:extLst>
              <a:ext uri="{FF2B5EF4-FFF2-40B4-BE49-F238E27FC236}">
                <a16:creationId xmlns:a16="http://schemas.microsoft.com/office/drawing/2014/main" id="{520F7B29-11BD-4769-9FDD-357623D04CED}"/>
              </a:ext>
            </a:extLst>
          </p:cNvPr>
          <p:cNvSpPr>
            <a:spLocks noGrp="1"/>
          </p:cNvSpPr>
          <p:nvPr/>
        </p:nvSpPr>
        <p:spPr>
          <a:xfrm>
            <a:off x="10877550" y="4810125"/>
            <a:ext cx="323850" cy="323850"/>
          </a:xfrm>
          <a:prstGeom prst="ellipse">
            <a:avLst/>
          </a:prstGeom>
          <a:solidFill>
            <a:srgbClr val="FFFFFF"/>
          </a:solidFill>
          <a:ln w="0">
            <a:noFill/>
            <a:prstDash val="solid"/>
          </a:ln>
        </p:spPr>
        <p:txBody>
          <a:bodyPr/>
          <a:lstStyle/>
          <a:p>
            <a:endParaRPr lang="ko-KR" altLang="en-US"/>
          </a:p>
        </p:txBody>
      </p:sp>
      <p:sp>
        <p:nvSpPr>
          <p:cNvPr id="8" name="타원 7">
            <a:extLst>
              <a:ext uri="{FF2B5EF4-FFF2-40B4-BE49-F238E27FC236}">
                <a16:creationId xmlns:a16="http://schemas.microsoft.com/office/drawing/2014/main" id="{1CB4DB2D-B295-4E09-8C18-77FF32C12AEF}"/>
              </a:ext>
            </a:extLst>
          </p:cNvPr>
          <p:cNvSpPr>
            <a:spLocks noGrp="1"/>
          </p:cNvSpPr>
          <p:nvPr/>
        </p:nvSpPr>
        <p:spPr>
          <a:xfrm>
            <a:off x="11125200" y="4524375"/>
            <a:ext cx="400050" cy="400050"/>
          </a:xfrm>
          <a:prstGeom prst="ellipse">
            <a:avLst/>
          </a:prstGeom>
          <a:solidFill>
            <a:srgbClr val="65D44A"/>
          </a:solidFill>
          <a:ln w="0">
            <a:noFill/>
            <a:prstDash val="solid"/>
          </a:ln>
        </p:spPr>
        <p:txBody>
          <a:bodyPr/>
          <a:lstStyle/>
          <a:p>
            <a:endParaRPr lang="ko-KR" altLang="en-US"/>
          </a:p>
        </p:txBody>
      </p:sp>
      <p:sp>
        <p:nvSpPr>
          <p:cNvPr id="9" name="타원 8">
            <a:extLst>
              <a:ext uri="{FF2B5EF4-FFF2-40B4-BE49-F238E27FC236}">
                <a16:creationId xmlns:a16="http://schemas.microsoft.com/office/drawing/2014/main" id="{54F86704-9A8A-406D-84EA-28A35C86F934}"/>
              </a:ext>
            </a:extLst>
          </p:cNvPr>
          <p:cNvSpPr>
            <a:spLocks noGrp="1"/>
          </p:cNvSpPr>
          <p:nvPr/>
        </p:nvSpPr>
        <p:spPr>
          <a:xfrm>
            <a:off x="11372850" y="4238625"/>
            <a:ext cx="476250" cy="476250"/>
          </a:xfrm>
          <a:prstGeom prst="ellipse">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E6AE3FE6-325D-4227-ACAA-94307D5D398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latin typeface="Calibri"/>
                <a:ea typeface="맑은 고딕"/>
                <a:cs typeface="맑은 고딕"/>
              </a:rPr>
              <a:t>smaXtec × CowTalk | 통합 교육자료</a:t>
            </a:r>
          </a:p>
        </p:txBody>
      </p:sp>
      <p:sp>
        <p:nvSpPr>
          <p:cNvPr id="11" name="직사각형 10">
            <a:extLst>
              <a:ext uri="{FF2B5EF4-FFF2-40B4-BE49-F238E27FC236}">
                <a16:creationId xmlns:a16="http://schemas.microsoft.com/office/drawing/2014/main" id="{E2EC874F-BC0D-425C-9C2C-2C3CF240EF42}"/>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latin typeface="Calibri"/>
                <a:ea typeface="맑은 고딕"/>
                <a:cs typeface="맑은 고딕"/>
              </a:rPr>
              <a:t>28</a:t>
            </a:r>
          </a:p>
        </p:txBody>
      </p:sp>
      <p:pic>
        <p:nvPicPr>
          <p:cNvPr id="24" name="그림 23"/>
          <p:cNvPicPr>
            <a:picLocks noChangeAspect="1"/>
          </p:cNvPicPr>
          <p:nvPr/>
        </p:nvPicPr>
        <p:blipFill>
          <a:blip r:embed="rId3"/>
          <a:srcRect l="11439" r="11439"/>
          <a:stretch>
            <a:fillRect/>
          </a:stretch>
        </p:blipFill>
        <p:spPr>
          <a:xfrm>
            <a:off x="9906000" y="0"/>
            <a:ext cx="2286000" cy="6858000"/>
          </a:xfrm>
          <a:prstGeom prst="rect">
            <a:avLst/>
          </a:prstGeom>
        </p:spPr>
      </p:pic>
    </p:spTree>
    <p:extLst>
      <p:ext uri="{BB962C8B-B14F-4D97-AF65-F5344CB8AC3E}">
        <p14:creationId xmlns:p14="http://schemas.microsoft.com/office/powerpoint/2010/main" val="10644183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6" name="직사각형 25">
            <a:extLst>
              <a:ext uri="{FF2B5EF4-FFF2-40B4-BE49-F238E27FC236}">
                <a16:creationId xmlns:a16="http://schemas.microsoft.com/office/drawing/2014/main" id="{62EBAE00-C080-4E68-AEC7-D6D5C3D3BAA2}"/>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어시스턴트</a:t>
            </a:r>
          </a:p>
        </p:txBody>
      </p:sp>
      <p:sp>
        <p:nvSpPr>
          <p:cNvPr id="2" name="직사각형 1">
            <a:extLst>
              <a:ext uri="{FF2B5EF4-FFF2-40B4-BE49-F238E27FC236}">
                <a16:creationId xmlns:a16="http://schemas.microsoft.com/office/drawing/2014/main" id="{EFACA3D7-E2AC-4F75-8801-3EE71F76DED8}"/>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디지털 어시스턴트는 필요한 곳으로 주의를 돌린다</a:t>
            </a:r>
          </a:p>
        </p:txBody>
      </p:sp>
      <p:sp>
        <p:nvSpPr>
          <p:cNvPr id="3" name="직사각형 2">
            <a:extLst>
              <a:ext uri="{FF2B5EF4-FFF2-40B4-BE49-F238E27FC236}">
                <a16:creationId xmlns:a16="http://schemas.microsoft.com/office/drawing/2014/main" id="{DD796619-7785-4109-BC34-7EA451258B75}"/>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1CB8AC95-84D7-4F4A-B16A-BFD3ABD81E1A}"/>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29</a:t>
            </a:r>
          </a:p>
        </p:txBody>
      </p:sp>
      <p:sp>
        <p:nvSpPr>
          <p:cNvPr id="5" name="오른쪽 화살표[R] 4">
            <a:extLst>
              <a:ext uri="{FF2B5EF4-FFF2-40B4-BE49-F238E27FC236}">
                <a16:creationId xmlns:a16="http://schemas.microsoft.com/office/drawing/2014/main" id="{1C1546C2-3A08-4D6A-B3E8-9BBE35B967BB}"/>
              </a:ext>
            </a:extLst>
          </p:cNvPr>
          <p:cNvSpPr>
            <a:spLocks noGrp="1"/>
          </p:cNvSpPr>
          <p:nvPr/>
        </p:nvSpPr>
        <p:spPr>
          <a:xfrm>
            <a:off x="2419350" y="2905125"/>
            <a:ext cx="514350" cy="323850"/>
          </a:xfrm>
          <a:prstGeom prst="rightArrow">
            <a:avLst/>
          </a:prstGeom>
          <a:solidFill>
            <a:srgbClr val="DFF4E8"/>
          </a:solidFill>
          <a:ln w="0">
            <a:noFill/>
            <a:prstDash val="solid"/>
          </a:ln>
        </p:spPr>
        <p:txBody>
          <a:bodyPr/>
          <a:lstStyle/>
          <a:p>
            <a:endParaRPr lang="ko-KR" altLang="en-US"/>
          </a:p>
        </p:txBody>
      </p:sp>
      <p:sp>
        <p:nvSpPr>
          <p:cNvPr id="6" name="모서리가 둥근 직사각형 5">
            <a:extLst>
              <a:ext uri="{FF2B5EF4-FFF2-40B4-BE49-F238E27FC236}">
                <a16:creationId xmlns:a16="http://schemas.microsoft.com/office/drawing/2014/main" id="{1EC771F9-5EEF-4144-8063-FB7295FA55F5}"/>
              </a:ext>
            </a:extLst>
          </p:cNvPr>
          <p:cNvSpPr>
            <a:spLocks noGrp="1"/>
          </p:cNvSpPr>
          <p:nvPr/>
        </p:nvSpPr>
        <p:spPr>
          <a:xfrm>
            <a:off x="60960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EC358779-8A1E-4EC1-A4FB-0CE31ED83305}"/>
              </a:ext>
            </a:extLst>
          </p:cNvPr>
          <p:cNvSpPr>
            <a:spLocks noGrp="1"/>
          </p:cNvSpPr>
          <p:nvPr/>
        </p:nvSpPr>
        <p:spPr>
          <a:xfrm>
            <a:off x="78105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latin typeface="Calibri"/>
                <a:ea typeface="맑은 고딕"/>
                <a:cs typeface="맑은 고딕"/>
              </a:rPr>
              <a:t>알람</a:t>
            </a:r>
          </a:p>
        </p:txBody>
      </p:sp>
      <p:sp>
        <p:nvSpPr>
          <p:cNvPr id="8" name="직사각형 7">
            <a:extLst>
              <a:ext uri="{FF2B5EF4-FFF2-40B4-BE49-F238E27FC236}">
                <a16:creationId xmlns:a16="http://schemas.microsoft.com/office/drawing/2014/main" id="{0C6BC542-AE43-47E3-85D3-86E1250B4A23}"/>
              </a:ext>
            </a:extLst>
          </p:cNvPr>
          <p:cNvSpPr>
            <a:spLocks noGrp="1"/>
          </p:cNvSpPr>
          <p:nvPr/>
        </p:nvSpPr>
        <p:spPr>
          <a:xfrm>
            <a:off x="78105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latin typeface="Calibri"/>
                <a:ea typeface="맑은 고딕"/>
                <a:cs typeface="맑은 고딕"/>
              </a:rPr>
              <a:t>무슨 일이 있었나?</a:t>
            </a:r>
          </a:p>
        </p:txBody>
      </p:sp>
      <p:sp>
        <p:nvSpPr>
          <p:cNvPr id="9" name="오른쪽 화살표[R] 8">
            <a:extLst>
              <a:ext uri="{FF2B5EF4-FFF2-40B4-BE49-F238E27FC236}">
                <a16:creationId xmlns:a16="http://schemas.microsoft.com/office/drawing/2014/main" id="{9FA8235B-038E-4EB9-8873-F3ED69A961CE}"/>
              </a:ext>
            </a:extLst>
          </p:cNvPr>
          <p:cNvSpPr>
            <a:spLocks noGrp="1"/>
          </p:cNvSpPr>
          <p:nvPr/>
        </p:nvSpPr>
        <p:spPr>
          <a:xfrm>
            <a:off x="4724400" y="2905125"/>
            <a:ext cx="514350" cy="323850"/>
          </a:xfrm>
          <a:prstGeom prst="rightArrow">
            <a:avLst/>
          </a:prstGeom>
          <a:solidFill>
            <a:srgbClr val="DFF4E8"/>
          </a:solidFill>
          <a:ln w="0">
            <a:noFill/>
            <a:prstDash val="solid"/>
          </a:ln>
        </p:spPr>
        <p:txBody>
          <a:bodyPr/>
          <a:lstStyle/>
          <a:p>
            <a:endParaRPr lang="ko-KR" altLang="en-US"/>
          </a:p>
        </p:txBody>
      </p:sp>
      <p:sp>
        <p:nvSpPr>
          <p:cNvPr id="10" name="모서리가 둥근 직사각형 9">
            <a:extLst>
              <a:ext uri="{FF2B5EF4-FFF2-40B4-BE49-F238E27FC236}">
                <a16:creationId xmlns:a16="http://schemas.microsoft.com/office/drawing/2014/main" id="{A75B7CEF-1635-4CA5-8559-9CFDBAF97437}"/>
              </a:ext>
            </a:extLst>
          </p:cNvPr>
          <p:cNvSpPr>
            <a:spLocks noGrp="1"/>
          </p:cNvSpPr>
          <p:nvPr/>
        </p:nvSpPr>
        <p:spPr>
          <a:xfrm>
            <a:off x="2914650" y="2381250"/>
            <a:ext cx="1924050" cy="1390650"/>
          </a:xfrm>
          <a:prstGeom prst="roundRect">
            <a:avLst>
              <a:gd name="adj" fmla="val 10959"/>
            </a:avLst>
          </a:prstGeom>
          <a:solidFill>
            <a:srgbClr val="65D44A"/>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9002F2A7-0FFD-4B8F-B4D4-CD80320E20BC}"/>
              </a:ext>
            </a:extLst>
          </p:cNvPr>
          <p:cNvSpPr>
            <a:spLocks noGrp="1"/>
          </p:cNvSpPr>
          <p:nvPr/>
        </p:nvSpPr>
        <p:spPr>
          <a:xfrm>
            <a:off x="308610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latin typeface="Calibri"/>
                <a:ea typeface="맑은 고딕"/>
                <a:cs typeface="맑은 고딕"/>
              </a:rPr>
              <a:t>우선순위</a:t>
            </a:r>
          </a:p>
        </p:txBody>
      </p:sp>
      <p:sp>
        <p:nvSpPr>
          <p:cNvPr id="12" name="직사각형 11">
            <a:extLst>
              <a:ext uri="{FF2B5EF4-FFF2-40B4-BE49-F238E27FC236}">
                <a16:creationId xmlns:a16="http://schemas.microsoft.com/office/drawing/2014/main" id="{EA5AB830-4256-423C-A106-08D8D87D4F8D}"/>
              </a:ext>
            </a:extLst>
          </p:cNvPr>
          <p:cNvSpPr>
            <a:spLocks noGrp="1"/>
          </p:cNvSpPr>
          <p:nvPr/>
        </p:nvSpPr>
        <p:spPr>
          <a:xfrm>
            <a:off x="308610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latin typeface="Calibri"/>
                <a:ea typeface="맑은 고딕"/>
                <a:cs typeface="맑은 고딕"/>
              </a:rPr>
              <a:t>언제?</a:t>
            </a:r>
          </a:p>
        </p:txBody>
      </p:sp>
      <p:sp>
        <p:nvSpPr>
          <p:cNvPr id="13" name="오른쪽 화살표[R] 12">
            <a:extLst>
              <a:ext uri="{FF2B5EF4-FFF2-40B4-BE49-F238E27FC236}">
                <a16:creationId xmlns:a16="http://schemas.microsoft.com/office/drawing/2014/main" id="{F9E649DF-D2D4-4F09-95A0-6A278D4EA7EA}"/>
              </a:ext>
            </a:extLst>
          </p:cNvPr>
          <p:cNvSpPr>
            <a:spLocks noGrp="1"/>
          </p:cNvSpPr>
          <p:nvPr/>
        </p:nvSpPr>
        <p:spPr>
          <a:xfrm>
            <a:off x="7029450" y="2905125"/>
            <a:ext cx="514350" cy="323850"/>
          </a:xfrm>
          <a:prstGeom prst="rightArrow">
            <a:avLst/>
          </a:prstGeom>
          <a:solidFill>
            <a:srgbClr val="DFF4E8"/>
          </a:solidFill>
          <a:ln w="0">
            <a:noFill/>
            <a:prstDash val="solid"/>
          </a:ln>
        </p:spPr>
        <p:txBody>
          <a:bodyPr/>
          <a:lstStyle/>
          <a:p>
            <a:endParaRPr lang="ko-KR" altLang="en-US"/>
          </a:p>
        </p:txBody>
      </p:sp>
      <p:sp>
        <p:nvSpPr>
          <p:cNvPr id="14" name="모서리가 둥근 직사각형 13">
            <a:extLst>
              <a:ext uri="{FF2B5EF4-FFF2-40B4-BE49-F238E27FC236}">
                <a16:creationId xmlns:a16="http://schemas.microsoft.com/office/drawing/2014/main" id="{FA787666-FF09-4289-8851-B4B36BC4F868}"/>
              </a:ext>
            </a:extLst>
          </p:cNvPr>
          <p:cNvSpPr>
            <a:spLocks noGrp="1"/>
          </p:cNvSpPr>
          <p:nvPr/>
        </p:nvSpPr>
        <p:spPr>
          <a:xfrm>
            <a:off x="521970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A21C247C-B08A-4123-BE51-244B2C68C0CB}"/>
              </a:ext>
            </a:extLst>
          </p:cNvPr>
          <p:cNvSpPr>
            <a:spLocks noGrp="1"/>
          </p:cNvSpPr>
          <p:nvPr/>
        </p:nvSpPr>
        <p:spPr>
          <a:xfrm>
            <a:off x="539115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latin typeface="Calibri"/>
                <a:ea typeface="맑은 고딕"/>
                <a:cs typeface="맑은 고딕"/>
              </a:rPr>
              <a:t>담당</a:t>
            </a:r>
          </a:p>
        </p:txBody>
      </p:sp>
      <p:sp>
        <p:nvSpPr>
          <p:cNvPr id="16" name="직사각형 15">
            <a:extLst>
              <a:ext uri="{FF2B5EF4-FFF2-40B4-BE49-F238E27FC236}">
                <a16:creationId xmlns:a16="http://schemas.microsoft.com/office/drawing/2014/main" id="{CC130763-027B-48DD-9D66-07A95AF7D392}"/>
              </a:ext>
            </a:extLst>
          </p:cNvPr>
          <p:cNvSpPr>
            <a:spLocks noGrp="1"/>
          </p:cNvSpPr>
          <p:nvPr/>
        </p:nvSpPr>
        <p:spPr>
          <a:xfrm>
            <a:off x="539115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latin typeface="Calibri"/>
                <a:ea typeface="맑은 고딕"/>
                <a:cs typeface="맑은 고딕"/>
              </a:rPr>
              <a:t>누가?</a:t>
            </a:r>
          </a:p>
        </p:txBody>
      </p:sp>
      <p:sp>
        <p:nvSpPr>
          <p:cNvPr id="17" name="오른쪽 화살표[R] 16">
            <a:extLst>
              <a:ext uri="{FF2B5EF4-FFF2-40B4-BE49-F238E27FC236}">
                <a16:creationId xmlns:a16="http://schemas.microsoft.com/office/drawing/2014/main" id="{933A934C-8232-404F-84E0-67C38DCC217A}"/>
              </a:ext>
            </a:extLst>
          </p:cNvPr>
          <p:cNvSpPr>
            <a:spLocks noGrp="1"/>
          </p:cNvSpPr>
          <p:nvPr/>
        </p:nvSpPr>
        <p:spPr>
          <a:xfrm>
            <a:off x="9334500" y="2905125"/>
            <a:ext cx="514350" cy="323850"/>
          </a:xfrm>
          <a:prstGeom prst="rightArrow">
            <a:avLst/>
          </a:prstGeom>
          <a:solidFill>
            <a:srgbClr val="DFF4E8"/>
          </a:solidFill>
          <a:ln w="0">
            <a:noFill/>
            <a:prstDash val="solid"/>
          </a:ln>
        </p:spPr>
        <p:txBody>
          <a:bodyPr/>
          <a:lstStyle/>
          <a:p>
            <a:endParaRPr lang="ko-KR" altLang="en-US"/>
          </a:p>
        </p:txBody>
      </p:sp>
      <p:sp>
        <p:nvSpPr>
          <p:cNvPr id="18" name="모서리가 둥근 직사각형 17">
            <a:extLst>
              <a:ext uri="{FF2B5EF4-FFF2-40B4-BE49-F238E27FC236}">
                <a16:creationId xmlns:a16="http://schemas.microsoft.com/office/drawing/2014/main" id="{71DEC8AA-0669-40E2-B945-D49332BE3999}"/>
              </a:ext>
            </a:extLst>
          </p:cNvPr>
          <p:cNvSpPr>
            <a:spLocks noGrp="1"/>
          </p:cNvSpPr>
          <p:nvPr/>
        </p:nvSpPr>
        <p:spPr>
          <a:xfrm>
            <a:off x="752475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AC9AADFB-8102-489B-8A83-8B1E8F152D66}"/>
              </a:ext>
            </a:extLst>
          </p:cNvPr>
          <p:cNvSpPr>
            <a:spLocks noGrp="1"/>
          </p:cNvSpPr>
          <p:nvPr/>
        </p:nvSpPr>
        <p:spPr>
          <a:xfrm>
            <a:off x="769620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latin typeface="Calibri"/>
                <a:ea typeface="맑은 고딕"/>
                <a:cs typeface="맑은 고딕"/>
              </a:rPr>
              <a:t>조치</a:t>
            </a:r>
          </a:p>
        </p:txBody>
      </p:sp>
      <p:sp>
        <p:nvSpPr>
          <p:cNvPr id="20" name="직사각형 19">
            <a:extLst>
              <a:ext uri="{FF2B5EF4-FFF2-40B4-BE49-F238E27FC236}">
                <a16:creationId xmlns:a16="http://schemas.microsoft.com/office/drawing/2014/main" id="{9F4A39BE-2B18-4A35-856C-9942941E01FD}"/>
              </a:ext>
            </a:extLst>
          </p:cNvPr>
          <p:cNvSpPr>
            <a:spLocks noGrp="1"/>
          </p:cNvSpPr>
          <p:nvPr/>
        </p:nvSpPr>
        <p:spPr>
          <a:xfrm>
            <a:off x="769620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latin typeface="Calibri"/>
                <a:ea typeface="맑은 고딕"/>
                <a:cs typeface="맑은 고딕"/>
              </a:rPr>
              <a:t>무엇을 했나?</a:t>
            </a:r>
          </a:p>
        </p:txBody>
      </p:sp>
      <p:sp>
        <p:nvSpPr>
          <p:cNvPr id="21" name="모서리가 둥근 직사각형 20">
            <a:extLst>
              <a:ext uri="{FF2B5EF4-FFF2-40B4-BE49-F238E27FC236}">
                <a16:creationId xmlns:a16="http://schemas.microsoft.com/office/drawing/2014/main" id="{F79354C5-228D-4337-9E4C-70F52BF5F2EA}"/>
              </a:ext>
            </a:extLst>
          </p:cNvPr>
          <p:cNvSpPr>
            <a:spLocks noGrp="1"/>
          </p:cNvSpPr>
          <p:nvPr/>
        </p:nvSpPr>
        <p:spPr>
          <a:xfrm>
            <a:off x="9829800" y="2381250"/>
            <a:ext cx="1924050" cy="1390650"/>
          </a:xfrm>
          <a:prstGeom prst="roundRect">
            <a:avLst>
              <a:gd name="adj" fmla="val 10959"/>
            </a:avLst>
          </a:prstGeom>
          <a:solidFill>
            <a:srgbClr val="FFFFFF"/>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5CAF9F54-078E-45DC-9BF3-9630A05F68AB}"/>
              </a:ext>
            </a:extLst>
          </p:cNvPr>
          <p:cNvSpPr>
            <a:spLocks noGrp="1"/>
          </p:cNvSpPr>
          <p:nvPr/>
        </p:nvSpPr>
        <p:spPr>
          <a:xfrm>
            <a:off x="10001250" y="2743200"/>
            <a:ext cx="1581150" cy="266700"/>
          </a:xfrm>
          <a:prstGeom prst="rect">
            <a:avLst/>
          </a:prstGeom>
          <a:noFill/>
          <a:ln w="0">
            <a:noFill/>
            <a:prstDash val="solid"/>
          </a:ln>
        </p:spPr>
        <p:txBody>
          <a:bodyPr/>
          <a:lstStyle/>
          <a:p>
            <a:pPr algn="ctr">
              <a:buNone/>
              <a:defRPr sz="1350" b="1">
                <a:solidFill>
                  <a:srgbClr val="15A98C"/>
                </a:solidFill>
              </a:defRPr>
            </a:pPr>
            <a:r>
              <a:rPr sz="1350" b="1">
                <a:solidFill>
                  <a:srgbClr val="15A98C"/>
                </a:solidFill>
                <a:latin typeface="Calibri"/>
                <a:ea typeface="맑은 고딕"/>
                <a:cs typeface="맑은 고딕"/>
              </a:rPr>
              <a:t>결과</a:t>
            </a:r>
          </a:p>
        </p:txBody>
      </p:sp>
      <p:sp>
        <p:nvSpPr>
          <p:cNvPr id="23" name="직사각형 22">
            <a:extLst>
              <a:ext uri="{FF2B5EF4-FFF2-40B4-BE49-F238E27FC236}">
                <a16:creationId xmlns:a16="http://schemas.microsoft.com/office/drawing/2014/main" id="{6DED756F-DC8F-4854-A239-EC4C8296E16A}"/>
              </a:ext>
            </a:extLst>
          </p:cNvPr>
          <p:cNvSpPr>
            <a:spLocks noGrp="1"/>
          </p:cNvSpPr>
          <p:nvPr/>
        </p:nvSpPr>
        <p:spPr>
          <a:xfrm>
            <a:off x="10001250" y="3238500"/>
            <a:ext cx="1581150" cy="266700"/>
          </a:xfrm>
          <a:prstGeom prst="rect">
            <a:avLst/>
          </a:prstGeom>
          <a:noFill/>
          <a:ln w="0">
            <a:noFill/>
            <a:prstDash val="solid"/>
          </a:ln>
        </p:spPr>
        <p:txBody>
          <a:bodyPr/>
          <a:lstStyle/>
          <a:p>
            <a:pPr algn="ctr">
              <a:buNone/>
              <a:defRPr sz="1350" b="1">
                <a:solidFill>
                  <a:srgbClr val="10251F"/>
                </a:solidFill>
              </a:defRPr>
            </a:pPr>
            <a:r>
              <a:rPr sz="1350" b="1">
                <a:solidFill>
                  <a:srgbClr val="10251F"/>
                </a:solidFill>
                <a:latin typeface="Calibri"/>
                <a:ea typeface="맑은 고딕"/>
                <a:cs typeface="맑은 고딕"/>
              </a:rPr>
              <a:t>종결됐나?</a:t>
            </a:r>
          </a:p>
        </p:txBody>
      </p:sp>
      <p:sp>
        <p:nvSpPr>
          <p:cNvPr id="24" name="모서리가 둥근 직사각형 23">
            <a:extLst>
              <a:ext uri="{FF2B5EF4-FFF2-40B4-BE49-F238E27FC236}">
                <a16:creationId xmlns:a16="http://schemas.microsoft.com/office/drawing/2014/main" id="{DE68C2A2-63F6-4197-AF36-722D70B4FF89}"/>
              </a:ext>
            </a:extLst>
          </p:cNvPr>
          <p:cNvSpPr>
            <a:spLocks noGrp="1"/>
          </p:cNvSpPr>
          <p:nvPr/>
        </p:nvSpPr>
        <p:spPr>
          <a:xfrm>
            <a:off x="1543050" y="4495800"/>
            <a:ext cx="9105900" cy="800100"/>
          </a:xfrm>
          <a:prstGeom prst="roundRect">
            <a:avLst>
              <a:gd name="adj" fmla="val 14286"/>
            </a:avLst>
          </a:prstGeom>
          <a:solidFill>
            <a:srgbClr val="10251F"/>
          </a:solidFill>
          <a:ln w="0">
            <a:noFill/>
            <a:prstDash val="solid"/>
          </a:ln>
        </p:spPr>
        <p:txBody>
          <a:bodyPr/>
          <a:lstStyle/>
          <a:p>
            <a:endParaRPr lang="ko-KR" altLang="en-US"/>
          </a:p>
        </p:txBody>
      </p:sp>
      <p:sp>
        <p:nvSpPr>
          <p:cNvPr id="25" name="직사각형 24">
            <a:extLst>
              <a:ext uri="{FF2B5EF4-FFF2-40B4-BE49-F238E27FC236}">
                <a16:creationId xmlns:a16="http://schemas.microsoft.com/office/drawing/2014/main" id="{C1261454-ABE3-4FFB-A164-364EAE2031CA}"/>
              </a:ext>
            </a:extLst>
          </p:cNvPr>
          <p:cNvSpPr>
            <a:spLocks noGrp="1"/>
          </p:cNvSpPr>
          <p:nvPr/>
        </p:nvSpPr>
        <p:spPr>
          <a:xfrm>
            <a:off x="1847850" y="4743450"/>
            <a:ext cx="8496300" cy="342900"/>
          </a:xfrm>
          <a:prstGeom prst="rect">
            <a:avLst/>
          </a:prstGeom>
          <a:noFill/>
          <a:ln w="0">
            <a:noFill/>
            <a:prstDash val="solid"/>
          </a:ln>
        </p:spPr>
        <p:txBody>
          <a:bodyPr/>
          <a:lstStyle/>
          <a:p>
            <a:pPr algn="ctr">
              <a:buNone/>
              <a:defRPr sz="1725" b="1">
                <a:solidFill>
                  <a:srgbClr val="FFFFFF"/>
                </a:solidFill>
              </a:defRPr>
            </a:pPr>
            <a:r>
              <a:rPr sz="1725" b="1">
                <a:solidFill>
                  <a:srgbClr val="FFFFFF"/>
                </a:solidFill>
                <a:latin typeface="Calibri"/>
                <a:ea typeface="맑은 고딕"/>
                <a:cs typeface="맑은 고딕"/>
              </a:rPr>
              <a:t>푸시 알림 → 작업목록 → 확인 → 사건 기록 → 후속조치</a:t>
            </a:r>
          </a:p>
        </p:txBody>
      </p:sp>
    </p:spTree>
    <p:extLst>
      <p:ext uri="{BB962C8B-B14F-4D97-AF65-F5344CB8AC3E}">
        <p14:creationId xmlns:p14="http://schemas.microsoft.com/office/powerpoint/2010/main" val="157065849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7BADED25-E282-41F1-9EE5-241708A5432A}"/>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작업 리듬</a:t>
            </a:r>
          </a:p>
        </p:txBody>
      </p:sp>
      <p:sp>
        <p:nvSpPr>
          <p:cNvPr id="2" name="직사각형 1">
            <a:extLst>
              <a:ext uri="{FF2B5EF4-FFF2-40B4-BE49-F238E27FC236}">
                <a16:creationId xmlns:a16="http://schemas.microsoft.com/office/drawing/2014/main" id="{B53402E6-9F3A-42F7-80D3-ACB3401D6C7B}"/>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하루의 리듬이 데이터를 습관으로 바꾼다</a:t>
            </a:r>
          </a:p>
        </p:txBody>
      </p:sp>
      <p:sp>
        <p:nvSpPr>
          <p:cNvPr id="3" name="직사각형 2">
            <a:extLst>
              <a:ext uri="{FF2B5EF4-FFF2-40B4-BE49-F238E27FC236}">
                <a16:creationId xmlns:a16="http://schemas.microsoft.com/office/drawing/2014/main" id="{CF84B531-7B02-48A7-95A5-294F3EE41AC0}"/>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644FADDC-D265-4EB1-9CF4-71EC873643BF}"/>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30</a:t>
            </a:r>
          </a:p>
        </p:txBody>
      </p:sp>
      <p:sp>
        <p:nvSpPr>
          <p:cNvPr id="5" name="직사각형 4">
            <a:extLst>
              <a:ext uri="{FF2B5EF4-FFF2-40B4-BE49-F238E27FC236}">
                <a16:creationId xmlns:a16="http://schemas.microsoft.com/office/drawing/2014/main" id="{3E7D595F-74A3-4C7A-B3CF-FA91EE335CA1}"/>
              </a:ext>
            </a:extLst>
          </p:cNvPr>
          <p:cNvSpPr>
            <a:spLocks noGrp="1"/>
          </p:cNvSpPr>
          <p:nvPr/>
        </p:nvSpPr>
        <p:spPr>
          <a:xfrm>
            <a:off x="704850" y="180975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latin typeface="Calibri"/>
                <a:ea typeface="맑은 고딕"/>
                <a:cs typeface="맑은 고딕"/>
              </a:rPr>
              <a:t>1</a:t>
            </a:r>
          </a:p>
        </p:txBody>
      </p:sp>
      <p:sp>
        <p:nvSpPr>
          <p:cNvPr id="6" name="직사각형 5">
            <a:extLst>
              <a:ext uri="{FF2B5EF4-FFF2-40B4-BE49-F238E27FC236}">
                <a16:creationId xmlns:a16="http://schemas.microsoft.com/office/drawing/2014/main" id="{1FB0059D-BEE0-4602-888D-4250A84E0192}"/>
              </a:ext>
            </a:extLst>
          </p:cNvPr>
          <p:cNvSpPr>
            <a:spLocks noGrp="1"/>
          </p:cNvSpPr>
          <p:nvPr/>
        </p:nvSpPr>
        <p:spPr>
          <a:xfrm>
            <a:off x="1200150" y="2019300"/>
            <a:ext cx="685800" cy="28575"/>
          </a:xfrm>
          <a:prstGeom prst="rect">
            <a:avLst/>
          </a:prstGeom>
          <a:solidFill>
            <a:srgbClr val="15A98C"/>
          </a:solidFill>
          <a:ln w="0">
            <a:noFill/>
            <a:prstDash val="solid"/>
          </a:ln>
        </p:spPr>
        <p:txBody>
          <a:bodyPr/>
          <a:lstStyle/>
          <a:p>
            <a:endParaRPr lang="ko-KR" altLang="en-US"/>
          </a:p>
        </p:txBody>
      </p:sp>
      <p:sp>
        <p:nvSpPr>
          <p:cNvPr id="7" name="직사각형 6">
            <a:extLst>
              <a:ext uri="{FF2B5EF4-FFF2-40B4-BE49-F238E27FC236}">
                <a16:creationId xmlns:a16="http://schemas.microsoft.com/office/drawing/2014/main" id="{729E4473-DAEA-4C66-979F-C02DC3A450EE}"/>
              </a:ext>
            </a:extLst>
          </p:cNvPr>
          <p:cNvSpPr>
            <a:spLocks noGrp="1"/>
          </p:cNvSpPr>
          <p:nvPr/>
        </p:nvSpPr>
        <p:spPr>
          <a:xfrm>
            <a:off x="2114550" y="180975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근무 시작</a:t>
            </a:r>
          </a:p>
        </p:txBody>
      </p:sp>
      <p:sp>
        <p:nvSpPr>
          <p:cNvPr id="8" name="직사각형 7">
            <a:extLst>
              <a:ext uri="{FF2B5EF4-FFF2-40B4-BE49-F238E27FC236}">
                <a16:creationId xmlns:a16="http://schemas.microsoft.com/office/drawing/2014/main" id="{68D23430-71B6-4232-94F8-7C008238E088}"/>
              </a:ext>
            </a:extLst>
          </p:cNvPr>
          <p:cNvSpPr>
            <a:spLocks noGrp="1"/>
          </p:cNvSpPr>
          <p:nvPr/>
        </p:nvSpPr>
        <p:spPr>
          <a:xfrm>
            <a:off x="4857750" y="180975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신규 위급 건과 기한 초과 건</a:t>
            </a:r>
          </a:p>
        </p:txBody>
      </p:sp>
      <p:sp>
        <p:nvSpPr>
          <p:cNvPr id="9" name="직사각형 8">
            <a:extLst>
              <a:ext uri="{FF2B5EF4-FFF2-40B4-BE49-F238E27FC236}">
                <a16:creationId xmlns:a16="http://schemas.microsoft.com/office/drawing/2014/main" id="{BEB9710D-4044-451B-91AD-6FFA2DF751A5}"/>
              </a:ext>
            </a:extLst>
          </p:cNvPr>
          <p:cNvSpPr>
            <a:spLocks noGrp="1"/>
          </p:cNvSpPr>
          <p:nvPr/>
        </p:nvSpPr>
        <p:spPr>
          <a:xfrm>
            <a:off x="704850" y="259080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latin typeface="Calibri"/>
                <a:ea typeface="맑은 고딕"/>
                <a:cs typeface="맑은 고딕"/>
              </a:rPr>
              <a:t>2</a:t>
            </a:r>
          </a:p>
        </p:txBody>
      </p:sp>
      <p:sp>
        <p:nvSpPr>
          <p:cNvPr id="10" name="직사각형 9">
            <a:extLst>
              <a:ext uri="{FF2B5EF4-FFF2-40B4-BE49-F238E27FC236}">
                <a16:creationId xmlns:a16="http://schemas.microsoft.com/office/drawing/2014/main" id="{3AA2CA6D-B477-4F14-8C8C-58822710C93E}"/>
              </a:ext>
            </a:extLst>
          </p:cNvPr>
          <p:cNvSpPr>
            <a:spLocks noGrp="1"/>
          </p:cNvSpPr>
          <p:nvPr/>
        </p:nvSpPr>
        <p:spPr>
          <a:xfrm>
            <a:off x="1200150" y="2800350"/>
            <a:ext cx="685800" cy="28575"/>
          </a:xfrm>
          <a:prstGeom prst="rect">
            <a:avLst/>
          </a:prstGeom>
          <a:solidFill>
            <a:srgbClr val="15A98C"/>
          </a:solidFill>
          <a:ln w="0">
            <a:noFill/>
            <a:prstDash val="solid"/>
          </a:ln>
        </p:spPr>
        <p:txBody>
          <a:bodyPr/>
          <a:lstStyle/>
          <a:p>
            <a:endParaRPr lang="ko-KR" altLang="en-US"/>
          </a:p>
        </p:txBody>
      </p:sp>
      <p:sp>
        <p:nvSpPr>
          <p:cNvPr id="11" name="직사각형 10">
            <a:extLst>
              <a:ext uri="{FF2B5EF4-FFF2-40B4-BE49-F238E27FC236}">
                <a16:creationId xmlns:a16="http://schemas.microsoft.com/office/drawing/2014/main" id="{09D61BFD-D890-48DC-8837-31152B4F5DAC}"/>
              </a:ext>
            </a:extLst>
          </p:cNvPr>
          <p:cNvSpPr>
            <a:spLocks noGrp="1"/>
          </p:cNvSpPr>
          <p:nvPr/>
        </p:nvSpPr>
        <p:spPr>
          <a:xfrm>
            <a:off x="2114550" y="259080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오전 순회</a:t>
            </a:r>
          </a:p>
        </p:txBody>
      </p:sp>
      <p:sp>
        <p:nvSpPr>
          <p:cNvPr id="12" name="직사각형 11">
            <a:extLst>
              <a:ext uri="{FF2B5EF4-FFF2-40B4-BE49-F238E27FC236}">
                <a16:creationId xmlns:a16="http://schemas.microsoft.com/office/drawing/2014/main" id="{A60F2BDE-8D2F-4207-8D67-F7845E9F9F31}"/>
              </a:ext>
            </a:extLst>
          </p:cNvPr>
          <p:cNvSpPr>
            <a:spLocks noGrp="1"/>
          </p:cNvSpPr>
          <p:nvPr/>
        </p:nvSpPr>
        <p:spPr>
          <a:xfrm>
            <a:off x="4857750" y="259080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건강·분만 확인</a:t>
            </a:r>
          </a:p>
        </p:txBody>
      </p:sp>
      <p:sp>
        <p:nvSpPr>
          <p:cNvPr id="13" name="직사각형 12">
            <a:extLst>
              <a:ext uri="{FF2B5EF4-FFF2-40B4-BE49-F238E27FC236}">
                <a16:creationId xmlns:a16="http://schemas.microsoft.com/office/drawing/2014/main" id="{FB6A84B9-A5D8-4E4E-9530-F9DA4DE92A93}"/>
              </a:ext>
            </a:extLst>
          </p:cNvPr>
          <p:cNvSpPr>
            <a:spLocks noGrp="1"/>
          </p:cNvSpPr>
          <p:nvPr/>
        </p:nvSpPr>
        <p:spPr>
          <a:xfrm>
            <a:off x="704850" y="337185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latin typeface="Calibri"/>
                <a:ea typeface="맑은 고딕"/>
                <a:cs typeface="맑은 고딕"/>
              </a:rPr>
              <a:t>3</a:t>
            </a:r>
          </a:p>
        </p:txBody>
      </p:sp>
      <p:sp>
        <p:nvSpPr>
          <p:cNvPr id="14" name="직사각형 13">
            <a:extLst>
              <a:ext uri="{FF2B5EF4-FFF2-40B4-BE49-F238E27FC236}">
                <a16:creationId xmlns:a16="http://schemas.microsoft.com/office/drawing/2014/main" id="{0B95EF92-FED9-4888-986D-25363417D8B2}"/>
              </a:ext>
            </a:extLst>
          </p:cNvPr>
          <p:cNvSpPr>
            <a:spLocks noGrp="1"/>
          </p:cNvSpPr>
          <p:nvPr/>
        </p:nvSpPr>
        <p:spPr>
          <a:xfrm>
            <a:off x="1200150" y="3581400"/>
            <a:ext cx="685800" cy="28575"/>
          </a:xfrm>
          <a:prstGeom prst="rect">
            <a:avLst/>
          </a:prstGeom>
          <a:solidFill>
            <a:srgbClr val="15A98C"/>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A3A6B503-8302-4B86-8952-276DA103D849}"/>
              </a:ext>
            </a:extLst>
          </p:cNvPr>
          <p:cNvSpPr>
            <a:spLocks noGrp="1"/>
          </p:cNvSpPr>
          <p:nvPr/>
        </p:nvSpPr>
        <p:spPr>
          <a:xfrm>
            <a:off x="2114550" y="337185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수정</a:t>
            </a:r>
          </a:p>
        </p:txBody>
      </p:sp>
      <p:sp>
        <p:nvSpPr>
          <p:cNvPr id="16" name="직사각형 15">
            <a:extLst>
              <a:ext uri="{FF2B5EF4-FFF2-40B4-BE49-F238E27FC236}">
                <a16:creationId xmlns:a16="http://schemas.microsoft.com/office/drawing/2014/main" id="{81AC5C52-10F6-4377-8C63-18C6D28BFCA6}"/>
              </a:ext>
            </a:extLst>
          </p:cNvPr>
          <p:cNvSpPr>
            <a:spLocks noGrp="1"/>
          </p:cNvSpPr>
          <p:nvPr/>
        </p:nvSpPr>
        <p:spPr>
          <a:xfrm>
            <a:off x="4857750" y="337185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적기와 상태 확인</a:t>
            </a:r>
          </a:p>
        </p:txBody>
      </p:sp>
      <p:sp>
        <p:nvSpPr>
          <p:cNvPr id="17" name="직사각형 16">
            <a:extLst>
              <a:ext uri="{FF2B5EF4-FFF2-40B4-BE49-F238E27FC236}">
                <a16:creationId xmlns:a16="http://schemas.microsoft.com/office/drawing/2014/main" id="{B740F65A-01B8-42F4-A5E9-71CF4E4A8785}"/>
              </a:ext>
            </a:extLst>
          </p:cNvPr>
          <p:cNvSpPr>
            <a:spLocks noGrp="1"/>
          </p:cNvSpPr>
          <p:nvPr/>
        </p:nvSpPr>
        <p:spPr>
          <a:xfrm>
            <a:off x="704850" y="415290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latin typeface="Calibri"/>
                <a:ea typeface="맑은 고딕"/>
                <a:cs typeface="맑은 고딕"/>
              </a:rPr>
              <a:t>4</a:t>
            </a:r>
          </a:p>
        </p:txBody>
      </p:sp>
      <p:sp>
        <p:nvSpPr>
          <p:cNvPr id="18" name="직사각형 17">
            <a:extLst>
              <a:ext uri="{FF2B5EF4-FFF2-40B4-BE49-F238E27FC236}">
                <a16:creationId xmlns:a16="http://schemas.microsoft.com/office/drawing/2014/main" id="{E534522D-6B7E-4959-8692-ABF148101B7E}"/>
              </a:ext>
            </a:extLst>
          </p:cNvPr>
          <p:cNvSpPr>
            <a:spLocks noGrp="1"/>
          </p:cNvSpPr>
          <p:nvPr/>
        </p:nvSpPr>
        <p:spPr>
          <a:xfrm>
            <a:off x="1200150" y="4362450"/>
            <a:ext cx="685800" cy="28575"/>
          </a:xfrm>
          <a:prstGeom prst="rect">
            <a:avLst/>
          </a:prstGeom>
          <a:solidFill>
            <a:srgbClr val="15A98C"/>
          </a:solidFill>
          <a:ln w="0">
            <a:noFill/>
            <a:prstDash val="solid"/>
          </a:ln>
        </p:spPr>
        <p:txBody>
          <a:bodyPr/>
          <a:lstStyle/>
          <a:p>
            <a:endParaRPr lang="ko-KR" altLang="en-US"/>
          </a:p>
        </p:txBody>
      </p:sp>
      <p:sp>
        <p:nvSpPr>
          <p:cNvPr id="19" name="직사각형 18">
            <a:extLst>
              <a:ext uri="{FF2B5EF4-FFF2-40B4-BE49-F238E27FC236}">
                <a16:creationId xmlns:a16="http://schemas.microsoft.com/office/drawing/2014/main" id="{11B04A10-2458-4268-A00C-F8E958C14BE7}"/>
              </a:ext>
            </a:extLst>
          </p:cNvPr>
          <p:cNvSpPr>
            <a:spLocks noGrp="1"/>
          </p:cNvSpPr>
          <p:nvPr/>
        </p:nvSpPr>
        <p:spPr>
          <a:xfrm>
            <a:off x="2114550" y="415290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사양</a:t>
            </a:r>
          </a:p>
        </p:txBody>
      </p:sp>
      <p:sp>
        <p:nvSpPr>
          <p:cNvPr id="20" name="직사각형 19">
            <a:extLst>
              <a:ext uri="{FF2B5EF4-FFF2-40B4-BE49-F238E27FC236}">
                <a16:creationId xmlns:a16="http://schemas.microsoft.com/office/drawing/2014/main" id="{08A8E1F4-1F6E-4C25-8E00-EBD4684205A5}"/>
              </a:ext>
            </a:extLst>
          </p:cNvPr>
          <p:cNvSpPr>
            <a:spLocks noGrp="1"/>
          </p:cNvSpPr>
          <p:nvPr/>
        </p:nvSpPr>
        <p:spPr>
          <a:xfrm>
            <a:off x="4857750" y="415290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우군 추이와 사료 사건</a:t>
            </a:r>
          </a:p>
        </p:txBody>
      </p:sp>
      <p:sp>
        <p:nvSpPr>
          <p:cNvPr id="21" name="직사각형 20">
            <a:extLst>
              <a:ext uri="{FF2B5EF4-FFF2-40B4-BE49-F238E27FC236}">
                <a16:creationId xmlns:a16="http://schemas.microsoft.com/office/drawing/2014/main" id="{D0F45A12-1ABC-4353-B957-FBFC57087292}"/>
              </a:ext>
            </a:extLst>
          </p:cNvPr>
          <p:cNvSpPr>
            <a:spLocks noGrp="1"/>
          </p:cNvSpPr>
          <p:nvPr/>
        </p:nvSpPr>
        <p:spPr>
          <a:xfrm>
            <a:off x="704850" y="4933950"/>
            <a:ext cx="361950" cy="361950"/>
          </a:xfrm>
          <a:prstGeom prst="rect">
            <a:avLst/>
          </a:prstGeom>
          <a:noFill/>
          <a:ln w="0">
            <a:noFill/>
            <a:prstDash val="solid"/>
          </a:ln>
        </p:spPr>
        <p:txBody>
          <a:bodyPr/>
          <a:lstStyle/>
          <a:p>
            <a:pPr algn="l">
              <a:buNone/>
              <a:defRPr sz="1950" b="1">
                <a:solidFill>
                  <a:srgbClr val="65D44A"/>
                </a:solidFill>
              </a:defRPr>
            </a:pPr>
            <a:r>
              <a:rPr sz="1950" b="1">
                <a:solidFill>
                  <a:srgbClr val="65D44A"/>
                </a:solidFill>
                <a:latin typeface="Calibri"/>
                <a:ea typeface="맑은 고딕"/>
                <a:cs typeface="맑은 고딕"/>
              </a:rPr>
              <a:t>5</a:t>
            </a:r>
          </a:p>
        </p:txBody>
      </p:sp>
      <p:sp>
        <p:nvSpPr>
          <p:cNvPr id="22" name="직사각형 21">
            <a:extLst>
              <a:ext uri="{FF2B5EF4-FFF2-40B4-BE49-F238E27FC236}">
                <a16:creationId xmlns:a16="http://schemas.microsoft.com/office/drawing/2014/main" id="{2A759443-4832-4ED6-B339-F15829F7C819}"/>
              </a:ext>
            </a:extLst>
          </p:cNvPr>
          <p:cNvSpPr>
            <a:spLocks noGrp="1"/>
          </p:cNvSpPr>
          <p:nvPr/>
        </p:nvSpPr>
        <p:spPr>
          <a:xfrm>
            <a:off x="1200150" y="5143500"/>
            <a:ext cx="685800" cy="28575"/>
          </a:xfrm>
          <a:prstGeom prst="rect">
            <a:avLst/>
          </a:prstGeom>
          <a:solidFill>
            <a:srgbClr val="15A98C"/>
          </a:solidFill>
          <a:ln w="0">
            <a:noFill/>
            <a:prstDash val="solid"/>
          </a:ln>
        </p:spPr>
        <p:txBody>
          <a:bodyPr/>
          <a:lstStyle/>
          <a:p>
            <a:endParaRPr lang="ko-KR" altLang="en-US"/>
          </a:p>
        </p:txBody>
      </p:sp>
      <p:sp>
        <p:nvSpPr>
          <p:cNvPr id="23" name="직사각형 22">
            <a:extLst>
              <a:ext uri="{FF2B5EF4-FFF2-40B4-BE49-F238E27FC236}">
                <a16:creationId xmlns:a16="http://schemas.microsoft.com/office/drawing/2014/main" id="{621894A7-CA01-40E7-90BC-1ECE85563B9F}"/>
              </a:ext>
            </a:extLst>
          </p:cNvPr>
          <p:cNvSpPr>
            <a:spLocks noGrp="1"/>
          </p:cNvSpPr>
          <p:nvPr/>
        </p:nvSpPr>
        <p:spPr>
          <a:xfrm>
            <a:off x="2114550" y="4933950"/>
            <a:ext cx="2476500" cy="304800"/>
          </a:xfrm>
          <a:prstGeom prst="rect">
            <a:avLst/>
          </a:prstGeom>
          <a:noFill/>
          <a:ln w="0">
            <a:noFill/>
            <a:prstDash val="solid"/>
          </a:ln>
        </p:spPr>
        <p:txBody>
          <a:bodyPr/>
          <a:lstStyle/>
          <a:p>
            <a:pPr algn="l">
              <a:buNone/>
              <a:defRPr sz="1350" b="1">
                <a:solidFill>
                  <a:srgbClr val="15A98C"/>
                </a:solidFill>
              </a:defRPr>
            </a:pPr>
            <a:r>
              <a:rPr sz="1350" b="1">
                <a:solidFill>
                  <a:srgbClr val="15A98C"/>
                </a:solidFill>
                <a:latin typeface="Calibri"/>
                <a:ea typeface="맑은 고딕"/>
                <a:cs typeface="맑은 고딕"/>
              </a:rPr>
              <a:t>근무 종료</a:t>
            </a:r>
          </a:p>
        </p:txBody>
      </p:sp>
      <p:sp>
        <p:nvSpPr>
          <p:cNvPr id="24" name="직사각형 23">
            <a:extLst>
              <a:ext uri="{FF2B5EF4-FFF2-40B4-BE49-F238E27FC236}">
                <a16:creationId xmlns:a16="http://schemas.microsoft.com/office/drawing/2014/main" id="{24A7B3E7-89C9-433D-A67A-5A4FFC7AC5A3}"/>
              </a:ext>
            </a:extLst>
          </p:cNvPr>
          <p:cNvSpPr>
            <a:spLocks noGrp="1"/>
          </p:cNvSpPr>
          <p:nvPr/>
        </p:nvSpPr>
        <p:spPr>
          <a:xfrm>
            <a:off x="4857750" y="4933950"/>
            <a:ext cx="6191250" cy="342900"/>
          </a:xfrm>
          <a:prstGeom prst="rect">
            <a:avLst/>
          </a:prstGeom>
          <a:noFill/>
          <a:ln w="0">
            <a:noFill/>
            <a:prstDash val="solid"/>
          </a:ln>
        </p:spPr>
        <p:txBody>
          <a:bodyPr/>
          <a:lstStyle/>
          <a:p>
            <a:pPr algn="l">
              <a:buNone/>
              <a:defRPr sz="1500" b="0">
                <a:solidFill>
                  <a:srgbClr val="10251F"/>
                </a:solidFill>
              </a:defRPr>
            </a:pPr>
            <a:r>
              <a:rPr sz="1500" b="0">
                <a:solidFill>
                  <a:srgbClr val="10251F"/>
                </a:solidFill>
                <a:latin typeface="Calibri"/>
                <a:ea typeface="맑은 고딕"/>
                <a:cs typeface="맑은 고딕"/>
              </a:rPr>
              <a:t>미결 작업과 인수인계</a:t>
            </a:r>
          </a:p>
        </p:txBody>
      </p:sp>
    </p:spTree>
    <p:extLst>
      <p:ext uri="{BB962C8B-B14F-4D97-AF65-F5344CB8AC3E}">
        <p14:creationId xmlns:p14="http://schemas.microsoft.com/office/powerpoint/2010/main" val="1404942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4" name="직사각형 23">
            <a:extLst>
              <a:ext uri="{FF2B5EF4-FFF2-40B4-BE49-F238E27FC236}">
                <a16:creationId xmlns:a16="http://schemas.microsoft.com/office/drawing/2014/main" id="{ADDAA919-8B5D-4E3A-BFC1-5505AA0AB97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성과 개요</a:t>
            </a:r>
          </a:p>
        </p:txBody>
      </p:sp>
      <p:sp>
        <p:nvSpPr>
          <p:cNvPr id="2" name="직사각형 1">
            <a:extLst>
              <a:ext uri="{FF2B5EF4-FFF2-40B4-BE49-F238E27FC236}">
                <a16:creationId xmlns:a16="http://schemas.microsoft.com/office/drawing/2014/main" id="{3C13D4C8-0666-4461-B668-BE37D31A1DC2}"/>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성과 개요는 결과뿐 아니라 과정을 측정한다</a:t>
            </a:r>
          </a:p>
        </p:txBody>
      </p:sp>
      <p:sp>
        <p:nvSpPr>
          <p:cNvPr id="3" name="직사각형 2">
            <a:extLst>
              <a:ext uri="{FF2B5EF4-FFF2-40B4-BE49-F238E27FC236}">
                <a16:creationId xmlns:a16="http://schemas.microsoft.com/office/drawing/2014/main" id="{02DDDF15-954A-4E40-8137-4A45C8D2119F}"/>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6038B62D-8F73-4612-B875-10AF78066814}"/>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31</a:t>
            </a:r>
          </a:p>
        </p:txBody>
      </p:sp>
      <p:sp>
        <p:nvSpPr>
          <p:cNvPr id="5" name="모서리가 둥근 직사각형 4">
            <a:extLst>
              <a:ext uri="{FF2B5EF4-FFF2-40B4-BE49-F238E27FC236}">
                <a16:creationId xmlns:a16="http://schemas.microsoft.com/office/drawing/2014/main" id="{4F57A8C6-AB59-4A57-82A7-CD745D558DEA}"/>
              </a:ext>
            </a:extLst>
          </p:cNvPr>
          <p:cNvSpPr>
            <a:spLocks noGrp="1"/>
          </p:cNvSpPr>
          <p:nvPr/>
        </p:nvSpPr>
        <p:spPr>
          <a:xfrm>
            <a:off x="685800" y="175260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7C60BF2A-827C-4C31-8498-316D2D526D54}"/>
              </a:ext>
            </a:extLst>
          </p:cNvPr>
          <p:cNvSpPr>
            <a:spLocks noGrp="1"/>
          </p:cNvSpPr>
          <p:nvPr/>
        </p:nvSpPr>
        <p:spPr>
          <a:xfrm>
            <a:off x="914400" y="196215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대응</a:t>
            </a:r>
          </a:p>
        </p:txBody>
      </p:sp>
      <p:sp>
        <p:nvSpPr>
          <p:cNvPr id="7" name="직사각형 6">
            <a:extLst>
              <a:ext uri="{FF2B5EF4-FFF2-40B4-BE49-F238E27FC236}">
                <a16:creationId xmlns:a16="http://schemas.microsoft.com/office/drawing/2014/main" id="{4B2DEEB3-9048-486D-9B0F-7F619A236818}"/>
              </a:ext>
            </a:extLst>
          </p:cNvPr>
          <p:cNvSpPr>
            <a:spLocks noGrp="1"/>
          </p:cNvSpPr>
          <p:nvPr/>
        </p:nvSpPr>
        <p:spPr>
          <a:xfrm>
            <a:off x="914400" y="240030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latin typeface="Calibri"/>
                <a:ea typeface="맑은 고딕"/>
                <a:cs typeface="맑은 고딕"/>
              </a:rPr>
              <a:t>알람에서 확인까지 걸린 시간</a:t>
            </a:r>
          </a:p>
        </p:txBody>
      </p:sp>
      <p:sp>
        <p:nvSpPr>
          <p:cNvPr id="8" name="모서리가 둥근 직사각형 7">
            <a:extLst>
              <a:ext uri="{FF2B5EF4-FFF2-40B4-BE49-F238E27FC236}">
                <a16:creationId xmlns:a16="http://schemas.microsoft.com/office/drawing/2014/main" id="{0F648B8A-57B3-4CED-915F-9CBDA832A24A}"/>
              </a:ext>
            </a:extLst>
          </p:cNvPr>
          <p:cNvSpPr>
            <a:spLocks noGrp="1"/>
          </p:cNvSpPr>
          <p:nvPr/>
        </p:nvSpPr>
        <p:spPr>
          <a:xfrm>
            <a:off x="4286250" y="175260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9" name="직사각형 8">
            <a:extLst>
              <a:ext uri="{FF2B5EF4-FFF2-40B4-BE49-F238E27FC236}">
                <a16:creationId xmlns:a16="http://schemas.microsoft.com/office/drawing/2014/main" id="{4A962DBA-04DA-4C93-B4E3-362DF49E17BD}"/>
              </a:ext>
            </a:extLst>
          </p:cNvPr>
          <p:cNvSpPr>
            <a:spLocks noGrp="1"/>
          </p:cNvSpPr>
          <p:nvPr/>
        </p:nvSpPr>
        <p:spPr>
          <a:xfrm>
            <a:off x="4514850" y="196215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종결</a:t>
            </a:r>
          </a:p>
        </p:txBody>
      </p:sp>
      <p:sp>
        <p:nvSpPr>
          <p:cNvPr id="10" name="직사각형 9">
            <a:extLst>
              <a:ext uri="{FF2B5EF4-FFF2-40B4-BE49-F238E27FC236}">
                <a16:creationId xmlns:a16="http://schemas.microsoft.com/office/drawing/2014/main" id="{44C1B504-BE41-48BF-81FB-EAAE13287BF5}"/>
              </a:ext>
            </a:extLst>
          </p:cNvPr>
          <p:cNvSpPr>
            <a:spLocks noGrp="1"/>
          </p:cNvSpPr>
          <p:nvPr/>
        </p:nvSpPr>
        <p:spPr>
          <a:xfrm>
            <a:off x="4514850" y="240030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latin typeface="Calibri"/>
                <a:ea typeface="맑은 고딕"/>
                <a:cs typeface="맑은 고딕"/>
              </a:rPr>
              <a:t>표준절차대로 완료된 작업</a:t>
            </a:r>
          </a:p>
        </p:txBody>
      </p:sp>
      <p:sp>
        <p:nvSpPr>
          <p:cNvPr id="11" name="모서리가 둥근 직사각형 10">
            <a:extLst>
              <a:ext uri="{FF2B5EF4-FFF2-40B4-BE49-F238E27FC236}">
                <a16:creationId xmlns:a16="http://schemas.microsoft.com/office/drawing/2014/main" id="{08920D8F-DB3C-40CF-A22D-46720A422D61}"/>
              </a:ext>
            </a:extLst>
          </p:cNvPr>
          <p:cNvSpPr>
            <a:spLocks noGrp="1"/>
          </p:cNvSpPr>
          <p:nvPr/>
        </p:nvSpPr>
        <p:spPr>
          <a:xfrm>
            <a:off x="7886700" y="175260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12" name="직사각형 11">
            <a:extLst>
              <a:ext uri="{FF2B5EF4-FFF2-40B4-BE49-F238E27FC236}">
                <a16:creationId xmlns:a16="http://schemas.microsoft.com/office/drawing/2014/main" id="{8BEBD680-3FE7-4F8C-8DF4-255A1358169A}"/>
              </a:ext>
            </a:extLst>
          </p:cNvPr>
          <p:cNvSpPr>
            <a:spLocks noGrp="1"/>
          </p:cNvSpPr>
          <p:nvPr/>
        </p:nvSpPr>
        <p:spPr>
          <a:xfrm>
            <a:off x="8115300" y="196215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건강</a:t>
            </a:r>
          </a:p>
        </p:txBody>
      </p:sp>
      <p:sp>
        <p:nvSpPr>
          <p:cNvPr id="13" name="직사각형 12">
            <a:extLst>
              <a:ext uri="{FF2B5EF4-FFF2-40B4-BE49-F238E27FC236}">
                <a16:creationId xmlns:a16="http://schemas.microsoft.com/office/drawing/2014/main" id="{703DA19F-1416-4E4F-A449-D4E6289009EA}"/>
              </a:ext>
            </a:extLst>
          </p:cNvPr>
          <p:cNvSpPr>
            <a:spLocks noGrp="1"/>
          </p:cNvSpPr>
          <p:nvPr/>
        </p:nvSpPr>
        <p:spPr>
          <a:xfrm>
            <a:off x="8115300" y="240030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latin typeface="Calibri"/>
                <a:ea typeface="맑은 고딕"/>
                <a:cs typeface="맑은 고딕"/>
              </a:rPr>
              <a:t>조기 확인 건수와 재발 사례</a:t>
            </a:r>
          </a:p>
        </p:txBody>
      </p:sp>
      <p:sp>
        <p:nvSpPr>
          <p:cNvPr id="14" name="모서리가 둥근 직사각형 13">
            <a:extLst>
              <a:ext uri="{FF2B5EF4-FFF2-40B4-BE49-F238E27FC236}">
                <a16:creationId xmlns:a16="http://schemas.microsoft.com/office/drawing/2014/main" id="{1F75FEAD-49BA-4FCA-BD47-55480E162EF0}"/>
              </a:ext>
            </a:extLst>
          </p:cNvPr>
          <p:cNvSpPr>
            <a:spLocks noGrp="1"/>
          </p:cNvSpPr>
          <p:nvPr/>
        </p:nvSpPr>
        <p:spPr>
          <a:xfrm>
            <a:off x="685800" y="356235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15" name="직사각형 14">
            <a:extLst>
              <a:ext uri="{FF2B5EF4-FFF2-40B4-BE49-F238E27FC236}">
                <a16:creationId xmlns:a16="http://schemas.microsoft.com/office/drawing/2014/main" id="{4A024307-00B5-4053-A749-55536B3AA1C4}"/>
              </a:ext>
            </a:extLst>
          </p:cNvPr>
          <p:cNvSpPr>
            <a:spLocks noGrp="1"/>
          </p:cNvSpPr>
          <p:nvPr/>
        </p:nvSpPr>
        <p:spPr>
          <a:xfrm>
            <a:off x="914400" y="377190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번식</a:t>
            </a:r>
          </a:p>
        </p:txBody>
      </p:sp>
      <p:sp>
        <p:nvSpPr>
          <p:cNvPr id="16" name="직사각형 15">
            <a:extLst>
              <a:ext uri="{FF2B5EF4-FFF2-40B4-BE49-F238E27FC236}">
                <a16:creationId xmlns:a16="http://schemas.microsoft.com/office/drawing/2014/main" id="{6B0C608C-2CC3-48B1-B225-AADA666846CE}"/>
              </a:ext>
            </a:extLst>
          </p:cNvPr>
          <p:cNvSpPr>
            <a:spLocks noGrp="1"/>
          </p:cNvSpPr>
          <p:nvPr/>
        </p:nvSpPr>
        <p:spPr>
          <a:xfrm>
            <a:off x="914400" y="421005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latin typeface="Calibri"/>
                <a:ea typeface="맑은 고딕"/>
                <a:cs typeface="맑은 고딕"/>
              </a:rPr>
              <a:t>발정 → 수정 → 결과</a:t>
            </a:r>
          </a:p>
        </p:txBody>
      </p:sp>
      <p:sp>
        <p:nvSpPr>
          <p:cNvPr id="17" name="모서리가 둥근 직사각형 16">
            <a:extLst>
              <a:ext uri="{FF2B5EF4-FFF2-40B4-BE49-F238E27FC236}">
                <a16:creationId xmlns:a16="http://schemas.microsoft.com/office/drawing/2014/main" id="{48D84633-3286-4F71-9117-7CE74664FE73}"/>
              </a:ext>
            </a:extLst>
          </p:cNvPr>
          <p:cNvSpPr>
            <a:spLocks noGrp="1"/>
          </p:cNvSpPr>
          <p:nvPr/>
        </p:nvSpPr>
        <p:spPr>
          <a:xfrm>
            <a:off x="4286250" y="356235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518DBF5D-76BB-4CD5-9264-399BD6387A34}"/>
              </a:ext>
            </a:extLst>
          </p:cNvPr>
          <p:cNvSpPr>
            <a:spLocks noGrp="1"/>
          </p:cNvSpPr>
          <p:nvPr/>
        </p:nvSpPr>
        <p:spPr>
          <a:xfrm>
            <a:off x="4514850" y="377190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사양</a:t>
            </a:r>
          </a:p>
        </p:txBody>
      </p:sp>
      <p:sp>
        <p:nvSpPr>
          <p:cNvPr id="19" name="직사각형 18">
            <a:extLst>
              <a:ext uri="{FF2B5EF4-FFF2-40B4-BE49-F238E27FC236}">
                <a16:creationId xmlns:a16="http://schemas.microsoft.com/office/drawing/2014/main" id="{9DB8F042-6E8D-4931-8E62-4AF6BB564D39}"/>
              </a:ext>
            </a:extLst>
          </p:cNvPr>
          <p:cNvSpPr>
            <a:spLocks noGrp="1"/>
          </p:cNvSpPr>
          <p:nvPr/>
        </p:nvSpPr>
        <p:spPr>
          <a:xfrm>
            <a:off x="4514850" y="421005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latin typeface="Calibri"/>
                <a:ea typeface="맑은 고딕"/>
                <a:cs typeface="맑은 고딕"/>
              </a:rPr>
              <a:t>우군 추이와 사료 사건</a:t>
            </a:r>
          </a:p>
        </p:txBody>
      </p:sp>
      <p:sp>
        <p:nvSpPr>
          <p:cNvPr id="20" name="모서리가 둥근 직사각형 19">
            <a:extLst>
              <a:ext uri="{FF2B5EF4-FFF2-40B4-BE49-F238E27FC236}">
                <a16:creationId xmlns:a16="http://schemas.microsoft.com/office/drawing/2014/main" id="{39460E52-8644-4155-B930-C402B4E7C34D}"/>
              </a:ext>
            </a:extLst>
          </p:cNvPr>
          <p:cNvSpPr>
            <a:spLocks noGrp="1"/>
          </p:cNvSpPr>
          <p:nvPr/>
        </p:nvSpPr>
        <p:spPr>
          <a:xfrm>
            <a:off x="7886700" y="3562350"/>
            <a:ext cx="3333750" cy="1428750"/>
          </a:xfrm>
          <a:prstGeom prst="roundRect">
            <a:avLst>
              <a:gd name="adj" fmla="val 10667"/>
            </a:avLst>
          </a:prstGeom>
          <a:solidFill>
            <a:srgbClr val="FFFFFF"/>
          </a:solidFill>
          <a:ln w="0">
            <a:noFill/>
            <a:prstDash val="solid"/>
          </a:ln>
        </p:spPr>
        <p:txBody>
          <a:bodyPr/>
          <a:lstStyle/>
          <a:p>
            <a:endParaRPr lang="ko-KR" altLang="en-US"/>
          </a:p>
        </p:txBody>
      </p:sp>
      <p:sp>
        <p:nvSpPr>
          <p:cNvPr id="21" name="직사각형 20">
            <a:extLst>
              <a:ext uri="{FF2B5EF4-FFF2-40B4-BE49-F238E27FC236}">
                <a16:creationId xmlns:a16="http://schemas.microsoft.com/office/drawing/2014/main" id="{6C9B2E90-4B7C-4F53-8758-ABA12133A917}"/>
              </a:ext>
            </a:extLst>
          </p:cNvPr>
          <p:cNvSpPr>
            <a:spLocks noGrp="1"/>
          </p:cNvSpPr>
          <p:nvPr/>
        </p:nvSpPr>
        <p:spPr>
          <a:xfrm>
            <a:off x="8115300" y="3771900"/>
            <a:ext cx="285750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데이터</a:t>
            </a:r>
          </a:p>
        </p:txBody>
      </p:sp>
      <p:sp>
        <p:nvSpPr>
          <p:cNvPr id="22" name="직사각형 21">
            <a:extLst>
              <a:ext uri="{FF2B5EF4-FFF2-40B4-BE49-F238E27FC236}">
                <a16:creationId xmlns:a16="http://schemas.microsoft.com/office/drawing/2014/main" id="{799BB975-F114-4530-8489-C3D88C8A0D60}"/>
              </a:ext>
            </a:extLst>
          </p:cNvPr>
          <p:cNvSpPr>
            <a:spLocks noGrp="1"/>
          </p:cNvSpPr>
          <p:nvPr/>
        </p:nvSpPr>
        <p:spPr>
          <a:xfrm>
            <a:off x="8115300" y="4210050"/>
            <a:ext cx="2857500" cy="552450"/>
          </a:xfrm>
          <a:prstGeom prst="rect">
            <a:avLst/>
          </a:prstGeom>
          <a:noFill/>
          <a:ln w="0">
            <a:noFill/>
            <a:prstDash val="solid"/>
          </a:ln>
        </p:spPr>
        <p:txBody>
          <a:bodyPr/>
          <a:lstStyle/>
          <a:p>
            <a:pPr algn="l">
              <a:buNone/>
              <a:defRPr sz="1650" b="1">
                <a:solidFill>
                  <a:srgbClr val="10251F"/>
                </a:solidFill>
              </a:defRPr>
            </a:pPr>
            <a:r>
              <a:rPr sz="1650" b="1">
                <a:solidFill>
                  <a:srgbClr val="10251F"/>
                </a:solidFill>
                <a:latin typeface="Calibri"/>
                <a:ea typeface="맑은 고딕"/>
                <a:cs typeface="맑은 고딕"/>
              </a:rPr>
              <a:t>볼루스·기지국·사건기록 품질</a:t>
            </a:r>
          </a:p>
        </p:txBody>
      </p:sp>
      <p:sp>
        <p:nvSpPr>
          <p:cNvPr id="23" name="직사각형 22">
            <a:extLst>
              <a:ext uri="{FF2B5EF4-FFF2-40B4-BE49-F238E27FC236}">
                <a16:creationId xmlns:a16="http://schemas.microsoft.com/office/drawing/2014/main" id="{6364785A-40CD-40EC-9C97-B2674E37638C}"/>
              </a:ext>
            </a:extLst>
          </p:cNvPr>
          <p:cNvSpPr>
            <a:spLocks noGrp="1"/>
          </p:cNvSpPr>
          <p:nvPr/>
        </p:nvSpPr>
        <p:spPr>
          <a:xfrm>
            <a:off x="685800" y="5429250"/>
            <a:ext cx="10820400" cy="285750"/>
          </a:xfrm>
          <a:prstGeom prst="rect">
            <a:avLst/>
          </a:prstGeom>
          <a:noFill/>
          <a:ln w="0">
            <a:noFill/>
            <a:prstDash val="solid"/>
          </a:ln>
        </p:spPr>
        <p:txBody>
          <a:bodyPr/>
          <a:lstStyle/>
          <a:p>
            <a:pPr algn="ctr">
              <a:buNone/>
              <a:defRPr sz="1575" b="1">
                <a:solidFill>
                  <a:srgbClr val="15A98C"/>
                </a:solidFill>
              </a:defRPr>
            </a:pPr>
            <a:r>
              <a:rPr sz="1575" b="1">
                <a:solidFill>
                  <a:srgbClr val="15A98C"/>
                </a:solidFill>
                <a:latin typeface="Calibri"/>
                <a:ea typeface="맑은 고딕"/>
                <a:cs typeface="맑은 고딕"/>
              </a:rPr>
              <a:t>기준선을 재고 → 목표를 정하고 → 매주 점검한다</a:t>
            </a:r>
          </a:p>
        </p:txBody>
      </p:sp>
    </p:spTree>
    <p:extLst>
      <p:ext uri="{BB962C8B-B14F-4D97-AF65-F5344CB8AC3E}">
        <p14:creationId xmlns:p14="http://schemas.microsoft.com/office/powerpoint/2010/main" val="16982150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 name="직사각형 24">
            <a:extLst>
              <a:ext uri="{FF2B5EF4-FFF2-40B4-BE49-F238E27FC236}">
                <a16:creationId xmlns:a16="http://schemas.microsoft.com/office/drawing/2014/main" id="{4C67A8ED-A47D-490A-A1D0-AFE80451BDBB}"/>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고객 지원</a:t>
            </a:r>
          </a:p>
        </p:txBody>
      </p:sp>
      <p:sp>
        <p:nvSpPr>
          <p:cNvPr id="2" name="직사각형 1">
            <a:extLst>
              <a:ext uri="{FF2B5EF4-FFF2-40B4-BE49-F238E27FC236}">
                <a16:creationId xmlns:a16="http://schemas.microsoft.com/office/drawing/2014/main" id="{05A9E47F-455B-466C-9D26-79544D0E4207}"/>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근거가 있으면 고객지원이 문제를 더 빨리 푼다</a:t>
            </a:r>
          </a:p>
        </p:txBody>
      </p:sp>
      <p:sp>
        <p:nvSpPr>
          <p:cNvPr id="3" name="직사각형 2">
            <a:extLst>
              <a:ext uri="{FF2B5EF4-FFF2-40B4-BE49-F238E27FC236}">
                <a16:creationId xmlns:a16="http://schemas.microsoft.com/office/drawing/2014/main" id="{B14874AB-E2CE-42F3-BE20-BFE598C471C5}"/>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D76E0B52-AC93-4CFE-BE89-6C236494CC21}"/>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32</a:t>
            </a:r>
          </a:p>
        </p:txBody>
      </p:sp>
      <p:sp>
        <p:nvSpPr>
          <p:cNvPr id="5" name="모서리가 둥근 직사각형 4">
            <a:extLst>
              <a:ext uri="{FF2B5EF4-FFF2-40B4-BE49-F238E27FC236}">
                <a16:creationId xmlns:a16="http://schemas.microsoft.com/office/drawing/2014/main" id="{C923175D-43F6-4149-9B87-2FDE38AB063A}"/>
              </a:ext>
            </a:extLst>
          </p:cNvPr>
          <p:cNvSpPr>
            <a:spLocks noGrp="1"/>
          </p:cNvSpPr>
          <p:nvPr/>
        </p:nvSpPr>
        <p:spPr>
          <a:xfrm>
            <a:off x="685800" y="1638300"/>
            <a:ext cx="10820400" cy="647700"/>
          </a:xfrm>
          <a:prstGeom prst="roundRect">
            <a:avLst>
              <a:gd name="adj" fmla="val 17647"/>
            </a:avLst>
          </a:prstGeom>
          <a:solidFill>
            <a:srgbClr val="ECF1EE"/>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A59D3DD1-9206-4C3E-BEF3-21D41C6996B0}"/>
              </a:ext>
            </a:extLst>
          </p:cNvPr>
          <p:cNvSpPr>
            <a:spLocks noGrp="1"/>
          </p:cNvSpPr>
          <p:nvPr/>
        </p:nvSpPr>
        <p:spPr>
          <a:xfrm>
            <a:off x="895350" y="18002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latin typeface="Calibri"/>
                <a:ea typeface="맑은 고딕"/>
                <a:cs typeface="맑은 고딕"/>
              </a:rPr>
              <a:t>1</a:t>
            </a:r>
          </a:p>
        </p:txBody>
      </p:sp>
      <p:sp>
        <p:nvSpPr>
          <p:cNvPr id="7" name="직사각형 6">
            <a:extLst>
              <a:ext uri="{FF2B5EF4-FFF2-40B4-BE49-F238E27FC236}">
                <a16:creationId xmlns:a16="http://schemas.microsoft.com/office/drawing/2014/main" id="{22196847-3EA1-4DFA-970B-4AD1C40F21B4}"/>
              </a:ext>
            </a:extLst>
          </p:cNvPr>
          <p:cNvSpPr>
            <a:spLocks noGrp="1"/>
          </p:cNvSpPr>
          <p:nvPr/>
        </p:nvSpPr>
        <p:spPr>
          <a:xfrm>
            <a:off x="1447800" y="18002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목장</a:t>
            </a:r>
          </a:p>
        </p:txBody>
      </p:sp>
      <p:sp>
        <p:nvSpPr>
          <p:cNvPr id="8" name="직사각형 7">
            <a:extLst>
              <a:ext uri="{FF2B5EF4-FFF2-40B4-BE49-F238E27FC236}">
                <a16:creationId xmlns:a16="http://schemas.microsoft.com/office/drawing/2014/main" id="{57C204BA-4E4E-4675-AD23-3F1E2E799A73}"/>
              </a:ext>
            </a:extLst>
          </p:cNvPr>
          <p:cNvSpPr>
            <a:spLocks noGrp="1"/>
          </p:cNvSpPr>
          <p:nvPr/>
        </p:nvSpPr>
        <p:spPr>
          <a:xfrm>
            <a:off x="4095750" y="18002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증상, 시각, 개체/우군 번호</a:t>
            </a:r>
          </a:p>
        </p:txBody>
      </p:sp>
      <p:sp>
        <p:nvSpPr>
          <p:cNvPr id="9" name="모서리가 둥근 직사각형 8">
            <a:extLst>
              <a:ext uri="{FF2B5EF4-FFF2-40B4-BE49-F238E27FC236}">
                <a16:creationId xmlns:a16="http://schemas.microsoft.com/office/drawing/2014/main" id="{957D9589-177B-4765-B64B-D3BB3A104673}"/>
              </a:ext>
            </a:extLst>
          </p:cNvPr>
          <p:cNvSpPr>
            <a:spLocks noGrp="1"/>
          </p:cNvSpPr>
          <p:nvPr/>
        </p:nvSpPr>
        <p:spPr>
          <a:xfrm>
            <a:off x="685800" y="2438400"/>
            <a:ext cx="10820400" cy="647700"/>
          </a:xfrm>
          <a:prstGeom prst="roundRect">
            <a:avLst>
              <a:gd name="adj" fmla="val 17647"/>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97E52150-6DAD-4EEB-BC8F-AE30006FA090}"/>
              </a:ext>
            </a:extLst>
          </p:cNvPr>
          <p:cNvSpPr>
            <a:spLocks noGrp="1"/>
          </p:cNvSpPr>
          <p:nvPr/>
        </p:nvSpPr>
        <p:spPr>
          <a:xfrm>
            <a:off x="895350" y="26003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latin typeface="Calibri"/>
                <a:ea typeface="맑은 고딕"/>
                <a:cs typeface="맑은 고딕"/>
              </a:rPr>
              <a:t>2</a:t>
            </a:r>
          </a:p>
        </p:txBody>
      </p:sp>
      <p:sp>
        <p:nvSpPr>
          <p:cNvPr id="11" name="직사각형 10">
            <a:extLst>
              <a:ext uri="{FF2B5EF4-FFF2-40B4-BE49-F238E27FC236}">
                <a16:creationId xmlns:a16="http://schemas.microsoft.com/office/drawing/2014/main" id="{DA2ED382-6A56-4D42-BC1D-89FD994AD076}"/>
              </a:ext>
            </a:extLst>
          </p:cNvPr>
          <p:cNvSpPr>
            <a:spLocks noGrp="1"/>
          </p:cNvSpPr>
          <p:nvPr/>
        </p:nvSpPr>
        <p:spPr>
          <a:xfrm>
            <a:off x="1447800" y="26003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1차 확인</a:t>
            </a:r>
          </a:p>
        </p:txBody>
      </p:sp>
      <p:sp>
        <p:nvSpPr>
          <p:cNvPr id="12" name="직사각형 11">
            <a:extLst>
              <a:ext uri="{FF2B5EF4-FFF2-40B4-BE49-F238E27FC236}">
                <a16:creationId xmlns:a16="http://schemas.microsoft.com/office/drawing/2014/main" id="{A6B7E833-C09A-4B45-A120-2CBAD3C01F10}"/>
              </a:ext>
            </a:extLst>
          </p:cNvPr>
          <p:cNvSpPr>
            <a:spLocks noGrp="1"/>
          </p:cNvSpPr>
          <p:nvPr/>
        </p:nvSpPr>
        <p:spPr>
          <a:xfrm>
            <a:off x="4095750" y="26003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전원, 통신, 기지국, 앱</a:t>
            </a:r>
          </a:p>
        </p:txBody>
      </p:sp>
      <p:sp>
        <p:nvSpPr>
          <p:cNvPr id="13" name="모서리가 둥근 직사각형 12">
            <a:extLst>
              <a:ext uri="{FF2B5EF4-FFF2-40B4-BE49-F238E27FC236}">
                <a16:creationId xmlns:a16="http://schemas.microsoft.com/office/drawing/2014/main" id="{0DFAF8A9-761E-47F5-BF4A-1A834BE64D74}"/>
              </a:ext>
            </a:extLst>
          </p:cNvPr>
          <p:cNvSpPr>
            <a:spLocks noGrp="1"/>
          </p:cNvSpPr>
          <p:nvPr/>
        </p:nvSpPr>
        <p:spPr>
          <a:xfrm>
            <a:off x="685800" y="3238500"/>
            <a:ext cx="10820400" cy="647700"/>
          </a:xfrm>
          <a:prstGeom prst="roundRect">
            <a:avLst>
              <a:gd name="adj" fmla="val 17647"/>
            </a:avLst>
          </a:prstGeom>
          <a:solidFill>
            <a:srgbClr val="ECF1EE"/>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6824DA03-FFC6-41F3-AD36-F65A158BC4D1}"/>
              </a:ext>
            </a:extLst>
          </p:cNvPr>
          <p:cNvSpPr>
            <a:spLocks noGrp="1"/>
          </p:cNvSpPr>
          <p:nvPr/>
        </p:nvSpPr>
        <p:spPr>
          <a:xfrm>
            <a:off x="895350" y="34004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latin typeface="Calibri"/>
                <a:ea typeface="맑은 고딕"/>
                <a:cs typeface="맑은 고딕"/>
              </a:rPr>
              <a:t>3</a:t>
            </a:r>
          </a:p>
        </p:txBody>
      </p:sp>
      <p:sp>
        <p:nvSpPr>
          <p:cNvPr id="15" name="직사각형 14">
            <a:extLst>
              <a:ext uri="{FF2B5EF4-FFF2-40B4-BE49-F238E27FC236}">
                <a16:creationId xmlns:a16="http://schemas.microsoft.com/office/drawing/2014/main" id="{F07D25B1-F50C-4ACE-BC0C-757421F63868}"/>
              </a:ext>
            </a:extLst>
          </p:cNvPr>
          <p:cNvSpPr>
            <a:spLocks noGrp="1"/>
          </p:cNvSpPr>
          <p:nvPr/>
        </p:nvSpPr>
        <p:spPr>
          <a:xfrm>
            <a:off x="1447800" y="34004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근거 묶음</a:t>
            </a:r>
          </a:p>
        </p:txBody>
      </p:sp>
      <p:sp>
        <p:nvSpPr>
          <p:cNvPr id="16" name="직사각형 15">
            <a:extLst>
              <a:ext uri="{FF2B5EF4-FFF2-40B4-BE49-F238E27FC236}">
                <a16:creationId xmlns:a16="http://schemas.microsoft.com/office/drawing/2014/main" id="{63340C96-882C-4A9C-881A-2303A78C10EA}"/>
              </a:ext>
            </a:extLst>
          </p:cNvPr>
          <p:cNvSpPr>
            <a:spLocks noGrp="1"/>
          </p:cNvSpPr>
          <p:nvPr/>
        </p:nvSpPr>
        <p:spPr>
          <a:xfrm>
            <a:off x="4095750" y="34004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화면 캡처, 그래프 구간, 사건 기록</a:t>
            </a:r>
          </a:p>
        </p:txBody>
      </p:sp>
      <p:sp>
        <p:nvSpPr>
          <p:cNvPr id="17" name="모서리가 둥근 직사각형 16">
            <a:extLst>
              <a:ext uri="{FF2B5EF4-FFF2-40B4-BE49-F238E27FC236}">
                <a16:creationId xmlns:a16="http://schemas.microsoft.com/office/drawing/2014/main" id="{232F8FE7-ECAF-4C58-8DCE-076A8F24439A}"/>
              </a:ext>
            </a:extLst>
          </p:cNvPr>
          <p:cNvSpPr>
            <a:spLocks noGrp="1"/>
          </p:cNvSpPr>
          <p:nvPr/>
        </p:nvSpPr>
        <p:spPr>
          <a:xfrm>
            <a:off x="685800" y="4038600"/>
            <a:ext cx="10820400" cy="647700"/>
          </a:xfrm>
          <a:prstGeom prst="roundRect">
            <a:avLst>
              <a:gd name="adj" fmla="val 17647"/>
            </a:avLst>
          </a:prstGeom>
          <a:solidFill>
            <a:srgbClr val="65D44A"/>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EC24EF5E-077C-4426-894F-CDD02BA1E0C5}"/>
              </a:ext>
            </a:extLst>
          </p:cNvPr>
          <p:cNvSpPr>
            <a:spLocks noGrp="1"/>
          </p:cNvSpPr>
          <p:nvPr/>
        </p:nvSpPr>
        <p:spPr>
          <a:xfrm>
            <a:off x="895350" y="42005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latin typeface="Calibri"/>
                <a:ea typeface="맑은 고딕"/>
                <a:cs typeface="맑은 고딕"/>
              </a:rPr>
              <a:t>4</a:t>
            </a:r>
          </a:p>
        </p:txBody>
      </p:sp>
      <p:sp>
        <p:nvSpPr>
          <p:cNvPr id="19" name="직사각형 18">
            <a:extLst>
              <a:ext uri="{FF2B5EF4-FFF2-40B4-BE49-F238E27FC236}">
                <a16:creationId xmlns:a16="http://schemas.microsoft.com/office/drawing/2014/main" id="{8FEE8FB7-FEFC-4809-AA23-D921F3D5A413}"/>
              </a:ext>
            </a:extLst>
          </p:cNvPr>
          <p:cNvSpPr>
            <a:spLocks noGrp="1"/>
          </p:cNvSpPr>
          <p:nvPr/>
        </p:nvSpPr>
        <p:spPr>
          <a:xfrm>
            <a:off x="1447800" y="42005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상위 대응</a:t>
            </a:r>
          </a:p>
        </p:txBody>
      </p:sp>
      <p:sp>
        <p:nvSpPr>
          <p:cNvPr id="20" name="직사각형 19">
            <a:extLst>
              <a:ext uri="{FF2B5EF4-FFF2-40B4-BE49-F238E27FC236}">
                <a16:creationId xmlns:a16="http://schemas.microsoft.com/office/drawing/2014/main" id="{B7DA7775-279D-48AF-9EB1-B027656D9592}"/>
              </a:ext>
            </a:extLst>
          </p:cNvPr>
          <p:cNvSpPr>
            <a:spLocks noGrp="1"/>
          </p:cNvSpPr>
          <p:nvPr/>
        </p:nvSpPr>
        <p:spPr>
          <a:xfrm>
            <a:off x="4095750" y="42005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현지 파트너 / smaXtec 지원</a:t>
            </a:r>
          </a:p>
        </p:txBody>
      </p:sp>
      <p:sp>
        <p:nvSpPr>
          <p:cNvPr id="21" name="모서리가 둥근 직사각형 20">
            <a:extLst>
              <a:ext uri="{FF2B5EF4-FFF2-40B4-BE49-F238E27FC236}">
                <a16:creationId xmlns:a16="http://schemas.microsoft.com/office/drawing/2014/main" id="{F429A3BA-F182-4DF2-B374-6C57164AEDB4}"/>
              </a:ext>
            </a:extLst>
          </p:cNvPr>
          <p:cNvSpPr>
            <a:spLocks noGrp="1"/>
          </p:cNvSpPr>
          <p:nvPr/>
        </p:nvSpPr>
        <p:spPr>
          <a:xfrm>
            <a:off x="685800" y="4838700"/>
            <a:ext cx="10820400" cy="647700"/>
          </a:xfrm>
          <a:prstGeom prst="roundRect">
            <a:avLst>
              <a:gd name="adj" fmla="val 17647"/>
            </a:avLst>
          </a:prstGeom>
          <a:solidFill>
            <a:srgbClr val="ECF1EE"/>
          </a:solidFill>
          <a:ln w="0">
            <a:noFill/>
            <a:prstDash val="solid"/>
          </a:ln>
        </p:spPr>
        <p:txBody>
          <a:bodyPr/>
          <a:lstStyle/>
          <a:p>
            <a:endParaRPr lang="ko-KR" altLang="en-US"/>
          </a:p>
        </p:txBody>
      </p:sp>
      <p:sp>
        <p:nvSpPr>
          <p:cNvPr id="22" name="직사각형 21">
            <a:extLst>
              <a:ext uri="{FF2B5EF4-FFF2-40B4-BE49-F238E27FC236}">
                <a16:creationId xmlns:a16="http://schemas.microsoft.com/office/drawing/2014/main" id="{8AC6B855-5DC9-44A8-B3C9-36D0E72BB8EC}"/>
              </a:ext>
            </a:extLst>
          </p:cNvPr>
          <p:cNvSpPr>
            <a:spLocks noGrp="1"/>
          </p:cNvSpPr>
          <p:nvPr/>
        </p:nvSpPr>
        <p:spPr>
          <a:xfrm>
            <a:off x="895350" y="5000625"/>
            <a:ext cx="304800" cy="285750"/>
          </a:xfrm>
          <a:prstGeom prst="rect">
            <a:avLst/>
          </a:prstGeom>
          <a:noFill/>
          <a:ln w="0">
            <a:noFill/>
            <a:prstDash val="solid"/>
          </a:ln>
        </p:spPr>
        <p:txBody>
          <a:bodyPr/>
          <a:lstStyle/>
          <a:p>
            <a:pPr algn="l">
              <a:buNone/>
              <a:defRPr sz="1500" b="1">
                <a:solidFill>
                  <a:srgbClr val="15A98C"/>
                </a:solidFill>
              </a:defRPr>
            </a:pPr>
            <a:r>
              <a:rPr sz="1500" b="1">
                <a:solidFill>
                  <a:srgbClr val="15A98C"/>
                </a:solidFill>
                <a:latin typeface="Calibri"/>
                <a:ea typeface="맑은 고딕"/>
                <a:cs typeface="맑은 고딕"/>
              </a:rPr>
              <a:t>5</a:t>
            </a:r>
          </a:p>
        </p:txBody>
      </p:sp>
      <p:sp>
        <p:nvSpPr>
          <p:cNvPr id="23" name="직사각형 22">
            <a:extLst>
              <a:ext uri="{FF2B5EF4-FFF2-40B4-BE49-F238E27FC236}">
                <a16:creationId xmlns:a16="http://schemas.microsoft.com/office/drawing/2014/main" id="{C4CE059A-2039-4E45-BD78-2F54E02B2145}"/>
              </a:ext>
            </a:extLst>
          </p:cNvPr>
          <p:cNvSpPr>
            <a:spLocks noGrp="1"/>
          </p:cNvSpPr>
          <p:nvPr/>
        </p:nvSpPr>
        <p:spPr>
          <a:xfrm>
            <a:off x="1447800" y="5000625"/>
            <a:ext cx="2476500" cy="285750"/>
          </a:xfrm>
          <a:prstGeom prst="rect">
            <a:avLst/>
          </a:prstGeom>
          <a:noFill/>
          <a:ln w="0">
            <a:noFill/>
            <a:prstDash val="solid"/>
          </a:ln>
        </p:spPr>
        <p:txBody>
          <a:bodyPr/>
          <a:lstStyle/>
          <a:p>
            <a:pPr algn="l">
              <a:buNone/>
              <a:defRPr sz="1350" b="1">
                <a:solidFill>
                  <a:srgbClr val="10251F"/>
                </a:solidFill>
              </a:defRPr>
            </a:pPr>
            <a:r>
              <a:rPr sz="1350" b="1">
                <a:solidFill>
                  <a:srgbClr val="10251F"/>
                </a:solidFill>
                <a:latin typeface="Calibri"/>
                <a:ea typeface="맑은 고딕"/>
                <a:cs typeface="맑은 고딕"/>
              </a:rPr>
              <a:t>종결</a:t>
            </a:r>
          </a:p>
        </p:txBody>
      </p:sp>
      <p:sp>
        <p:nvSpPr>
          <p:cNvPr id="24" name="직사각형 23">
            <a:extLst>
              <a:ext uri="{FF2B5EF4-FFF2-40B4-BE49-F238E27FC236}">
                <a16:creationId xmlns:a16="http://schemas.microsoft.com/office/drawing/2014/main" id="{FD16375A-841F-461D-A18B-B2D098C78C59}"/>
              </a:ext>
            </a:extLst>
          </p:cNvPr>
          <p:cNvSpPr>
            <a:spLocks noGrp="1"/>
          </p:cNvSpPr>
          <p:nvPr/>
        </p:nvSpPr>
        <p:spPr>
          <a:xfrm>
            <a:off x="4095750" y="5000625"/>
            <a:ext cx="7048500" cy="32385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원인, 시정, 예방, 확인</a:t>
            </a:r>
          </a:p>
        </p:txBody>
      </p:sp>
    </p:spTree>
    <p:extLst>
      <p:ext uri="{BB962C8B-B14F-4D97-AF65-F5344CB8AC3E}">
        <p14:creationId xmlns:p14="http://schemas.microsoft.com/office/powerpoint/2010/main" val="496362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2" name="직사각형 21">
            <a:extLst>
              <a:ext uri="{FF2B5EF4-FFF2-40B4-BE49-F238E27FC236}">
                <a16:creationId xmlns:a16="http://schemas.microsoft.com/office/drawing/2014/main" id="{BD453577-7AA1-4C44-93AB-AC83B2891A3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현장 정착</a:t>
            </a:r>
          </a:p>
        </p:txBody>
      </p:sp>
      <p:sp>
        <p:nvSpPr>
          <p:cNvPr id="2" name="직사각형 1">
            <a:extLst>
              <a:ext uri="{FF2B5EF4-FFF2-40B4-BE49-F238E27FC236}">
                <a16:creationId xmlns:a16="http://schemas.microsoft.com/office/drawing/2014/main" id="{B55AEDD6-32F7-4710-A638-0898F2FF1D1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30일 안에 시스템을 일상 관리에 심는다</a:t>
            </a:r>
          </a:p>
        </p:txBody>
      </p:sp>
      <p:sp>
        <p:nvSpPr>
          <p:cNvPr id="3" name="직사각형 2">
            <a:extLst>
              <a:ext uri="{FF2B5EF4-FFF2-40B4-BE49-F238E27FC236}">
                <a16:creationId xmlns:a16="http://schemas.microsoft.com/office/drawing/2014/main" id="{6E0770E5-F99C-47BB-888A-6CB115F2B25C}"/>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B0A47846-6D0C-458E-83C9-14F8AAC94508}"/>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33</a:t>
            </a:r>
          </a:p>
        </p:txBody>
      </p:sp>
      <p:sp>
        <p:nvSpPr>
          <p:cNvPr id="5" name="모서리가 둥근 직사각형 4">
            <a:extLst>
              <a:ext uri="{FF2B5EF4-FFF2-40B4-BE49-F238E27FC236}">
                <a16:creationId xmlns:a16="http://schemas.microsoft.com/office/drawing/2014/main" id="{705B03AD-A4F3-4C5E-8D24-522605FFC240}"/>
              </a:ext>
            </a:extLst>
          </p:cNvPr>
          <p:cNvSpPr>
            <a:spLocks noGrp="1"/>
          </p:cNvSpPr>
          <p:nvPr/>
        </p:nvSpPr>
        <p:spPr>
          <a:xfrm>
            <a:off x="685800" y="1828800"/>
            <a:ext cx="2457450" cy="2781300"/>
          </a:xfrm>
          <a:prstGeom prst="roundRect">
            <a:avLst>
              <a:gd name="adj" fmla="val 6202"/>
            </a:avLst>
          </a:prstGeom>
          <a:solidFill>
            <a:srgbClr val="65D44A"/>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16801548-3C2A-46D0-BC68-5FE3FB15BF15}"/>
              </a:ext>
            </a:extLst>
          </p:cNvPr>
          <p:cNvSpPr>
            <a:spLocks noGrp="1"/>
          </p:cNvSpPr>
          <p:nvPr/>
        </p:nvSpPr>
        <p:spPr>
          <a:xfrm>
            <a:off x="89535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1주차</a:t>
            </a:r>
          </a:p>
        </p:txBody>
      </p:sp>
      <p:sp>
        <p:nvSpPr>
          <p:cNvPr id="7" name="직사각형 6">
            <a:extLst>
              <a:ext uri="{FF2B5EF4-FFF2-40B4-BE49-F238E27FC236}">
                <a16:creationId xmlns:a16="http://schemas.microsoft.com/office/drawing/2014/main" id="{DFC6FD9B-46AE-43B6-B32A-74D7141413BE}"/>
              </a:ext>
            </a:extLst>
          </p:cNvPr>
          <p:cNvSpPr>
            <a:spLocks noGrp="1"/>
          </p:cNvSpPr>
          <p:nvPr/>
        </p:nvSpPr>
        <p:spPr>
          <a:xfrm>
            <a:off x="89535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latin typeface="Calibri"/>
                <a:ea typeface="맑은 고딕"/>
                <a:cs typeface="맑은 고딕"/>
              </a:rPr>
              <a:t>세팅</a:t>
            </a:r>
          </a:p>
        </p:txBody>
      </p:sp>
      <p:sp>
        <p:nvSpPr>
          <p:cNvPr id="8" name="직사각형 7">
            <a:extLst>
              <a:ext uri="{FF2B5EF4-FFF2-40B4-BE49-F238E27FC236}">
                <a16:creationId xmlns:a16="http://schemas.microsoft.com/office/drawing/2014/main" id="{E13D2EDD-CA70-4144-A46A-5F4EEB957A21}"/>
              </a:ext>
            </a:extLst>
          </p:cNvPr>
          <p:cNvSpPr>
            <a:spLocks noGrp="1"/>
          </p:cNvSpPr>
          <p:nvPr/>
        </p:nvSpPr>
        <p:spPr>
          <a:xfrm>
            <a:off x="89535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우군, 권한, 알람, 기본 표준절차</a:t>
            </a:r>
          </a:p>
        </p:txBody>
      </p:sp>
      <p:sp>
        <p:nvSpPr>
          <p:cNvPr id="9" name="모서리가 둥근 직사각형 8">
            <a:extLst>
              <a:ext uri="{FF2B5EF4-FFF2-40B4-BE49-F238E27FC236}">
                <a16:creationId xmlns:a16="http://schemas.microsoft.com/office/drawing/2014/main" id="{7D6AD7B7-914B-4BE3-9A58-AE5D9F7D8441}"/>
              </a:ext>
            </a:extLst>
          </p:cNvPr>
          <p:cNvSpPr>
            <a:spLocks noGrp="1"/>
          </p:cNvSpPr>
          <p:nvPr/>
        </p:nvSpPr>
        <p:spPr>
          <a:xfrm>
            <a:off x="3371850" y="1828800"/>
            <a:ext cx="2457450" cy="2781300"/>
          </a:xfrm>
          <a:prstGeom prst="roundRect">
            <a:avLst>
              <a:gd name="adj" fmla="val 6202"/>
            </a:avLst>
          </a:prstGeom>
          <a:solidFill>
            <a:srgbClr val="FFFFFF"/>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36ED95CE-4D6C-4032-9626-6A621AB323DB}"/>
              </a:ext>
            </a:extLst>
          </p:cNvPr>
          <p:cNvSpPr>
            <a:spLocks noGrp="1"/>
          </p:cNvSpPr>
          <p:nvPr/>
        </p:nvSpPr>
        <p:spPr>
          <a:xfrm>
            <a:off x="358140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2주차</a:t>
            </a:r>
          </a:p>
        </p:txBody>
      </p:sp>
      <p:sp>
        <p:nvSpPr>
          <p:cNvPr id="11" name="직사각형 10">
            <a:extLst>
              <a:ext uri="{FF2B5EF4-FFF2-40B4-BE49-F238E27FC236}">
                <a16:creationId xmlns:a16="http://schemas.microsoft.com/office/drawing/2014/main" id="{2C3304A8-69DE-40FA-98C1-FFD457A057D4}"/>
              </a:ext>
            </a:extLst>
          </p:cNvPr>
          <p:cNvSpPr>
            <a:spLocks noGrp="1"/>
          </p:cNvSpPr>
          <p:nvPr/>
        </p:nvSpPr>
        <p:spPr>
          <a:xfrm>
            <a:off x="358140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latin typeface="Calibri"/>
                <a:ea typeface="맑은 고딕"/>
                <a:cs typeface="맑은 고딕"/>
              </a:rPr>
              <a:t>교육</a:t>
            </a:r>
          </a:p>
        </p:txBody>
      </p:sp>
      <p:sp>
        <p:nvSpPr>
          <p:cNvPr id="12" name="직사각형 11">
            <a:extLst>
              <a:ext uri="{FF2B5EF4-FFF2-40B4-BE49-F238E27FC236}">
                <a16:creationId xmlns:a16="http://schemas.microsoft.com/office/drawing/2014/main" id="{2BC6D3BB-8278-475A-BC7C-7963C4154CE5}"/>
              </a:ext>
            </a:extLst>
          </p:cNvPr>
          <p:cNvSpPr>
            <a:spLocks noGrp="1"/>
          </p:cNvSpPr>
          <p:nvPr/>
        </p:nvSpPr>
        <p:spPr>
          <a:xfrm>
            <a:off x="358140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그래프, 분류, 기록, 인수인계</a:t>
            </a:r>
          </a:p>
        </p:txBody>
      </p:sp>
      <p:sp>
        <p:nvSpPr>
          <p:cNvPr id="13" name="모서리가 둥근 직사각형 12">
            <a:extLst>
              <a:ext uri="{FF2B5EF4-FFF2-40B4-BE49-F238E27FC236}">
                <a16:creationId xmlns:a16="http://schemas.microsoft.com/office/drawing/2014/main" id="{42893184-0389-45C5-B9D2-0853390629A9}"/>
              </a:ext>
            </a:extLst>
          </p:cNvPr>
          <p:cNvSpPr>
            <a:spLocks noGrp="1"/>
          </p:cNvSpPr>
          <p:nvPr/>
        </p:nvSpPr>
        <p:spPr>
          <a:xfrm>
            <a:off x="6057900" y="1828800"/>
            <a:ext cx="2457450" cy="2781300"/>
          </a:xfrm>
          <a:prstGeom prst="roundRect">
            <a:avLst>
              <a:gd name="adj" fmla="val 6202"/>
            </a:avLst>
          </a:prstGeom>
          <a:solidFill>
            <a:srgbClr val="FFFFFF"/>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9F776E04-B2EB-4ADA-8C18-B012CCADC80C}"/>
              </a:ext>
            </a:extLst>
          </p:cNvPr>
          <p:cNvSpPr>
            <a:spLocks noGrp="1"/>
          </p:cNvSpPr>
          <p:nvPr/>
        </p:nvSpPr>
        <p:spPr>
          <a:xfrm>
            <a:off x="626745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3주차</a:t>
            </a:r>
          </a:p>
        </p:txBody>
      </p:sp>
      <p:sp>
        <p:nvSpPr>
          <p:cNvPr id="15" name="직사각형 14">
            <a:extLst>
              <a:ext uri="{FF2B5EF4-FFF2-40B4-BE49-F238E27FC236}">
                <a16:creationId xmlns:a16="http://schemas.microsoft.com/office/drawing/2014/main" id="{49DCC4F0-E996-48AB-B542-B3FA6FC0B1A6}"/>
              </a:ext>
            </a:extLst>
          </p:cNvPr>
          <p:cNvSpPr>
            <a:spLocks noGrp="1"/>
          </p:cNvSpPr>
          <p:nvPr/>
        </p:nvSpPr>
        <p:spPr>
          <a:xfrm>
            <a:off x="626745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latin typeface="Calibri"/>
                <a:ea typeface="맑은 고딕"/>
                <a:cs typeface="맑은 고딕"/>
              </a:rPr>
              <a:t>관찰</a:t>
            </a:r>
          </a:p>
        </p:txBody>
      </p:sp>
      <p:sp>
        <p:nvSpPr>
          <p:cNvPr id="16" name="직사각형 15">
            <a:extLst>
              <a:ext uri="{FF2B5EF4-FFF2-40B4-BE49-F238E27FC236}">
                <a16:creationId xmlns:a16="http://schemas.microsoft.com/office/drawing/2014/main" id="{231E05F0-1AF3-4AFC-BE1E-B9D1AE99DBAE}"/>
              </a:ext>
            </a:extLst>
          </p:cNvPr>
          <p:cNvSpPr>
            <a:spLocks noGrp="1"/>
          </p:cNvSpPr>
          <p:nvPr/>
        </p:nvSpPr>
        <p:spPr>
          <a:xfrm>
            <a:off x="626745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대응 시간, 미결 작업, 데이터 품질</a:t>
            </a:r>
          </a:p>
        </p:txBody>
      </p:sp>
      <p:sp>
        <p:nvSpPr>
          <p:cNvPr id="17" name="모서리가 둥근 직사각형 16">
            <a:extLst>
              <a:ext uri="{FF2B5EF4-FFF2-40B4-BE49-F238E27FC236}">
                <a16:creationId xmlns:a16="http://schemas.microsoft.com/office/drawing/2014/main" id="{A03E1363-8681-4E50-BF3F-8AFBA3940A6C}"/>
              </a:ext>
            </a:extLst>
          </p:cNvPr>
          <p:cNvSpPr>
            <a:spLocks noGrp="1"/>
          </p:cNvSpPr>
          <p:nvPr/>
        </p:nvSpPr>
        <p:spPr>
          <a:xfrm>
            <a:off x="8743950" y="1828800"/>
            <a:ext cx="2457450" cy="2781300"/>
          </a:xfrm>
          <a:prstGeom prst="roundRect">
            <a:avLst>
              <a:gd name="adj" fmla="val 6202"/>
            </a:avLst>
          </a:prstGeom>
          <a:solidFill>
            <a:srgbClr val="FFFFFF"/>
          </a:solidFill>
          <a:ln w="0">
            <a:noFill/>
            <a:prstDash val="solid"/>
          </a:ln>
        </p:spPr>
        <p:txBody>
          <a:bodyPr/>
          <a:lstStyle/>
          <a:p>
            <a:endParaRPr lang="ko-KR" altLang="en-US"/>
          </a:p>
        </p:txBody>
      </p:sp>
      <p:sp>
        <p:nvSpPr>
          <p:cNvPr id="18" name="직사각형 17">
            <a:extLst>
              <a:ext uri="{FF2B5EF4-FFF2-40B4-BE49-F238E27FC236}">
                <a16:creationId xmlns:a16="http://schemas.microsoft.com/office/drawing/2014/main" id="{15D8B8A5-8714-415F-8CD8-728D1861EEC3}"/>
              </a:ext>
            </a:extLst>
          </p:cNvPr>
          <p:cNvSpPr>
            <a:spLocks noGrp="1"/>
          </p:cNvSpPr>
          <p:nvPr/>
        </p:nvSpPr>
        <p:spPr>
          <a:xfrm>
            <a:off x="8953500" y="2095500"/>
            <a:ext cx="2038350" cy="266700"/>
          </a:xfrm>
          <a:prstGeom prst="rect">
            <a:avLst/>
          </a:prstGeom>
          <a:noFill/>
          <a:ln w="0">
            <a:noFill/>
            <a:prstDash val="solid"/>
          </a:ln>
        </p:spPr>
        <p:txBody>
          <a:bodyPr/>
          <a:lstStyle/>
          <a:p>
            <a:pPr algn="l">
              <a:buNone/>
              <a:defRPr sz="1275" b="1">
                <a:solidFill>
                  <a:srgbClr val="15A98C"/>
                </a:solidFill>
              </a:defRPr>
            </a:pPr>
            <a:r>
              <a:rPr sz="1275" b="1">
                <a:solidFill>
                  <a:srgbClr val="15A98C"/>
                </a:solidFill>
                <a:latin typeface="Calibri"/>
                <a:ea typeface="맑은 고딕"/>
                <a:cs typeface="맑은 고딕"/>
              </a:rPr>
              <a:t>4주차</a:t>
            </a:r>
          </a:p>
        </p:txBody>
      </p:sp>
      <p:sp>
        <p:nvSpPr>
          <p:cNvPr id="19" name="직사각형 18">
            <a:extLst>
              <a:ext uri="{FF2B5EF4-FFF2-40B4-BE49-F238E27FC236}">
                <a16:creationId xmlns:a16="http://schemas.microsoft.com/office/drawing/2014/main" id="{0ECE057C-B8C4-408E-8C0E-298EFEBC1B73}"/>
              </a:ext>
            </a:extLst>
          </p:cNvPr>
          <p:cNvSpPr>
            <a:spLocks noGrp="1"/>
          </p:cNvSpPr>
          <p:nvPr/>
        </p:nvSpPr>
        <p:spPr>
          <a:xfrm>
            <a:off x="8953500" y="2705100"/>
            <a:ext cx="2038350" cy="342900"/>
          </a:xfrm>
          <a:prstGeom prst="rect">
            <a:avLst/>
          </a:prstGeom>
          <a:noFill/>
          <a:ln w="0">
            <a:noFill/>
            <a:prstDash val="solid"/>
          </a:ln>
        </p:spPr>
        <p:txBody>
          <a:bodyPr/>
          <a:lstStyle/>
          <a:p>
            <a:pPr algn="l">
              <a:buNone/>
              <a:defRPr sz="1875" b="1">
                <a:solidFill>
                  <a:srgbClr val="10251F"/>
                </a:solidFill>
              </a:defRPr>
            </a:pPr>
            <a:r>
              <a:rPr sz="1875" b="1">
                <a:solidFill>
                  <a:srgbClr val="10251F"/>
                </a:solidFill>
                <a:latin typeface="Calibri"/>
                <a:ea typeface="맑은 고딕"/>
                <a:cs typeface="맑은 고딕"/>
              </a:rPr>
              <a:t>개선</a:t>
            </a:r>
          </a:p>
        </p:txBody>
      </p:sp>
      <p:sp>
        <p:nvSpPr>
          <p:cNvPr id="20" name="직사각형 19">
            <a:extLst>
              <a:ext uri="{FF2B5EF4-FFF2-40B4-BE49-F238E27FC236}">
                <a16:creationId xmlns:a16="http://schemas.microsoft.com/office/drawing/2014/main" id="{9224F303-61A4-4BCA-A242-40C1007FE3D4}"/>
              </a:ext>
            </a:extLst>
          </p:cNvPr>
          <p:cNvSpPr>
            <a:spLocks noGrp="1"/>
          </p:cNvSpPr>
          <p:nvPr/>
        </p:nvSpPr>
        <p:spPr>
          <a:xfrm>
            <a:off x="8953500" y="3295650"/>
            <a:ext cx="2038350" cy="952500"/>
          </a:xfrm>
          <a:prstGeom prst="rect">
            <a:avLst/>
          </a:prstGeom>
          <a:noFill/>
          <a:ln w="0">
            <a:noFill/>
            <a:prstDash val="solid"/>
          </a:ln>
        </p:spPr>
        <p:txBody>
          <a:bodyPr/>
          <a:lstStyle/>
          <a:p>
            <a:pPr algn="l">
              <a:buNone/>
              <a:defRPr sz="1350" b="0">
                <a:solidFill>
                  <a:srgbClr val="66746F"/>
                </a:solidFill>
              </a:defRPr>
            </a:pPr>
            <a:r>
              <a:rPr sz="1350" b="0">
                <a:solidFill>
                  <a:srgbClr val="66746F"/>
                </a:solidFill>
                <a:latin typeface="Calibri"/>
                <a:ea typeface="맑은 고딕"/>
                <a:cs typeface="맑은 고딕"/>
              </a:rPr>
              <a:t>불필요한 알람, 권한, 임계값, 표준절차 재검토</a:t>
            </a:r>
          </a:p>
        </p:txBody>
      </p:sp>
      <p:sp>
        <p:nvSpPr>
          <p:cNvPr id="21" name="직사각형 20">
            <a:extLst>
              <a:ext uri="{FF2B5EF4-FFF2-40B4-BE49-F238E27FC236}">
                <a16:creationId xmlns:a16="http://schemas.microsoft.com/office/drawing/2014/main" id="{F7879EC5-8284-4ECB-80F9-321A49A388D0}"/>
              </a:ext>
            </a:extLst>
          </p:cNvPr>
          <p:cNvSpPr>
            <a:spLocks noGrp="1"/>
          </p:cNvSpPr>
          <p:nvPr/>
        </p:nvSpPr>
        <p:spPr>
          <a:xfrm>
            <a:off x="685800" y="5238750"/>
            <a:ext cx="10820400" cy="419100"/>
          </a:xfrm>
          <a:prstGeom prst="rect">
            <a:avLst/>
          </a:prstGeom>
          <a:noFill/>
          <a:ln w="0">
            <a:noFill/>
            <a:prstDash val="solid"/>
          </a:ln>
        </p:spPr>
        <p:txBody>
          <a:bodyPr/>
          <a:lstStyle/>
          <a:p>
            <a:pPr algn="ctr">
              <a:buNone/>
              <a:defRPr sz="1800" b="1">
                <a:solidFill>
                  <a:srgbClr val="15A98C"/>
                </a:solidFill>
              </a:defRPr>
            </a:pPr>
            <a:r>
              <a:rPr sz="1800" b="1">
                <a:solidFill>
                  <a:srgbClr val="15A98C"/>
                </a:solidFill>
                <a:latin typeface="Calibri"/>
                <a:ea typeface="맑은 고딕"/>
                <a:cs typeface="맑은 고딕"/>
              </a:rPr>
              <a:t>매주 묻는다 — 어떤 알람이 조치가 되었고, 어떤 알람이 되지 못했는가?</a:t>
            </a:r>
          </a:p>
        </p:txBody>
      </p:sp>
    </p:spTree>
    <p:extLst>
      <p:ext uri="{BB962C8B-B14F-4D97-AF65-F5344CB8AC3E}">
        <p14:creationId xmlns:p14="http://schemas.microsoft.com/office/powerpoint/2010/main" val="108043582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18" name="직사각형 17">
            <a:extLst>
              <a:ext uri="{FF2B5EF4-FFF2-40B4-BE49-F238E27FC236}">
                <a16:creationId xmlns:a16="http://schemas.microsoft.com/office/drawing/2014/main" id="{760320D5-1E71-4E47-8BBA-46619BCE11E1}"/>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65D44A"/>
                </a:solidFill>
              </a:defRPr>
            </a:pPr>
            <a:r>
              <a:rPr sz="1050" b="1">
                <a:solidFill>
                  <a:srgbClr val="65D44A"/>
                </a:solidFill>
                <a:latin typeface="Calibri"/>
                <a:ea typeface="맑은 고딕"/>
                <a:cs typeface="맑은 고딕"/>
              </a:rPr>
              <a:t>핵심 정리</a:t>
            </a:r>
          </a:p>
        </p:txBody>
      </p:sp>
      <p:sp>
        <p:nvSpPr>
          <p:cNvPr id="2" name="직사각형 1">
            <a:extLst>
              <a:ext uri="{FF2B5EF4-FFF2-40B4-BE49-F238E27FC236}">
                <a16:creationId xmlns:a16="http://schemas.microsoft.com/office/drawing/2014/main" id="{2A180481-8CC4-478A-AEC1-47A927F567E5}"/>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FFFFFF"/>
                </a:solidFill>
              </a:defRPr>
            </a:pPr>
            <a:r>
              <a:rPr sz="3000" b="1">
                <a:solidFill>
                  <a:srgbClr val="FFFFFF"/>
                </a:solidFill>
                <a:latin typeface="Calibri"/>
                <a:ea typeface="맑은 고딕"/>
                <a:cs typeface="맑은 고딕"/>
              </a:rPr>
              <a:t>세 가지 습관이 모든 기능을 잇는다</a:t>
            </a:r>
          </a:p>
        </p:txBody>
      </p:sp>
      <p:sp>
        <p:nvSpPr>
          <p:cNvPr id="3" name="직사각형 2">
            <a:extLst>
              <a:ext uri="{FF2B5EF4-FFF2-40B4-BE49-F238E27FC236}">
                <a16:creationId xmlns:a16="http://schemas.microsoft.com/office/drawing/2014/main" id="{7AAA04C1-2775-4098-918E-7A50C512D46F}"/>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BFD1CA"/>
                </a:solidFill>
              </a:defRPr>
            </a:pPr>
            <a:r>
              <a:rPr sz="825" b="0">
                <a:solidFill>
                  <a:srgbClr val="BFD1CA"/>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7005FA33-6E95-4147-8250-E747B01B6A4F}"/>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FFFFFF"/>
                </a:solidFill>
              </a:defRPr>
            </a:pPr>
            <a:r>
              <a:rPr sz="825" b="1">
                <a:solidFill>
                  <a:srgbClr val="FFFFFF"/>
                </a:solidFill>
                <a:latin typeface="Calibri"/>
                <a:ea typeface="맑은 고딕"/>
                <a:cs typeface="맑은 고딕"/>
              </a:rPr>
              <a:t>34</a:t>
            </a:r>
          </a:p>
        </p:txBody>
      </p:sp>
      <p:sp>
        <p:nvSpPr>
          <p:cNvPr id="5" name="모서리가 둥근 직사각형 4">
            <a:extLst>
              <a:ext uri="{FF2B5EF4-FFF2-40B4-BE49-F238E27FC236}">
                <a16:creationId xmlns:a16="http://schemas.microsoft.com/office/drawing/2014/main" id="{F8BB3F71-D427-497D-95FE-93F15FD37B63}"/>
              </a:ext>
            </a:extLst>
          </p:cNvPr>
          <p:cNvSpPr>
            <a:spLocks noGrp="1"/>
          </p:cNvSpPr>
          <p:nvPr/>
        </p:nvSpPr>
        <p:spPr>
          <a:xfrm>
            <a:off x="685800" y="1962150"/>
            <a:ext cx="3333750" cy="2724150"/>
          </a:xfrm>
          <a:prstGeom prst="roundRect">
            <a:avLst>
              <a:gd name="adj" fmla="val 5594"/>
            </a:avLst>
          </a:prstGeom>
          <a:solidFill>
            <a:srgbClr val="17342B"/>
          </a:solidFill>
          <a:ln w="0">
            <a:noFill/>
            <a:prstDash val="solid"/>
          </a:ln>
        </p:spPr>
        <p:txBody>
          <a:bodyPr/>
          <a:lstStyle/>
          <a:p>
            <a:endParaRPr lang="ko-KR" altLang="en-US"/>
          </a:p>
        </p:txBody>
      </p:sp>
      <p:sp>
        <p:nvSpPr>
          <p:cNvPr id="6" name="직사각형 5">
            <a:extLst>
              <a:ext uri="{FF2B5EF4-FFF2-40B4-BE49-F238E27FC236}">
                <a16:creationId xmlns:a16="http://schemas.microsoft.com/office/drawing/2014/main" id="{88142B71-6983-4F64-A71F-00ED9EA0E8BE}"/>
              </a:ext>
            </a:extLst>
          </p:cNvPr>
          <p:cNvSpPr>
            <a:spLocks noGrp="1"/>
          </p:cNvSpPr>
          <p:nvPr/>
        </p:nvSpPr>
        <p:spPr>
          <a:xfrm>
            <a:off x="952500" y="2209800"/>
            <a:ext cx="571500" cy="571500"/>
          </a:xfrm>
          <a:prstGeom prst="rect">
            <a:avLst/>
          </a:prstGeom>
          <a:noFill/>
          <a:ln w="0">
            <a:noFill/>
            <a:prstDash val="solid"/>
          </a:ln>
        </p:spPr>
        <p:txBody>
          <a:bodyPr/>
          <a:lstStyle/>
          <a:p>
            <a:pPr algn="l">
              <a:buNone/>
              <a:defRPr sz="3150" b="1">
                <a:solidFill>
                  <a:srgbClr val="65D44A"/>
                </a:solidFill>
              </a:defRPr>
            </a:pPr>
            <a:r>
              <a:rPr sz="3150" b="1">
                <a:solidFill>
                  <a:srgbClr val="65D44A"/>
                </a:solidFill>
                <a:latin typeface="Calibri"/>
                <a:ea typeface="맑은 고딕"/>
                <a:cs typeface="맑은 고딕"/>
              </a:rPr>
              <a:t>1</a:t>
            </a:r>
          </a:p>
        </p:txBody>
      </p:sp>
      <p:sp>
        <p:nvSpPr>
          <p:cNvPr id="7" name="직사각형 6">
            <a:extLst>
              <a:ext uri="{FF2B5EF4-FFF2-40B4-BE49-F238E27FC236}">
                <a16:creationId xmlns:a16="http://schemas.microsoft.com/office/drawing/2014/main" id="{FE5D00BC-DFA6-471F-9F89-873D6D7C3E40}"/>
              </a:ext>
            </a:extLst>
          </p:cNvPr>
          <p:cNvSpPr>
            <a:spLocks noGrp="1"/>
          </p:cNvSpPr>
          <p:nvPr/>
        </p:nvSpPr>
        <p:spPr>
          <a:xfrm>
            <a:off x="952500" y="3105150"/>
            <a:ext cx="2800350" cy="438150"/>
          </a:xfrm>
          <a:prstGeom prst="rect">
            <a:avLst/>
          </a:prstGeom>
          <a:noFill/>
          <a:ln w="0">
            <a:noFill/>
            <a:prstDash val="solid"/>
          </a:ln>
        </p:spPr>
        <p:txBody>
          <a:bodyPr/>
          <a:lstStyle/>
          <a:p>
            <a:pPr algn="l">
              <a:buNone/>
              <a:defRPr sz="2100" b="1">
                <a:solidFill>
                  <a:srgbClr val="FFFFFF"/>
                </a:solidFill>
              </a:defRPr>
            </a:pPr>
            <a:r>
              <a:rPr sz="2100" b="1">
                <a:solidFill>
                  <a:srgbClr val="FFFFFF"/>
                </a:solidFill>
                <a:latin typeface="Calibri"/>
                <a:ea typeface="맑은 고딕"/>
                <a:cs typeface="맑은 고딕"/>
              </a:rPr>
              <a:t>추이를 본다</a:t>
            </a:r>
          </a:p>
        </p:txBody>
      </p:sp>
      <p:sp>
        <p:nvSpPr>
          <p:cNvPr id="8" name="직사각형 7">
            <a:extLst>
              <a:ext uri="{FF2B5EF4-FFF2-40B4-BE49-F238E27FC236}">
                <a16:creationId xmlns:a16="http://schemas.microsoft.com/office/drawing/2014/main" id="{EA928A99-FFAB-4684-960B-CC0B88E11D67}"/>
              </a:ext>
            </a:extLst>
          </p:cNvPr>
          <p:cNvSpPr>
            <a:spLocks noGrp="1"/>
          </p:cNvSpPr>
          <p:nvPr/>
        </p:nvSpPr>
        <p:spPr>
          <a:xfrm>
            <a:off x="952500" y="3810000"/>
            <a:ext cx="2800350" cy="323850"/>
          </a:xfrm>
          <a:prstGeom prst="rect">
            <a:avLst/>
          </a:prstGeom>
          <a:noFill/>
          <a:ln w="0">
            <a:noFill/>
            <a:prstDash val="solid"/>
          </a:ln>
        </p:spPr>
        <p:txBody>
          <a:bodyPr/>
          <a:lstStyle/>
          <a:p>
            <a:pPr algn="l">
              <a:buNone/>
              <a:defRPr sz="1500" b="0">
                <a:solidFill>
                  <a:srgbClr val="C9D8D2"/>
                </a:solidFill>
              </a:defRPr>
            </a:pPr>
            <a:r>
              <a:rPr sz="1500" b="0">
                <a:solidFill>
                  <a:srgbClr val="C9D8D2"/>
                </a:solidFill>
                <a:latin typeface="Calibri"/>
                <a:ea typeface="맑은 고딕"/>
                <a:cs typeface="맑은 고딕"/>
              </a:rPr>
              <a:t>한 점이 아니라</a:t>
            </a:r>
          </a:p>
        </p:txBody>
      </p:sp>
      <p:sp>
        <p:nvSpPr>
          <p:cNvPr id="9" name="모서리가 둥근 직사각형 8">
            <a:extLst>
              <a:ext uri="{FF2B5EF4-FFF2-40B4-BE49-F238E27FC236}">
                <a16:creationId xmlns:a16="http://schemas.microsoft.com/office/drawing/2014/main" id="{38F7B3E8-6588-45AC-AE60-C30336969DE1}"/>
              </a:ext>
            </a:extLst>
          </p:cNvPr>
          <p:cNvSpPr>
            <a:spLocks noGrp="1"/>
          </p:cNvSpPr>
          <p:nvPr/>
        </p:nvSpPr>
        <p:spPr>
          <a:xfrm>
            <a:off x="4286250" y="1962150"/>
            <a:ext cx="3333750" cy="2724150"/>
          </a:xfrm>
          <a:prstGeom prst="roundRect">
            <a:avLst>
              <a:gd name="adj" fmla="val 5594"/>
            </a:avLst>
          </a:prstGeom>
          <a:solidFill>
            <a:srgbClr val="65D44A"/>
          </a:solidFill>
          <a:ln w="0">
            <a:noFill/>
            <a:prstDash val="solid"/>
          </a:ln>
        </p:spPr>
        <p:txBody>
          <a:bodyPr/>
          <a:lstStyle/>
          <a:p>
            <a:endParaRPr lang="ko-KR" altLang="en-US"/>
          </a:p>
        </p:txBody>
      </p:sp>
      <p:sp>
        <p:nvSpPr>
          <p:cNvPr id="10" name="직사각형 9">
            <a:extLst>
              <a:ext uri="{FF2B5EF4-FFF2-40B4-BE49-F238E27FC236}">
                <a16:creationId xmlns:a16="http://schemas.microsoft.com/office/drawing/2014/main" id="{5D34467D-47F6-48AC-B427-7C2886FF403A}"/>
              </a:ext>
            </a:extLst>
          </p:cNvPr>
          <p:cNvSpPr>
            <a:spLocks noGrp="1"/>
          </p:cNvSpPr>
          <p:nvPr/>
        </p:nvSpPr>
        <p:spPr>
          <a:xfrm>
            <a:off x="4552950" y="2209800"/>
            <a:ext cx="571500" cy="571500"/>
          </a:xfrm>
          <a:prstGeom prst="rect">
            <a:avLst/>
          </a:prstGeom>
          <a:noFill/>
          <a:ln w="0">
            <a:noFill/>
            <a:prstDash val="solid"/>
          </a:ln>
        </p:spPr>
        <p:txBody>
          <a:bodyPr/>
          <a:lstStyle/>
          <a:p>
            <a:pPr algn="l">
              <a:buNone/>
              <a:defRPr sz="3150" b="1">
                <a:solidFill>
                  <a:srgbClr val="0A1B17"/>
                </a:solidFill>
              </a:defRPr>
            </a:pPr>
            <a:r>
              <a:rPr sz="3150" b="1">
                <a:solidFill>
                  <a:srgbClr val="0A1B17"/>
                </a:solidFill>
                <a:latin typeface="Calibri"/>
                <a:ea typeface="맑은 고딕"/>
                <a:cs typeface="맑은 고딕"/>
              </a:rPr>
              <a:t>2</a:t>
            </a:r>
          </a:p>
        </p:txBody>
      </p:sp>
      <p:sp>
        <p:nvSpPr>
          <p:cNvPr id="11" name="직사각형 10">
            <a:extLst>
              <a:ext uri="{FF2B5EF4-FFF2-40B4-BE49-F238E27FC236}">
                <a16:creationId xmlns:a16="http://schemas.microsoft.com/office/drawing/2014/main" id="{32C9032F-B29A-4006-9788-3A9EDD21ECD6}"/>
              </a:ext>
            </a:extLst>
          </p:cNvPr>
          <p:cNvSpPr>
            <a:spLocks noGrp="1"/>
          </p:cNvSpPr>
          <p:nvPr/>
        </p:nvSpPr>
        <p:spPr>
          <a:xfrm>
            <a:off x="4552950" y="3105150"/>
            <a:ext cx="2800350" cy="438150"/>
          </a:xfrm>
          <a:prstGeom prst="rect">
            <a:avLst/>
          </a:prstGeom>
          <a:noFill/>
          <a:ln w="0">
            <a:noFill/>
            <a:prstDash val="solid"/>
          </a:ln>
        </p:spPr>
        <p:txBody>
          <a:bodyPr/>
          <a:lstStyle/>
          <a:p>
            <a:pPr algn="l">
              <a:buNone/>
              <a:defRPr sz="2100" b="1">
                <a:solidFill>
                  <a:srgbClr val="0A1B17"/>
                </a:solidFill>
              </a:defRPr>
            </a:pPr>
            <a:r>
              <a:rPr sz="2100" b="1">
                <a:solidFill>
                  <a:srgbClr val="0A1B17"/>
                </a:solidFill>
                <a:latin typeface="Calibri"/>
                <a:ea typeface="맑은 고딕"/>
                <a:cs typeface="맑은 고딕"/>
              </a:rPr>
              <a:t>맥락을 더한다</a:t>
            </a:r>
          </a:p>
        </p:txBody>
      </p:sp>
      <p:sp>
        <p:nvSpPr>
          <p:cNvPr id="12" name="직사각형 11">
            <a:extLst>
              <a:ext uri="{FF2B5EF4-FFF2-40B4-BE49-F238E27FC236}">
                <a16:creationId xmlns:a16="http://schemas.microsoft.com/office/drawing/2014/main" id="{A7D5668D-1612-40E1-A4CF-996AE655DD98}"/>
              </a:ext>
            </a:extLst>
          </p:cNvPr>
          <p:cNvSpPr>
            <a:spLocks noGrp="1"/>
          </p:cNvSpPr>
          <p:nvPr/>
        </p:nvSpPr>
        <p:spPr>
          <a:xfrm>
            <a:off x="4552950" y="3810000"/>
            <a:ext cx="2800350" cy="323850"/>
          </a:xfrm>
          <a:prstGeom prst="rect">
            <a:avLst/>
          </a:prstGeom>
          <a:noFill/>
          <a:ln w="0">
            <a:noFill/>
            <a:prstDash val="solid"/>
          </a:ln>
        </p:spPr>
        <p:txBody>
          <a:bodyPr/>
          <a:lstStyle/>
          <a:p>
            <a:pPr algn="l">
              <a:buNone/>
              <a:defRPr sz="1500" b="0">
                <a:solidFill>
                  <a:srgbClr val="0A1B17"/>
                </a:solidFill>
              </a:defRPr>
            </a:pPr>
            <a:r>
              <a:rPr sz="1500" b="0">
                <a:solidFill>
                  <a:srgbClr val="0A1B17"/>
                </a:solidFill>
                <a:latin typeface="Calibri"/>
                <a:ea typeface="맑은 고딕"/>
                <a:cs typeface="맑은 고딕"/>
              </a:rPr>
              <a:t>개체 + 우군 + 사건</a:t>
            </a:r>
          </a:p>
        </p:txBody>
      </p:sp>
      <p:sp>
        <p:nvSpPr>
          <p:cNvPr id="13" name="모서리가 둥근 직사각형 12">
            <a:extLst>
              <a:ext uri="{FF2B5EF4-FFF2-40B4-BE49-F238E27FC236}">
                <a16:creationId xmlns:a16="http://schemas.microsoft.com/office/drawing/2014/main" id="{EE96923E-7105-4DAC-90D5-F115E99D0135}"/>
              </a:ext>
            </a:extLst>
          </p:cNvPr>
          <p:cNvSpPr>
            <a:spLocks noGrp="1"/>
          </p:cNvSpPr>
          <p:nvPr/>
        </p:nvSpPr>
        <p:spPr>
          <a:xfrm>
            <a:off x="7886700" y="1962150"/>
            <a:ext cx="3333750" cy="2724150"/>
          </a:xfrm>
          <a:prstGeom prst="roundRect">
            <a:avLst>
              <a:gd name="adj" fmla="val 5594"/>
            </a:avLst>
          </a:prstGeom>
          <a:solidFill>
            <a:srgbClr val="17342B"/>
          </a:solidFill>
          <a:ln w="0">
            <a:noFill/>
            <a:prstDash val="solid"/>
          </a:ln>
        </p:spPr>
        <p:txBody>
          <a:bodyPr/>
          <a:lstStyle/>
          <a:p>
            <a:endParaRPr lang="ko-KR" altLang="en-US"/>
          </a:p>
        </p:txBody>
      </p:sp>
      <p:sp>
        <p:nvSpPr>
          <p:cNvPr id="14" name="직사각형 13">
            <a:extLst>
              <a:ext uri="{FF2B5EF4-FFF2-40B4-BE49-F238E27FC236}">
                <a16:creationId xmlns:a16="http://schemas.microsoft.com/office/drawing/2014/main" id="{55DE22EE-23DD-41A8-8E3E-50EAB1E1673D}"/>
              </a:ext>
            </a:extLst>
          </p:cNvPr>
          <p:cNvSpPr>
            <a:spLocks noGrp="1"/>
          </p:cNvSpPr>
          <p:nvPr/>
        </p:nvSpPr>
        <p:spPr>
          <a:xfrm>
            <a:off x="8153400" y="2209800"/>
            <a:ext cx="571500" cy="571500"/>
          </a:xfrm>
          <a:prstGeom prst="rect">
            <a:avLst/>
          </a:prstGeom>
          <a:noFill/>
          <a:ln w="0">
            <a:noFill/>
            <a:prstDash val="solid"/>
          </a:ln>
        </p:spPr>
        <p:txBody>
          <a:bodyPr/>
          <a:lstStyle/>
          <a:p>
            <a:pPr algn="l">
              <a:buNone/>
              <a:defRPr sz="3150" b="1">
                <a:solidFill>
                  <a:srgbClr val="65D44A"/>
                </a:solidFill>
              </a:defRPr>
            </a:pPr>
            <a:r>
              <a:rPr sz="3150" b="1">
                <a:solidFill>
                  <a:srgbClr val="65D44A"/>
                </a:solidFill>
                <a:latin typeface="Calibri"/>
                <a:ea typeface="맑은 고딕"/>
                <a:cs typeface="맑은 고딕"/>
              </a:rPr>
              <a:t>3</a:t>
            </a:r>
          </a:p>
        </p:txBody>
      </p:sp>
      <p:sp>
        <p:nvSpPr>
          <p:cNvPr id="15" name="직사각형 14">
            <a:extLst>
              <a:ext uri="{FF2B5EF4-FFF2-40B4-BE49-F238E27FC236}">
                <a16:creationId xmlns:a16="http://schemas.microsoft.com/office/drawing/2014/main" id="{31F5E4D5-9BA6-4B42-9F6F-DFF2B8196018}"/>
              </a:ext>
            </a:extLst>
          </p:cNvPr>
          <p:cNvSpPr>
            <a:spLocks noGrp="1"/>
          </p:cNvSpPr>
          <p:nvPr/>
        </p:nvSpPr>
        <p:spPr>
          <a:xfrm>
            <a:off x="8153400" y="3105150"/>
            <a:ext cx="2800350" cy="438150"/>
          </a:xfrm>
          <a:prstGeom prst="rect">
            <a:avLst/>
          </a:prstGeom>
          <a:noFill/>
          <a:ln w="0">
            <a:noFill/>
            <a:prstDash val="solid"/>
          </a:ln>
        </p:spPr>
        <p:txBody>
          <a:bodyPr/>
          <a:lstStyle/>
          <a:p>
            <a:pPr algn="l">
              <a:buNone/>
              <a:defRPr sz="2100" b="1">
                <a:solidFill>
                  <a:srgbClr val="FFFFFF"/>
                </a:solidFill>
              </a:defRPr>
            </a:pPr>
            <a:r>
              <a:rPr sz="2100" b="1">
                <a:solidFill>
                  <a:srgbClr val="FFFFFF"/>
                </a:solidFill>
                <a:latin typeface="Calibri"/>
                <a:ea typeface="맑은 고딕"/>
                <a:cs typeface="맑은 고딕"/>
              </a:rPr>
              <a:t>작업을 닫는다</a:t>
            </a:r>
          </a:p>
        </p:txBody>
      </p:sp>
      <p:sp>
        <p:nvSpPr>
          <p:cNvPr id="16" name="직사각형 15">
            <a:extLst>
              <a:ext uri="{FF2B5EF4-FFF2-40B4-BE49-F238E27FC236}">
                <a16:creationId xmlns:a16="http://schemas.microsoft.com/office/drawing/2014/main" id="{1D8CC1C0-F581-449C-A94B-191ACCF5F613}"/>
              </a:ext>
            </a:extLst>
          </p:cNvPr>
          <p:cNvSpPr>
            <a:spLocks noGrp="1"/>
          </p:cNvSpPr>
          <p:nvPr/>
        </p:nvSpPr>
        <p:spPr>
          <a:xfrm>
            <a:off x="8153400" y="3810000"/>
            <a:ext cx="2800350" cy="323850"/>
          </a:xfrm>
          <a:prstGeom prst="rect">
            <a:avLst/>
          </a:prstGeom>
          <a:noFill/>
          <a:ln w="0">
            <a:noFill/>
            <a:prstDash val="solid"/>
          </a:ln>
        </p:spPr>
        <p:txBody>
          <a:bodyPr/>
          <a:lstStyle/>
          <a:p>
            <a:pPr algn="l">
              <a:buNone/>
              <a:defRPr sz="1500" b="0">
                <a:solidFill>
                  <a:srgbClr val="C9D8D2"/>
                </a:solidFill>
              </a:defRPr>
            </a:pPr>
            <a:r>
              <a:rPr sz="1500" b="0">
                <a:solidFill>
                  <a:srgbClr val="C9D8D2"/>
                </a:solidFill>
                <a:latin typeface="Calibri"/>
                <a:ea typeface="맑은 고딕"/>
                <a:cs typeface="맑은 고딕"/>
              </a:rPr>
              <a:t>확인 + 기록 + 후속조치</a:t>
            </a:r>
          </a:p>
        </p:txBody>
      </p:sp>
      <p:sp>
        <p:nvSpPr>
          <p:cNvPr id="17" name="직사각형 16">
            <a:extLst>
              <a:ext uri="{FF2B5EF4-FFF2-40B4-BE49-F238E27FC236}">
                <a16:creationId xmlns:a16="http://schemas.microsoft.com/office/drawing/2014/main" id="{CC216C0D-E76E-402D-9F35-9E0EE37E3898}"/>
              </a:ext>
            </a:extLst>
          </p:cNvPr>
          <p:cNvSpPr>
            <a:spLocks noGrp="1"/>
          </p:cNvSpPr>
          <p:nvPr/>
        </p:nvSpPr>
        <p:spPr>
          <a:xfrm>
            <a:off x="685800" y="5391150"/>
            <a:ext cx="10820400" cy="400050"/>
          </a:xfrm>
          <a:prstGeom prst="rect">
            <a:avLst/>
          </a:prstGeom>
          <a:noFill/>
          <a:ln w="0">
            <a:noFill/>
            <a:prstDash val="solid"/>
          </a:ln>
        </p:spPr>
        <p:txBody>
          <a:bodyPr/>
          <a:lstStyle/>
          <a:p>
            <a:pPr algn="ctr">
              <a:buNone/>
              <a:defRPr sz="1800" b="1">
                <a:solidFill>
                  <a:srgbClr val="65D44A"/>
                </a:solidFill>
              </a:defRPr>
            </a:pPr>
            <a:r>
              <a:rPr sz="1800" b="1">
                <a:solidFill>
                  <a:srgbClr val="65D44A"/>
                </a:solidFill>
                <a:latin typeface="Calibri"/>
                <a:ea typeface="맑은 고딕"/>
                <a:cs typeface="맑은 고딕"/>
              </a:rPr>
              <a:t>체내 데이터 → 더 이른 인지 → 정리된 행동 → 더 건강한 우군</a:t>
            </a:r>
          </a:p>
        </p:txBody>
      </p:sp>
    </p:spTree>
    <p:extLst>
      <p:ext uri="{BB962C8B-B14F-4D97-AF65-F5344CB8AC3E}">
        <p14:creationId xmlns:p14="http://schemas.microsoft.com/office/powerpoint/2010/main" val="9812292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10" name="직사각형 9">
            <a:extLst>
              <a:ext uri="{FF2B5EF4-FFF2-40B4-BE49-F238E27FC236}">
                <a16:creationId xmlns:a16="http://schemas.microsoft.com/office/drawing/2014/main" id="{4B8F83D7-3357-4ECA-B2A3-5DC17CCDE368}"/>
              </a:ext>
            </a:extLst>
          </p:cNvPr>
          <p:cNvSpPr>
            <a:spLocks noGrp="1"/>
          </p:cNvSpPr>
          <p:nvPr/>
        </p:nvSpPr>
        <p:spPr>
          <a:xfrm>
            <a:off x="685800" y="400050"/>
            <a:ext cx="4953000" cy="228600"/>
          </a:xfrm>
          <a:prstGeom prst="rect">
            <a:avLst/>
          </a:prstGeom>
          <a:noFill/>
          <a:ln w="0">
            <a:noFill/>
            <a:prstDash val="solid"/>
          </a:ln>
        </p:spPr>
        <p:txBody>
          <a:bodyPr/>
          <a:lstStyle/>
          <a:p>
            <a:pPr algn="l">
              <a:buNone/>
              <a:defRPr sz="1050" b="1">
                <a:solidFill>
                  <a:srgbClr val="15A98C"/>
                </a:solidFill>
              </a:defRPr>
            </a:pPr>
            <a:r>
              <a:rPr sz="1050" b="1">
                <a:solidFill>
                  <a:srgbClr val="15A98C"/>
                </a:solidFill>
                <a:latin typeface="Calibri"/>
                <a:ea typeface="맑은 고딕"/>
                <a:cs typeface="맑은 고딕"/>
              </a:rPr>
              <a:t>출처</a:t>
            </a:r>
          </a:p>
        </p:txBody>
      </p:sp>
      <p:sp>
        <p:nvSpPr>
          <p:cNvPr id="2" name="직사각형 1">
            <a:extLst>
              <a:ext uri="{FF2B5EF4-FFF2-40B4-BE49-F238E27FC236}">
                <a16:creationId xmlns:a16="http://schemas.microsoft.com/office/drawing/2014/main" id="{48EA99D4-1EEE-4521-A21F-CBD694E6B59E}"/>
              </a:ext>
            </a:extLst>
          </p:cNvPr>
          <p:cNvSpPr>
            <a:spLocks noGrp="1"/>
          </p:cNvSpPr>
          <p:nvPr/>
        </p:nvSpPr>
        <p:spPr>
          <a:xfrm>
            <a:off x="685800" y="742950"/>
            <a:ext cx="10820400" cy="914400"/>
          </a:xfrm>
          <a:prstGeom prst="rect">
            <a:avLst/>
          </a:prstGeom>
          <a:noFill/>
          <a:ln w="0">
            <a:noFill/>
            <a:prstDash val="solid"/>
          </a:ln>
        </p:spPr>
        <p:txBody>
          <a:bodyPr/>
          <a:lstStyle/>
          <a:p>
            <a:pPr algn="l">
              <a:buNone/>
              <a:defRPr sz="3000" b="1">
                <a:solidFill>
                  <a:srgbClr val="10251F"/>
                </a:solidFill>
              </a:defRPr>
            </a:pPr>
            <a:r>
              <a:rPr sz="3000" b="1">
                <a:solidFill>
                  <a:srgbClr val="10251F"/>
                </a:solidFill>
                <a:latin typeface="Calibri"/>
                <a:ea typeface="맑은 고딕"/>
                <a:cs typeface="맑은 고딕"/>
              </a:rPr>
              <a:t>교육 활용의 출처와 한계</a:t>
            </a:r>
          </a:p>
        </p:txBody>
      </p:sp>
      <p:sp>
        <p:nvSpPr>
          <p:cNvPr id="3" name="직사각형 2">
            <a:extLst>
              <a:ext uri="{FF2B5EF4-FFF2-40B4-BE49-F238E27FC236}">
                <a16:creationId xmlns:a16="http://schemas.microsoft.com/office/drawing/2014/main" id="{E2C5E1E6-901C-4B50-92FA-E235CFA34EA9}"/>
              </a:ext>
            </a:extLst>
          </p:cNvPr>
          <p:cNvSpPr>
            <a:spLocks noGrp="1"/>
          </p:cNvSpPr>
          <p:nvPr/>
        </p:nvSpPr>
        <p:spPr>
          <a:xfrm>
            <a:off x="685800" y="6486525"/>
            <a:ext cx="6667500" cy="171450"/>
          </a:xfrm>
          <a:prstGeom prst="rect">
            <a:avLst/>
          </a:prstGeom>
          <a:noFill/>
          <a:ln w="0">
            <a:noFill/>
            <a:prstDash val="solid"/>
          </a:ln>
        </p:spPr>
        <p:txBody>
          <a:bodyPr/>
          <a:lstStyle/>
          <a:p>
            <a:pPr algn="l">
              <a:buNone/>
              <a:defRPr sz="825" b="0">
                <a:solidFill>
                  <a:srgbClr val="66746F"/>
                </a:solidFill>
              </a:defRPr>
            </a:pPr>
            <a:r>
              <a:rPr sz="825" b="0">
                <a:solidFill>
                  <a:srgbClr val="66746F"/>
                </a:solidFill>
                <a:latin typeface="Calibri"/>
                <a:ea typeface="맑은 고딕"/>
                <a:cs typeface="맑은 고딕"/>
              </a:rPr>
              <a:t>smaXtec × CowTalk | 통합 교육자료</a:t>
            </a:r>
          </a:p>
        </p:txBody>
      </p:sp>
      <p:sp>
        <p:nvSpPr>
          <p:cNvPr id="4" name="직사각형 3">
            <a:extLst>
              <a:ext uri="{FF2B5EF4-FFF2-40B4-BE49-F238E27FC236}">
                <a16:creationId xmlns:a16="http://schemas.microsoft.com/office/drawing/2014/main" id="{72512754-89C6-47A7-897B-D77276EA0B9C}"/>
              </a:ext>
            </a:extLst>
          </p:cNvPr>
          <p:cNvSpPr>
            <a:spLocks noGrp="1"/>
          </p:cNvSpPr>
          <p:nvPr/>
        </p:nvSpPr>
        <p:spPr>
          <a:xfrm>
            <a:off x="11239500" y="6486525"/>
            <a:ext cx="266700" cy="171450"/>
          </a:xfrm>
          <a:prstGeom prst="rect">
            <a:avLst/>
          </a:prstGeom>
          <a:noFill/>
          <a:ln w="0">
            <a:noFill/>
            <a:prstDash val="solid"/>
          </a:ln>
        </p:spPr>
        <p:txBody>
          <a:bodyPr/>
          <a:lstStyle/>
          <a:p>
            <a:pPr algn="r">
              <a:buNone/>
              <a:defRPr sz="825" b="1">
                <a:solidFill>
                  <a:srgbClr val="10251F"/>
                </a:solidFill>
              </a:defRPr>
            </a:pPr>
            <a:r>
              <a:rPr sz="825" b="1">
                <a:solidFill>
                  <a:srgbClr val="10251F"/>
                </a:solidFill>
                <a:latin typeface="Calibri"/>
                <a:ea typeface="맑은 고딕"/>
                <a:cs typeface="맑은 고딕"/>
              </a:rPr>
              <a:t>35</a:t>
            </a:r>
          </a:p>
        </p:txBody>
      </p:sp>
      <p:sp>
        <p:nvSpPr>
          <p:cNvPr id="5" name="직사각형 4">
            <a:extLst>
              <a:ext uri="{FF2B5EF4-FFF2-40B4-BE49-F238E27FC236}">
                <a16:creationId xmlns:a16="http://schemas.microsoft.com/office/drawing/2014/main" id="{3726DA59-3A83-49A7-AF4E-3BDD4F42EC23}"/>
              </a:ext>
            </a:extLst>
          </p:cNvPr>
          <p:cNvSpPr>
            <a:spLocks noGrp="1"/>
          </p:cNvSpPr>
          <p:nvPr/>
        </p:nvSpPr>
        <p:spPr>
          <a:xfrm>
            <a:off x="685800" y="1695450"/>
            <a:ext cx="4762500" cy="323850"/>
          </a:xfrm>
          <a:prstGeom prst="rect">
            <a:avLst/>
          </a:prstGeom>
          <a:noFill/>
          <a:ln w="0">
            <a:noFill/>
            <a:prstDash val="solid"/>
          </a:ln>
        </p:spPr>
        <p:txBody>
          <a:bodyPr/>
          <a:lstStyle/>
          <a:p>
            <a:pPr algn="l">
              <a:buNone/>
              <a:defRPr sz="1800" b="1">
                <a:solidFill>
                  <a:srgbClr val="15A98C"/>
                </a:solidFill>
              </a:defRPr>
            </a:pPr>
            <a:r>
              <a:rPr sz="1800" b="1">
                <a:solidFill>
                  <a:srgbClr val="15A98C"/>
                </a:solidFill>
                <a:latin typeface="Calibri"/>
                <a:ea typeface="맑은 고딕"/>
                <a:cs typeface="맑은 고딕"/>
              </a:rPr>
              <a:t>공식 자료 + 국제 문헌</a:t>
            </a:r>
          </a:p>
        </p:txBody>
      </p:sp>
      <p:sp>
        <p:nvSpPr>
          <p:cNvPr id="6" name="직사각형 5">
            <a:extLst>
              <a:ext uri="{FF2B5EF4-FFF2-40B4-BE49-F238E27FC236}">
                <a16:creationId xmlns:a16="http://schemas.microsoft.com/office/drawing/2014/main" id="{F999C9EB-4485-4CC0-AC18-6EE1F615D28C}"/>
              </a:ext>
            </a:extLst>
          </p:cNvPr>
          <p:cNvSpPr>
            <a:spLocks noGrp="1"/>
          </p:cNvSpPr>
          <p:nvPr/>
        </p:nvSpPr>
        <p:spPr>
          <a:xfrm>
            <a:off x="685800" y="2209800"/>
            <a:ext cx="4953000" cy="2190750"/>
          </a:xfrm>
          <a:prstGeom prst="rect">
            <a:avLst/>
          </a:prstGeom>
          <a:noFill/>
          <a:ln w="0">
            <a:noFill/>
            <a:prstDash val="solid"/>
          </a:ln>
        </p:spPr>
        <p:txBody>
          <a:bodyPr/>
          <a:lstStyle/>
          <a:p>
            <a:pPr algn="l">
              <a:buNone/>
              <a:defRPr sz="1275" b="0">
                <a:solidFill>
                  <a:srgbClr val="10251F"/>
                </a:solidFill>
              </a:defRPr>
            </a:pPr>
            <a:r>
              <a:rPr sz="1275" b="0">
                <a:solidFill>
                  <a:srgbClr val="10251F"/>
                </a:solidFill>
                <a:latin typeface="Calibri"/>
                <a:ea typeface="맑은 고딕"/>
                <a:cs typeface="맑은 고딕"/>
              </a:rPr>
              <a:t>smaxtec.com/en/technical-components/</a:t>
            </a:r>
          </a:p>
          <a:p>
            <a:pPr algn="l">
              <a:buNone/>
              <a:defRPr sz="1275" b="0">
                <a:solidFill>
                  <a:srgbClr val="10251F"/>
                </a:solidFill>
              </a:defRPr>
            </a:pPr>
            <a:r>
              <a:rPr sz="1275" b="0">
                <a:solidFill>
                  <a:srgbClr val="10251F"/>
                </a:solidFill>
                <a:latin typeface="Calibri"/>
                <a:ea typeface="맑은 고딕"/>
                <a:cs typeface="맑은 고딕"/>
              </a:rPr>
              <a:t>smaxtec.com/us/software/</a:t>
            </a:r>
          </a:p>
          <a:p>
            <a:pPr algn="l">
              <a:buNone/>
              <a:defRPr sz="1275" b="0">
                <a:solidFill>
                  <a:srgbClr val="10251F"/>
                </a:solidFill>
              </a:defRPr>
            </a:pPr>
            <a:r>
              <a:rPr sz="1275" b="0">
                <a:solidFill>
                  <a:srgbClr val="10251F"/>
                </a:solidFill>
                <a:latin typeface="Calibri"/>
                <a:ea typeface="맑은 고딕"/>
                <a:cs typeface="맑은 고딕"/>
              </a:rPr>
              <a:t>smaxtec.com/en/profit-in-dairy-farming…</a:t>
            </a:r>
          </a:p>
          <a:p>
            <a:pPr algn="l">
              <a:buNone/>
              <a:defRPr sz="1275" b="0">
                <a:solidFill>
                  <a:srgbClr val="10251F"/>
                </a:solidFill>
              </a:defRPr>
            </a:pPr>
            <a:r>
              <a:rPr sz="1275" b="0">
                <a:solidFill>
                  <a:srgbClr val="10251F"/>
                </a:solidFill>
                <a:latin typeface="Calibri"/>
                <a:ea typeface="맑은 고딕"/>
                <a:cs typeface="맑은 고딕"/>
              </a:rPr>
              <a:t>Stygar et al. (2021), Front. Vet. Sci.</a:t>
            </a:r>
          </a:p>
          <a:p>
            <a:pPr algn="l">
              <a:buNone/>
              <a:defRPr sz="1275" b="0">
                <a:solidFill>
                  <a:srgbClr val="10251F"/>
                </a:solidFill>
              </a:defRPr>
            </a:pPr>
            <a:r>
              <a:rPr sz="1275" b="0">
                <a:solidFill>
                  <a:srgbClr val="10251F"/>
                </a:solidFill>
                <a:latin typeface="Calibri"/>
                <a:ea typeface="맑은 고딕"/>
                <a:cs typeface="맑은 고딕"/>
              </a:rPr>
              <a:t>Adams et al. (2013), J. Dairy Sci.</a:t>
            </a:r>
          </a:p>
          <a:p>
            <a:pPr algn="l">
              <a:buNone/>
              <a:defRPr sz="1275" b="0">
                <a:solidFill>
                  <a:srgbClr val="10251F"/>
                </a:solidFill>
              </a:defRPr>
            </a:pPr>
            <a:r>
              <a:rPr sz="1275" b="0">
                <a:solidFill>
                  <a:srgbClr val="10251F"/>
                </a:solidFill>
                <a:latin typeface="Calibri"/>
                <a:ea typeface="맑은 고딕"/>
                <a:cs typeface="맑은 고딕"/>
              </a:rPr>
              <a:t>Liu et al. (2023), Agriculture</a:t>
            </a:r>
          </a:p>
        </p:txBody>
      </p:sp>
      <p:sp>
        <p:nvSpPr>
          <p:cNvPr id="7" name="직사각형 6">
            <a:extLst>
              <a:ext uri="{FF2B5EF4-FFF2-40B4-BE49-F238E27FC236}">
                <a16:creationId xmlns:a16="http://schemas.microsoft.com/office/drawing/2014/main" id="{79408CE4-3AD4-4EC5-9B98-DF59CAD14151}"/>
              </a:ext>
            </a:extLst>
          </p:cNvPr>
          <p:cNvSpPr>
            <a:spLocks noGrp="1"/>
          </p:cNvSpPr>
          <p:nvPr/>
        </p:nvSpPr>
        <p:spPr>
          <a:xfrm>
            <a:off x="6191250" y="1695450"/>
            <a:ext cx="4762500" cy="323850"/>
          </a:xfrm>
          <a:prstGeom prst="rect">
            <a:avLst/>
          </a:prstGeom>
          <a:noFill/>
          <a:ln w="0">
            <a:noFill/>
            <a:prstDash val="solid"/>
          </a:ln>
        </p:spPr>
        <p:txBody>
          <a:bodyPr/>
          <a:lstStyle/>
          <a:p>
            <a:pPr algn="l">
              <a:buNone/>
              <a:defRPr sz="1800" b="1">
                <a:solidFill>
                  <a:srgbClr val="E96155"/>
                </a:solidFill>
              </a:defRPr>
            </a:pPr>
            <a:r>
              <a:rPr sz="1800" b="1">
                <a:solidFill>
                  <a:srgbClr val="E96155"/>
                </a:solidFill>
                <a:latin typeface="Calibri"/>
                <a:ea typeface="맑은 고딕"/>
                <a:cs typeface="맑은 고딕"/>
              </a:rPr>
              <a:t>유의사항</a:t>
            </a:r>
          </a:p>
        </p:txBody>
      </p:sp>
      <p:sp>
        <p:nvSpPr>
          <p:cNvPr id="8" name="직사각형 7">
            <a:extLst>
              <a:ext uri="{FF2B5EF4-FFF2-40B4-BE49-F238E27FC236}">
                <a16:creationId xmlns:a16="http://schemas.microsoft.com/office/drawing/2014/main" id="{1738D9EF-248D-4803-9DD1-54F0BE1341FD}"/>
              </a:ext>
            </a:extLst>
          </p:cNvPr>
          <p:cNvSpPr>
            <a:spLocks noGrp="1"/>
          </p:cNvSpPr>
          <p:nvPr/>
        </p:nvSpPr>
        <p:spPr>
          <a:xfrm>
            <a:off x="6191250" y="2209800"/>
            <a:ext cx="4953000" cy="2190750"/>
          </a:xfrm>
          <a:prstGeom prst="rect">
            <a:avLst/>
          </a:prstGeom>
          <a:noFill/>
          <a:ln w="0">
            <a:noFill/>
            <a:prstDash val="solid"/>
          </a:ln>
        </p:spPr>
        <p:txBody>
          <a:bodyPr/>
          <a:lstStyle/>
          <a:p>
            <a:pPr algn="l">
              <a:buNone/>
              <a:defRPr sz="1425" b="0">
                <a:solidFill>
                  <a:srgbClr val="10251F"/>
                </a:solidFill>
              </a:defRPr>
            </a:pPr>
            <a:r>
              <a:rPr sz="1425" b="0">
                <a:solidFill>
                  <a:srgbClr val="10251F"/>
                </a:solidFill>
                <a:latin typeface="Calibri"/>
                <a:ea typeface="맑은 고딕"/>
                <a:cs typeface="맑은 고딕"/>
              </a:rPr>
              <a:t>제조사 주장과 고객 사례 결과는 맥락에 따라 달라진다. 독립 연구는 연속 모니터링의 가치를 뒷받침하면서도, 상용 센서마다 외부 검증 결과가 다르다는 점을 함께 보여준다. 알람은 확인의 우선순위를 정하는 데 쓰고, 최종 판단은 현지 수의 프로토콜을 따른다.</a:t>
            </a:r>
          </a:p>
        </p:txBody>
      </p:sp>
      <p:sp>
        <p:nvSpPr>
          <p:cNvPr id="9" name="직사각형 8">
            <a:extLst>
              <a:ext uri="{FF2B5EF4-FFF2-40B4-BE49-F238E27FC236}">
                <a16:creationId xmlns:a16="http://schemas.microsoft.com/office/drawing/2014/main" id="{42CFD62E-4FFE-4D17-BADE-13ECAAF1BAB5}"/>
              </a:ext>
            </a:extLst>
          </p:cNvPr>
          <p:cNvSpPr>
            <a:spLocks noGrp="1"/>
          </p:cNvSpPr>
          <p:nvPr/>
        </p:nvSpPr>
        <p:spPr>
          <a:xfrm>
            <a:off x="685800" y="5429250"/>
            <a:ext cx="10820400" cy="266700"/>
          </a:xfrm>
          <a:prstGeom prst="rect">
            <a:avLst/>
          </a:prstGeom>
          <a:noFill/>
          <a:ln w="0">
            <a:noFill/>
            <a:prstDash val="solid"/>
          </a:ln>
        </p:spPr>
        <p:txBody>
          <a:bodyPr/>
          <a:lstStyle/>
          <a:p>
            <a:pPr algn="ctr">
              <a:buNone/>
              <a:defRPr sz="1200" b="0">
                <a:solidFill>
                  <a:srgbClr val="66746F"/>
                </a:solidFill>
              </a:defRPr>
            </a:pPr>
            <a:r>
              <a:rPr sz="1200" b="0">
                <a:solidFill>
                  <a:srgbClr val="66746F"/>
                </a:solidFill>
                <a:latin typeface="Calibri"/>
                <a:ea typeface="맑은 고딕"/>
                <a:cs typeface="맑은 고딕"/>
              </a:rPr>
              <a:t>버전: 2026-08 | 국제 근거 및 시각자료 보강 | 국가 중립</a:t>
            </a:r>
          </a:p>
        </p:txBody>
      </p:sp>
    </p:spTree>
    <p:extLst>
      <p:ext uri="{BB962C8B-B14F-4D97-AF65-F5344CB8AC3E}">
        <p14:creationId xmlns:p14="http://schemas.microsoft.com/office/powerpoint/2010/main" val="17069822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023" name="k2023"/>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센서에서 시스템으로</a:t>
            </a:r>
          </a:p>
        </p:txBody>
      </p:sp>
      <p:sp>
        <p:nvSpPr>
          <p:cNvPr id="2024" name="k2024"/>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알람이 끝나는 곳에서 CowTalk이 시작합니다</a:t>
            </a:r>
          </a:p>
        </p:txBody>
      </p:sp>
      <p:sp>
        <p:nvSpPr>
          <p:cNvPr id="2001" name="k2001"/>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002" name="k2002"/>
          <p:cNvSpPr>
            <a:spLocks noGrp="1"/>
          </p:cNvSpPr>
          <p:nvPr/>
        </p:nvSpPr>
        <p:spPr>
          <a:xfrm>
            <a:off x="685800" y="1883664"/>
            <a:ext cx="5212080" cy="109728"/>
          </a:xfrm>
          <a:prstGeom prst="rect">
            <a:avLst/>
          </a:prstGeom>
          <a:solidFill>
            <a:srgbClr val="15A98C"/>
          </a:solidFill>
          <a:ln w="0">
            <a:noFill/>
            <a:prstDash val="solid"/>
          </a:ln>
        </p:spPr>
        <p:txBody>
          <a:bodyPr wrap="square" lIns="0" tIns="0" rIns="0" bIns="0"/>
          <a:lstStyle/>
          <a:p>
            <a:endParaRPr lang="ko-KR" altLang="en-US"/>
          </a:p>
        </p:txBody>
      </p:sp>
      <p:sp>
        <p:nvSpPr>
          <p:cNvPr id="2003" name="k2003"/>
          <p:cNvSpPr>
            <a:spLocks noGrp="1"/>
          </p:cNvSpPr>
          <p:nvPr/>
        </p:nvSpPr>
        <p:spPr>
          <a:xfrm>
            <a:off x="960120"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15A98C"/>
                </a:solidFill>
                <a:latin typeface="Calibri"/>
                <a:ea typeface="맑은 고딕"/>
                <a:cs typeface="맑은 고딕"/>
              </a:rPr>
              <a:t>센서가 주는 것</a:t>
            </a:r>
          </a:p>
        </p:txBody>
      </p:sp>
      <p:sp>
        <p:nvSpPr>
          <p:cNvPr id="2004" name="k2004"/>
          <p:cNvSpPr>
            <a:spLocks noGrp="1"/>
          </p:cNvSpPr>
          <p:nvPr/>
        </p:nvSpPr>
        <p:spPr>
          <a:xfrm>
            <a:off x="960120"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신뢰할 수 있는 사건</a:t>
            </a:r>
          </a:p>
        </p:txBody>
      </p:sp>
      <p:sp>
        <p:nvSpPr>
          <p:cNvPr id="2005" name="k2005"/>
          <p:cNvSpPr>
            <a:spLocks noGrp="1"/>
          </p:cNvSpPr>
          <p:nvPr/>
        </p:nvSpPr>
        <p:spPr>
          <a:xfrm>
            <a:off x="978408" y="3127248"/>
            <a:ext cx="100584" cy="100584"/>
          </a:xfrm>
          <a:prstGeom prst="ellipse">
            <a:avLst/>
          </a:prstGeom>
          <a:solidFill>
            <a:srgbClr val="15A98C"/>
          </a:solidFill>
          <a:ln w="0">
            <a:noFill/>
            <a:prstDash val="solid"/>
          </a:ln>
        </p:spPr>
        <p:txBody>
          <a:bodyPr wrap="square" lIns="0" tIns="0" rIns="0" bIns="0"/>
          <a:lstStyle/>
          <a:p>
            <a:endParaRPr lang="ko-KR" altLang="en-US"/>
          </a:p>
        </p:txBody>
      </p:sp>
      <p:sp>
        <p:nvSpPr>
          <p:cNvPr id="2006" name="k2006"/>
          <p:cNvSpPr>
            <a:spLocks noGrp="1"/>
          </p:cNvSpPr>
          <p:nvPr/>
        </p:nvSpPr>
        <p:spPr>
          <a:xfrm>
            <a:off x="1216152" y="3072384"/>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소의 몸속에서 잡아낸 생리적 이탈</a:t>
            </a:r>
          </a:p>
        </p:txBody>
      </p:sp>
      <p:sp>
        <p:nvSpPr>
          <p:cNvPr id="2007" name="k2007"/>
          <p:cNvSpPr>
            <a:spLocks noGrp="1"/>
          </p:cNvSpPr>
          <p:nvPr/>
        </p:nvSpPr>
        <p:spPr>
          <a:xfrm>
            <a:off x="978408" y="3657600"/>
            <a:ext cx="100584" cy="100584"/>
          </a:xfrm>
          <a:prstGeom prst="ellipse">
            <a:avLst/>
          </a:prstGeom>
          <a:solidFill>
            <a:srgbClr val="15A98C"/>
          </a:solidFill>
          <a:ln w="0">
            <a:noFill/>
            <a:prstDash val="solid"/>
          </a:ln>
        </p:spPr>
        <p:txBody>
          <a:bodyPr wrap="square" lIns="0" tIns="0" rIns="0" bIns="0"/>
          <a:lstStyle/>
          <a:p>
            <a:endParaRPr lang="ko-KR" altLang="en-US"/>
          </a:p>
        </p:txBody>
      </p:sp>
      <p:sp>
        <p:nvSpPr>
          <p:cNvPr id="2008" name="k2008"/>
          <p:cNvSpPr>
            <a:spLocks noGrp="1"/>
          </p:cNvSpPr>
          <p:nvPr/>
        </p:nvSpPr>
        <p:spPr>
          <a:xfrm>
            <a:off x="1216152" y="3602736"/>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시각이 찍히고 제조사가 검증한 신호</a:t>
            </a:r>
          </a:p>
        </p:txBody>
      </p:sp>
      <p:sp>
        <p:nvSpPr>
          <p:cNvPr id="2009" name="k2009"/>
          <p:cNvSpPr>
            <a:spLocks noGrp="1"/>
          </p:cNvSpPr>
          <p:nvPr/>
        </p:nvSpPr>
        <p:spPr>
          <a:xfrm>
            <a:off x="978408" y="4187952"/>
            <a:ext cx="100584" cy="100584"/>
          </a:xfrm>
          <a:prstGeom prst="ellipse">
            <a:avLst/>
          </a:prstGeom>
          <a:solidFill>
            <a:srgbClr val="15A98C"/>
          </a:solidFill>
          <a:ln w="0">
            <a:noFill/>
            <a:prstDash val="solid"/>
          </a:ln>
        </p:spPr>
        <p:txBody>
          <a:bodyPr wrap="square" lIns="0" tIns="0" rIns="0" bIns="0"/>
          <a:lstStyle/>
          <a:p>
            <a:endParaRPr lang="ko-KR" altLang="en-US"/>
          </a:p>
        </p:txBody>
      </p:sp>
      <p:sp>
        <p:nvSpPr>
          <p:cNvPr id="2010" name="k2010"/>
          <p:cNvSpPr>
            <a:spLocks noGrp="1"/>
          </p:cNvSpPr>
          <p:nvPr/>
        </p:nvSpPr>
        <p:spPr>
          <a:xfrm>
            <a:off x="1216152" y="4133088"/>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어느 목장에서나 같은 품질로</a:t>
            </a:r>
          </a:p>
        </p:txBody>
      </p:sp>
      <p:sp>
        <p:nvSpPr>
          <p:cNvPr id="2011" name="k2011"/>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012" name="k2012"/>
          <p:cNvSpPr>
            <a:spLocks noGrp="1"/>
          </p:cNvSpPr>
          <p:nvPr/>
        </p:nvSpPr>
        <p:spPr>
          <a:xfrm>
            <a:off x="6291072" y="1883664"/>
            <a:ext cx="5212080" cy="109728"/>
          </a:xfrm>
          <a:prstGeom prst="rect">
            <a:avLst/>
          </a:prstGeom>
          <a:solidFill>
            <a:srgbClr val="E96155"/>
          </a:solidFill>
          <a:ln w="0">
            <a:noFill/>
            <a:prstDash val="solid"/>
          </a:ln>
        </p:spPr>
        <p:txBody>
          <a:bodyPr wrap="square" lIns="0" tIns="0" rIns="0" bIns="0"/>
          <a:lstStyle/>
          <a:p>
            <a:endParaRPr lang="ko-KR" altLang="en-US"/>
          </a:p>
        </p:txBody>
      </p:sp>
      <p:sp>
        <p:nvSpPr>
          <p:cNvPr id="2013" name="k2013"/>
          <p:cNvSpPr>
            <a:spLocks noGrp="1"/>
          </p:cNvSpPr>
          <p:nvPr/>
        </p:nvSpPr>
        <p:spPr>
          <a:xfrm>
            <a:off x="6565392"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그다음에 남는 것</a:t>
            </a:r>
          </a:p>
        </p:txBody>
      </p:sp>
      <p:sp>
        <p:nvSpPr>
          <p:cNvPr id="2014" name="k2014"/>
          <p:cNvSpPr>
            <a:spLocks noGrp="1"/>
          </p:cNvSpPr>
          <p:nvPr/>
        </p:nvSpPr>
        <p:spPr>
          <a:xfrm>
            <a:off x="6565392"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사람이 내려야 할 결정</a:t>
            </a:r>
          </a:p>
        </p:txBody>
      </p:sp>
      <p:sp>
        <p:nvSpPr>
          <p:cNvPr id="2015" name="k2015"/>
          <p:cNvSpPr>
            <a:spLocks noGrp="1"/>
          </p:cNvSpPr>
          <p:nvPr/>
        </p:nvSpPr>
        <p:spPr>
          <a:xfrm>
            <a:off x="6583680" y="3127248"/>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016" name="k2016"/>
          <p:cNvSpPr>
            <a:spLocks noGrp="1"/>
          </p:cNvSpPr>
          <p:nvPr/>
        </p:nvSpPr>
        <p:spPr>
          <a:xfrm>
            <a:off x="6821424" y="3072384"/>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알람 열한 개 중 어느 소부터 봐야 하는가</a:t>
            </a:r>
          </a:p>
        </p:txBody>
      </p:sp>
      <p:sp>
        <p:nvSpPr>
          <p:cNvPr id="2017" name="k2017"/>
          <p:cNvSpPr>
            <a:spLocks noGrp="1"/>
          </p:cNvSpPr>
          <p:nvPr/>
        </p:nvSpPr>
        <p:spPr>
          <a:xfrm>
            <a:off x="6583680" y="3657600"/>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018" name="k2018"/>
          <p:cNvSpPr>
            <a:spLocks noGrp="1"/>
          </p:cNvSpPr>
          <p:nvPr/>
        </p:nvSpPr>
        <p:spPr>
          <a:xfrm>
            <a:off x="6821424" y="3602736"/>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그 소의 이력은 — 치료, 산차, 착유일수는</a:t>
            </a:r>
          </a:p>
        </p:txBody>
      </p:sp>
      <p:sp>
        <p:nvSpPr>
          <p:cNvPr id="2019" name="k2019"/>
          <p:cNvSpPr>
            <a:spLocks noGrp="1"/>
          </p:cNvSpPr>
          <p:nvPr/>
        </p:nvSpPr>
        <p:spPr>
          <a:xfrm>
            <a:off x="6583680" y="4187952"/>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020" name="k2020"/>
          <p:cNvSpPr>
            <a:spLocks noGrp="1"/>
          </p:cNvSpPr>
          <p:nvPr/>
        </p:nvSpPr>
        <p:spPr>
          <a:xfrm>
            <a:off x="6821424" y="4133088"/>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누가 무엇으로 조치하고, 실제로 했는가</a:t>
            </a:r>
          </a:p>
        </p:txBody>
      </p:sp>
      <p:sp>
        <p:nvSpPr>
          <p:cNvPr id="2021" name="k2021"/>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022" name="k2022"/>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알람과 행동 사이의 이 간극에서 가치의 대부분이 사라집니다.</a:t>
            </a:r>
          </a:p>
        </p:txBody>
      </p:sp>
      <p:sp>
        <p:nvSpPr>
          <p:cNvPr id="2025" name="k2025"/>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026" name="k2026"/>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36</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027" name="k2027"/>
          <p:cNvSpPr>
            <a:spLocks noGrp="1"/>
          </p:cNvSpPr>
          <p:nvPr/>
        </p:nvSpPr>
        <p:spPr>
          <a:xfrm>
            <a:off x="685800" y="704088"/>
            <a:ext cx="2093976" cy="1234440"/>
          </a:xfrm>
          <a:prstGeom prst="rect">
            <a:avLst/>
          </a:prstGeom>
          <a:noFill/>
          <a:ln w="0">
            <a:noFill/>
            <a:prstDash val="solid"/>
          </a:ln>
        </p:spPr>
        <p:txBody>
          <a:bodyPr wrap="square" lIns="0" tIns="0" rIns="0" bIns="0"/>
          <a:lstStyle/>
          <a:p>
            <a:pPr algn="l">
              <a:buNone/>
              <a:defRPr sz="6900">
                <a:latin typeface="Calibri"/>
                <a:ea typeface="맑은 고딕"/>
                <a:cs typeface="맑은 고딕"/>
              </a:defRPr>
            </a:pPr>
            <a:r>
              <a:rPr lang="ko-KR" altLang="en-US" sz="6900" b="1">
                <a:solidFill>
                  <a:srgbClr val="65D44A"/>
                </a:solidFill>
                <a:latin typeface="Calibri"/>
                <a:ea typeface="맑은 고딕"/>
                <a:cs typeface="맑은 고딕"/>
              </a:rPr>
              <a:t>07</a:t>
            </a:r>
          </a:p>
        </p:txBody>
      </p:sp>
      <p:sp>
        <p:nvSpPr>
          <p:cNvPr id="2028" name="k2028"/>
          <p:cNvSpPr>
            <a:spLocks noGrp="1"/>
          </p:cNvSpPr>
          <p:nvPr/>
        </p:nvSpPr>
        <p:spPr>
          <a:xfrm>
            <a:off x="685800" y="2432304"/>
            <a:ext cx="8476488" cy="950976"/>
          </a:xfrm>
          <a:prstGeom prst="rect">
            <a:avLst/>
          </a:prstGeom>
          <a:noFill/>
          <a:ln w="0">
            <a:noFill/>
            <a:prstDash val="solid"/>
          </a:ln>
        </p:spPr>
        <p:txBody>
          <a:bodyPr wrap="square" lIns="0" tIns="0" rIns="0" bIns="0"/>
          <a:lstStyle/>
          <a:p>
            <a:pPr algn="l">
              <a:buNone/>
              <a:defRPr sz="4050">
                <a:latin typeface="Calibri"/>
                <a:ea typeface="맑은 고딕"/>
                <a:cs typeface="맑은 고딕"/>
              </a:defRPr>
            </a:pPr>
            <a:r>
              <a:rPr lang="ko-KR" altLang="en-US" sz="4050" b="1">
                <a:solidFill>
                  <a:srgbClr val="FFFFFF"/>
                </a:solidFill>
                <a:latin typeface="Calibri"/>
                <a:ea typeface="맑은 고딕"/>
                <a:cs typeface="맑은 고딕"/>
              </a:rPr>
              <a:t>센서 위의 레이어</a:t>
            </a:r>
          </a:p>
        </p:txBody>
      </p:sp>
      <p:sp>
        <p:nvSpPr>
          <p:cNvPr id="2029" name="k2029"/>
          <p:cNvSpPr>
            <a:spLocks noGrp="1"/>
          </p:cNvSpPr>
          <p:nvPr/>
        </p:nvSpPr>
        <p:spPr>
          <a:xfrm>
            <a:off x="685800" y="3621024"/>
            <a:ext cx="7424928" cy="1005840"/>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a:solidFill>
                  <a:srgbClr val="C9D8D2"/>
                </a:solidFill>
                <a:latin typeface="Calibri"/>
                <a:ea typeface="맑은 고딕"/>
                <a:cs typeface="맑은 고딕"/>
              </a:rPr>
              <a:t>CowTalk은 센서 이벤트 위에 맥락과 해석, 역할별 행동을 더합니다. 이벤트 자체를 다시 판단하지는 않습니다.</a:t>
            </a:r>
          </a:p>
        </p:txBody>
      </p:sp>
      <p:sp>
        <p:nvSpPr>
          <p:cNvPr id="2030" name="k2030"/>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lstStyle/>
          <a:p>
            <a:endParaRPr lang="ko-KR" altLang="en-US"/>
          </a:p>
        </p:txBody>
      </p:sp>
      <p:sp>
        <p:nvSpPr>
          <p:cNvPr id="2031" name="k2031"/>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lstStyle/>
          <a:p>
            <a:endParaRPr lang="ko-KR" altLang="en-US"/>
          </a:p>
        </p:txBody>
      </p:sp>
      <p:sp>
        <p:nvSpPr>
          <p:cNvPr id="2032" name="k2032"/>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lstStyle/>
          <a:p>
            <a:endParaRPr lang="ko-KR" altLang="en-US"/>
          </a:p>
        </p:txBody>
      </p:sp>
      <p:sp>
        <p:nvSpPr>
          <p:cNvPr id="2033" name="k2033"/>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lstStyle/>
          <a:p>
            <a:endParaRPr lang="ko-KR" altLang="en-US"/>
          </a:p>
        </p:txBody>
      </p:sp>
      <p:sp>
        <p:nvSpPr>
          <p:cNvPr id="2034" name="k2034"/>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lstStyle/>
          <a:p>
            <a:endParaRPr lang="ko-KR" altLang="en-US"/>
          </a:p>
        </p:txBody>
      </p:sp>
      <p:sp>
        <p:nvSpPr>
          <p:cNvPr id="2035" name="k2035"/>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lstStyle/>
          <a:p>
            <a:endParaRPr lang="ko-KR" altLang="en-US"/>
          </a:p>
        </p:txBody>
      </p:sp>
      <p:sp>
        <p:nvSpPr>
          <p:cNvPr id="2036" name="k2036"/>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037" name="k2037"/>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37</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060" name="k2060"/>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구조</a:t>
            </a:r>
          </a:p>
        </p:txBody>
      </p:sp>
      <p:sp>
        <p:nvSpPr>
          <p:cNvPr id="2061" name="k2061"/>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네 개의 층이 신호를 결정으로 바꿉니다</a:t>
            </a:r>
          </a:p>
        </p:txBody>
      </p:sp>
      <p:sp>
        <p:nvSpPr>
          <p:cNvPr id="2038" name="k2038"/>
          <p:cNvSpPr>
            <a:spLocks noGrp="1"/>
          </p:cNvSpPr>
          <p:nvPr/>
        </p:nvSpPr>
        <p:spPr>
          <a:xfrm>
            <a:off x="685800" y="1792224"/>
            <a:ext cx="10817352" cy="640080"/>
          </a:xfrm>
          <a:prstGeom prst="roundRect">
            <a:avLst/>
          </a:prstGeom>
          <a:solidFill>
            <a:srgbClr val="FFFFFF"/>
          </a:solidFill>
          <a:ln w="0">
            <a:noFill/>
            <a:prstDash val="solid"/>
          </a:ln>
        </p:spPr>
        <p:txBody>
          <a:bodyPr wrap="square" lIns="0" tIns="0" rIns="0" bIns="0"/>
          <a:lstStyle/>
          <a:p>
            <a:endParaRPr lang="ko-KR" altLang="en-US"/>
          </a:p>
        </p:txBody>
      </p:sp>
      <p:sp>
        <p:nvSpPr>
          <p:cNvPr id="2039" name="k2039"/>
          <p:cNvSpPr>
            <a:spLocks noGrp="1"/>
          </p:cNvSpPr>
          <p:nvPr/>
        </p:nvSpPr>
        <p:spPr>
          <a:xfrm>
            <a:off x="685800" y="1792224"/>
            <a:ext cx="109728" cy="640080"/>
          </a:xfrm>
          <a:prstGeom prst="rect">
            <a:avLst/>
          </a:prstGeom>
          <a:solidFill>
            <a:srgbClr val="F6B846"/>
          </a:solidFill>
          <a:ln w="0">
            <a:noFill/>
            <a:prstDash val="solid"/>
          </a:ln>
        </p:spPr>
        <p:txBody>
          <a:bodyPr wrap="square" lIns="0" tIns="0" rIns="0" bIns="0"/>
          <a:lstStyle/>
          <a:p>
            <a:endParaRPr lang="ko-KR" altLang="en-US"/>
          </a:p>
        </p:txBody>
      </p:sp>
      <p:sp>
        <p:nvSpPr>
          <p:cNvPr id="2040" name="k2040"/>
          <p:cNvSpPr>
            <a:spLocks noGrp="1"/>
          </p:cNvSpPr>
          <p:nvPr/>
        </p:nvSpPr>
        <p:spPr>
          <a:xfrm>
            <a:off x="996696" y="1901952"/>
            <a:ext cx="1417320" cy="237744"/>
          </a:xfrm>
          <a:prstGeom prst="rect">
            <a:avLst/>
          </a:prstGeom>
          <a:noFill/>
          <a:ln w="0">
            <a:noFill/>
            <a:prstDash val="solid"/>
          </a:ln>
        </p:spPr>
        <p:txBody>
          <a:bodyPr wrap="square" lIns="0" tIns="0" rIns="0" bIns="0"/>
          <a:lstStyle/>
          <a:p>
            <a:pPr algn="l">
              <a:buNone/>
              <a:defRPr sz="1125">
                <a:latin typeface="Calibri"/>
                <a:ea typeface="맑은 고딕"/>
                <a:cs typeface="맑은 고딕"/>
              </a:defRPr>
            </a:pPr>
            <a:r>
              <a:rPr lang="ko-KR" altLang="en-US" sz="1125" b="1">
                <a:solidFill>
                  <a:srgbClr val="F6B846"/>
                </a:solidFill>
                <a:latin typeface="Calibri"/>
                <a:ea typeface="맑은 고딕"/>
                <a:cs typeface="맑은 고딕"/>
              </a:rPr>
              <a:t>LAYER 4</a:t>
            </a:r>
          </a:p>
        </p:txBody>
      </p:sp>
      <p:sp>
        <p:nvSpPr>
          <p:cNvPr id="2041" name="k2041"/>
          <p:cNvSpPr>
            <a:spLocks noGrp="1"/>
          </p:cNvSpPr>
          <p:nvPr/>
        </p:nvSpPr>
        <p:spPr>
          <a:xfrm>
            <a:off x="2514600" y="1874520"/>
            <a:ext cx="3246120" cy="292608"/>
          </a:xfrm>
          <a:prstGeom prst="rect">
            <a:avLst/>
          </a:prstGeom>
          <a:noFill/>
          <a:ln w="0">
            <a:noFill/>
            <a:prstDash val="solid"/>
          </a:ln>
        </p:spPr>
        <p:txBody>
          <a:bodyPr wrap="square" lIns="0" tIns="0" rIns="0" bIns="0"/>
          <a:lstStyle/>
          <a:p>
            <a:pPr algn="l">
              <a:buNone/>
              <a:defRPr sz="1575">
                <a:latin typeface="Calibri"/>
                <a:ea typeface="맑은 고딕"/>
                <a:cs typeface="맑은 고딕"/>
              </a:defRPr>
            </a:pPr>
            <a:r>
              <a:rPr lang="ko-KR" altLang="en-US" sz="1575" b="1">
                <a:solidFill>
                  <a:srgbClr val="10251F"/>
                </a:solidFill>
                <a:latin typeface="Calibri"/>
                <a:ea typeface="맑은 고딕"/>
                <a:cs typeface="맑은 고딕"/>
              </a:rPr>
              <a:t>학습 루프</a:t>
            </a:r>
          </a:p>
        </p:txBody>
      </p:sp>
      <p:sp>
        <p:nvSpPr>
          <p:cNvPr id="2042" name="k2042"/>
          <p:cNvSpPr>
            <a:spLocks noGrp="1"/>
          </p:cNvSpPr>
          <p:nvPr/>
        </p:nvSpPr>
        <p:spPr>
          <a:xfrm>
            <a:off x="5943600" y="1892808"/>
            <a:ext cx="5285232" cy="45720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전문가 레이블·알람 통계·치료 결과가 다음 판단을 개선한다</a:t>
            </a:r>
          </a:p>
        </p:txBody>
      </p:sp>
      <p:sp>
        <p:nvSpPr>
          <p:cNvPr id="2043" name="k2043"/>
          <p:cNvSpPr>
            <a:spLocks noGrp="1"/>
          </p:cNvSpPr>
          <p:nvPr/>
        </p:nvSpPr>
        <p:spPr>
          <a:xfrm>
            <a:off x="685800" y="2514600"/>
            <a:ext cx="10817352" cy="640080"/>
          </a:xfrm>
          <a:prstGeom prst="roundRect">
            <a:avLst/>
          </a:prstGeom>
          <a:solidFill>
            <a:srgbClr val="FFFFFF"/>
          </a:solidFill>
          <a:ln w="0">
            <a:noFill/>
            <a:prstDash val="solid"/>
          </a:ln>
        </p:spPr>
        <p:txBody>
          <a:bodyPr wrap="square" lIns="0" tIns="0" rIns="0" bIns="0"/>
          <a:lstStyle/>
          <a:p>
            <a:endParaRPr lang="ko-KR" altLang="en-US"/>
          </a:p>
        </p:txBody>
      </p:sp>
      <p:sp>
        <p:nvSpPr>
          <p:cNvPr id="2044" name="k2044"/>
          <p:cNvSpPr>
            <a:spLocks noGrp="1"/>
          </p:cNvSpPr>
          <p:nvPr/>
        </p:nvSpPr>
        <p:spPr>
          <a:xfrm>
            <a:off x="685800" y="2514600"/>
            <a:ext cx="109728" cy="640080"/>
          </a:xfrm>
          <a:prstGeom prst="rect">
            <a:avLst/>
          </a:prstGeom>
          <a:solidFill>
            <a:srgbClr val="4C8DD9"/>
          </a:solidFill>
          <a:ln w="0">
            <a:noFill/>
            <a:prstDash val="solid"/>
          </a:ln>
        </p:spPr>
        <p:txBody>
          <a:bodyPr wrap="square" lIns="0" tIns="0" rIns="0" bIns="0"/>
          <a:lstStyle/>
          <a:p>
            <a:endParaRPr lang="ko-KR" altLang="en-US"/>
          </a:p>
        </p:txBody>
      </p:sp>
      <p:sp>
        <p:nvSpPr>
          <p:cNvPr id="2045" name="k2045"/>
          <p:cNvSpPr>
            <a:spLocks noGrp="1"/>
          </p:cNvSpPr>
          <p:nvPr/>
        </p:nvSpPr>
        <p:spPr>
          <a:xfrm>
            <a:off x="996696" y="2624328"/>
            <a:ext cx="1417320" cy="237744"/>
          </a:xfrm>
          <a:prstGeom prst="rect">
            <a:avLst/>
          </a:prstGeom>
          <a:noFill/>
          <a:ln w="0">
            <a:noFill/>
            <a:prstDash val="solid"/>
          </a:ln>
        </p:spPr>
        <p:txBody>
          <a:bodyPr wrap="square" lIns="0" tIns="0" rIns="0" bIns="0"/>
          <a:lstStyle/>
          <a:p>
            <a:pPr algn="l">
              <a:buNone/>
              <a:defRPr sz="1125">
                <a:latin typeface="Calibri"/>
                <a:ea typeface="맑은 고딕"/>
                <a:cs typeface="맑은 고딕"/>
              </a:defRPr>
            </a:pPr>
            <a:r>
              <a:rPr lang="ko-KR" altLang="en-US" sz="1125" b="1">
                <a:solidFill>
                  <a:srgbClr val="4C8DD9"/>
                </a:solidFill>
                <a:latin typeface="Calibri"/>
                <a:ea typeface="맑은 고딕"/>
                <a:cs typeface="맑은 고딕"/>
              </a:rPr>
              <a:t>LAYER 3</a:t>
            </a:r>
          </a:p>
        </p:txBody>
      </p:sp>
      <p:sp>
        <p:nvSpPr>
          <p:cNvPr id="2046" name="k2046"/>
          <p:cNvSpPr>
            <a:spLocks noGrp="1"/>
          </p:cNvSpPr>
          <p:nvPr/>
        </p:nvSpPr>
        <p:spPr>
          <a:xfrm>
            <a:off x="2514600" y="2596896"/>
            <a:ext cx="3246120" cy="292608"/>
          </a:xfrm>
          <a:prstGeom prst="rect">
            <a:avLst/>
          </a:prstGeom>
          <a:noFill/>
          <a:ln w="0">
            <a:noFill/>
            <a:prstDash val="solid"/>
          </a:ln>
        </p:spPr>
        <p:txBody>
          <a:bodyPr wrap="square" lIns="0" tIns="0" rIns="0" bIns="0"/>
          <a:lstStyle/>
          <a:p>
            <a:pPr algn="l">
              <a:buNone/>
              <a:defRPr sz="1575">
                <a:latin typeface="Calibri"/>
                <a:ea typeface="맑은 고딕"/>
                <a:cs typeface="맑은 고딕"/>
              </a:defRPr>
            </a:pPr>
            <a:r>
              <a:rPr lang="ko-KR" altLang="en-US" sz="1575" b="1">
                <a:solidFill>
                  <a:srgbClr val="10251F"/>
                </a:solidFill>
                <a:latin typeface="Calibri"/>
                <a:ea typeface="맑은 고딕"/>
                <a:cs typeface="맑은 고딕"/>
              </a:rPr>
              <a:t>역할별 서빙</a:t>
            </a:r>
          </a:p>
        </p:txBody>
      </p:sp>
      <p:sp>
        <p:nvSpPr>
          <p:cNvPr id="2047" name="k2047"/>
          <p:cNvSpPr>
            <a:spLocks noGrp="1"/>
          </p:cNvSpPr>
          <p:nvPr/>
        </p:nvSpPr>
        <p:spPr>
          <a:xfrm>
            <a:off x="5943600" y="2615184"/>
            <a:ext cx="5285232" cy="45720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같은 데이터가 농가·수의사·방역관·행정에 각기 다르게 도달한다</a:t>
            </a:r>
          </a:p>
        </p:txBody>
      </p:sp>
      <p:sp>
        <p:nvSpPr>
          <p:cNvPr id="2048" name="k2048"/>
          <p:cNvSpPr>
            <a:spLocks noGrp="1"/>
          </p:cNvSpPr>
          <p:nvPr/>
        </p:nvSpPr>
        <p:spPr>
          <a:xfrm>
            <a:off x="685800" y="3236976"/>
            <a:ext cx="10817352" cy="640080"/>
          </a:xfrm>
          <a:prstGeom prst="roundRect">
            <a:avLst/>
          </a:prstGeom>
          <a:solidFill>
            <a:srgbClr val="FFFFFF"/>
          </a:solidFill>
          <a:ln w="0">
            <a:noFill/>
            <a:prstDash val="solid"/>
          </a:ln>
        </p:spPr>
        <p:txBody>
          <a:bodyPr wrap="square" lIns="0" tIns="0" rIns="0" bIns="0"/>
          <a:lstStyle/>
          <a:p>
            <a:endParaRPr lang="ko-KR" altLang="en-US"/>
          </a:p>
        </p:txBody>
      </p:sp>
      <p:sp>
        <p:nvSpPr>
          <p:cNvPr id="2049" name="k2049"/>
          <p:cNvSpPr>
            <a:spLocks noGrp="1"/>
          </p:cNvSpPr>
          <p:nvPr/>
        </p:nvSpPr>
        <p:spPr>
          <a:xfrm>
            <a:off x="685800" y="3236976"/>
            <a:ext cx="109728" cy="640080"/>
          </a:xfrm>
          <a:prstGeom prst="rect">
            <a:avLst/>
          </a:prstGeom>
          <a:solidFill>
            <a:srgbClr val="15A98C"/>
          </a:solidFill>
          <a:ln w="0">
            <a:noFill/>
            <a:prstDash val="solid"/>
          </a:ln>
        </p:spPr>
        <p:txBody>
          <a:bodyPr wrap="square" lIns="0" tIns="0" rIns="0" bIns="0"/>
          <a:lstStyle/>
          <a:p>
            <a:endParaRPr lang="ko-KR" altLang="en-US"/>
          </a:p>
        </p:txBody>
      </p:sp>
      <p:sp>
        <p:nvSpPr>
          <p:cNvPr id="2050" name="k2050"/>
          <p:cNvSpPr>
            <a:spLocks noGrp="1"/>
          </p:cNvSpPr>
          <p:nvPr/>
        </p:nvSpPr>
        <p:spPr>
          <a:xfrm>
            <a:off x="996696" y="3346704"/>
            <a:ext cx="1417320" cy="237744"/>
          </a:xfrm>
          <a:prstGeom prst="rect">
            <a:avLst/>
          </a:prstGeom>
          <a:noFill/>
          <a:ln w="0">
            <a:noFill/>
            <a:prstDash val="solid"/>
          </a:ln>
        </p:spPr>
        <p:txBody>
          <a:bodyPr wrap="square" lIns="0" tIns="0" rIns="0" bIns="0"/>
          <a:lstStyle/>
          <a:p>
            <a:pPr algn="l">
              <a:buNone/>
              <a:defRPr sz="1125">
                <a:latin typeface="Calibri"/>
                <a:ea typeface="맑은 고딕"/>
                <a:cs typeface="맑은 고딕"/>
              </a:defRPr>
            </a:pPr>
            <a:r>
              <a:rPr lang="ko-KR" altLang="en-US" sz="1125" b="1">
                <a:solidFill>
                  <a:srgbClr val="15A98C"/>
                </a:solidFill>
                <a:latin typeface="Calibri"/>
                <a:ea typeface="맑은 고딕"/>
                <a:cs typeface="맑은 고딕"/>
              </a:rPr>
              <a:t>LAYER 2</a:t>
            </a:r>
          </a:p>
        </p:txBody>
      </p:sp>
      <p:sp>
        <p:nvSpPr>
          <p:cNvPr id="2051" name="k2051"/>
          <p:cNvSpPr>
            <a:spLocks noGrp="1"/>
          </p:cNvSpPr>
          <p:nvPr/>
        </p:nvSpPr>
        <p:spPr>
          <a:xfrm>
            <a:off x="2514600" y="3319272"/>
            <a:ext cx="3246120" cy="292608"/>
          </a:xfrm>
          <a:prstGeom prst="rect">
            <a:avLst/>
          </a:prstGeom>
          <a:noFill/>
          <a:ln w="0">
            <a:noFill/>
            <a:prstDash val="solid"/>
          </a:ln>
        </p:spPr>
        <p:txBody>
          <a:bodyPr wrap="square" lIns="0" tIns="0" rIns="0" bIns="0"/>
          <a:lstStyle/>
          <a:p>
            <a:pPr algn="l">
              <a:buNone/>
              <a:defRPr sz="1575">
                <a:latin typeface="Calibri"/>
                <a:ea typeface="맑은 고딕"/>
                <a:cs typeface="맑은 고딕"/>
              </a:defRPr>
            </a:pPr>
            <a:r>
              <a:rPr lang="ko-KR" altLang="en-US" sz="1575" b="1">
                <a:solidFill>
                  <a:srgbClr val="10251F"/>
                </a:solidFill>
                <a:latin typeface="Calibri"/>
                <a:ea typeface="맑은 고딕"/>
                <a:cs typeface="맑은 고딕"/>
              </a:rPr>
              <a:t>해석</a:t>
            </a:r>
          </a:p>
        </p:txBody>
      </p:sp>
      <p:sp>
        <p:nvSpPr>
          <p:cNvPr id="2052" name="k2052"/>
          <p:cNvSpPr>
            <a:spLocks noGrp="1"/>
          </p:cNvSpPr>
          <p:nvPr/>
        </p:nvSpPr>
        <p:spPr>
          <a:xfrm>
            <a:off x="5943600" y="3337560"/>
            <a:ext cx="5285232" cy="45720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이벤트에 맥락을 더한다. 모든 판단은 근거와 출처를 함께 남긴다</a:t>
            </a:r>
          </a:p>
        </p:txBody>
      </p:sp>
      <p:sp>
        <p:nvSpPr>
          <p:cNvPr id="2053" name="k2053"/>
          <p:cNvSpPr>
            <a:spLocks noGrp="1"/>
          </p:cNvSpPr>
          <p:nvPr/>
        </p:nvSpPr>
        <p:spPr>
          <a:xfrm>
            <a:off x="685800" y="3959352"/>
            <a:ext cx="10817352" cy="640080"/>
          </a:xfrm>
          <a:prstGeom prst="roundRect">
            <a:avLst/>
          </a:prstGeom>
          <a:solidFill>
            <a:srgbClr val="FFFFFF"/>
          </a:solidFill>
          <a:ln w="0">
            <a:noFill/>
            <a:prstDash val="solid"/>
          </a:ln>
        </p:spPr>
        <p:txBody>
          <a:bodyPr wrap="square" lIns="0" tIns="0" rIns="0" bIns="0"/>
          <a:lstStyle/>
          <a:p>
            <a:endParaRPr lang="ko-KR" altLang="en-US"/>
          </a:p>
        </p:txBody>
      </p:sp>
      <p:sp>
        <p:nvSpPr>
          <p:cNvPr id="2054" name="k2054"/>
          <p:cNvSpPr>
            <a:spLocks noGrp="1"/>
          </p:cNvSpPr>
          <p:nvPr/>
        </p:nvSpPr>
        <p:spPr>
          <a:xfrm>
            <a:off x="685800" y="3959352"/>
            <a:ext cx="109728" cy="640080"/>
          </a:xfrm>
          <a:prstGeom prst="rect">
            <a:avLst/>
          </a:prstGeom>
          <a:solidFill>
            <a:srgbClr val="65D44A"/>
          </a:solidFill>
          <a:ln w="0">
            <a:noFill/>
            <a:prstDash val="solid"/>
          </a:ln>
        </p:spPr>
        <p:txBody>
          <a:bodyPr wrap="square" lIns="0" tIns="0" rIns="0" bIns="0"/>
          <a:lstStyle/>
          <a:p>
            <a:endParaRPr lang="ko-KR" altLang="en-US"/>
          </a:p>
        </p:txBody>
      </p:sp>
      <p:sp>
        <p:nvSpPr>
          <p:cNvPr id="2055" name="k2055"/>
          <p:cNvSpPr>
            <a:spLocks noGrp="1"/>
          </p:cNvSpPr>
          <p:nvPr/>
        </p:nvSpPr>
        <p:spPr>
          <a:xfrm>
            <a:off x="996696" y="4069080"/>
            <a:ext cx="1417320" cy="237744"/>
          </a:xfrm>
          <a:prstGeom prst="rect">
            <a:avLst/>
          </a:prstGeom>
          <a:noFill/>
          <a:ln w="0">
            <a:noFill/>
            <a:prstDash val="solid"/>
          </a:ln>
        </p:spPr>
        <p:txBody>
          <a:bodyPr wrap="square" lIns="0" tIns="0" rIns="0" bIns="0"/>
          <a:lstStyle/>
          <a:p>
            <a:pPr algn="l">
              <a:buNone/>
              <a:defRPr sz="1125">
                <a:latin typeface="Calibri"/>
                <a:ea typeface="맑은 고딕"/>
                <a:cs typeface="맑은 고딕"/>
              </a:defRPr>
            </a:pPr>
            <a:r>
              <a:rPr lang="ko-KR" altLang="en-US" sz="1125" b="1">
                <a:solidFill>
                  <a:srgbClr val="65D44A"/>
                </a:solidFill>
                <a:latin typeface="Calibri"/>
                <a:ea typeface="맑은 고딕"/>
                <a:cs typeface="맑은 고딕"/>
              </a:rPr>
              <a:t>LAYER 1</a:t>
            </a:r>
          </a:p>
        </p:txBody>
      </p:sp>
      <p:sp>
        <p:nvSpPr>
          <p:cNvPr id="2056" name="k2056"/>
          <p:cNvSpPr>
            <a:spLocks noGrp="1"/>
          </p:cNvSpPr>
          <p:nvPr/>
        </p:nvSpPr>
        <p:spPr>
          <a:xfrm>
            <a:off x="2514600" y="4041648"/>
            <a:ext cx="3246120" cy="292608"/>
          </a:xfrm>
          <a:prstGeom prst="rect">
            <a:avLst/>
          </a:prstGeom>
          <a:noFill/>
          <a:ln w="0">
            <a:noFill/>
            <a:prstDash val="solid"/>
          </a:ln>
        </p:spPr>
        <p:txBody>
          <a:bodyPr wrap="square" lIns="0" tIns="0" rIns="0" bIns="0"/>
          <a:lstStyle/>
          <a:p>
            <a:pPr algn="l">
              <a:buNone/>
              <a:defRPr sz="1575">
                <a:latin typeface="Calibri"/>
                <a:ea typeface="맑은 고딕"/>
                <a:cs typeface="맑은 고딕"/>
              </a:defRPr>
            </a:pPr>
            <a:r>
              <a:rPr lang="ko-KR" altLang="en-US" sz="1575" b="1">
                <a:solidFill>
                  <a:srgbClr val="10251F"/>
                </a:solidFill>
                <a:latin typeface="Calibri"/>
                <a:ea typeface="맑은 고딕"/>
                <a:cs typeface="맑은 고딕"/>
              </a:rPr>
              <a:t>데이터 통합</a:t>
            </a:r>
          </a:p>
        </p:txBody>
      </p:sp>
      <p:sp>
        <p:nvSpPr>
          <p:cNvPr id="2057" name="k2057"/>
          <p:cNvSpPr>
            <a:spLocks noGrp="1"/>
          </p:cNvSpPr>
          <p:nvPr/>
        </p:nvSpPr>
        <p:spPr>
          <a:xfrm>
            <a:off x="5943600" y="4059936"/>
            <a:ext cx="5285232" cy="45720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센서 이벤트·국가 기록·농장 이력·기상을 한 마리에 모은다</a:t>
            </a:r>
          </a:p>
        </p:txBody>
      </p:sp>
      <p:sp>
        <p:nvSpPr>
          <p:cNvPr id="2058" name="k205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059" name="k2059"/>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센서 이벤트는 신뢰하고 재판단하지 않습니다. 센서가 알 수 없는 것을 더할 뿐입니다.</a:t>
            </a:r>
          </a:p>
        </p:txBody>
      </p:sp>
      <p:sp>
        <p:nvSpPr>
          <p:cNvPr id="2062" name="k2062"/>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063" name="k2063"/>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38</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086" name="k2086"/>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맥락</a:t>
            </a:r>
          </a:p>
        </p:txBody>
      </p:sp>
      <p:sp>
        <p:nvSpPr>
          <p:cNvPr id="2087" name="k2087"/>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소 한 마리에 네 개의 번호가 따로 살고 있었습니다</a:t>
            </a:r>
          </a:p>
        </p:txBody>
      </p:sp>
      <p:sp>
        <p:nvSpPr>
          <p:cNvPr id="2064" name="k2064"/>
          <p:cNvSpPr>
            <a:spLocks noGrp="1"/>
          </p:cNvSpPr>
          <p:nvPr/>
        </p:nvSpPr>
        <p:spPr>
          <a:xfrm>
            <a:off x="685800"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065" name="k2065"/>
          <p:cNvSpPr>
            <a:spLocks noGrp="1"/>
          </p:cNvSpPr>
          <p:nvPr/>
        </p:nvSpPr>
        <p:spPr>
          <a:xfrm>
            <a:off x="685800" y="1901952"/>
            <a:ext cx="2471166" cy="109728"/>
          </a:xfrm>
          <a:prstGeom prst="rect">
            <a:avLst/>
          </a:prstGeom>
          <a:solidFill>
            <a:srgbClr val="E96155"/>
          </a:solidFill>
          <a:ln w="0">
            <a:noFill/>
            <a:prstDash val="solid"/>
          </a:ln>
        </p:spPr>
        <p:txBody>
          <a:bodyPr wrap="square" lIns="0" tIns="0" rIns="0" bIns="0"/>
          <a:lstStyle/>
          <a:p>
            <a:endParaRPr lang="ko-KR" altLang="en-US"/>
          </a:p>
        </p:txBody>
      </p:sp>
      <p:sp>
        <p:nvSpPr>
          <p:cNvPr id="2066" name="k2066"/>
          <p:cNvSpPr>
            <a:spLocks noGrp="1"/>
          </p:cNvSpPr>
          <p:nvPr/>
        </p:nvSpPr>
        <p:spPr>
          <a:xfrm>
            <a:off x="950976"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이력제 번호</a:t>
            </a:r>
          </a:p>
        </p:txBody>
      </p:sp>
      <p:sp>
        <p:nvSpPr>
          <p:cNvPr id="2067" name="k2067"/>
          <p:cNvSpPr>
            <a:spLocks noGrp="1"/>
          </p:cNvSpPr>
          <p:nvPr/>
        </p:nvSpPr>
        <p:spPr>
          <a:xfrm>
            <a:off x="950976"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국가 등록 번호</a:t>
            </a:r>
          </a:p>
        </p:txBody>
      </p:sp>
      <p:sp>
        <p:nvSpPr>
          <p:cNvPr id="2068" name="k2068"/>
          <p:cNvSpPr>
            <a:spLocks noGrp="1"/>
          </p:cNvSpPr>
          <p:nvPr/>
        </p:nvSpPr>
        <p:spPr>
          <a:xfrm>
            <a:off x="950976"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출생 2주 안에 국가가 부여한다. 공공 기록을 여는 열쇠다.</a:t>
            </a:r>
          </a:p>
        </p:txBody>
      </p:sp>
      <p:sp>
        <p:nvSpPr>
          <p:cNvPr id="2069" name="k2069"/>
          <p:cNvSpPr>
            <a:spLocks noGrp="1"/>
          </p:cNvSpPr>
          <p:nvPr/>
        </p:nvSpPr>
        <p:spPr>
          <a:xfrm>
            <a:off x="3467862"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070" name="k2070"/>
          <p:cNvSpPr>
            <a:spLocks noGrp="1"/>
          </p:cNvSpPr>
          <p:nvPr/>
        </p:nvSpPr>
        <p:spPr>
          <a:xfrm>
            <a:off x="3467862" y="1901952"/>
            <a:ext cx="2471166" cy="109728"/>
          </a:xfrm>
          <a:prstGeom prst="rect">
            <a:avLst/>
          </a:prstGeom>
          <a:solidFill>
            <a:srgbClr val="15A98C"/>
          </a:solidFill>
          <a:ln w="0">
            <a:noFill/>
            <a:prstDash val="solid"/>
          </a:ln>
        </p:spPr>
        <p:txBody>
          <a:bodyPr wrap="square" lIns="0" tIns="0" rIns="0" bIns="0"/>
          <a:lstStyle/>
          <a:p>
            <a:endParaRPr lang="ko-KR" altLang="en-US"/>
          </a:p>
        </p:txBody>
      </p:sp>
      <p:sp>
        <p:nvSpPr>
          <p:cNvPr id="2071" name="k2071"/>
          <p:cNvSpPr>
            <a:spLocks noGrp="1"/>
          </p:cNvSpPr>
          <p:nvPr/>
        </p:nvSpPr>
        <p:spPr>
          <a:xfrm>
            <a:off x="3733038"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15A98C"/>
                </a:solidFill>
                <a:latin typeface="Calibri"/>
                <a:ea typeface="맑은 고딕"/>
                <a:cs typeface="맑은 고딕"/>
              </a:rPr>
              <a:t>목장 관리번호</a:t>
            </a:r>
          </a:p>
        </p:txBody>
      </p:sp>
      <p:sp>
        <p:nvSpPr>
          <p:cNvPr id="2072" name="k2072"/>
          <p:cNvSpPr>
            <a:spLocks noGrp="1"/>
          </p:cNvSpPr>
          <p:nvPr/>
        </p:nvSpPr>
        <p:spPr>
          <a:xfrm>
            <a:off x="3733038"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현장에서 부르는 이름</a:t>
            </a:r>
          </a:p>
        </p:txBody>
      </p:sp>
      <p:sp>
        <p:nvSpPr>
          <p:cNvPr id="2073" name="k2073"/>
          <p:cNvSpPr>
            <a:spLocks noGrp="1"/>
          </p:cNvSpPr>
          <p:nvPr/>
        </p:nvSpPr>
        <p:spPr>
          <a:xfrm>
            <a:off x="3733038"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실제로 목장에서 부르는 번호. 모든 대화가 이 번호로 오간다.</a:t>
            </a:r>
          </a:p>
        </p:txBody>
      </p:sp>
      <p:sp>
        <p:nvSpPr>
          <p:cNvPr id="2074" name="k2074"/>
          <p:cNvSpPr>
            <a:spLocks noGrp="1"/>
          </p:cNvSpPr>
          <p:nvPr/>
        </p:nvSpPr>
        <p:spPr>
          <a:xfrm>
            <a:off x="6249924"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075" name="k2075"/>
          <p:cNvSpPr>
            <a:spLocks noGrp="1"/>
          </p:cNvSpPr>
          <p:nvPr/>
        </p:nvSpPr>
        <p:spPr>
          <a:xfrm>
            <a:off x="6249924" y="1901952"/>
            <a:ext cx="2471166" cy="109728"/>
          </a:xfrm>
          <a:prstGeom prst="rect">
            <a:avLst/>
          </a:prstGeom>
          <a:solidFill>
            <a:srgbClr val="4C8DD9"/>
          </a:solidFill>
          <a:ln w="0">
            <a:noFill/>
            <a:prstDash val="solid"/>
          </a:ln>
        </p:spPr>
        <p:txBody>
          <a:bodyPr wrap="square" lIns="0" tIns="0" rIns="0" bIns="0"/>
          <a:lstStyle/>
          <a:p>
            <a:endParaRPr lang="ko-KR" altLang="en-US"/>
          </a:p>
        </p:txBody>
      </p:sp>
      <p:sp>
        <p:nvSpPr>
          <p:cNvPr id="2076" name="k2076"/>
          <p:cNvSpPr>
            <a:spLocks noGrp="1"/>
          </p:cNvSpPr>
          <p:nvPr/>
        </p:nvSpPr>
        <p:spPr>
          <a:xfrm>
            <a:off x="6515100"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4C8DD9"/>
                </a:solidFill>
                <a:latin typeface="Calibri"/>
                <a:ea typeface="맑은 고딕"/>
                <a:cs typeface="맑은 고딕"/>
              </a:rPr>
              <a:t>혈통등록번호</a:t>
            </a:r>
          </a:p>
        </p:txBody>
      </p:sp>
      <p:sp>
        <p:nvSpPr>
          <p:cNvPr id="2077" name="k2077"/>
          <p:cNvSpPr>
            <a:spLocks noGrp="1"/>
          </p:cNvSpPr>
          <p:nvPr/>
        </p:nvSpPr>
        <p:spPr>
          <a:xfrm>
            <a:off x="6515100"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혈통과 유전능력</a:t>
            </a:r>
          </a:p>
        </p:txBody>
      </p:sp>
      <p:sp>
        <p:nvSpPr>
          <p:cNvPr id="2078" name="k2078"/>
          <p:cNvSpPr>
            <a:spLocks noGrp="1"/>
          </p:cNvSpPr>
          <p:nvPr/>
        </p:nvSpPr>
        <p:spPr>
          <a:xfrm>
            <a:off x="6515100"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근교계수 확인과 정액 선택에 필요하다.</a:t>
            </a:r>
          </a:p>
        </p:txBody>
      </p:sp>
      <p:sp>
        <p:nvSpPr>
          <p:cNvPr id="2079" name="k2079"/>
          <p:cNvSpPr>
            <a:spLocks noGrp="1"/>
          </p:cNvSpPr>
          <p:nvPr/>
        </p:nvSpPr>
        <p:spPr>
          <a:xfrm>
            <a:off x="9031986"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080" name="k2080"/>
          <p:cNvSpPr>
            <a:spLocks noGrp="1"/>
          </p:cNvSpPr>
          <p:nvPr/>
        </p:nvSpPr>
        <p:spPr>
          <a:xfrm>
            <a:off x="9031986" y="1901952"/>
            <a:ext cx="2471166" cy="109728"/>
          </a:xfrm>
          <a:prstGeom prst="rect">
            <a:avLst/>
          </a:prstGeom>
          <a:solidFill>
            <a:srgbClr val="F6B846"/>
          </a:solidFill>
          <a:ln w="0">
            <a:noFill/>
            <a:prstDash val="solid"/>
          </a:ln>
        </p:spPr>
        <p:txBody>
          <a:bodyPr wrap="square" lIns="0" tIns="0" rIns="0" bIns="0"/>
          <a:lstStyle/>
          <a:p>
            <a:endParaRPr lang="ko-KR" altLang="en-US"/>
          </a:p>
        </p:txBody>
      </p:sp>
      <p:sp>
        <p:nvSpPr>
          <p:cNvPr id="2081" name="k2081"/>
          <p:cNvSpPr>
            <a:spLocks noGrp="1"/>
          </p:cNvSpPr>
          <p:nvPr/>
        </p:nvSpPr>
        <p:spPr>
          <a:xfrm>
            <a:off x="9297162"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F6B846"/>
                </a:solidFill>
                <a:latin typeface="Calibri"/>
                <a:ea typeface="맑은 고딕"/>
                <a:cs typeface="맑은 고딕"/>
              </a:rPr>
              <a:t>센서 시리얼</a:t>
            </a:r>
          </a:p>
        </p:txBody>
      </p:sp>
      <p:sp>
        <p:nvSpPr>
          <p:cNvPr id="2082" name="k2082"/>
          <p:cNvSpPr>
            <a:spLocks noGrp="1"/>
          </p:cNvSpPr>
          <p:nvPr/>
        </p:nvSpPr>
        <p:spPr>
          <a:xfrm>
            <a:off x="9297162"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장치 식별자</a:t>
            </a:r>
          </a:p>
        </p:txBody>
      </p:sp>
      <p:sp>
        <p:nvSpPr>
          <p:cNvPr id="2083" name="k2083"/>
          <p:cNvSpPr>
            <a:spLocks noGrp="1"/>
          </p:cNvSpPr>
          <p:nvPr/>
        </p:nvSpPr>
        <p:spPr>
          <a:xfrm>
            <a:off x="9297162"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몸속의 볼루스. 생리 신호를 위의 모든 것과 잇는다.</a:t>
            </a:r>
          </a:p>
        </p:txBody>
      </p:sp>
      <p:sp>
        <p:nvSpPr>
          <p:cNvPr id="2084" name="k208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085" name="k2085"/>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이 넷을 잇는 순간 "열이 난다"가 우선순위와 손실 금액으로 바뀝니다.</a:t>
            </a:r>
          </a:p>
        </p:txBody>
      </p:sp>
      <p:sp>
        <p:nvSpPr>
          <p:cNvPr id="2088" name="k2088"/>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089" name="k2089"/>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39</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16" name="k2116"/>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경계</a:t>
            </a:r>
          </a:p>
        </p:txBody>
      </p:sp>
      <p:sp>
        <p:nvSpPr>
          <p:cNvPr id="2117" name="k2117"/>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어시스턴트가 하는 일과 하지 않는 일</a:t>
            </a:r>
          </a:p>
        </p:txBody>
      </p:sp>
      <p:sp>
        <p:nvSpPr>
          <p:cNvPr id="2090" name="k2090"/>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091" name="k2091"/>
          <p:cNvSpPr>
            <a:spLocks noGrp="1"/>
          </p:cNvSpPr>
          <p:nvPr/>
        </p:nvSpPr>
        <p:spPr>
          <a:xfrm>
            <a:off x="685800" y="1883664"/>
            <a:ext cx="5212080" cy="109728"/>
          </a:xfrm>
          <a:prstGeom prst="rect">
            <a:avLst/>
          </a:prstGeom>
          <a:solidFill>
            <a:srgbClr val="15A98C"/>
          </a:solidFill>
          <a:ln w="0">
            <a:noFill/>
            <a:prstDash val="solid"/>
          </a:ln>
        </p:spPr>
        <p:txBody>
          <a:bodyPr wrap="square" lIns="0" tIns="0" rIns="0" bIns="0"/>
          <a:lstStyle/>
          <a:p>
            <a:endParaRPr lang="ko-KR" altLang="en-US"/>
          </a:p>
        </p:txBody>
      </p:sp>
      <p:sp>
        <p:nvSpPr>
          <p:cNvPr id="2092" name="k2092"/>
          <p:cNvSpPr>
            <a:spLocks noGrp="1"/>
          </p:cNvSpPr>
          <p:nvPr/>
        </p:nvSpPr>
        <p:spPr>
          <a:xfrm>
            <a:off x="960120"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15A98C"/>
                </a:solidFill>
                <a:latin typeface="Calibri"/>
                <a:ea typeface="맑은 고딕"/>
                <a:cs typeface="맑은 고딕"/>
              </a:rPr>
              <a:t>하는 일</a:t>
            </a:r>
          </a:p>
        </p:txBody>
      </p:sp>
      <p:sp>
        <p:nvSpPr>
          <p:cNvPr id="2093" name="k2093"/>
          <p:cNvSpPr>
            <a:spLocks noGrp="1"/>
          </p:cNvSpPr>
          <p:nvPr/>
        </p:nvSpPr>
        <p:spPr>
          <a:xfrm>
            <a:off x="960120"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정리하고 근거를 붙인다</a:t>
            </a:r>
          </a:p>
        </p:txBody>
      </p:sp>
      <p:sp>
        <p:nvSpPr>
          <p:cNvPr id="2094" name="k2094"/>
          <p:cNvSpPr>
            <a:spLocks noGrp="1"/>
          </p:cNvSpPr>
          <p:nvPr/>
        </p:nvSpPr>
        <p:spPr>
          <a:xfrm>
            <a:off x="978408" y="3127248"/>
            <a:ext cx="100584" cy="100584"/>
          </a:xfrm>
          <a:prstGeom prst="ellipse">
            <a:avLst/>
          </a:prstGeom>
          <a:solidFill>
            <a:srgbClr val="15A98C"/>
          </a:solidFill>
          <a:ln w="0">
            <a:noFill/>
            <a:prstDash val="solid"/>
          </a:ln>
        </p:spPr>
        <p:txBody>
          <a:bodyPr wrap="square" lIns="0" tIns="0" rIns="0" bIns="0"/>
          <a:lstStyle/>
          <a:p>
            <a:endParaRPr lang="ko-KR" altLang="en-US"/>
          </a:p>
        </p:txBody>
      </p:sp>
      <p:sp>
        <p:nvSpPr>
          <p:cNvPr id="2095" name="k2095"/>
          <p:cNvSpPr>
            <a:spLocks noGrp="1"/>
          </p:cNvSpPr>
          <p:nvPr/>
        </p:nvSpPr>
        <p:spPr>
          <a:xfrm>
            <a:off x="1216152" y="3072384"/>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그 개체의 맥락을 한자리에 모은다</a:t>
            </a:r>
          </a:p>
        </p:txBody>
      </p:sp>
      <p:sp>
        <p:nvSpPr>
          <p:cNvPr id="2096" name="k2096"/>
          <p:cNvSpPr>
            <a:spLocks noGrp="1"/>
          </p:cNvSpPr>
          <p:nvPr/>
        </p:nvSpPr>
        <p:spPr>
          <a:xfrm>
            <a:off x="978408" y="3529584"/>
            <a:ext cx="100584" cy="100584"/>
          </a:xfrm>
          <a:prstGeom prst="ellipse">
            <a:avLst/>
          </a:prstGeom>
          <a:solidFill>
            <a:srgbClr val="15A98C"/>
          </a:solidFill>
          <a:ln w="0">
            <a:noFill/>
            <a:prstDash val="solid"/>
          </a:ln>
        </p:spPr>
        <p:txBody>
          <a:bodyPr wrap="square" lIns="0" tIns="0" rIns="0" bIns="0"/>
          <a:lstStyle/>
          <a:p>
            <a:endParaRPr lang="ko-KR" altLang="en-US"/>
          </a:p>
        </p:txBody>
      </p:sp>
      <p:sp>
        <p:nvSpPr>
          <p:cNvPr id="2097" name="k2097"/>
          <p:cNvSpPr>
            <a:spLocks noGrp="1"/>
          </p:cNvSpPr>
          <p:nvPr/>
        </p:nvSpPr>
        <p:spPr>
          <a:xfrm>
            <a:off x="1216152" y="3474720"/>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가능한 원인을 근거와 함께 순위로 제시한다</a:t>
            </a:r>
          </a:p>
        </p:txBody>
      </p:sp>
      <p:sp>
        <p:nvSpPr>
          <p:cNvPr id="2098" name="k2098"/>
          <p:cNvSpPr>
            <a:spLocks noGrp="1"/>
          </p:cNvSpPr>
          <p:nvPr/>
        </p:nvSpPr>
        <p:spPr>
          <a:xfrm>
            <a:off x="978408" y="3931920"/>
            <a:ext cx="100584" cy="100584"/>
          </a:xfrm>
          <a:prstGeom prst="ellipse">
            <a:avLst/>
          </a:prstGeom>
          <a:solidFill>
            <a:srgbClr val="15A98C"/>
          </a:solidFill>
          <a:ln w="0">
            <a:noFill/>
            <a:prstDash val="solid"/>
          </a:ln>
        </p:spPr>
        <p:txBody>
          <a:bodyPr wrap="square" lIns="0" tIns="0" rIns="0" bIns="0"/>
          <a:lstStyle/>
          <a:p>
            <a:endParaRPr lang="ko-KR" altLang="en-US"/>
          </a:p>
        </p:txBody>
      </p:sp>
      <p:sp>
        <p:nvSpPr>
          <p:cNvPr id="2099" name="k2099"/>
          <p:cNvSpPr>
            <a:spLocks noGrp="1"/>
          </p:cNvSpPr>
          <p:nvPr/>
        </p:nvSpPr>
        <p:spPr>
          <a:xfrm>
            <a:off x="1216152" y="3877056"/>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다음에 무엇을 확인할지와 시점을 제안한다</a:t>
            </a:r>
          </a:p>
        </p:txBody>
      </p:sp>
      <p:sp>
        <p:nvSpPr>
          <p:cNvPr id="2100" name="k2100"/>
          <p:cNvSpPr>
            <a:spLocks noGrp="1"/>
          </p:cNvSpPr>
          <p:nvPr/>
        </p:nvSpPr>
        <p:spPr>
          <a:xfrm>
            <a:off x="978408" y="4334256"/>
            <a:ext cx="100584" cy="100584"/>
          </a:xfrm>
          <a:prstGeom prst="ellipse">
            <a:avLst/>
          </a:prstGeom>
          <a:solidFill>
            <a:srgbClr val="15A98C"/>
          </a:solidFill>
          <a:ln w="0">
            <a:noFill/>
            <a:prstDash val="solid"/>
          </a:ln>
        </p:spPr>
        <p:txBody>
          <a:bodyPr wrap="square" lIns="0" tIns="0" rIns="0" bIns="0"/>
          <a:lstStyle/>
          <a:p>
            <a:endParaRPr lang="ko-KR" altLang="en-US"/>
          </a:p>
        </p:txBody>
      </p:sp>
      <p:sp>
        <p:nvSpPr>
          <p:cNvPr id="2101" name="k2101"/>
          <p:cNvSpPr>
            <a:spLocks noGrp="1"/>
          </p:cNvSpPr>
          <p:nvPr/>
        </p:nvSpPr>
        <p:spPr>
          <a:xfrm>
            <a:off x="1216152" y="4279392"/>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사람이 조치한 뒤 기록을 대신 쓴다</a:t>
            </a:r>
          </a:p>
        </p:txBody>
      </p:sp>
      <p:sp>
        <p:nvSpPr>
          <p:cNvPr id="2102" name="k2102"/>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103" name="k2103"/>
          <p:cNvSpPr>
            <a:spLocks noGrp="1"/>
          </p:cNvSpPr>
          <p:nvPr/>
        </p:nvSpPr>
        <p:spPr>
          <a:xfrm>
            <a:off x="6291072" y="1883664"/>
            <a:ext cx="5212080" cy="109728"/>
          </a:xfrm>
          <a:prstGeom prst="rect">
            <a:avLst/>
          </a:prstGeom>
          <a:solidFill>
            <a:srgbClr val="E96155"/>
          </a:solidFill>
          <a:ln w="0">
            <a:noFill/>
            <a:prstDash val="solid"/>
          </a:ln>
        </p:spPr>
        <p:txBody>
          <a:bodyPr wrap="square" lIns="0" tIns="0" rIns="0" bIns="0"/>
          <a:lstStyle/>
          <a:p>
            <a:endParaRPr lang="ko-KR" altLang="en-US"/>
          </a:p>
        </p:txBody>
      </p:sp>
      <p:sp>
        <p:nvSpPr>
          <p:cNvPr id="2104" name="k2104"/>
          <p:cNvSpPr>
            <a:spLocks noGrp="1"/>
          </p:cNvSpPr>
          <p:nvPr/>
        </p:nvSpPr>
        <p:spPr>
          <a:xfrm>
            <a:off x="6565392"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하지 않는 일</a:t>
            </a:r>
          </a:p>
        </p:txBody>
      </p:sp>
      <p:sp>
        <p:nvSpPr>
          <p:cNvPr id="2105" name="k2105"/>
          <p:cNvSpPr>
            <a:spLocks noGrp="1"/>
          </p:cNvSpPr>
          <p:nvPr/>
        </p:nvSpPr>
        <p:spPr>
          <a:xfrm>
            <a:off x="6565392"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진단하거나 처방하지 않는다</a:t>
            </a:r>
          </a:p>
        </p:txBody>
      </p:sp>
      <p:sp>
        <p:nvSpPr>
          <p:cNvPr id="2106" name="k2106"/>
          <p:cNvSpPr>
            <a:spLocks noGrp="1"/>
          </p:cNvSpPr>
          <p:nvPr/>
        </p:nvSpPr>
        <p:spPr>
          <a:xfrm>
            <a:off x="6583680" y="3127248"/>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107" name="k2107"/>
          <p:cNvSpPr>
            <a:spLocks noGrp="1"/>
          </p:cNvSpPr>
          <p:nvPr/>
        </p:nvSpPr>
        <p:spPr>
          <a:xfrm>
            <a:off x="6821424" y="3072384"/>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진단하지 않는다 — 후보를 제시할 뿐이다</a:t>
            </a:r>
          </a:p>
        </p:txBody>
      </p:sp>
      <p:sp>
        <p:nvSpPr>
          <p:cNvPr id="2108" name="k2108"/>
          <p:cNvSpPr>
            <a:spLocks noGrp="1"/>
          </p:cNvSpPr>
          <p:nvPr/>
        </p:nvSpPr>
        <p:spPr>
          <a:xfrm>
            <a:off x="6583680" y="3529584"/>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109" name="k2109"/>
          <p:cNvSpPr>
            <a:spLocks noGrp="1"/>
          </p:cNvSpPr>
          <p:nvPr/>
        </p:nvSpPr>
        <p:spPr>
          <a:xfrm>
            <a:off x="6821424" y="3474720"/>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처방하지 않는다 — 수의사의 권한이다</a:t>
            </a:r>
          </a:p>
        </p:txBody>
      </p:sp>
      <p:sp>
        <p:nvSpPr>
          <p:cNvPr id="2110" name="k2110"/>
          <p:cNvSpPr>
            <a:spLocks noGrp="1"/>
          </p:cNvSpPr>
          <p:nvPr/>
        </p:nvSpPr>
        <p:spPr>
          <a:xfrm>
            <a:off x="6583680" y="3931920"/>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111" name="k2111"/>
          <p:cNvSpPr>
            <a:spLocks noGrp="1"/>
          </p:cNvSpPr>
          <p:nvPr/>
        </p:nvSpPr>
        <p:spPr>
          <a:xfrm>
            <a:off x="6821424" y="3877056"/>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승인 없이 실행하지 않는다</a:t>
            </a:r>
          </a:p>
        </p:txBody>
      </p:sp>
      <p:sp>
        <p:nvSpPr>
          <p:cNvPr id="2112" name="k2112"/>
          <p:cNvSpPr>
            <a:spLocks noGrp="1"/>
          </p:cNvSpPr>
          <p:nvPr/>
        </p:nvSpPr>
        <p:spPr>
          <a:xfrm>
            <a:off x="6583680" y="4334256"/>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113" name="k2113"/>
          <p:cNvSpPr>
            <a:spLocks noGrp="1"/>
          </p:cNvSpPr>
          <p:nvPr/>
        </p:nvSpPr>
        <p:spPr>
          <a:xfrm>
            <a:off x="6821424" y="4279392"/>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데이터 없이 답하지 않는다 — “자료 없음”도 답이다</a:t>
            </a:r>
          </a:p>
        </p:txBody>
      </p:sp>
      <p:sp>
        <p:nvSpPr>
          <p:cNvPr id="2114" name="k211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115" name="k2115"/>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모든 출력은 출처를 남깁니다. 근거 없는 답변은 결과가 아니라 실패로 봅니다.</a:t>
            </a:r>
          </a:p>
        </p:txBody>
      </p:sp>
      <p:sp>
        <p:nvSpPr>
          <p:cNvPr id="2118" name="k2118"/>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119" name="k2119"/>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40</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120" name="k2120"/>
          <p:cNvSpPr>
            <a:spLocks noGrp="1"/>
          </p:cNvSpPr>
          <p:nvPr/>
        </p:nvSpPr>
        <p:spPr>
          <a:xfrm>
            <a:off x="685800" y="704088"/>
            <a:ext cx="2093976" cy="1234440"/>
          </a:xfrm>
          <a:prstGeom prst="rect">
            <a:avLst/>
          </a:prstGeom>
          <a:noFill/>
          <a:ln w="0">
            <a:noFill/>
            <a:prstDash val="solid"/>
          </a:ln>
        </p:spPr>
        <p:txBody>
          <a:bodyPr wrap="square" lIns="0" tIns="0" rIns="0" bIns="0"/>
          <a:lstStyle/>
          <a:p>
            <a:pPr algn="l">
              <a:buNone/>
              <a:defRPr sz="6900">
                <a:latin typeface="Calibri"/>
                <a:ea typeface="맑은 고딕"/>
                <a:cs typeface="맑은 고딕"/>
              </a:defRPr>
            </a:pPr>
            <a:r>
              <a:rPr lang="ko-KR" altLang="en-US" sz="6900" b="1">
                <a:solidFill>
                  <a:srgbClr val="65D44A"/>
                </a:solidFill>
                <a:latin typeface="Calibri"/>
                <a:ea typeface="맑은 고딕"/>
                <a:cs typeface="맑은 고딕"/>
              </a:rPr>
              <a:t>08</a:t>
            </a:r>
          </a:p>
        </p:txBody>
      </p:sp>
      <p:sp>
        <p:nvSpPr>
          <p:cNvPr id="2121" name="k2121"/>
          <p:cNvSpPr>
            <a:spLocks noGrp="1"/>
          </p:cNvSpPr>
          <p:nvPr/>
        </p:nvSpPr>
        <p:spPr>
          <a:xfrm>
            <a:off x="685800" y="2432304"/>
            <a:ext cx="8476488" cy="950976"/>
          </a:xfrm>
          <a:prstGeom prst="rect">
            <a:avLst/>
          </a:prstGeom>
          <a:noFill/>
          <a:ln w="0">
            <a:noFill/>
            <a:prstDash val="solid"/>
          </a:ln>
        </p:spPr>
        <p:txBody>
          <a:bodyPr wrap="square" lIns="0" tIns="0" rIns="0" bIns="0"/>
          <a:lstStyle/>
          <a:p>
            <a:pPr algn="l">
              <a:buNone/>
              <a:defRPr sz="4050">
                <a:latin typeface="Calibri"/>
                <a:ea typeface="맑은 고딕"/>
                <a:cs typeface="맑은 고딕"/>
              </a:defRPr>
            </a:pPr>
            <a:r>
              <a:rPr lang="ko-KR" altLang="en-US" sz="4050" b="1">
                <a:solidFill>
                  <a:srgbClr val="FFFFFF"/>
                </a:solidFill>
                <a:latin typeface="Calibri"/>
                <a:ea typeface="맑은 고딕"/>
                <a:cs typeface="맑은 고딕"/>
              </a:rPr>
              <a:t>어시스턴트</a:t>
            </a:r>
          </a:p>
        </p:txBody>
      </p:sp>
      <p:sp>
        <p:nvSpPr>
          <p:cNvPr id="2122" name="k2122"/>
          <p:cNvSpPr>
            <a:spLocks noGrp="1"/>
          </p:cNvSpPr>
          <p:nvPr/>
        </p:nvSpPr>
        <p:spPr>
          <a:xfrm>
            <a:off x="685800" y="3621024"/>
            <a:ext cx="7424928" cy="1005840"/>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a:solidFill>
                  <a:srgbClr val="C9D8D2"/>
                </a:solidFill>
                <a:latin typeface="Calibri"/>
                <a:ea typeface="맑은 고딕"/>
                <a:cs typeface="맑은 고딕"/>
              </a:rPr>
              <a:t>평소 쓰는 말로 물어보면 됩니다. 답은 그 목장의 데이터에서 나오고, 숫자마다 어디서 왔는지를 함께 보여줍니다.</a:t>
            </a:r>
          </a:p>
        </p:txBody>
      </p:sp>
      <p:sp>
        <p:nvSpPr>
          <p:cNvPr id="2123" name="k2123"/>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lstStyle/>
          <a:p>
            <a:endParaRPr lang="ko-KR" altLang="en-US"/>
          </a:p>
        </p:txBody>
      </p:sp>
      <p:sp>
        <p:nvSpPr>
          <p:cNvPr id="2124" name="k2124"/>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lstStyle/>
          <a:p>
            <a:endParaRPr lang="ko-KR" altLang="en-US"/>
          </a:p>
        </p:txBody>
      </p:sp>
      <p:sp>
        <p:nvSpPr>
          <p:cNvPr id="2125" name="k2125"/>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lstStyle/>
          <a:p>
            <a:endParaRPr lang="ko-KR" altLang="en-US"/>
          </a:p>
        </p:txBody>
      </p:sp>
      <p:sp>
        <p:nvSpPr>
          <p:cNvPr id="2126" name="k2126"/>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lstStyle/>
          <a:p>
            <a:endParaRPr lang="ko-KR" altLang="en-US"/>
          </a:p>
        </p:txBody>
      </p:sp>
      <p:sp>
        <p:nvSpPr>
          <p:cNvPr id="2127" name="k2127"/>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lstStyle/>
          <a:p>
            <a:endParaRPr lang="ko-KR" altLang="en-US"/>
          </a:p>
        </p:txBody>
      </p:sp>
      <p:sp>
        <p:nvSpPr>
          <p:cNvPr id="2128" name="k2128"/>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lstStyle/>
          <a:p>
            <a:endParaRPr lang="ko-KR" altLang="en-US"/>
          </a:p>
        </p:txBody>
      </p:sp>
      <p:sp>
        <p:nvSpPr>
          <p:cNvPr id="2129" name="k2129"/>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130" name="k2130"/>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41</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58" name="k2158"/>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도구</a:t>
            </a:r>
          </a:p>
        </p:txBody>
      </p:sp>
      <p:sp>
        <p:nvSpPr>
          <p:cNvPr id="2159" name="k2159"/>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어시스턴트는 정해진 도구를 통해서만 움직입니다</a:t>
            </a:r>
          </a:p>
        </p:txBody>
      </p:sp>
      <p:sp>
        <p:nvSpPr>
          <p:cNvPr id="2131" name="k2131"/>
          <p:cNvSpPr>
            <a:spLocks noGrp="1"/>
          </p:cNvSpPr>
          <p:nvPr/>
        </p:nvSpPr>
        <p:spPr>
          <a:xfrm>
            <a:off x="685800" y="1901952"/>
            <a:ext cx="2002536" cy="2788920"/>
          </a:xfrm>
          <a:prstGeom prst="roundRect">
            <a:avLst/>
          </a:prstGeom>
          <a:solidFill>
            <a:srgbClr val="FFFFFF"/>
          </a:solidFill>
          <a:ln w="0">
            <a:noFill/>
            <a:prstDash val="solid"/>
          </a:ln>
        </p:spPr>
        <p:txBody>
          <a:bodyPr wrap="square" lIns="0" tIns="0" rIns="0" bIns="0"/>
          <a:lstStyle/>
          <a:p>
            <a:endParaRPr lang="ko-KR" altLang="en-US"/>
          </a:p>
        </p:txBody>
      </p:sp>
      <p:sp>
        <p:nvSpPr>
          <p:cNvPr id="2132" name="k2132"/>
          <p:cNvSpPr>
            <a:spLocks noGrp="1"/>
          </p:cNvSpPr>
          <p:nvPr/>
        </p:nvSpPr>
        <p:spPr>
          <a:xfrm>
            <a:off x="685800" y="1901952"/>
            <a:ext cx="2002536" cy="109728"/>
          </a:xfrm>
          <a:prstGeom prst="rect">
            <a:avLst/>
          </a:prstGeom>
          <a:solidFill>
            <a:srgbClr val="15A98C"/>
          </a:solidFill>
          <a:ln w="0">
            <a:noFill/>
            <a:prstDash val="solid"/>
          </a:ln>
        </p:spPr>
        <p:txBody>
          <a:bodyPr wrap="square" lIns="0" tIns="0" rIns="0" bIns="0"/>
          <a:lstStyle/>
          <a:p>
            <a:endParaRPr lang="ko-KR" altLang="en-US"/>
          </a:p>
        </p:txBody>
      </p:sp>
      <p:sp>
        <p:nvSpPr>
          <p:cNvPr id="2133" name="k2133"/>
          <p:cNvSpPr>
            <a:spLocks noGrp="1"/>
          </p:cNvSpPr>
          <p:nvPr/>
        </p:nvSpPr>
        <p:spPr>
          <a:xfrm>
            <a:off x="950976" y="2249424"/>
            <a:ext cx="147218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15A98C"/>
                </a:solidFill>
                <a:latin typeface="Calibri"/>
                <a:ea typeface="맑은 고딕"/>
                <a:cs typeface="맑은 고딕"/>
              </a:rPr>
              <a:t>센서</a:t>
            </a:r>
          </a:p>
        </p:txBody>
      </p:sp>
      <p:sp>
        <p:nvSpPr>
          <p:cNvPr id="2134" name="k2134"/>
          <p:cNvSpPr>
            <a:spLocks noGrp="1"/>
          </p:cNvSpPr>
          <p:nvPr/>
        </p:nvSpPr>
        <p:spPr>
          <a:xfrm>
            <a:off x="950976" y="2670048"/>
            <a:ext cx="147218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개체와 신호</a:t>
            </a:r>
          </a:p>
        </p:txBody>
      </p:sp>
      <p:sp>
        <p:nvSpPr>
          <p:cNvPr id="2135" name="k2135"/>
          <p:cNvSpPr>
            <a:spLocks noGrp="1"/>
          </p:cNvSpPr>
          <p:nvPr/>
        </p:nvSpPr>
        <p:spPr>
          <a:xfrm>
            <a:off x="950976" y="3438144"/>
            <a:ext cx="1472184" cy="1005840"/>
          </a:xfrm>
          <a:prstGeom prst="rect">
            <a:avLst/>
          </a:prstGeom>
          <a:noFill/>
          <a:ln w="0">
            <a:noFill/>
            <a:prstDash val="solid"/>
          </a:ln>
        </p:spPr>
        <p:txBody>
          <a:bodyPr wrap="square" lIns="0" tIns="0" rIns="0" bIns="0"/>
          <a:lstStyle/>
          <a:p>
            <a:pPr algn="l">
              <a:buNone/>
              <a:defRPr sz="1150">
                <a:latin typeface="Calibri"/>
                <a:ea typeface="맑은 고딕"/>
                <a:cs typeface="맑은 고딕"/>
              </a:defRPr>
            </a:pPr>
            <a:r>
              <a:rPr lang="ko-KR" altLang="en-US" sz="1150">
                <a:solidFill>
                  <a:srgbClr val="66746F"/>
                </a:solidFill>
                <a:latin typeface="Calibri"/>
                <a:ea typeface="맑은 고딕"/>
                <a:cs typeface="맑은 고딕"/>
              </a:rPr>
              <a:t>개체 프로필, 이벤트 이력, 체온·활동량 추이, 기상과 더위지수</a:t>
            </a:r>
          </a:p>
        </p:txBody>
      </p:sp>
      <p:sp>
        <p:nvSpPr>
          <p:cNvPr id="2136" name="k2136"/>
          <p:cNvSpPr>
            <a:spLocks noGrp="1"/>
          </p:cNvSpPr>
          <p:nvPr/>
        </p:nvSpPr>
        <p:spPr>
          <a:xfrm>
            <a:off x="2889504" y="1901952"/>
            <a:ext cx="2002536" cy="2788920"/>
          </a:xfrm>
          <a:prstGeom prst="roundRect">
            <a:avLst/>
          </a:prstGeom>
          <a:solidFill>
            <a:srgbClr val="FFFFFF"/>
          </a:solidFill>
          <a:ln w="0">
            <a:noFill/>
            <a:prstDash val="solid"/>
          </a:ln>
        </p:spPr>
        <p:txBody>
          <a:bodyPr wrap="square" lIns="0" tIns="0" rIns="0" bIns="0"/>
          <a:lstStyle/>
          <a:p>
            <a:endParaRPr lang="ko-KR" altLang="en-US"/>
          </a:p>
        </p:txBody>
      </p:sp>
      <p:sp>
        <p:nvSpPr>
          <p:cNvPr id="2137" name="k2137"/>
          <p:cNvSpPr>
            <a:spLocks noGrp="1"/>
          </p:cNvSpPr>
          <p:nvPr/>
        </p:nvSpPr>
        <p:spPr>
          <a:xfrm>
            <a:off x="2889504" y="1901952"/>
            <a:ext cx="2002536" cy="109728"/>
          </a:xfrm>
          <a:prstGeom prst="rect">
            <a:avLst/>
          </a:prstGeom>
          <a:solidFill>
            <a:srgbClr val="65D44A"/>
          </a:solidFill>
          <a:ln w="0">
            <a:noFill/>
            <a:prstDash val="solid"/>
          </a:ln>
        </p:spPr>
        <p:txBody>
          <a:bodyPr wrap="square" lIns="0" tIns="0" rIns="0" bIns="0"/>
          <a:lstStyle/>
          <a:p>
            <a:endParaRPr lang="ko-KR" altLang="en-US"/>
          </a:p>
        </p:txBody>
      </p:sp>
      <p:sp>
        <p:nvSpPr>
          <p:cNvPr id="2138" name="k2138"/>
          <p:cNvSpPr>
            <a:spLocks noGrp="1"/>
          </p:cNvSpPr>
          <p:nvPr/>
        </p:nvSpPr>
        <p:spPr>
          <a:xfrm>
            <a:off x="3154680" y="2249424"/>
            <a:ext cx="147218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65D44A"/>
                </a:solidFill>
                <a:latin typeface="Calibri"/>
                <a:ea typeface="맑은 고딕"/>
                <a:cs typeface="맑은 고딕"/>
              </a:rPr>
              <a:t>농장</a:t>
            </a:r>
          </a:p>
        </p:txBody>
      </p:sp>
      <p:sp>
        <p:nvSpPr>
          <p:cNvPr id="2139" name="k2139"/>
          <p:cNvSpPr>
            <a:spLocks noGrp="1"/>
          </p:cNvSpPr>
          <p:nvPr/>
        </p:nvSpPr>
        <p:spPr>
          <a:xfrm>
            <a:off x="3154680" y="2670048"/>
            <a:ext cx="147218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우군과 기록</a:t>
            </a:r>
          </a:p>
        </p:txBody>
      </p:sp>
      <p:sp>
        <p:nvSpPr>
          <p:cNvPr id="2140" name="k2140"/>
          <p:cNvSpPr>
            <a:spLocks noGrp="1"/>
          </p:cNvSpPr>
          <p:nvPr/>
        </p:nvSpPr>
        <p:spPr>
          <a:xfrm>
            <a:off x="3154680" y="3438144"/>
            <a:ext cx="1472184" cy="1005840"/>
          </a:xfrm>
          <a:prstGeom prst="rect">
            <a:avLst/>
          </a:prstGeom>
          <a:noFill/>
          <a:ln w="0">
            <a:noFill/>
            <a:prstDash val="solid"/>
          </a:ln>
        </p:spPr>
        <p:txBody>
          <a:bodyPr wrap="square" lIns="0" tIns="0" rIns="0" bIns="0"/>
          <a:lstStyle/>
          <a:p>
            <a:pPr algn="l">
              <a:buNone/>
              <a:defRPr sz="1150">
                <a:latin typeface="Calibri"/>
                <a:ea typeface="맑은 고딕"/>
                <a:cs typeface="맑은 고딕"/>
              </a:defRPr>
            </a:pPr>
            <a:r>
              <a:rPr lang="ko-KR" altLang="en-US" sz="1150">
                <a:solidFill>
                  <a:srgbClr val="66746F"/>
                </a:solidFill>
                <a:latin typeface="Calibri"/>
                <a:ea typeface="맑은 고딕"/>
                <a:cs typeface="맑은 고딕"/>
              </a:rPr>
              <a:t>농장 요약, 핵심 지표, 치료 기록, 유량 입력</a:t>
            </a:r>
          </a:p>
        </p:txBody>
      </p:sp>
      <p:sp>
        <p:nvSpPr>
          <p:cNvPr id="2141" name="k2141"/>
          <p:cNvSpPr>
            <a:spLocks noGrp="1"/>
          </p:cNvSpPr>
          <p:nvPr/>
        </p:nvSpPr>
        <p:spPr>
          <a:xfrm>
            <a:off x="5093208" y="1901952"/>
            <a:ext cx="2002536" cy="2788920"/>
          </a:xfrm>
          <a:prstGeom prst="roundRect">
            <a:avLst/>
          </a:prstGeom>
          <a:solidFill>
            <a:srgbClr val="FFFFFF"/>
          </a:solidFill>
          <a:ln w="0">
            <a:noFill/>
            <a:prstDash val="solid"/>
          </a:ln>
        </p:spPr>
        <p:txBody>
          <a:bodyPr wrap="square" lIns="0" tIns="0" rIns="0" bIns="0"/>
          <a:lstStyle/>
          <a:p>
            <a:endParaRPr lang="ko-KR" altLang="en-US"/>
          </a:p>
        </p:txBody>
      </p:sp>
      <p:sp>
        <p:nvSpPr>
          <p:cNvPr id="2142" name="k2142"/>
          <p:cNvSpPr>
            <a:spLocks noGrp="1"/>
          </p:cNvSpPr>
          <p:nvPr/>
        </p:nvSpPr>
        <p:spPr>
          <a:xfrm>
            <a:off x="5093208" y="1901952"/>
            <a:ext cx="2002536" cy="109728"/>
          </a:xfrm>
          <a:prstGeom prst="rect">
            <a:avLst/>
          </a:prstGeom>
          <a:solidFill>
            <a:srgbClr val="4C8DD9"/>
          </a:solidFill>
          <a:ln w="0">
            <a:noFill/>
            <a:prstDash val="solid"/>
          </a:ln>
        </p:spPr>
        <p:txBody>
          <a:bodyPr wrap="square" lIns="0" tIns="0" rIns="0" bIns="0"/>
          <a:lstStyle/>
          <a:p>
            <a:endParaRPr lang="ko-KR" altLang="en-US"/>
          </a:p>
        </p:txBody>
      </p:sp>
      <p:sp>
        <p:nvSpPr>
          <p:cNvPr id="2143" name="k2143"/>
          <p:cNvSpPr>
            <a:spLocks noGrp="1"/>
          </p:cNvSpPr>
          <p:nvPr/>
        </p:nvSpPr>
        <p:spPr>
          <a:xfrm>
            <a:off x="5358384" y="2249424"/>
            <a:ext cx="147218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4C8DD9"/>
                </a:solidFill>
                <a:latin typeface="Calibri"/>
                <a:ea typeface="맑은 고딕"/>
                <a:cs typeface="맑은 고딕"/>
              </a:rPr>
              <a:t>번식</a:t>
            </a:r>
          </a:p>
        </p:txBody>
      </p:sp>
      <p:sp>
        <p:nvSpPr>
          <p:cNvPr id="2144" name="k2144"/>
          <p:cNvSpPr>
            <a:spLocks noGrp="1"/>
          </p:cNvSpPr>
          <p:nvPr/>
        </p:nvSpPr>
        <p:spPr>
          <a:xfrm>
            <a:off x="5358384" y="2670048"/>
            <a:ext cx="147218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번식 주기</a:t>
            </a:r>
          </a:p>
        </p:txBody>
      </p:sp>
      <p:sp>
        <p:nvSpPr>
          <p:cNvPr id="2145" name="k2145"/>
          <p:cNvSpPr>
            <a:spLocks noGrp="1"/>
          </p:cNvSpPr>
          <p:nvPr/>
        </p:nvSpPr>
        <p:spPr>
          <a:xfrm>
            <a:off x="5358384" y="3438144"/>
            <a:ext cx="1472184" cy="1005840"/>
          </a:xfrm>
          <a:prstGeom prst="rect">
            <a:avLst/>
          </a:prstGeom>
          <a:noFill/>
          <a:ln w="0">
            <a:noFill/>
            <a:prstDash val="solid"/>
          </a:ln>
        </p:spPr>
        <p:txBody>
          <a:bodyPr wrap="square" lIns="0" tIns="0" rIns="0" bIns="0"/>
          <a:lstStyle/>
          <a:p>
            <a:pPr algn="l">
              <a:buNone/>
              <a:defRPr sz="1150">
                <a:latin typeface="Calibri"/>
                <a:ea typeface="맑은 고딕"/>
                <a:cs typeface="맑은 고딕"/>
              </a:defRPr>
            </a:pPr>
            <a:r>
              <a:rPr lang="ko-KR" altLang="en-US" sz="1150">
                <a:solidFill>
                  <a:srgbClr val="66746F"/>
                </a:solidFill>
                <a:latin typeface="Calibri"/>
                <a:ea typeface="맑은 고딕"/>
                <a:cs typeface="맑은 고딕"/>
              </a:rPr>
              <a:t>번식 통계, 수정 적기, 정액 추천, 발정동기화 처방</a:t>
            </a:r>
          </a:p>
        </p:txBody>
      </p:sp>
      <p:sp>
        <p:nvSpPr>
          <p:cNvPr id="2146" name="k2146"/>
          <p:cNvSpPr>
            <a:spLocks noGrp="1"/>
          </p:cNvSpPr>
          <p:nvPr/>
        </p:nvSpPr>
        <p:spPr>
          <a:xfrm>
            <a:off x="7296912" y="1901952"/>
            <a:ext cx="2002536" cy="2788920"/>
          </a:xfrm>
          <a:prstGeom prst="roundRect">
            <a:avLst/>
          </a:prstGeom>
          <a:solidFill>
            <a:srgbClr val="FFFFFF"/>
          </a:solidFill>
          <a:ln w="0">
            <a:noFill/>
            <a:prstDash val="solid"/>
          </a:ln>
        </p:spPr>
        <p:txBody>
          <a:bodyPr wrap="square" lIns="0" tIns="0" rIns="0" bIns="0"/>
          <a:lstStyle/>
          <a:p>
            <a:endParaRPr lang="ko-KR" altLang="en-US"/>
          </a:p>
        </p:txBody>
      </p:sp>
      <p:sp>
        <p:nvSpPr>
          <p:cNvPr id="2147" name="k2147"/>
          <p:cNvSpPr>
            <a:spLocks noGrp="1"/>
          </p:cNvSpPr>
          <p:nvPr/>
        </p:nvSpPr>
        <p:spPr>
          <a:xfrm>
            <a:off x="7296912" y="1901952"/>
            <a:ext cx="2002536" cy="109728"/>
          </a:xfrm>
          <a:prstGeom prst="rect">
            <a:avLst/>
          </a:prstGeom>
          <a:solidFill>
            <a:srgbClr val="F6B846"/>
          </a:solidFill>
          <a:ln w="0">
            <a:noFill/>
            <a:prstDash val="solid"/>
          </a:ln>
        </p:spPr>
        <p:txBody>
          <a:bodyPr wrap="square" lIns="0" tIns="0" rIns="0" bIns="0"/>
          <a:lstStyle/>
          <a:p>
            <a:endParaRPr lang="ko-KR" altLang="en-US"/>
          </a:p>
        </p:txBody>
      </p:sp>
      <p:sp>
        <p:nvSpPr>
          <p:cNvPr id="2148" name="k2148"/>
          <p:cNvSpPr>
            <a:spLocks noGrp="1"/>
          </p:cNvSpPr>
          <p:nvPr/>
        </p:nvSpPr>
        <p:spPr>
          <a:xfrm>
            <a:off x="7562088" y="2249424"/>
            <a:ext cx="147218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F6B846"/>
                </a:solidFill>
                <a:latin typeface="Calibri"/>
                <a:ea typeface="맑은 고딕"/>
                <a:cs typeface="맑은 고딕"/>
              </a:rPr>
              <a:t>공공데이터</a:t>
            </a:r>
          </a:p>
        </p:txBody>
      </p:sp>
      <p:sp>
        <p:nvSpPr>
          <p:cNvPr id="2149" name="k2149"/>
          <p:cNvSpPr>
            <a:spLocks noGrp="1"/>
          </p:cNvSpPr>
          <p:nvPr/>
        </p:nvSpPr>
        <p:spPr>
          <a:xfrm>
            <a:off x="7562088" y="2670048"/>
            <a:ext cx="147218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국가 기록</a:t>
            </a:r>
          </a:p>
        </p:txBody>
      </p:sp>
      <p:sp>
        <p:nvSpPr>
          <p:cNvPr id="2150" name="k2150"/>
          <p:cNvSpPr>
            <a:spLocks noGrp="1"/>
          </p:cNvSpPr>
          <p:nvPr/>
        </p:nvSpPr>
        <p:spPr>
          <a:xfrm>
            <a:off x="7562088" y="3438144"/>
            <a:ext cx="1472184" cy="1005840"/>
          </a:xfrm>
          <a:prstGeom prst="rect">
            <a:avLst/>
          </a:prstGeom>
          <a:noFill/>
          <a:ln w="0">
            <a:noFill/>
            <a:prstDash val="solid"/>
          </a:ln>
        </p:spPr>
        <p:txBody>
          <a:bodyPr wrap="square" lIns="0" tIns="0" rIns="0" bIns="0"/>
          <a:lstStyle/>
          <a:p>
            <a:pPr algn="l">
              <a:buNone/>
              <a:defRPr sz="1150">
                <a:latin typeface="Calibri"/>
                <a:ea typeface="맑은 고딕"/>
                <a:cs typeface="맑은 고딕"/>
              </a:defRPr>
            </a:pPr>
            <a:r>
              <a:rPr lang="ko-KR" altLang="en-US" sz="1150">
                <a:solidFill>
                  <a:srgbClr val="66746F"/>
                </a:solidFill>
                <a:latin typeface="Calibri"/>
                <a:ea typeface="맑은 고딕"/>
                <a:cs typeface="맑은 고딕"/>
              </a:rPr>
              <a:t>이력제, 등급판정, 경락가격, 지역 방역 현황</a:t>
            </a:r>
          </a:p>
        </p:txBody>
      </p:sp>
      <p:sp>
        <p:nvSpPr>
          <p:cNvPr id="2151" name="k2151"/>
          <p:cNvSpPr>
            <a:spLocks noGrp="1"/>
          </p:cNvSpPr>
          <p:nvPr/>
        </p:nvSpPr>
        <p:spPr>
          <a:xfrm>
            <a:off x="9500616" y="1901952"/>
            <a:ext cx="2002536" cy="2788920"/>
          </a:xfrm>
          <a:prstGeom prst="roundRect">
            <a:avLst/>
          </a:prstGeom>
          <a:solidFill>
            <a:srgbClr val="FFFFFF"/>
          </a:solidFill>
          <a:ln w="0">
            <a:noFill/>
            <a:prstDash val="solid"/>
          </a:ln>
        </p:spPr>
        <p:txBody>
          <a:bodyPr wrap="square" lIns="0" tIns="0" rIns="0" bIns="0"/>
          <a:lstStyle/>
          <a:p>
            <a:endParaRPr lang="ko-KR" altLang="en-US"/>
          </a:p>
        </p:txBody>
      </p:sp>
      <p:sp>
        <p:nvSpPr>
          <p:cNvPr id="2152" name="k2152"/>
          <p:cNvSpPr>
            <a:spLocks noGrp="1"/>
          </p:cNvSpPr>
          <p:nvPr/>
        </p:nvSpPr>
        <p:spPr>
          <a:xfrm>
            <a:off x="9500616" y="1901952"/>
            <a:ext cx="2002536" cy="109728"/>
          </a:xfrm>
          <a:prstGeom prst="rect">
            <a:avLst/>
          </a:prstGeom>
          <a:solidFill>
            <a:srgbClr val="E96155"/>
          </a:solidFill>
          <a:ln w="0">
            <a:noFill/>
            <a:prstDash val="solid"/>
          </a:ln>
        </p:spPr>
        <p:txBody>
          <a:bodyPr wrap="square" lIns="0" tIns="0" rIns="0" bIns="0"/>
          <a:lstStyle/>
          <a:p>
            <a:endParaRPr lang="ko-KR" altLang="en-US"/>
          </a:p>
        </p:txBody>
      </p:sp>
      <p:sp>
        <p:nvSpPr>
          <p:cNvPr id="2153" name="k2153"/>
          <p:cNvSpPr>
            <a:spLocks noGrp="1"/>
          </p:cNvSpPr>
          <p:nvPr/>
        </p:nvSpPr>
        <p:spPr>
          <a:xfrm>
            <a:off x="9765792" y="2249424"/>
            <a:ext cx="147218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수의</a:t>
            </a:r>
          </a:p>
        </p:txBody>
      </p:sp>
      <p:sp>
        <p:nvSpPr>
          <p:cNvPr id="2154" name="k2154"/>
          <p:cNvSpPr>
            <a:spLocks noGrp="1"/>
          </p:cNvSpPr>
          <p:nvPr/>
        </p:nvSpPr>
        <p:spPr>
          <a:xfrm>
            <a:off x="9765792" y="2670048"/>
            <a:ext cx="147218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임상 지원</a:t>
            </a:r>
          </a:p>
        </p:txBody>
      </p:sp>
      <p:sp>
        <p:nvSpPr>
          <p:cNvPr id="2155" name="k2155"/>
          <p:cNvSpPr>
            <a:spLocks noGrp="1"/>
          </p:cNvSpPr>
          <p:nvPr/>
        </p:nvSpPr>
        <p:spPr>
          <a:xfrm>
            <a:off x="9765792" y="3438144"/>
            <a:ext cx="1472184" cy="1005840"/>
          </a:xfrm>
          <a:prstGeom prst="rect">
            <a:avLst/>
          </a:prstGeom>
          <a:noFill/>
          <a:ln w="0">
            <a:noFill/>
            <a:prstDash val="solid"/>
          </a:ln>
        </p:spPr>
        <p:txBody>
          <a:bodyPr wrap="square" lIns="0" tIns="0" rIns="0" bIns="0"/>
          <a:lstStyle/>
          <a:p>
            <a:pPr algn="l">
              <a:buNone/>
              <a:defRPr sz="1150">
                <a:latin typeface="Calibri"/>
                <a:ea typeface="맑은 고딕"/>
                <a:cs typeface="맑은 고딕"/>
              </a:defRPr>
            </a:pPr>
            <a:r>
              <a:rPr lang="ko-KR" altLang="en-US" sz="1150">
                <a:solidFill>
                  <a:srgbClr val="66746F"/>
                </a:solidFill>
                <a:latin typeface="Calibri"/>
                <a:ea typeface="맑은 고딕"/>
                <a:cs typeface="맑은 고딕"/>
              </a:rPr>
              <a:t>감별 후보, 치료 결과 확정, 전문가 레이블 기록</a:t>
            </a:r>
          </a:p>
        </p:txBody>
      </p:sp>
      <p:sp>
        <p:nvSpPr>
          <p:cNvPr id="2156" name="k2156"/>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157" name="k2157"/>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모든 도구 호출은 감사 로그에 기록됩니다 — 누가, 언제, 무엇을 받았는지.</a:t>
            </a:r>
          </a:p>
        </p:txBody>
      </p:sp>
      <p:sp>
        <p:nvSpPr>
          <p:cNvPr id="2160" name="k2160"/>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161" name="k2161"/>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42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184" name="k2184"/>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근거</a:t>
            </a:r>
          </a:p>
        </p:txBody>
      </p:sp>
      <p:sp>
        <p:nvSpPr>
          <p:cNvPr id="2185" name="k2185"/>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모든 답변은 그 숫자가 어디서 왔는지를 함께 보여줍니다</a:t>
            </a:r>
          </a:p>
        </p:txBody>
      </p:sp>
      <p:sp>
        <p:nvSpPr>
          <p:cNvPr id="2162" name="k2162"/>
          <p:cNvSpPr>
            <a:spLocks noGrp="1"/>
          </p:cNvSpPr>
          <p:nvPr/>
        </p:nvSpPr>
        <p:spPr>
          <a:xfrm>
            <a:off x="68580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163" name="k2163"/>
          <p:cNvSpPr>
            <a:spLocks noGrp="1"/>
          </p:cNvSpPr>
          <p:nvPr/>
        </p:nvSpPr>
        <p:spPr>
          <a:xfrm>
            <a:off x="92354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164" name="k2164"/>
          <p:cNvSpPr>
            <a:spLocks noGrp="1"/>
          </p:cNvSpPr>
          <p:nvPr/>
        </p:nvSpPr>
        <p:spPr>
          <a:xfrm>
            <a:off x="92354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1</a:t>
            </a:r>
          </a:p>
        </p:txBody>
      </p:sp>
      <p:sp>
        <p:nvSpPr>
          <p:cNvPr id="2165" name="k2165"/>
          <p:cNvSpPr>
            <a:spLocks noGrp="1"/>
          </p:cNvSpPr>
          <p:nvPr/>
        </p:nvSpPr>
        <p:spPr>
          <a:xfrm>
            <a:off x="92354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평소 말로 묻는다</a:t>
            </a:r>
          </a:p>
        </p:txBody>
      </p:sp>
      <p:sp>
        <p:nvSpPr>
          <p:cNvPr id="2166" name="k2166"/>
          <p:cNvSpPr>
            <a:spLocks noGrp="1"/>
          </p:cNvSpPr>
          <p:nvPr/>
        </p:nvSpPr>
        <p:spPr>
          <a:xfrm>
            <a:off x="923544" y="3474720"/>
            <a:ext cx="2077974" cy="73152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"423번 어때?" — 타이핑도 되고 음성도 된다</a:t>
            </a:r>
          </a:p>
        </p:txBody>
      </p:sp>
      <p:sp>
        <p:nvSpPr>
          <p:cNvPr id="2167" name="k2167"/>
          <p:cNvSpPr>
            <a:spLocks noGrp="1"/>
          </p:cNvSpPr>
          <p:nvPr/>
        </p:nvSpPr>
        <p:spPr>
          <a:xfrm>
            <a:off x="344043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168" name="k2168"/>
          <p:cNvSpPr>
            <a:spLocks noGrp="1"/>
          </p:cNvSpPr>
          <p:nvPr/>
        </p:nvSpPr>
        <p:spPr>
          <a:xfrm>
            <a:off x="367817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169" name="k2169"/>
          <p:cNvSpPr>
            <a:spLocks noGrp="1"/>
          </p:cNvSpPr>
          <p:nvPr/>
        </p:nvSpPr>
        <p:spPr>
          <a:xfrm>
            <a:off x="367817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2</a:t>
            </a:r>
          </a:p>
        </p:txBody>
      </p:sp>
      <p:sp>
        <p:nvSpPr>
          <p:cNvPr id="2170" name="k2170"/>
          <p:cNvSpPr>
            <a:spLocks noGrp="1"/>
          </p:cNvSpPr>
          <p:nvPr/>
        </p:nvSpPr>
        <p:spPr>
          <a:xfrm>
            <a:off x="367817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허용된 도구만 호출</a:t>
            </a:r>
          </a:p>
        </p:txBody>
      </p:sp>
      <p:sp>
        <p:nvSpPr>
          <p:cNvPr id="2171" name="k2171"/>
          <p:cNvSpPr>
            <a:spLocks noGrp="1"/>
          </p:cNvSpPr>
          <p:nvPr/>
        </p:nvSpPr>
        <p:spPr>
          <a:xfrm>
            <a:off x="3678174" y="3474720"/>
            <a:ext cx="2077974" cy="73152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그 역할이 쓸 수 있는 도구로, 권한 안의 개체만</a:t>
            </a:r>
          </a:p>
        </p:txBody>
      </p:sp>
      <p:sp>
        <p:nvSpPr>
          <p:cNvPr id="2172" name="k2172"/>
          <p:cNvSpPr>
            <a:spLocks noGrp="1"/>
          </p:cNvSpPr>
          <p:nvPr/>
        </p:nvSpPr>
        <p:spPr>
          <a:xfrm>
            <a:off x="619506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173" name="k2173"/>
          <p:cNvSpPr>
            <a:spLocks noGrp="1"/>
          </p:cNvSpPr>
          <p:nvPr/>
        </p:nvSpPr>
        <p:spPr>
          <a:xfrm>
            <a:off x="643280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174" name="k2174"/>
          <p:cNvSpPr>
            <a:spLocks noGrp="1"/>
          </p:cNvSpPr>
          <p:nvPr/>
        </p:nvSpPr>
        <p:spPr>
          <a:xfrm>
            <a:off x="643280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3</a:t>
            </a:r>
          </a:p>
        </p:txBody>
      </p:sp>
      <p:sp>
        <p:nvSpPr>
          <p:cNvPr id="2175" name="k2175"/>
          <p:cNvSpPr>
            <a:spLocks noGrp="1"/>
          </p:cNvSpPr>
          <p:nvPr/>
        </p:nvSpPr>
        <p:spPr>
          <a:xfrm>
            <a:off x="643280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기록에서 값을 읽는다</a:t>
            </a:r>
          </a:p>
        </p:txBody>
      </p:sp>
      <p:sp>
        <p:nvSpPr>
          <p:cNvPr id="2176" name="k2176"/>
          <p:cNvSpPr>
            <a:spLocks noGrp="1"/>
          </p:cNvSpPr>
          <p:nvPr/>
        </p:nvSpPr>
        <p:spPr>
          <a:xfrm>
            <a:off x="6432804" y="3474720"/>
            <a:ext cx="2077974" cy="73152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DB의 실제 값 — 기억이나 추정이 아니다</a:t>
            </a:r>
          </a:p>
        </p:txBody>
      </p:sp>
      <p:sp>
        <p:nvSpPr>
          <p:cNvPr id="2177" name="k2177"/>
          <p:cNvSpPr>
            <a:spLocks noGrp="1"/>
          </p:cNvSpPr>
          <p:nvPr/>
        </p:nvSpPr>
        <p:spPr>
          <a:xfrm>
            <a:off x="894969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178" name="k2178"/>
          <p:cNvSpPr>
            <a:spLocks noGrp="1"/>
          </p:cNvSpPr>
          <p:nvPr/>
        </p:nvSpPr>
        <p:spPr>
          <a:xfrm>
            <a:off x="918743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179" name="k2179"/>
          <p:cNvSpPr>
            <a:spLocks noGrp="1"/>
          </p:cNvSpPr>
          <p:nvPr/>
        </p:nvSpPr>
        <p:spPr>
          <a:xfrm>
            <a:off x="918743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4</a:t>
            </a:r>
          </a:p>
        </p:txBody>
      </p:sp>
      <p:sp>
        <p:nvSpPr>
          <p:cNvPr id="2180" name="k2180"/>
          <p:cNvSpPr>
            <a:spLocks noGrp="1"/>
          </p:cNvSpPr>
          <p:nvPr/>
        </p:nvSpPr>
        <p:spPr>
          <a:xfrm>
            <a:off x="918743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출처와 함께 답한다</a:t>
            </a:r>
          </a:p>
        </p:txBody>
      </p:sp>
      <p:sp>
        <p:nvSpPr>
          <p:cNvPr id="2181" name="k2181"/>
          <p:cNvSpPr>
            <a:spLocks noGrp="1"/>
          </p:cNvSpPr>
          <p:nvPr/>
        </p:nvSpPr>
        <p:spPr>
          <a:xfrm>
            <a:off x="9187434" y="3474720"/>
            <a:ext cx="2077974" cy="73152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각 수치에 출처·시각·신뢰도가 붙는다</a:t>
            </a:r>
          </a:p>
        </p:txBody>
      </p:sp>
      <p:sp>
        <p:nvSpPr>
          <p:cNvPr id="2182" name="k2182"/>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183" name="k2183"/>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데이터가 없으면 “자료 없음”이 정답입니다. 그럴듯한 추측이 아니라.</a:t>
            </a:r>
          </a:p>
        </p:txBody>
      </p:sp>
      <p:sp>
        <p:nvSpPr>
          <p:cNvPr id="2186" name="k2186"/>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187" name="k2187"/>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43</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210" name="k2210"/>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역할</a:t>
            </a:r>
          </a:p>
        </p:txBody>
      </p:sp>
      <p:sp>
        <p:nvSpPr>
          <p:cNvPr id="2211" name="k2211"/>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하나의 데이터, 네 개의 질문</a:t>
            </a:r>
          </a:p>
        </p:txBody>
      </p:sp>
      <p:sp>
        <p:nvSpPr>
          <p:cNvPr id="2188" name="k2188"/>
          <p:cNvSpPr>
            <a:spLocks noGrp="1"/>
          </p:cNvSpPr>
          <p:nvPr/>
        </p:nvSpPr>
        <p:spPr>
          <a:xfrm>
            <a:off x="685800"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189" name="k2189"/>
          <p:cNvSpPr>
            <a:spLocks noGrp="1"/>
          </p:cNvSpPr>
          <p:nvPr/>
        </p:nvSpPr>
        <p:spPr>
          <a:xfrm>
            <a:off x="685800" y="1901952"/>
            <a:ext cx="2471166" cy="109728"/>
          </a:xfrm>
          <a:prstGeom prst="rect">
            <a:avLst/>
          </a:prstGeom>
          <a:solidFill>
            <a:srgbClr val="65D44A"/>
          </a:solidFill>
          <a:ln w="0">
            <a:noFill/>
            <a:prstDash val="solid"/>
          </a:ln>
        </p:spPr>
        <p:txBody>
          <a:bodyPr wrap="square" lIns="0" tIns="0" rIns="0" bIns="0"/>
          <a:lstStyle/>
          <a:p>
            <a:endParaRPr lang="ko-KR" altLang="en-US"/>
          </a:p>
        </p:txBody>
      </p:sp>
      <p:sp>
        <p:nvSpPr>
          <p:cNvPr id="2190" name="k2190"/>
          <p:cNvSpPr>
            <a:spLocks noGrp="1"/>
          </p:cNvSpPr>
          <p:nvPr/>
        </p:nvSpPr>
        <p:spPr>
          <a:xfrm>
            <a:off x="950976"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65D44A"/>
                </a:solidFill>
                <a:latin typeface="Calibri"/>
                <a:ea typeface="맑은 고딕"/>
                <a:cs typeface="맑은 고딕"/>
              </a:rPr>
              <a:t>농장주</a:t>
            </a:r>
          </a:p>
        </p:txBody>
      </p:sp>
      <p:sp>
        <p:nvSpPr>
          <p:cNvPr id="2191" name="k2191"/>
          <p:cNvSpPr>
            <a:spLocks noGrp="1"/>
          </p:cNvSpPr>
          <p:nvPr/>
        </p:nvSpPr>
        <p:spPr>
          <a:xfrm>
            <a:off x="950976"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오늘 뭘 하지?</a:t>
            </a:r>
          </a:p>
        </p:txBody>
      </p:sp>
      <p:sp>
        <p:nvSpPr>
          <p:cNvPr id="2192" name="k2192"/>
          <p:cNvSpPr>
            <a:spLocks noGrp="1"/>
          </p:cNvSpPr>
          <p:nvPr/>
        </p:nvSpPr>
        <p:spPr>
          <a:xfrm>
            <a:off x="950976"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오늘 할 일, 발정·분만 알림, 소 한 마리가 남기는 마진.</a:t>
            </a:r>
          </a:p>
        </p:txBody>
      </p:sp>
      <p:sp>
        <p:nvSpPr>
          <p:cNvPr id="2193" name="k2193"/>
          <p:cNvSpPr>
            <a:spLocks noGrp="1"/>
          </p:cNvSpPr>
          <p:nvPr/>
        </p:nvSpPr>
        <p:spPr>
          <a:xfrm>
            <a:off x="3467862"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194" name="k2194"/>
          <p:cNvSpPr>
            <a:spLocks noGrp="1"/>
          </p:cNvSpPr>
          <p:nvPr/>
        </p:nvSpPr>
        <p:spPr>
          <a:xfrm>
            <a:off x="3467862" y="1901952"/>
            <a:ext cx="2471166" cy="109728"/>
          </a:xfrm>
          <a:prstGeom prst="rect">
            <a:avLst/>
          </a:prstGeom>
          <a:solidFill>
            <a:srgbClr val="E96155"/>
          </a:solidFill>
          <a:ln w="0">
            <a:noFill/>
            <a:prstDash val="solid"/>
          </a:ln>
        </p:spPr>
        <p:txBody>
          <a:bodyPr wrap="square" lIns="0" tIns="0" rIns="0" bIns="0"/>
          <a:lstStyle/>
          <a:p>
            <a:endParaRPr lang="ko-KR" altLang="en-US"/>
          </a:p>
        </p:txBody>
      </p:sp>
      <p:sp>
        <p:nvSpPr>
          <p:cNvPr id="2195" name="k2195"/>
          <p:cNvSpPr>
            <a:spLocks noGrp="1"/>
          </p:cNvSpPr>
          <p:nvPr/>
        </p:nvSpPr>
        <p:spPr>
          <a:xfrm>
            <a:off x="3733038"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수의사</a:t>
            </a:r>
          </a:p>
        </p:txBody>
      </p:sp>
      <p:sp>
        <p:nvSpPr>
          <p:cNvPr id="2196" name="k2196"/>
          <p:cNvSpPr>
            <a:spLocks noGrp="1"/>
          </p:cNvSpPr>
          <p:nvPr/>
        </p:nvSpPr>
        <p:spPr>
          <a:xfrm>
            <a:off x="3733038"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어디부터 가지?</a:t>
            </a:r>
          </a:p>
        </p:txBody>
      </p:sp>
      <p:sp>
        <p:nvSpPr>
          <p:cNvPr id="2197" name="k2197"/>
          <p:cNvSpPr>
            <a:spLocks noGrp="1"/>
          </p:cNvSpPr>
          <p:nvPr/>
        </p:nvSpPr>
        <p:spPr>
          <a:xfrm>
            <a:off x="3733038"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담당 농장 전체의 케이스 큐, 감별 근거, 동선과 기록.</a:t>
            </a:r>
          </a:p>
        </p:txBody>
      </p:sp>
      <p:sp>
        <p:nvSpPr>
          <p:cNvPr id="2198" name="k2198"/>
          <p:cNvSpPr>
            <a:spLocks noGrp="1"/>
          </p:cNvSpPr>
          <p:nvPr/>
        </p:nvSpPr>
        <p:spPr>
          <a:xfrm>
            <a:off x="6249924"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199" name="k2199"/>
          <p:cNvSpPr>
            <a:spLocks noGrp="1"/>
          </p:cNvSpPr>
          <p:nvPr/>
        </p:nvSpPr>
        <p:spPr>
          <a:xfrm>
            <a:off x="6249924" y="1901952"/>
            <a:ext cx="2471166" cy="109728"/>
          </a:xfrm>
          <a:prstGeom prst="rect">
            <a:avLst/>
          </a:prstGeom>
          <a:solidFill>
            <a:srgbClr val="4C8DD9"/>
          </a:solidFill>
          <a:ln w="0">
            <a:noFill/>
            <a:prstDash val="solid"/>
          </a:ln>
        </p:spPr>
        <p:txBody>
          <a:bodyPr wrap="square" lIns="0" tIns="0" rIns="0" bIns="0"/>
          <a:lstStyle/>
          <a:p>
            <a:endParaRPr lang="ko-KR" altLang="en-US"/>
          </a:p>
        </p:txBody>
      </p:sp>
      <p:sp>
        <p:nvSpPr>
          <p:cNvPr id="2200" name="k2200"/>
          <p:cNvSpPr>
            <a:spLocks noGrp="1"/>
          </p:cNvSpPr>
          <p:nvPr/>
        </p:nvSpPr>
        <p:spPr>
          <a:xfrm>
            <a:off x="6515100"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4C8DD9"/>
                </a:solidFill>
                <a:latin typeface="Calibri"/>
                <a:ea typeface="맑은 고딕"/>
                <a:cs typeface="맑은 고딕"/>
              </a:rPr>
              <a:t>방역관</a:t>
            </a:r>
          </a:p>
        </p:txBody>
      </p:sp>
      <p:sp>
        <p:nvSpPr>
          <p:cNvPr id="2201" name="k2201"/>
          <p:cNvSpPr>
            <a:spLocks noGrp="1"/>
          </p:cNvSpPr>
          <p:nvPr/>
        </p:nvSpPr>
        <p:spPr>
          <a:xfrm>
            <a:off x="6515100"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번지고 있나?</a:t>
            </a:r>
          </a:p>
        </p:txBody>
      </p:sp>
      <p:sp>
        <p:nvSpPr>
          <p:cNvPr id="2202" name="k2202"/>
          <p:cNvSpPr>
            <a:spLocks noGrp="1"/>
          </p:cNvSpPr>
          <p:nvPr/>
        </p:nvSpPr>
        <p:spPr>
          <a:xfrm>
            <a:off x="6515100"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집단 이상 탐지, 접촉망, 확산 시나리오, 역학조사 기록.</a:t>
            </a:r>
          </a:p>
        </p:txBody>
      </p:sp>
      <p:sp>
        <p:nvSpPr>
          <p:cNvPr id="2203" name="k2203"/>
          <p:cNvSpPr>
            <a:spLocks noGrp="1"/>
          </p:cNvSpPr>
          <p:nvPr/>
        </p:nvSpPr>
        <p:spPr>
          <a:xfrm>
            <a:off x="9031986"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204" name="k2204"/>
          <p:cNvSpPr>
            <a:spLocks noGrp="1"/>
          </p:cNvSpPr>
          <p:nvPr/>
        </p:nvSpPr>
        <p:spPr>
          <a:xfrm>
            <a:off x="9031986" y="1901952"/>
            <a:ext cx="2471166" cy="109728"/>
          </a:xfrm>
          <a:prstGeom prst="rect">
            <a:avLst/>
          </a:prstGeom>
          <a:solidFill>
            <a:srgbClr val="F6B846"/>
          </a:solidFill>
          <a:ln w="0">
            <a:noFill/>
            <a:prstDash val="solid"/>
          </a:ln>
        </p:spPr>
        <p:txBody>
          <a:bodyPr wrap="square" lIns="0" tIns="0" rIns="0" bIns="0"/>
          <a:lstStyle/>
          <a:p>
            <a:endParaRPr lang="ko-KR" altLang="en-US"/>
          </a:p>
        </p:txBody>
      </p:sp>
      <p:sp>
        <p:nvSpPr>
          <p:cNvPr id="2205" name="k2205"/>
          <p:cNvSpPr>
            <a:spLocks noGrp="1"/>
          </p:cNvSpPr>
          <p:nvPr/>
        </p:nvSpPr>
        <p:spPr>
          <a:xfrm>
            <a:off x="9297162"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F6B846"/>
                </a:solidFill>
                <a:latin typeface="Calibri"/>
                <a:ea typeface="맑은 고딕"/>
                <a:cs typeface="맑은 고딕"/>
              </a:rPr>
              <a:t>행정</a:t>
            </a:r>
          </a:p>
        </p:txBody>
      </p:sp>
      <p:sp>
        <p:nvSpPr>
          <p:cNvPr id="2206" name="k2206"/>
          <p:cNvSpPr>
            <a:spLocks noGrp="1"/>
          </p:cNvSpPr>
          <p:nvPr/>
        </p:nvSpPr>
        <p:spPr>
          <a:xfrm>
            <a:off x="9297162"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지역 상황은?</a:t>
            </a:r>
          </a:p>
        </p:txBody>
      </p:sp>
      <p:sp>
        <p:nvSpPr>
          <p:cNvPr id="2207" name="k2207"/>
          <p:cNvSpPr>
            <a:spLocks noGrp="1"/>
          </p:cNvSpPr>
          <p:nvPr/>
        </p:nvSpPr>
        <p:spPr>
          <a:xfrm>
            <a:off x="9297162"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보급 현황, 성과 지표, 정책 브리핑과 예산 근거.</a:t>
            </a:r>
          </a:p>
        </p:txBody>
      </p:sp>
      <p:sp>
        <p:nvSpPr>
          <p:cNvPr id="2208" name="k220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209" name="k2209"/>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권한은 서버에서 강제됩니다. 범위 밖 데이터는 감추는 것이 아니라 거부됩니다.</a:t>
            </a:r>
          </a:p>
        </p:txBody>
      </p:sp>
      <p:sp>
        <p:nvSpPr>
          <p:cNvPr id="2212" name="k2212"/>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213" name="k2213"/>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44</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214" name="k2214"/>
          <p:cNvSpPr>
            <a:spLocks noGrp="1"/>
          </p:cNvSpPr>
          <p:nvPr/>
        </p:nvSpPr>
        <p:spPr>
          <a:xfrm>
            <a:off x="685800" y="704088"/>
            <a:ext cx="2093976" cy="1234440"/>
          </a:xfrm>
          <a:prstGeom prst="rect">
            <a:avLst/>
          </a:prstGeom>
          <a:noFill/>
          <a:ln w="0">
            <a:noFill/>
            <a:prstDash val="solid"/>
          </a:ln>
        </p:spPr>
        <p:txBody>
          <a:bodyPr wrap="square" lIns="0" tIns="0" rIns="0" bIns="0"/>
          <a:lstStyle/>
          <a:p>
            <a:pPr algn="l">
              <a:buNone/>
              <a:defRPr sz="6900">
                <a:latin typeface="Calibri"/>
                <a:ea typeface="맑은 고딕"/>
                <a:cs typeface="맑은 고딕"/>
              </a:defRPr>
            </a:pPr>
            <a:r>
              <a:rPr lang="ko-KR" altLang="en-US" sz="6900" b="1">
                <a:solidFill>
                  <a:srgbClr val="65D44A"/>
                </a:solidFill>
                <a:latin typeface="Calibri"/>
                <a:ea typeface="맑은 고딕"/>
                <a:cs typeface="맑은 고딕"/>
              </a:rPr>
              <a:t>09</a:t>
            </a:r>
          </a:p>
        </p:txBody>
      </p:sp>
      <p:sp>
        <p:nvSpPr>
          <p:cNvPr id="2215" name="k2215"/>
          <p:cNvSpPr>
            <a:spLocks noGrp="1"/>
          </p:cNvSpPr>
          <p:nvPr/>
        </p:nvSpPr>
        <p:spPr>
          <a:xfrm>
            <a:off x="685800" y="2432304"/>
            <a:ext cx="8476488" cy="950976"/>
          </a:xfrm>
          <a:prstGeom prst="rect">
            <a:avLst/>
          </a:prstGeom>
          <a:noFill/>
          <a:ln w="0">
            <a:noFill/>
            <a:prstDash val="solid"/>
          </a:ln>
        </p:spPr>
        <p:txBody>
          <a:bodyPr wrap="square" lIns="0" tIns="0" rIns="0" bIns="0"/>
          <a:lstStyle/>
          <a:p>
            <a:pPr algn="l">
              <a:buNone/>
              <a:defRPr sz="4050">
                <a:latin typeface="Calibri"/>
                <a:ea typeface="맑은 고딕"/>
                <a:cs typeface="맑은 고딕"/>
              </a:defRPr>
            </a:pPr>
            <a:r>
              <a:rPr lang="ko-KR" altLang="en-US" sz="4050" b="1">
                <a:solidFill>
                  <a:srgbClr val="FFFFFF"/>
                </a:solidFill>
                <a:latin typeface="Calibri"/>
                <a:ea typeface="맑은 고딕"/>
                <a:cs typeface="맑은 고딕"/>
              </a:rPr>
              <a:t>수의 임상 지원</a:t>
            </a:r>
          </a:p>
        </p:txBody>
      </p:sp>
      <p:sp>
        <p:nvSpPr>
          <p:cNvPr id="2216" name="k2216"/>
          <p:cNvSpPr>
            <a:spLocks noGrp="1"/>
          </p:cNvSpPr>
          <p:nvPr/>
        </p:nvSpPr>
        <p:spPr>
          <a:xfrm>
            <a:off x="685800" y="3621024"/>
            <a:ext cx="7424928" cy="1005840"/>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a:solidFill>
                  <a:srgbClr val="C9D8D2"/>
                </a:solidFill>
                <a:latin typeface="Calibri"/>
                <a:ea typeface="맑은 고딕"/>
                <a:cs typeface="맑은 고딕"/>
              </a:rPr>
              <a:t>시스템은 후보와 그 근거를 정리합니다. 진단과 처방은 수의사의 권한으로 남습니다.</a:t>
            </a:r>
          </a:p>
        </p:txBody>
      </p:sp>
      <p:sp>
        <p:nvSpPr>
          <p:cNvPr id="2217" name="k2217"/>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lstStyle/>
          <a:p>
            <a:endParaRPr lang="ko-KR" altLang="en-US"/>
          </a:p>
        </p:txBody>
      </p:sp>
      <p:sp>
        <p:nvSpPr>
          <p:cNvPr id="2218" name="k2218"/>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lstStyle/>
          <a:p>
            <a:endParaRPr lang="ko-KR" altLang="en-US"/>
          </a:p>
        </p:txBody>
      </p:sp>
      <p:sp>
        <p:nvSpPr>
          <p:cNvPr id="2219" name="k2219"/>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lstStyle/>
          <a:p>
            <a:endParaRPr lang="ko-KR" altLang="en-US"/>
          </a:p>
        </p:txBody>
      </p:sp>
      <p:sp>
        <p:nvSpPr>
          <p:cNvPr id="2220" name="k2220"/>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lstStyle/>
          <a:p>
            <a:endParaRPr lang="ko-KR" altLang="en-US"/>
          </a:p>
        </p:txBody>
      </p:sp>
      <p:sp>
        <p:nvSpPr>
          <p:cNvPr id="2221" name="k2221"/>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lstStyle/>
          <a:p>
            <a:endParaRPr lang="ko-KR" altLang="en-US"/>
          </a:p>
        </p:txBody>
      </p:sp>
      <p:sp>
        <p:nvSpPr>
          <p:cNvPr id="2222" name="k2222"/>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lstStyle/>
          <a:p>
            <a:endParaRPr lang="ko-KR" altLang="en-US"/>
          </a:p>
        </p:txBody>
      </p:sp>
      <p:sp>
        <p:nvSpPr>
          <p:cNvPr id="2223" name="k2223"/>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224" name="k2224"/>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45</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237" name="k2237"/>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감별</a:t>
            </a:r>
          </a:p>
        </p:txBody>
      </p:sp>
      <p:sp>
        <p:nvSpPr>
          <p:cNvPr id="2238" name="k2238"/>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근거 없는 확률은 쓸모가 없습니다</a:t>
            </a:r>
          </a:p>
        </p:txBody>
      </p:sp>
      <p:sp>
        <p:nvSpPr>
          <p:cNvPr id="2225" name="k2225"/>
          <p:cNvSpPr>
            <a:spLocks noGrp="1"/>
          </p:cNvSpPr>
          <p:nvPr/>
        </p:nvSpPr>
        <p:spPr>
          <a:xfrm>
            <a:off x="685800" y="1883664"/>
            <a:ext cx="3044952" cy="612648"/>
          </a:xfrm>
          <a:prstGeom prst="rect">
            <a:avLst/>
          </a:prstGeom>
          <a:noFill/>
          <a:ln w="0">
            <a:noFill/>
            <a:prstDash val="solid"/>
          </a:ln>
        </p:spPr>
        <p:txBody>
          <a:bodyPr wrap="square" lIns="0" tIns="0" rIns="0" bIns="0"/>
          <a:lstStyle/>
          <a:p>
            <a:pPr algn="l">
              <a:buNone/>
              <a:defRPr sz="3600">
                <a:latin typeface="Calibri"/>
                <a:ea typeface="맑은 고딕"/>
                <a:cs typeface="맑은 고딕"/>
              </a:defRPr>
            </a:pPr>
            <a:r>
              <a:rPr lang="ko-KR" altLang="en-US" sz="3600" b="1">
                <a:solidFill>
                  <a:srgbClr val="E96155"/>
                </a:solidFill>
                <a:latin typeface="Calibri"/>
                <a:ea typeface="맑은 고딕"/>
                <a:cs typeface="맑은 고딕"/>
              </a:rPr>
              <a:t>6</a:t>
            </a:r>
          </a:p>
        </p:txBody>
      </p:sp>
      <p:sp>
        <p:nvSpPr>
          <p:cNvPr id="2226" name="k2226"/>
          <p:cNvSpPr>
            <a:spLocks noGrp="1"/>
          </p:cNvSpPr>
          <p:nvPr/>
        </p:nvSpPr>
        <p:spPr>
          <a:xfrm>
            <a:off x="685800" y="2478024"/>
            <a:ext cx="3044952" cy="68580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사례마다 6개 후보를 순위로 제시하고, 각각의 근거를 함께 보여줍니다</a:t>
            </a:r>
          </a:p>
        </p:txBody>
      </p:sp>
      <p:sp>
        <p:nvSpPr>
          <p:cNvPr id="2227" name="k2227"/>
          <p:cNvSpPr>
            <a:spLocks noGrp="1"/>
          </p:cNvSpPr>
          <p:nvPr/>
        </p:nvSpPr>
        <p:spPr>
          <a:xfrm>
            <a:off x="4096512" y="1938528"/>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228" name="k2228"/>
          <p:cNvSpPr>
            <a:spLocks noGrp="1"/>
          </p:cNvSpPr>
          <p:nvPr/>
        </p:nvSpPr>
        <p:spPr>
          <a:xfrm>
            <a:off x="4361688" y="1865376"/>
            <a:ext cx="7141464"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후보마다 어떤 소견이 지지하고 어떤 소견이 반대하는지 표시한다</a:t>
            </a:r>
          </a:p>
        </p:txBody>
      </p:sp>
      <p:sp>
        <p:nvSpPr>
          <p:cNvPr id="2229" name="k2229"/>
          <p:cNvSpPr>
            <a:spLocks noGrp="1"/>
          </p:cNvSpPr>
          <p:nvPr/>
        </p:nvSpPr>
        <p:spPr>
          <a:xfrm>
            <a:off x="4096512" y="2606040"/>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230" name="k2230"/>
          <p:cNvSpPr>
            <a:spLocks noGrp="1"/>
          </p:cNvSpPr>
          <p:nvPr/>
        </p:nvSpPr>
        <p:spPr>
          <a:xfrm>
            <a:off x="4361688" y="2532888"/>
            <a:ext cx="7141464"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자료가 없는 항목은 "없음"으로 표시한다 — 음성으로 세지 않는다</a:t>
            </a:r>
          </a:p>
        </p:txBody>
      </p:sp>
      <p:sp>
        <p:nvSpPr>
          <p:cNvPr id="2231" name="k2231"/>
          <p:cNvSpPr>
            <a:spLocks noGrp="1"/>
          </p:cNvSpPr>
          <p:nvPr/>
        </p:nvSpPr>
        <p:spPr>
          <a:xfrm>
            <a:off x="4096512" y="3273552"/>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232" name="k2232"/>
          <p:cNvSpPr>
            <a:spLocks noGrp="1"/>
          </p:cNvSpPr>
          <p:nvPr/>
        </p:nvSpPr>
        <p:spPr>
          <a:xfrm>
            <a:off x="4361688" y="3200400"/>
            <a:ext cx="7141464"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근거가 약한 단일 후보가 높은 확신에 도달하지 못하게 막는다</a:t>
            </a:r>
          </a:p>
        </p:txBody>
      </p:sp>
      <p:sp>
        <p:nvSpPr>
          <p:cNvPr id="2233" name="k2233"/>
          <p:cNvSpPr>
            <a:spLocks noGrp="1"/>
          </p:cNvSpPr>
          <p:nvPr/>
        </p:nvSpPr>
        <p:spPr>
          <a:xfrm>
            <a:off x="4096512" y="3941064"/>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234" name="k2234"/>
          <p:cNvSpPr>
            <a:spLocks noGrp="1"/>
          </p:cNvSpPr>
          <p:nvPr/>
        </p:nvSpPr>
        <p:spPr>
          <a:xfrm>
            <a:off x="4361688" y="3867912"/>
            <a:ext cx="7141464"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다음 확인검사와 긴급도를 함께 제안한다</a:t>
            </a:r>
          </a:p>
        </p:txBody>
      </p:sp>
      <p:sp>
        <p:nvSpPr>
          <p:cNvPr id="2235" name="k2235"/>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236" name="k2236"/>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불확실성은 감추지 않고 드러냅니다. 근거가 얇은데 확신해 보이는 숫자는 결함입니다.</a:t>
            </a:r>
          </a:p>
        </p:txBody>
      </p:sp>
      <p:sp>
        <p:nvSpPr>
          <p:cNvPr id="2239" name="k2239"/>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240" name="k2240"/>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46</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258" name="k2258"/>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기록</a:t>
            </a:r>
          </a:p>
        </p:txBody>
      </p:sp>
      <p:sp>
        <p:nvSpPr>
          <p:cNvPr id="2259" name="k2259"/>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기록이 저절로 남습니다 — 휴약 종료일까지</a:t>
            </a:r>
          </a:p>
        </p:txBody>
      </p:sp>
      <p:sp>
        <p:nvSpPr>
          <p:cNvPr id="2241" name="k2241"/>
          <p:cNvSpPr>
            <a:spLocks noGrp="1"/>
          </p:cNvSpPr>
          <p:nvPr/>
        </p:nvSpPr>
        <p:spPr>
          <a:xfrm>
            <a:off x="685800" y="1901952"/>
            <a:ext cx="3343656" cy="2697480"/>
          </a:xfrm>
          <a:prstGeom prst="roundRect">
            <a:avLst/>
          </a:prstGeom>
          <a:solidFill>
            <a:srgbClr val="FFFFFF"/>
          </a:solidFill>
          <a:ln w="0">
            <a:noFill/>
            <a:prstDash val="solid"/>
          </a:ln>
        </p:spPr>
        <p:txBody>
          <a:bodyPr wrap="square" lIns="0" tIns="0" rIns="0" bIns="0"/>
          <a:lstStyle/>
          <a:p>
            <a:endParaRPr lang="ko-KR" altLang="en-US"/>
          </a:p>
        </p:txBody>
      </p:sp>
      <p:sp>
        <p:nvSpPr>
          <p:cNvPr id="2242" name="k2242"/>
          <p:cNvSpPr>
            <a:spLocks noGrp="1"/>
          </p:cNvSpPr>
          <p:nvPr/>
        </p:nvSpPr>
        <p:spPr>
          <a:xfrm>
            <a:off x="685800" y="1901952"/>
            <a:ext cx="3343656" cy="109728"/>
          </a:xfrm>
          <a:prstGeom prst="rect">
            <a:avLst/>
          </a:prstGeom>
          <a:solidFill>
            <a:srgbClr val="15A98C"/>
          </a:solidFill>
          <a:ln w="0">
            <a:noFill/>
            <a:prstDash val="solid"/>
          </a:ln>
        </p:spPr>
        <p:txBody>
          <a:bodyPr wrap="square" lIns="0" tIns="0" rIns="0" bIns="0"/>
          <a:lstStyle/>
          <a:p>
            <a:endParaRPr lang="ko-KR" altLang="en-US"/>
          </a:p>
        </p:txBody>
      </p:sp>
      <p:sp>
        <p:nvSpPr>
          <p:cNvPr id="2243" name="k2243"/>
          <p:cNvSpPr>
            <a:spLocks noGrp="1"/>
          </p:cNvSpPr>
          <p:nvPr/>
        </p:nvSpPr>
        <p:spPr>
          <a:xfrm>
            <a:off x="950976" y="2249424"/>
            <a:ext cx="281330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15A98C"/>
                </a:solidFill>
                <a:latin typeface="Calibri"/>
                <a:ea typeface="맑은 고딕"/>
                <a:cs typeface="맑은 고딕"/>
              </a:rPr>
              <a:t>처방</a:t>
            </a:r>
          </a:p>
        </p:txBody>
      </p:sp>
      <p:sp>
        <p:nvSpPr>
          <p:cNvPr id="2244" name="k2244"/>
          <p:cNvSpPr>
            <a:spLocks noGrp="1"/>
          </p:cNvSpPr>
          <p:nvPr/>
        </p:nvSpPr>
        <p:spPr>
          <a:xfrm>
            <a:off x="950976" y="2670048"/>
            <a:ext cx="281330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진료 현장에서 바로</a:t>
            </a:r>
          </a:p>
        </p:txBody>
      </p:sp>
      <p:sp>
        <p:nvSpPr>
          <p:cNvPr id="2245" name="k2245"/>
          <p:cNvSpPr>
            <a:spLocks noGrp="1"/>
          </p:cNvSpPr>
          <p:nvPr/>
        </p:nvSpPr>
        <p:spPr>
          <a:xfrm>
            <a:off x="950976" y="3438144"/>
            <a:ext cx="2813304" cy="91440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진단·약제·용량·투여경로·기간을 그 자리에서 한 번 입력하면 처방전이 나온다.</a:t>
            </a:r>
          </a:p>
        </p:txBody>
      </p:sp>
      <p:sp>
        <p:nvSpPr>
          <p:cNvPr id="2246" name="k2246"/>
          <p:cNvSpPr>
            <a:spLocks noGrp="1"/>
          </p:cNvSpPr>
          <p:nvPr/>
        </p:nvSpPr>
        <p:spPr>
          <a:xfrm>
            <a:off x="4422648" y="1901952"/>
            <a:ext cx="3343656" cy="2697480"/>
          </a:xfrm>
          <a:prstGeom prst="roundRect">
            <a:avLst/>
          </a:prstGeom>
          <a:solidFill>
            <a:srgbClr val="FFFFFF"/>
          </a:solidFill>
          <a:ln w="0">
            <a:noFill/>
            <a:prstDash val="solid"/>
          </a:ln>
        </p:spPr>
        <p:txBody>
          <a:bodyPr wrap="square" lIns="0" tIns="0" rIns="0" bIns="0"/>
          <a:lstStyle/>
          <a:p>
            <a:endParaRPr lang="ko-KR" altLang="en-US"/>
          </a:p>
        </p:txBody>
      </p:sp>
      <p:sp>
        <p:nvSpPr>
          <p:cNvPr id="2247" name="k2247"/>
          <p:cNvSpPr>
            <a:spLocks noGrp="1"/>
          </p:cNvSpPr>
          <p:nvPr/>
        </p:nvSpPr>
        <p:spPr>
          <a:xfrm>
            <a:off x="4422648" y="1901952"/>
            <a:ext cx="3343656" cy="109728"/>
          </a:xfrm>
          <a:prstGeom prst="rect">
            <a:avLst/>
          </a:prstGeom>
          <a:solidFill>
            <a:srgbClr val="E96155"/>
          </a:solidFill>
          <a:ln w="0">
            <a:noFill/>
            <a:prstDash val="solid"/>
          </a:ln>
        </p:spPr>
        <p:txBody>
          <a:bodyPr wrap="square" lIns="0" tIns="0" rIns="0" bIns="0"/>
          <a:lstStyle/>
          <a:p>
            <a:endParaRPr lang="ko-KR" altLang="en-US"/>
          </a:p>
        </p:txBody>
      </p:sp>
      <p:sp>
        <p:nvSpPr>
          <p:cNvPr id="2248" name="k2248"/>
          <p:cNvSpPr>
            <a:spLocks noGrp="1"/>
          </p:cNvSpPr>
          <p:nvPr/>
        </p:nvSpPr>
        <p:spPr>
          <a:xfrm>
            <a:off x="4687824" y="2249424"/>
            <a:ext cx="281330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휴약</a:t>
            </a:r>
          </a:p>
        </p:txBody>
      </p:sp>
      <p:sp>
        <p:nvSpPr>
          <p:cNvPr id="2249" name="k2249"/>
          <p:cNvSpPr>
            <a:spLocks noGrp="1"/>
          </p:cNvSpPr>
          <p:nvPr/>
        </p:nvSpPr>
        <p:spPr>
          <a:xfrm>
            <a:off x="4687824" y="2670048"/>
            <a:ext cx="281330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자동으로 계산</a:t>
            </a:r>
          </a:p>
        </p:txBody>
      </p:sp>
      <p:sp>
        <p:nvSpPr>
          <p:cNvPr id="2250" name="k2250"/>
          <p:cNvSpPr>
            <a:spLocks noGrp="1"/>
          </p:cNvSpPr>
          <p:nvPr/>
        </p:nvSpPr>
        <p:spPr>
          <a:xfrm>
            <a:off x="4687824" y="3438144"/>
            <a:ext cx="2813304" cy="91440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약제에서 종료일이 계산되어 집유·출하 기준으로 표시된다. 암산이 필요 없다.</a:t>
            </a:r>
          </a:p>
        </p:txBody>
      </p:sp>
      <p:sp>
        <p:nvSpPr>
          <p:cNvPr id="2251" name="k2251"/>
          <p:cNvSpPr>
            <a:spLocks noGrp="1"/>
          </p:cNvSpPr>
          <p:nvPr/>
        </p:nvSpPr>
        <p:spPr>
          <a:xfrm>
            <a:off x="8159496" y="1901952"/>
            <a:ext cx="3343656" cy="2697480"/>
          </a:xfrm>
          <a:prstGeom prst="roundRect">
            <a:avLst/>
          </a:prstGeom>
          <a:solidFill>
            <a:srgbClr val="FFFFFF"/>
          </a:solidFill>
          <a:ln w="0">
            <a:noFill/>
            <a:prstDash val="solid"/>
          </a:ln>
        </p:spPr>
        <p:txBody>
          <a:bodyPr wrap="square" lIns="0" tIns="0" rIns="0" bIns="0"/>
          <a:lstStyle/>
          <a:p>
            <a:endParaRPr lang="ko-KR" altLang="en-US"/>
          </a:p>
        </p:txBody>
      </p:sp>
      <p:sp>
        <p:nvSpPr>
          <p:cNvPr id="2252" name="k2252"/>
          <p:cNvSpPr>
            <a:spLocks noGrp="1"/>
          </p:cNvSpPr>
          <p:nvPr/>
        </p:nvSpPr>
        <p:spPr>
          <a:xfrm>
            <a:off x="8159496" y="1901952"/>
            <a:ext cx="3343656" cy="109728"/>
          </a:xfrm>
          <a:prstGeom prst="rect">
            <a:avLst/>
          </a:prstGeom>
          <a:solidFill>
            <a:srgbClr val="4C8DD9"/>
          </a:solidFill>
          <a:ln w="0">
            <a:noFill/>
            <a:prstDash val="solid"/>
          </a:ln>
        </p:spPr>
        <p:txBody>
          <a:bodyPr wrap="square" lIns="0" tIns="0" rIns="0" bIns="0"/>
          <a:lstStyle/>
          <a:p>
            <a:endParaRPr lang="ko-KR" altLang="en-US"/>
          </a:p>
        </p:txBody>
      </p:sp>
      <p:sp>
        <p:nvSpPr>
          <p:cNvPr id="2253" name="k2253"/>
          <p:cNvSpPr>
            <a:spLocks noGrp="1"/>
          </p:cNvSpPr>
          <p:nvPr/>
        </p:nvSpPr>
        <p:spPr>
          <a:xfrm>
            <a:off x="8424672" y="2249424"/>
            <a:ext cx="281330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4C8DD9"/>
                </a:solidFill>
                <a:latin typeface="Calibri"/>
                <a:ea typeface="맑은 고딕"/>
                <a:cs typeface="맑은 고딕"/>
              </a:rPr>
              <a:t>결과</a:t>
            </a:r>
          </a:p>
        </p:txBody>
      </p:sp>
      <p:sp>
        <p:nvSpPr>
          <p:cNvPr id="2254" name="k2254"/>
          <p:cNvSpPr>
            <a:spLocks noGrp="1"/>
          </p:cNvSpPr>
          <p:nvPr/>
        </p:nvSpPr>
        <p:spPr>
          <a:xfrm>
            <a:off x="8424672" y="2670048"/>
            <a:ext cx="281330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센서가 확인</a:t>
            </a:r>
          </a:p>
        </p:txBody>
      </p:sp>
      <p:sp>
        <p:nvSpPr>
          <p:cNvPr id="2255" name="k2255"/>
          <p:cNvSpPr>
            <a:spLocks noGrp="1"/>
          </p:cNvSpPr>
          <p:nvPr/>
        </p:nvSpPr>
        <p:spPr>
          <a:xfrm>
            <a:off x="8424672" y="3438144"/>
            <a:ext cx="2813304" cy="91440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며칠 뒤 시스템이 그 소를 다시 읽어 회복·재발·관찰을 보고한다.</a:t>
            </a:r>
          </a:p>
        </p:txBody>
      </p:sp>
      <p:sp>
        <p:nvSpPr>
          <p:cNvPr id="2256" name="k2256"/>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257" name="k2257"/>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휴약 관리는 식품안전이고, 식품안전은 농장 문제이기 전에 통상 문제입니다.</a:t>
            </a:r>
          </a:p>
        </p:txBody>
      </p:sp>
      <p:sp>
        <p:nvSpPr>
          <p:cNvPr id="2260" name="k2260"/>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261" name="k2261"/>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47</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284" name="k2284"/>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학습</a:t>
            </a:r>
          </a:p>
        </p:txBody>
      </p:sp>
      <p:sp>
        <p:nvSpPr>
          <p:cNvPr id="2285" name="k2285"/>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수의사의 판단이 시스템의 기억이 됩니다</a:t>
            </a:r>
          </a:p>
        </p:txBody>
      </p:sp>
      <p:sp>
        <p:nvSpPr>
          <p:cNvPr id="2262" name="k2262"/>
          <p:cNvSpPr>
            <a:spLocks noGrp="1"/>
          </p:cNvSpPr>
          <p:nvPr/>
        </p:nvSpPr>
        <p:spPr>
          <a:xfrm>
            <a:off x="68580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263" name="k2263"/>
          <p:cNvSpPr>
            <a:spLocks noGrp="1"/>
          </p:cNvSpPr>
          <p:nvPr/>
        </p:nvSpPr>
        <p:spPr>
          <a:xfrm>
            <a:off x="92354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264" name="k2264"/>
          <p:cNvSpPr>
            <a:spLocks noGrp="1"/>
          </p:cNvSpPr>
          <p:nvPr/>
        </p:nvSpPr>
        <p:spPr>
          <a:xfrm>
            <a:off x="92354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1</a:t>
            </a:r>
          </a:p>
        </p:txBody>
      </p:sp>
      <p:sp>
        <p:nvSpPr>
          <p:cNvPr id="2265" name="k2265"/>
          <p:cNvSpPr>
            <a:spLocks noGrp="1"/>
          </p:cNvSpPr>
          <p:nvPr/>
        </p:nvSpPr>
        <p:spPr>
          <a:xfrm>
            <a:off x="92354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판단이 말로 나온다</a:t>
            </a:r>
          </a:p>
        </p:txBody>
      </p:sp>
      <p:sp>
        <p:nvSpPr>
          <p:cNvPr id="2266" name="k2266"/>
          <p:cNvSpPr>
            <a:spLocks noGrp="1"/>
          </p:cNvSpPr>
          <p:nvPr/>
        </p:nvSpPr>
        <p:spPr>
          <a:xfrm>
            <a:off x="923544" y="3474720"/>
            <a:ext cx="2077974" cy="731520"/>
          </a:xfrm>
          <a:prstGeom prst="rect">
            <a:avLst/>
          </a:prstGeom>
          <a:noFill/>
          <a:ln w="0">
            <a:noFill/>
            <a:prstDash val="solid"/>
          </a:ln>
        </p:spPr>
        <p:txBody>
          <a:bodyPr wrap="square" lIns="0" tIns="0" rIns="0" bIns="0"/>
          <a:lstStyle/>
          <a:p>
            <a:pPr algn="l">
              <a:buNone/>
              <a:defRPr sz="1300">
                <a:latin typeface="Calibri"/>
                <a:ea typeface="맑은 고딕"/>
                <a:cs typeface="맑은 고딕"/>
              </a:defRPr>
            </a:pPr>
            <a:r>
              <a:rPr lang="ko-KR" altLang="en-US" sz="1300">
                <a:solidFill>
                  <a:srgbClr val="66746F"/>
                </a:solidFill>
                <a:latin typeface="Calibri"/>
                <a:ea typeface="맑은 고딕"/>
                <a:cs typeface="맑은 고딕"/>
              </a:rPr>
              <a:t>케이스 검토 중 — "이건 케토시스네"</a:t>
            </a:r>
          </a:p>
        </p:txBody>
      </p:sp>
      <p:sp>
        <p:nvSpPr>
          <p:cNvPr id="2267" name="k2267"/>
          <p:cNvSpPr>
            <a:spLocks noGrp="1"/>
          </p:cNvSpPr>
          <p:nvPr/>
        </p:nvSpPr>
        <p:spPr>
          <a:xfrm>
            <a:off x="344043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268" name="k2268"/>
          <p:cNvSpPr>
            <a:spLocks noGrp="1"/>
          </p:cNvSpPr>
          <p:nvPr/>
        </p:nvSpPr>
        <p:spPr>
          <a:xfrm>
            <a:off x="367817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269" name="k2269"/>
          <p:cNvSpPr>
            <a:spLocks noGrp="1"/>
          </p:cNvSpPr>
          <p:nvPr/>
        </p:nvSpPr>
        <p:spPr>
          <a:xfrm>
            <a:off x="367817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2</a:t>
            </a:r>
          </a:p>
        </p:txBody>
      </p:sp>
      <p:sp>
        <p:nvSpPr>
          <p:cNvPr id="2270" name="k2270"/>
          <p:cNvSpPr>
            <a:spLocks noGrp="1"/>
          </p:cNvSpPr>
          <p:nvPr/>
        </p:nvSpPr>
        <p:spPr>
          <a:xfrm>
            <a:off x="367817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한 번의 확인</a:t>
            </a:r>
          </a:p>
        </p:txBody>
      </p:sp>
      <p:sp>
        <p:nvSpPr>
          <p:cNvPr id="2271" name="k2271"/>
          <p:cNvSpPr>
            <a:spLocks noGrp="1"/>
          </p:cNvSpPr>
          <p:nvPr/>
        </p:nvSpPr>
        <p:spPr>
          <a:xfrm>
            <a:off x="3678174" y="3474720"/>
            <a:ext cx="2077974" cy="731520"/>
          </a:xfrm>
          <a:prstGeom prst="rect">
            <a:avLst/>
          </a:prstGeom>
          <a:noFill/>
          <a:ln w="0">
            <a:noFill/>
            <a:prstDash val="solid"/>
          </a:ln>
        </p:spPr>
        <p:txBody>
          <a:bodyPr wrap="square" lIns="0" tIns="0" rIns="0" bIns="0"/>
          <a:lstStyle/>
          <a:p>
            <a:pPr algn="l">
              <a:buNone/>
              <a:defRPr sz="1300">
                <a:latin typeface="Calibri"/>
                <a:ea typeface="맑은 고딕"/>
                <a:cs typeface="맑은 고딕"/>
              </a:defRPr>
            </a:pPr>
            <a:r>
              <a:rPr lang="ko-KR" altLang="en-US" sz="1300">
                <a:solidFill>
                  <a:srgbClr val="66746F"/>
                </a:solidFill>
                <a:latin typeface="Calibri"/>
                <a:ea typeface="맑은 고딕"/>
                <a:cs typeface="맑은 고딕"/>
              </a:rPr>
              <a:t>어시스턴트가 한 줄로 묻는다. 동의할 때만 기록된다</a:t>
            </a:r>
          </a:p>
        </p:txBody>
      </p:sp>
      <p:sp>
        <p:nvSpPr>
          <p:cNvPr id="2272" name="k2272"/>
          <p:cNvSpPr>
            <a:spLocks noGrp="1"/>
          </p:cNvSpPr>
          <p:nvPr/>
        </p:nvSpPr>
        <p:spPr>
          <a:xfrm>
            <a:off x="619506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273" name="k2273"/>
          <p:cNvSpPr>
            <a:spLocks noGrp="1"/>
          </p:cNvSpPr>
          <p:nvPr/>
        </p:nvSpPr>
        <p:spPr>
          <a:xfrm>
            <a:off x="643280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274" name="k2274"/>
          <p:cNvSpPr>
            <a:spLocks noGrp="1"/>
          </p:cNvSpPr>
          <p:nvPr/>
        </p:nvSpPr>
        <p:spPr>
          <a:xfrm>
            <a:off x="643280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3</a:t>
            </a:r>
          </a:p>
        </p:txBody>
      </p:sp>
      <p:sp>
        <p:nvSpPr>
          <p:cNvPr id="2275" name="k2275"/>
          <p:cNvSpPr>
            <a:spLocks noGrp="1"/>
          </p:cNvSpPr>
          <p:nvPr/>
        </p:nvSpPr>
        <p:spPr>
          <a:xfrm>
            <a:off x="643280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저장하고 집계한다</a:t>
            </a:r>
          </a:p>
        </p:txBody>
      </p:sp>
      <p:sp>
        <p:nvSpPr>
          <p:cNvPr id="2276" name="k2276"/>
          <p:cNvSpPr>
            <a:spLocks noGrp="1"/>
          </p:cNvSpPr>
          <p:nvPr/>
        </p:nvSpPr>
        <p:spPr>
          <a:xfrm>
            <a:off x="6432804" y="3474720"/>
            <a:ext cx="2077974" cy="731520"/>
          </a:xfrm>
          <a:prstGeom prst="rect">
            <a:avLst/>
          </a:prstGeom>
          <a:noFill/>
          <a:ln w="0">
            <a:noFill/>
            <a:prstDash val="solid"/>
          </a:ln>
        </p:spPr>
        <p:txBody>
          <a:bodyPr wrap="square" lIns="0" tIns="0" rIns="0" bIns="0"/>
          <a:lstStyle/>
          <a:p>
            <a:pPr algn="l">
              <a:buNone/>
              <a:defRPr sz="1300">
                <a:latin typeface="Calibri"/>
                <a:ea typeface="맑은 고딕"/>
                <a:cs typeface="맑은 고딕"/>
              </a:defRPr>
            </a:pPr>
            <a:r>
              <a:rPr lang="ko-KR" altLang="en-US" sz="1300">
                <a:solidFill>
                  <a:srgbClr val="66746F"/>
                </a:solidFill>
                <a:latin typeface="Calibri"/>
                <a:ea typeface="맑은 고딕"/>
                <a:cs typeface="맑은 고딕"/>
              </a:rPr>
              <a:t>정답 레이블로 남고 알람 유형별로 누적 추적된다</a:t>
            </a:r>
          </a:p>
        </p:txBody>
      </p:sp>
      <p:sp>
        <p:nvSpPr>
          <p:cNvPr id="2277" name="k2277"/>
          <p:cNvSpPr>
            <a:spLocks noGrp="1"/>
          </p:cNvSpPr>
          <p:nvPr/>
        </p:nvSpPr>
        <p:spPr>
          <a:xfrm>
            <a:off x="8949690" y="1956816"/>
            <a:ext cx="2553462" cy="2487168"/>
          </a:xfrm>
          <a:prstGeom prst="roundRect">
            <a:avLst/>
          </a:prstGeom>
          <a:solidFill>
            <a:srgbClr val="FFFFFF"/>
          </a:solidFill>
          <a:ln w="0">
            <a:noFill/>
            <a:prstDash val="solid"/>
          </a:ln>
        </p:spPr>
        <p:txBody>
          <a:bodyPr wrap="square" lIns="0" tIns="0" rIns="0" bIns="0"/>
          <a:lstStyle/>
          <a:p>
            <a:endParaRPr lang="ko-KR" altLang="en-US"/>
          </a:p>
        </p:txBody>
      </p:sp>
      <p:sp>
        <p:nvSpPr>
          <p:cNvPr id="2278" name="k2278"/>
          <p:cNvSpPr>
            <a:spLocks noGrp="1"/>
          </p:cNvSpPr>
          <p:nvPr/>
        </p:nvSpPr>
        <p:spPr>
          <a:xfrm>
            <a:off x="9187434" y="2212848"/>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279" name="k2279"/>
          <p:cNvSpPr>
            <a:spLocks noGrp="1"/>
          </p:cNvSpPr>
          <p:nvPr/>
        </p:nvSpPr>
        <p:spPr>
          <a:xfrm>
            <a:off x="9187434" y="2267712"/>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4</a:t>
            </a:r>
          </a:p>
        </p:txBody>
      </p:sp>
      <p:sp>
        <p:nvSpPr>
          <p:cNvPr id="2280" name="k2280"/>
          <p:cNvSpPr>
            <a:spLocks noGrp="1"/>
          </p:cNvSpPr>
          <p:nvPr/>
        </p:nvSpPr>
        <p:spPr>
          <a:xfrm>
            <a:off x="9187434" y="2798064"/>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다음 판단이 좋아진다</a:t>
            </a:r>
          </a:p>
        </p:txBody>
      </p:sp>
      <p:sp>
        <p:nvSpPr>
          <p:cNvPr id="2281" name="k2281"/>
          <p:cNvSpPr>
            <a:spLocks noGrp="1"/>
          </p:cNvSpPr>
          <p:nvPr/>
        </p:nvSpPr>
        <p:spPr>
          <a:xfrm>
            <a:off x="9187434" y="3474720"/>
            <a:ext cx="2077974" cy="731520"/>
          </a:xfrm>
          <a:prstGeom prst="rect">
            <a:avLst/>
          </a:prstGeom>
          <a:noFill/>
          <a:ln w="0">
            <a:noFill/>
            <a:prstDash val="solid"/>
          </a:ln>
        </p:spPr>
        <p:txBody>
          <a:bodyPr wrap="square" lIns="0" tIns="0" rIns="0" bIns="0"/>
          <a:lstStyle/>
          <a:p>
            <a:pPr algn="l">
              <a:buNone/>
              <a:defRPr sz="1300">
                <a:latin typeface="Calibri"/>
                <a:ea typeface="맑은 고딕"/>
                <a:cs typeface="맑은 고딕"/>
              </a:defRPr>
            </a:pPr>
            <a:r>
              <a:rPr lang="ko-KR" altLang="en-US" sz="1300">
                <a:solidFill>
                  <a:srgbClr val="66746F"/>
                </a:solidFill>
                <a:latin typeface="Calibri"/>
                <a:ea typeface="맑은 고딕"/>
                <a:cs typeface="맑은 고딕"/>
              </a:rPr>
              <a:t>가이던스는 정해진 규칙으로 다시 만든다 — 모델이 고쳐 쓰지 않는다</a:t>
            </a:r>
          </a:p>
        </p:txBody>
      </p:sp>
      <p:sp>
        <p:nvSpPr>
          <p:cNvPr id="2282" name="k2282"/>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283" name="k2283"/>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전문가 판단만 레이블이 됩니다. 농가·행정관의 추측은 학습 데이터 오염을 막기 위해 제외합니다.</a:t>
            </a:r>
          </a:p>
        </p:txBody>
      </p:sp>
      <p:sp>
        <p:nvSpPr>
          <p:cNvPr id="2286" name="k2286"/>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287" name="k2287"/>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48</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288" name="k2288"/>
          <p:cNvSpPr>
            <a:spLocks noGrp="1"/>
          </p:cNvSpPr>
          <p:nvPr/>
        </p:nvSpPr>
        <p:spPr>
          <a:xfrm>
            <a:off x="685800" y="704088"/>
            <a:ext cx="2093976" cy="1234440"/>
          </a:xfrm>
          <a:prstGeom prst="rect">
            <a:avLst/>
          </a:prstGeom>
          <a:noFill/>
          <a:ln w="0">
            <a:noFill/>
            <a:prstDash val="solid"/>
          </a:ln>
        </p:spPr>
        <p:txBody>
          <a:bodyPr wrap="square" lIns="0" tIns="0" rIns="0" bIns="0"/>
          <a:lstStyle/>
          <a:p>
            <a:pPr algn="l">
              <a:buNone/>
              <a:defRPr sz="6900">
                <a:latin typeface="Calibri"/>
                <a:ea typeface="맑은 고딕"/>
                <a:cs typeface="맑은 고딕"/>
              </a:defRPr>
            </a:pPr>
            <a:r>
              <a:rPr lang="ko-KR" altLang="en-US" sz="6900" b="1">
                <a:solidFill>
                  <a:srgbClr val="65D44A"/>
                </a:solidFill>
                <a:latin typeface="Calibri"/>
                <a:ea typeface="맑은 고딕"/>
                <a:cs typeface="맑은 고딕"/>
              </a:rPr>
              <a:t>10</a:t>
            </a:r>
          </a:p>
        </p:txBody>
      </p:sp>
      <p:sp>
        <p:nvSpPr>
          <p:cNvPr id="2289" name="k2289"/>
          <p:cNvSpPr>
            <a:spLocks noGrp="1"/>
          </p:cNvSpPr>
          <p:nvPr/>
        </p:nvSpPr>
        <p:spPr>
          <a:xfrm>
            <a:off x="685800" y="2432304"/>
            <a:ext cx="8476488" cy="950976"/>
          </a:xfrm>
          <a:prstGeom prst="rect">
            <a:avLst/>
          </a:prstGeom>
          <a:noFill/>
          <a:ln w="0">
            <a:noFill/>
            <a:prstDash val="solid"/>
          </a:ln>
        </p:spPr>
        <p:txBody>
          <a:bodyPr wrap="square" lIns="0" tIns="0" rIns="0" bIns="0"/>
          <a:lstStyle/>
          <a:p>
            <a:pPr algn="l">
              <a:buNone/>
              <a:defRPr sz="4050">
                <a:latin typeface="Calibri"/>
                <a:ea typeface="맑은 고딕"/>
                <a:cs typeface="맑은 고딕"/>
              </a:defRPr>
            </a:pPr>
            <a:r>
              <a:rPr lang="ko-KR" altLang="en-US" sz="4050" b="1">
                <a:solidFill>
                  <a:srgbClr val="FFFFFF"/>
                </a:solidFill>
                <a:latin typeface="Calibri"/>
                <a:ea typeface="맑은 고딕"/>
                <a:cs typeface="맑은 고딕"/>
              </a:rPr>
              <a:t>번식 루프</a:t>
            </a:r>
          </a:p>
        </p:txBody>
      </p:sp>
      <p:sp>
        <p:nvSpPr>
          <p:cNvPr id="2290" name="k2290"/>
          <p:cNvSpPr>
            <a:spLocks noGrp="1"/>
          </p:cNvSpPr>
          <p:nvPr/>
        </p:nvSpPr>
        <p:spPr>
          <a:xfrm>
            <a:off x="685800" y="3621024"/>
            <a:ext cx="7424928" cy="1005840"/>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a:solidFill>
                  <a:srgbClr val="C9D8D2"/>
                </a:solidFill>
                <a:latin typeface="Calibri"/>
                <a:ea typeface="맑은 고딕"/>
                <a:cs typeface="맑은 고딕"/>
              </a:rPr>
              <a:t>발정 알람에서 수정 결정으로, 임신감정 결과로, 그리고 다시 다음 추천으로 돌아옵니다.</a:t>
            </a:r>
          </a:p>
        </p:txBody>
      </p:sp>
      <p:sp>
        <p:nvSpPr>
          <p:cNvPr id="2291" name="k2291"/>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lstStyle/>
          <a:p>
            <a:endParaRPr lang="ko-KR" altLang="en-US"/>
          </a:p>
        </p:txBody>
      </p:sp>
      <p:sp>
        <p:nvSpPr>
          <p:cNvPr id="2292" name="k2292"/>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lstStyle/>
          <a:p>
            <a:endParaRPr lang="ko-KR" altLang="en-US"/>
          </a:p>
        </p:txBody>
      </p:sp>
      <p:sp>
        <p:nvSpPr>
          <p:cNvPr id="2293" name="k2293"/>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lstStyle/>
          <a:p>
            <a:endParaRPr lang="ko-KR" altLang="en-US"/>
          </a:p>
        </p:txBody>
      </p:sp>
      <p:sp>
        <p:nvSpPr>
          <p:cNvPr id="2294" name="k2294"/>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lstStyle/>
          <a:p>
            <a:endParaRPr lang="ko-KR" altLang="en-US"/>
          </a:p>
        </p:txBody>
      </p:sp>
      <p:sp>
        <p:nvSpPr>
          <p:cNvPr id="2295" name="k2295"/>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lstStyle/>
          <a:p>
            <a:endParaRPr lang="ko-KR" altLang="en-US"/>
          </a:p>
        </p:txBody>
      </p:sp>
      <p:sp>
        <p:nvSpPr>
          <p:cNvPr id="2296" name="k2296"/>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lstStyle/>
          <a:p>
            <a:endParaRPr lang="ko-KR" altLang="en-US"/>
          </a:p>
        </p:txBody>
      </p:sp>
      <p:sp>
        <p:nvSpPr>
          <p:cNvPr id="2297" name="k2297"/>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298" name="k2298"/>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49</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309" name="k2309"/>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발정</a:t>
            </a:r>
          </a:p>
        </p:txBody>
      </p:sp>
      <p:sp>
        <p:nvSpPr>
          <p:cNvPr id="2310" name="k2310"/>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추천에는 그 목장의 설정이 실려 있습니다</a:t>
            </a:r>
          </a:p>
        </p:txBody>
      </p:sp>
      <p:sp>
        <p:nvSpPr>
          <p:cNvPr id="2299" name="k2299"/>
          <p:cNvSpPr>
            <a:spLocks noGrp="1"/>
          </p:cNvSpPr>
          <p:nvPr/>
        </p:nvSpPr>
        <p:spPr>
          <a:xfrm>
            <a:off x="722376" y="2011680"/>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300" name="k2300"/>
          <p:cNvSpPr>
            <a:spLocks noGrp="1"/>
          </p:cNvSpPr>
          <p:nvPr/>
        </p:nvSpPr>
        <p:spPr>
          <a:xfrm>
            <a:off x="987552" y="1938528"/>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수정 적기는 일반값이 아니라 이 목장의 번식 설정으로 계산한다</a:t>
            </a:r>
          </a:p>
        </p:txBody>
      </p:sp>
      <p:sp>
        <p:nvSpPr>
          <p:cNvPr id="2301" name="k2301"/>
          <p:cNvSpPr>
            <a:spLocks noGrp="1"/>
          </p:cNvSpPr>
          <p:nvPr/>
        </p:nvSpPr>
        <p:spPr>
          <a:xfrm>
            <a:off x="722376" y="2679192"/>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302" name="k2302"/>
          <p:cNvSpPr>
            <a:spLocks noGrp="1"/>
          </p:cNvSpPr>
          <p:nvPr/>
        </p:nvSpPr>
        <p:spPr>
          <a:xfrm>
            <a:off x="987552" y="2606040"/>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정액은 근교계수·유전능력·목장의 개량 목표로 제안한다</a:t>
            </a:r>
          </a:p>
        </p:txBody>
      </p:sp>
      <p:sp>
        <p:nvSpPr>
          <p:cNvPr id="2303" name="k2303"/>
          <p:cNvSpPr>
            <a:spLocks noGrp="1"/>
          </p:cNvSpPr>
          <p:nvPr/>
        </p:nvSpPr>
        <p:spPr>
          <a:xfrm>
            <a:off x="722376" y="3346704"/>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304" name="k2304"/>
          <p:cNvSpPr>
            <a:spLocks noGrp="1"/>
          </p:cNvSpPr>
          <p:nvPr/>
        </p:nvSpPr>
        <p:spPr>
          <a:xfrm>
            <a:off x="987552" y="3273552"/>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먼저 사전 점검이 돈다 — 최근 치료, 휴약 상태, 반복 실패 이력</a:t>
            </a:r>
          </a:p>
        </p:txBody>
      </p:sp>
      <p:sp>
        <p:nvSpPr>
          <p:cNvPr id="2305" name="k2305"/>
          <p:cNvSpPr>
            <a:spLocks noGrp="1"/>
          </p:cNvSpPr>
          <p:nvPr/>
        </p:nvSpPr>
        <p:spPr>
          <a:xfrm>
            <a:off x="722376" y="4014216"/>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306" name="k2306"/>
          <p:cNvSpPr>
            <a:spLocks noGrp="1"/>
          </p:cNvSpPr>
          <p:nvPr/>
        </p:nvSpPr>
        <p:spPr>
          <a:xfrm>
            <a:off x="987552" y="3941064"/>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누가 언제 하는지까지 나오고, 수정사에게 그대로 전달된다</a:t>
            </a:r>
          </a:p>
        </p:txBody>
      </p:sp>
      <p:sp>
        <p:nvSpPr>
          <p:cNvPr id="2307" name="k2307"/>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308" name="k2308"/>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순위는 근교계수·유전능력·목장 목표로 매깁니다. 공급사 가중치는 알고리즘에 존재하지 않습니다.</a:t>
            </a:r>
          </a:p>
        </p:txBody>
      </p:sp>
      <p:sp>
        <p:nvSpPr>
          <p:cNvPr id="2311" name="k2311"/>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312" name="k2312"/>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50</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339" name="k2339"/>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처방과 피드백</a:t>
            </a:r>
          </a:p>
        </p:txBody>
      </p:sp>
      <p:sp>
        <p:nvSpPr>
          <p:cNvPr id="2340" name="k2340"/>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프로토콜은 일정이 되고, 결과는 학습이 됩니다</a:t>
            </a:r>
          </a:p>
        </p:txBody>
      </p:sp>
      <p:sp>
        <p:nvSpPr>
          <p:cNvPr id="2313" name="k2313"/>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314" name="k2314"/>
          <p:cNvSpPr>
            <a:spLocks noGrp="1"/>
          </p:cNvSpPr>
          <p:nvPr/>
        </p:nvSpPr>
        <p:spPr>
          <a:xfrm>
            <a:off x="685800" y="1883664"/>
            <a:ext cx="5212080" cy="109728"/>
          </a:xfrm>
          <a:prstGeom prst="rect">
            <a:avLst/>
          </a:prstGeom>
          <a:solidFill>
            <a:srgbClr val="4C8DD9"/>
          </a:solidFill>
          <a:ln w="0">
            <a:noFill/>
            <a:prstDash val="solid"/>
          </a:ln>
        </p:spPr>
        <p:txBody>
          <a:bodyPr wrap="square" lIns="0" tIns="0" rIns="0" bIns="0"/>
          <a:lstStyle/>
          <a:p>
            <a:endParaRPr lang="ko-KR" altLang="en-US"/>
          </a:p>
        </p:txBody>
      </p:sp>
      <p:sp>
        <p:nvSpPr>
          <p:cNvPr id="2315" name="k2315"/>
          <p:cNvSpPr>
            <a:spLocks noGrp="1"/>
          </p:cNvSpPr>
          <p:nvPr/>
        </p:nvSpPr>
        <p:spPr>
          <a:xfrm>
            <a:off x="960120"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4C8DD9"/>
                </a:solidFill>
                <a:latin typeface="Calibri"/>
                <a:ea typeface="맑은 고딕"/>
                <a:cs typeface="맑은 고딕"/>
              </a:rPr>
              <a:t>발정동기화</a:t>
            </a:r>
          </a:p>
        </p:txBody>
      </p:sp>
      <p:sp>
        <p:nvSpPr>
          <p:cNvPr id="2316" name="k2316"/>
          <p:cNvSpPr>
            <a:spLocks noGrp="1"/>
          </p:cNvSpPr>
          <p:nvPr/>
        </p:nvSpPr>
        <p:spPr>
          <a:xfrm>
            <a:off x="960120"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프로토콜이 달력이 된다</a:t>
            </a:r>
          </a:p>
        </p:txBody>
      </p:sp>
      <p:sp>
        <p:nvSpPr>
          <p:cNvPr id="2317" name="k2317"/>
          <p:cNvSpPr>
            <a:spLocks noGrp="1"/>
          </p:cNvSpPr>
          <p:nvPr/>
        </p:nvSpPr>
        <p:spPr>
          <a:xfrm>
            <a:off x="978408" y="3127248"/>
            <a:ext cx="100584" cy="100584"/>
          </a:xfrm>
          <a:prstGeom prst="ellipse">
            <a:avLst/>
          </a:prstGeom>
          <a:solidFill>
            <a:srgbClr val="4C8DD9"/>
          </a:solidFill>
          <a:ln w="0">
            <a:noFill/>
            <a:prstDash val="solid"/>
          </a:ln>
        </p:spPr>
        <p:txBody>
          <a:bodyPr wrap="square" lIns="0" tIns="0" rIns="0" bIns="0"/>
          <a:lstStyle/>
          <a:p>
            <a:endParaRPr lang="ko-KR" altLang="en-US"/>
          </a:p>
        </p:txBody>
      </p:sp>
      <p:sp>
        <p:nvSpPr>
          <p:cNvPr id="2318" name="k2318"/>
          <p:cNvSpPr>
            <a:spLocks noGrp="1"/>
          </p:cNvSpPr>
          <p:nvPr/>
        </p:nvSpPr>
        <p:spPr>
          <a:xfrm>
            <a:off x="1216152" y="3072384"/>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표준 프로토콜 4종을 처방으로 지원한다</a:t>
            </a:r>
          </a:p>
        </p:txBody>
      </p:sp>
      <p:sp>
        <p:nvSpPr>
          <p:cNvPr id="2319" name="k2319"/>
          <p:cNvSpPr>
            <a:spLocks noGrp="1"/>
          </p:cNvSpPr>
          <p:nvPr/>
        </p:nvSpPr>
        <p:spPr>
          <a:xfrm>
            <a:off x="978408" y="3529584"/>
            <a:ext cx="100584" cy="100584"/>
          </a:xfrm>
          <a:prstGeom prst="ellipse">
            <a:avLst/>
          </a:prstGeom>
          <a:solidFill>
            <a:srgbClr val="4C8DD9"/>
          </a:solidFill>
          <a:ln w="0">
            <a:noFill/>
            <a:prstDash val="solid"/>
          </a:ln>
        </p:spPr>
        <p:txBody>
          <a:bodyPr wrap="square" lIns="0" tIns="0" rIns="0" bIns="0"/>
          <a:lstStyle/>
          <a:p>
            <a:endParaRPr lang="ko-KR" altLang="en-US"/>
          </a:p>
        </p:txBody>
      </p:sp>
      <p:sp>
        <p:nvSpPr>
          <p:cNvPr id="2320" name="k2320"/>
          <p:cNvSpPr>
            <a:spLocks noGrp="1"/>
          </p:cNvSpPr>
          <p:nvPr/>
        </p:nvSpPr>
        <p:spPr>
          <a:xfrm>
            <a:off x="1216152" y="3474720"/>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날짜가 찍힌 호르몬 투여·수정 일정으로 펼쳐진다</a:t>
            </a:r>
          </a:p>
        </p:txBody>
      </p:sp>
      <p:sp>
        <p:nvSpPr>
          <p:cNvPr id="2321" name="k2321"/>
          <p:cNvSpPr>
            <a:spLocks noGrp="1"/>
          </p:cNvSpPr>
          <p:nvPr/>
        </p:nvSpPr>
        <p:spPr>
          <a:xfrm>
            <a:off x="978408" y="3931920"/>
            <a:ext cx="100584" cy="100584"/>
          </a:xfrm>
          <a:prstGeom prst="ellipse">
            <a:avLst/>
          </a:prstGeom>
          <a:solidFill>
            <a:srgbClr val="4C8DD9"/>
          </a:solidFill>
          <a:ln w="0">
            <a:noFill/>
            <a:prstDash val="solid"/>
          </a:ln>
        </p:spPr>
        <p:txBody>
          <a:bodyPr wrap="square" lIns="0" tIns="0" rIns="0" bIns="0"/>
          <a:lstStyle/>
          <a:p>
            <a:endParaRPr lang="ko-KR" altLang="en-US"/>
          </a:p>
        </p:txBody>
      </p:sp>
      <p:sp>
        <p:nvSpPr>
          <p:cNvPr id="2322" name="k2322"/>
          <p:cNvSpPr>
            <a:spLocks noGrp="1"/>
          </p:cNvSpPr>
          <p:nvPr/>
        </p:nvSpPr>
        <p:spPr>
          <a:xfrm>
            <a:off x="1216152" y="3877056"/>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오늘 할 처치가 작업목록에 나타난다</a:t>
            </a:r>
          </a:p>
        </p:txBody>
      </p:sp>
      <p:sp>
        <p:nvSpPr>
          <p:cNvPr id="2323" name="k2323"/>
          <p:cNvSpPr>
            <a:spLocks noGrp="1"/>
          </p:cNvSpPr>
          <p:nvPr/>
        </p:nvSpPr>
        <p:spPr>
          <a:xfrm>
            <a:off x="978408" y="4334256"/>
            <a:ext cx="100584" cy="100584"/>
          </a:xfrm>
          <a:prstGeom prst="ellipse">
            <a:avLst/>
          </a:prstGeom>
          <a:solidFill>
            <a:srgbClr val="4C8DD9"/>
          </a:solidFill>
          <a:ln w="0">
            <a:noFill/>
            <a:prstDash val="solid"/>
          </a:ln>
        </p:spPr>
        <p:txBody>
          <a:bodyPr wrap="square" lIns="0" tIns="0" rIns="0" bIns="0"/>
          <a:lstStyle/>
          <a:p>
            <a:endParaRPr lang="ko-KR" altLang="en-US"/>
          </a:p>
        </p:txBody>
      </p:sp>
      <p:sp>
        <p:nvSpPr>
          <p:cNvPr id="2324" name="k2324"/>
          <p:cNvSpPr>
            <a:spLocks noGrp="1"/>
          </p:cNvSpPr>
          <p:nvPr/>
        </p:nvSpPr>
        <p:spPr>
          <a:xfrm>
            <a:off x="1216152" y="4279392"/>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승인 규칙은 그대로 적용된다</a:t>
            </a:r>
          </a:p>
        </p:txBody>
      </p:sp>
      <p:sp>
        <p:nvSpPr>
          <p:cNvPr id="2325" name="k2325"/>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326" name="k2326"/>
          <p:cNvSpPr>
            <a:spLocks noGrp="1"/>
          </p:cNvSpPr>
          <p:nvPr/>
        </p:nvSpPr>
        <p:spPr>
          <a:xfrm>
            <a:off x="6291072" y="1883664"/>
            <a:ext cx="5212080" cy="109728"/>
          </a:xfrm>
          <a:prstGeom prst="rect">
            <a:avLst/>
          </a:prstGeom>
          <a:solidFill>
            <a:srgbClr val="65D44A"/>
          </a:solidFill>
          <a:ln w="0">
            <a:noFill/>
            <a:prstDash val="solid"/>
          </a:ln>
        </p:spPr>
        <p:txBody>
          <a:bodyPr wrap="square" lIns="0" tIns="0" rIns="0" bIns="0"/>
          <a:lstStyle/>
          <a:p>
            <a:endParaRPr lang="ko-KR" altLang="en-US"/>
          </a:p>
        </p:txBody>
      </p:sp>
      <p:sp>
        <p:nvSpPr>
          <p:cNvPr id="2327" name="k2327"/>
          <p:cNvSpPr>
            <a:spLocks noGrp="1"/>
          </p:cNvSpPr>
          <p:nvPr/>
        </p:nvSpPr>
        <p:spPr>
          <a:xfrm>
            <a:off x="6565392"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65D44A"/>
                </a:solidFill>
                <a:latin typeface="Calibri"/>
                <a:ea typeface="맑은 고딕"/>
                <a:cs typeface="맑은 고딕"/>
              </a:rPr>
              <a:t>닫히는 루프</a:t>
            </a:r>
          </a:p>
        </p:txBody>
      </p:sp>
      <p:sp>
        <p:nvSpPr>
          <p:cNvPr id="2328" name="k2328"/>
          <p:cNvSpPr>
            <a:spLocks noGrp="1"/>
          </p:cNvSpPr>
          <p:nvPr/>
        </p:nvSpPr>
        <p:spPr>
          <a:xfrm>
            <a:off x="6565392"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결과가 다음 주기를 가르친다</a:t>
            </a:r>
          </a:p>
        </p:txBody>
      </p:sp>
      <p:sp>
        <p:nvSpPr>
          <p:cNvPr id="2329" name="k2329"/>
          <p:cNvSpPr>
            <a:spLocks noGrp="1"/>
          </p:cNvSpPr>
          <p:nvPr/>
        </p:nvSpPr>
        <p:spPr>
          <a:xfrm>
            <a:off x="6583680" y="3127248"/>
            <a:ext cx="100584" cy="100584"/>
          </a:xfrm>
          <a:prstGeom prst="ellipse">
            <a:avLst/>
          </a:prstGeom>
          <a:solidFill>
            <a:srgbClr val="65D44A"/>
          </a:solidFill>
          <a:ln w="0">
            <a:noFill/>
            <a:prstDash val="solid"/>
          </a:ln>
        </p:spPr>
        <p:txBody>
          <a:bodyPr wrap="square" lIns="0" tIns="0" rIns="0" bIns="0"/>
          <a:lstStyle/>
          <a:p>
            <a:endParaRPr lang="ko-KR" altLang="en-US"/>
          </a:p>
        </p:txBody>
      </p:sp>
      <p:sp>
        <p:nvSpPr>
          <p:cNvPr id="2330" name="k2330"/>
          <p:cNvSpPr>
            <a:spLocks noGrp="1"/>
          </p:cNvSpPr>
          <p:nvPr/>
        </p:nvSpPr>
        <p:spPr>
          <a:xfrm>
            <a:off x="6821424" y="3072384"/>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수정은 정액과 수정사와 함께 기록된다</a:t>
            </a:r>
          </a:p>
        </p:txBody>
      </p:sp>
      <p:sp>
        <p:nvSpPr>
          <p:cNvPr id="2331" name="k2331"/>
          <p:cNvSpPr>
            <a:spLocks noGrp="1"/>
          </p:cNvSpPr>
          <p:nvPr/>
        </p:nvSpPr>
        <p:spPr>
          <a:xfrm>
            <a:off x="6583680" y="3529584"/>
            <a:ext cx="100584" cy="100584"/>
          </a:xfrm>
          <a:prstGeom prst="ellipse">
            <a:avLst/>
          </a:prstGeom>
          <a:solidFill>
            <a:srgbClr val="65D44A"/>
          </a:solidFill>
          <a:ln w="0">
            <a:noFill/>
            <a:prstDash val="solid"/>
          </a:ln>
        </p:spPr>
        <p:txBody>
          <a:bodyPr wrap="square" lIns="0" tIns="0" rIns="0" bIns="0"/>
          <a:lstStyle/>
          <a:p>
            <a:endParaRPr lang="ko-KR" altLang="en-US"/>
          </a:p>
        </p:txBody>
      </p:sp>
      <p:sp>
        <p:nvSpPr>
          <p:cNvPr id="2332" name="k2332"/>
          <p:cNvSpPr>
            <a:spLocks noGrp="1"/>
          </p:cNvSpPr>
          <p:nvPr/>
        </p:nvSpPr>
        <p:spPr>
          <a:xfrm>
            <a:off x="6821424" y="3474720"/>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임신감정 결과가 정답으로 돌아온다</a:t>
            </a:r>
          </a:p>
        </p:txBody>
      </p:sp>
      <p:sp>
        <p:nvSpPr>
          <p:cNvPr id="2333" name="k2333"/>
          <p:cNvSpPr>
            <a:spLocks noGrp="1"/>
          </p:cNvSpPr>
          <p:nvPr/>
        </p:nvSpPr>
        <p:spPr>
          <a:xfrm>
            <a:off x="6583680" y="3931920"/>
            <a:ext cx="100584" cy="100584"/>
          </a:xfrm>
          <a:prstGeom prst="ellipse">
            <a:avLst/>
          </a:prstGeom>
          <a:solidFill>
            <a:srgbClr val="65D44A"/>
          </a:solidFill>
          <a:ln w="0">
            <a:noFill/>
            <a:prstDash val="solid"/>
          </a:ln>
        </p:spPr>
        <p:txBody>
          <a:bodyPr wrap="square" lIns="0" tIns="0" rIns="0" bIns="0"/>
          <a:lstStyle/>
          <a:p>
            <a:endParaRPr lang="ko-KR" altLang="en-US"/>
          </a:p>
        </p:txBody>
      </p:sp>
      <p:sp>
        <p:nvSpPr>
          <p:cNvPr id="2334" name="k2334"/>
          <p:cNvSpPr>
            <a:spLocks noGrp="1"/>
          </p:cNvSpPr>
          <p:nvPr/>
        </p:nvSpPr>
        <p:spPr>
          <a:xfrm>
            <a:off x="6821424" y="3877056"/>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정액별·개체별 수태율이 추적된다</a:t>
            </a:r>
          </a:p>
        </p:txBody>
      </p:sp>
      <p:sp>
        <p:nvSpPr>
          <p:cNvPr id="2335" name="k2335"/>
          <p:cNvSpPr>
            <a:spLocks noGrp="1"/>
          </p:cNvSpPr>
          <p:nvPr/>
        </p:nvSpPr>
        <p:spPr>
          <a:xfrm>
            <a:off x="6583680" y="4334256"/>
            <a:ext cx="100584" cy="100584"/>
          </a:xfrm>
          <a:prstGeom prst="ellipse">
            <a:avLst/>
          </a:prstGeom>
          <a:solidFill>
            <a:srgbClr val="65D44A"/>
          </a:solidFill>
          <a:ln w="0">
            <a:noFill/>
            <a:prstDash val="solid"/>
          </a:ln>
        </p:spPr>
        <p:txBody>
          <a:bodyPr wrap="square" lIns="0" tIns="0" rIns="0" bIns="0"/>
          <a:lstStyle/>
          <a:p>
            <a:endParaRPr lang="ko-KR" altLang="en-US"/>
          </a:p>
        </p:txBody>
      </p:sp>
      <p:sp>
        <p:nvSpPr>
          <p:cNvPr id="2336" name="k2336"/>
          <p:cNvSpPr>
            <a:spLocks noGrp="1"/>
          </p:cNvSpPr>
          <p:nvPr/>
        </p:nvSpPr>
        <p:spPr>
          <a:xfrm>
            <a:off x="6821424" y="4279392"/>
            <a:ext cx="4370832" cy="365760"/>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그만큼 다음 추천이 조정된다</a:t>
            </a:r>
          </a:p>
        </p:txBody>
      </p:sp>
      <p:sp>
        <p:nvSpPr>
          <p:cNvPr id="2337" name="k2337"/>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338" name="k2338"/>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돌아오지 않는 임신감정 결과는 닫히지 않는 루프이고, 나아지지 않는 시스템입니다.</a:t>
            </a:r>
          </a:p>
        </p:txBody>
      </p:sp>
      <p:sp>
        <p:nvSpPr>
          <p:cNvPr id="2341" name="k2341"/>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342" name="k2342"/>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51</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343" name="k2343"/>
          <p:cNvSpPr>
            <a:spLocks noGrp="1"/>
          </p:cNvSpPr>
          <p:nvPr/>
        </p:nvSpPr>
        <p:spPr>
          <a:xfrm>
            <a:off x="685800" y="704088"/>
            <a:ext cx="2093976" cy="1234440"/>
          </a:xfrm>
          <a:prstGeom prst="rect">
            <a:avLst/>
          </a:prstGeom>
          <a:noFill/>
          <a:ln w="0">
            <a:noFill/>
            <a:prstDash val="solid"/>
          </a:ln>
        </p:spPr>
        <p:txBody>
          <a:bodyPr wrap="square" lIns="0" tIns="0" rIns="0" bIns="0"/>
          <a:lstStyle/>
          <a:p>
            <a:pPr algn="l">
              <a:buNone/>
              <a:defRPr sz="6900">
                <a:latin typeface="Calibri"/>
                <a:ea typeface="맑은 고딕"/>
                <a:cs typeface="맑은 고딕"/>
              </a:defRPr>
            </a:pPr>
            <a:r>
              <a:rPr lang="ko-KR" altLang="en-US" sz="6900" b="1">
                <a:solidFill>
                  <a:srgbClr val="65D44A"/>
                </a:solidFill>
                <a:latin typeface="Calibri"/>
                <a:ea typeface="맑은 고딕"/>
                <a:cs typeface="맑은 고딕"/>
              </a:rPr>
              <a:t>11</a:t>
            </a:r>
          </a:p>
        </p:txBody>
      </p:sp>
      <p:sp>
        <p:nvSpPr>
          <p:cNvPr id="2344" name="k2344"/>
          <p:cNvSpPr>
            <a:spLocks noGrp="1"/>
          </p:cNvSpPr>
          <p:nvPr/>
        </p:nvSpPr>
        <p:spPr>
          <a:xfrm>
            <a:off x="685800" y="2432304"/>
            <a:ext cx="8476488" cy="950976"/>
          </a:xfrm>
          <a:prstGeom prst="rect">
            <a:avLst/>
          </a:prstGeom>
          <a:noFill/>
          <a:ln w="0">
            <a:noFill/>
            <a:prstDash val="solid"/>
          </a:ln>
        </p:spPr>
        <p:txBody>
          <a:bodyPr wrap="square" lIns="0" tIns="0" rIns="0" bIns="0"/>
          <a:lstStyle/>
          <a:p>
            <a:pPr algn="l">
              <a:buNone/>
              <a:defRPr sz="4050">
                <a:latin typeface="Calibri"/>
                <a:ea typeface="맑은 고딕"/>
                <a:cs typeface="맑은 고딕"/>
              </a:defRPr>
            </a:pPr>
            <a:r>
              <a:rPr lang="ko-KR" altLang="en-US" sz="4050" b="1">
                <a:solidFill>
                  <a:srgbClr val="FFFFFF"/>
                </a:solidFill>
                <a:latin typeface="Calibri"/>
                <a:ea typeface="맑은 고딕"/>
                <a:cs typeface="맑은 고딕"/>
              </a:rPr>
              <a:t>한 농장에서 국가로</a:t>
            </a:r>
          </a:p>
        </p:txBody>
      </p:sp>
      <p:sp>
        <p:nvSpPr>
          <p:cNvPr id="2345" name="k2345"/>
          <p:cNvSpPr>
            <a:spLocks noGrp="1"/>
          </p:cNvSpPr>
          <p:nvPr/>
        </p:nvSpPr>
        <p:spPr>
          <a:xfrm>
            <a:off x="685800" y="3621024"/>
            <a:ext cx="7424928" cy="1005840"/>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a:solidFill>
                  <a:srgbClr val="C9D8D2"/>
                </a:solidFill>
                <a:latin typeface="Calibri"/>
                <a:ea typeface="맑은 고딕"/>
                <a:cs typeface="맑은 고딕"/>
              </a:rPr>
              <a:t>한 농장을 돕는 그 신호가, 모이면 국가 방역의 조기 감시망이 됩니다.</a:t>
            </a:r>
          </a:p>
        </p:txBody>
      </p:sp>
      <p:sp>
        <p:nvSpPr>
          <p:cNvPr id="2346" name="k2346"/>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lstStyle/>
          <a:p>
            <a:endParaRPr lang="ko-KR" altLang="en-US"/>
          </a:p>
        </p:txBody>
      </p:sp>
      <p:sp>
        <p:nvSpPr>
          <p:cNvPr id="2347" name="k2347"/>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lstStyle/>
          <a:p>
            <a:endParaRPr lang="ko-KR" altLang="en-US"/>
          </a:p>
        </p:txBody>
      </p:sp>
      <p:sp>
        <p:nvSpPr>
          <p:cNvPr id="2348" name="k2348"/>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lstStyle/>
          <a:p>
            <a:endParaRPr lang="ko-KR" altLang="en-US"/>
          </a:p>
        </p:txBody>
      </p:sp>
      <p:sp>
        <p:nvSpPr>
          <p:cNvPr id="2349" name="k2349"/>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lstStyle/>
          <a:p>
            <a:endParaRPr lang="ko-KR" altLang="en-US"/>
          </a:p>
        </p:txBody>
      </p:sp>
      <p:sp>
        <p:nvSpPr>
          <p:cNvPr id="2350" name="k2350"/>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lstStyle/>
          <a:p>
            <a:endParaRPr lang="ko-KR" altLang="en-US"/>
          </a:p>
        </p:txBody>
      </p:sp>
      <p:sp>
        <p:nvSpPr>
          <p:cNvPr id="2351" name="k2351"/>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lstStyle/>
          <a:p>
            <a:endParaRPr lang="ko-KR" altLang="en-US"/>
          </a:p>
        </p:txBody>
      </p:sp>
      <p:sp>
        <p:nvSpPr>
          <p:cNvPr id="2352" name="k2352"/>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353" name="k2353"/>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52</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376" name="k2376"/>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드릴다운</a:t>
            </a:r>
          </a:p>
        </p:txBody>
      </p:sp>
      <p:sp>
        <p:nvSpPr>
          <p:cNvPr id="2377" name="k2377"/>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네 단계가 하나의 화면으로 이어집니다</a:t>
            </a:r>
          </a:p>
        </p:txBody>
      </p:sp>
      <p:sp>
        <p:nvSpPr>
          <p:cNvPr id="2354" name="k2354"/>
          <p:cNvSpPr>
            <a:spLocks noGrp="1"/>
          </p:cNvSpPr>
          <p:nvPr/>
        </p:nvSpPr>
        <p:spPr>
          <a:xfrm>
            <a:off x="68580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355" name="k2355"/>
          <p:cNvSpPr>
            <a:spLocks noGrp="1"/>
          </p:cNvSpPr>
          <p:nvPr/>
        </p:nvSpPr>
        <p:spPr>
          <a:xfrm>
            <a:off x="92354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356" name="k2356"/>
          <p:cNvSpPr>
            <a:spLocks noGrp="1"/>
          </p:cNvSpPr>
          <p:nvPr/>
        </p:nvSpPr>
        <p:spPr>
          <a:xfrm>
            <a:off x="92354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1</a:t>
            </a:r>
          </a:p>
        </p:txBody>
      </p:sp>
      <p:sp>
        <p:nvSpPr>
          <p:cNvPr id="2357" name="k2357"/>
          <p:cNvSpPr>
            <a:spLocks noGrp="1"/>
          </p:cNvSpPr>
          <p:nvPr/>
        </p:nvSpPr>
        <p:spPr>
          <a:xfrm>
            <a:off x="92354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전국</a:t>
            </a:r>
          </a:p>
        </p:txBody>
      </p:sp>
      <p:sp>
        <p:nvSpPr>
          <p:cNvPr id="2358" name="k2358"/>
          <p:cNvSpPr>
            <a:spLocks noGrp="1"/>
          </p:cNvSpPr>
          <p:nvPr/>
        </p:nvSpPr>
        <p:spPr>
          <a:xfrm>
            <a:off x="92354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시도별 위험등급과 발열률을 한 지도에서</a:t>
            </a:r>
          </a:p>
        </p:txBody>
      </p:sp>
      <p:sp>
        <p:nvSpPr>
          <p:cNvPr id="2359" name="k2359"/>
          <p:cNvSpPr>
            <a:spLocks noGrp="1"/>
          </p:cNvSpPr>
          <p:nvPr/>
        </p:nvSpPr>
        <p:spPr>
          <a:xfrm>
            <a:off x="344043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360" name="k2360"/>
          <p:cNvSpPr>
            <a:spLocks noGrp="1"/>
          </p:cNvSpPr>
          <p:nvPr/>
        </p:nvSpPr>
        <p:spPr>
          <a:xfrm>
            <a:off x="367817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361" name="k2361"/>
          <p:cNvSpPr>
            <a:spLocks noGrp="1"/>
          </p:cNvSpPr>
          <p:nvPr/>
        </p:nvSpPr>
        <p:spPr>
          <a:xfrm>
            <a:off x="367817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2</a:t>
            </a:r>
          </a:p>
        </p:txBody>
      </p:sp>
      <p:sp>
        <p:nvSpPr>
          <p:cNvPr id="2362" name="k2362"/>
          <p:cNvSpPr>
            <a:spLocks noGrp="1"/>
          </p:cNvSpPr>
          <p:nvPr/>
        </p:nvSpPr>
        <p:spPr>
          <a:xfrm>
            <a:off x="367817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시도</a:t>
            </a:r>
          </a:p>
        </p:txBody>
      </p:sp>
      <p:sp>
        <p:nvSpPr>
          <p:cNvPr id="2363" name="k2363"/>
          <p:cNvSpPr>
            <a:spLocks noGrp="1"/>
          </p:cNvSpPr>
          <p:nvPr/>
        </p:nvSpPr>
        <p:spPr>
          <a:xfrm>
            <a:off x="367817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관내 농장의 좌표·두수·알림 건수</a:t>
            </a:r>
          </a:p>
        </p:txBody>
      </p:sp>
      <p:sp>
        <p:nvSpPr>
          <p:cNvPr id="2364" name="k2364"/>
          <p:cNvSpPr>
            <a:spLocks noGrp="1"/>
          </p:cNvSpPr>
          <p:nvPr/>
        </p:nvSpPr>
        <p:spPr>
          <a:xfrm>
            <a:off x="619506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365" name="k2365"/>
          <p:cNvSpPr>
            <a:spLocks noGrp="1"/>
          </p:cNvSpPr>
          <p:nvPr/>
        </p:nvSpPr>
        <p:spPr>
          <a:xfrm>
            <a:off x="643280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366" name="k2366"/>
          <p:cNvSpPr>
            <a:spLocks noGrp="1"/>
          </p:cNvSpPr>
          <p:nvPr/>
        </p:nvSpPr>
        <p:spPr>
          <a:xfrm>
            <a:off x="643280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3</a:t>
            </a:r>
          </a:p>
        </p:txBody>
      </p:sp>
      <p:sp>
        <p:nvSpPr>
          <p:cNvPr id="2367" name="k2367"/>
          <p:cNvSpPr>
            <a:spLocks noGrp="1"/>
          </p:cNvSpPr>
          <p:nvPr/>
        </p:nvSpPr>
        <p:spPr>
          <a:xfrm>
            <a:off x="643280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농장</a:t>
            </a:r>
          </a:p>
        </p:txBody>
      </p:sp>
      <p:sp>
        <p:nvSpPr>
          <p:cNvPr id="2368" name="k2368"/>
          <p:cNvSpPr>
            <a:spLocks noGrp="1"/>
          </p:cNvSpPr>
          <p:nvPr/>
        </p:nvSpPr>
        <p:spPr>
          <a:xfrm>
            <a:off x="643280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우군 상태, 최근 알림, 이동 이력과 접촉</a:t>
            </a:r>
          </a:p>
        </p:txBody>
      </p:sp>
      <p:sp>
        <p:nvSpPr>
          <p:cNvPr id="2369" name="k2369"/>
          <p:cNvSpPr>
            <a:spLocks noGrp="1"/>
          </p:cNvSpPr>
          <p:nvPr/>
        </p:nvSpPr>
        <p:spPr>
          <a:xfrm>
            <a:off x="894969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370" name="k2370"/>
          <p:cNvSpPr>
            <a:spLocks noGrp="1"/>
          </p:cNvSpPr>
          <p:nvPr/>
        </p:nvSpPr>
        <p:spPr>
          <a:xfrm>
            <a:off x="918743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371" name="k2371"/>
          <p:cNvSpPr>
            <a:spLocks noGrp="1"/>
          </p:cNvSpPr>
          <p:nvPr/>
        </p:nvSpPr>
        <p:spPr>
          <a:xfrm>
            <a:off x="918743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4</a:t>
            </a:r>
          </a:p>
        </p:txBody>
      </p:sp>
      <p:sp>
        <p:nvSpPr>
          <p:cNvPr id="2372" name="k2372"/>
          <p:cNvSpPr>
            <a:spLocks noGrp="1"/>
          </p:cNvSpPr>
          <p:nvPr/>
        </p:nvSpPr>
        <p:spPr>
          <a:xfrm>
            <a:off x="918743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개체</a:t>
            </a:r>
          </a:p>
        </p:txBody>
      </p:sp>
      <p:sp>
        <p:nvSpPr>
          <p:cNvPr id="2373" name="k2373"/>
          <p:cNvSpPr>
            <a:spLocks noGrp="1"/>
          </p:cNvSpPr>
          <p:nvPr/>
        </p:nvSpPr>
        <p:spPr>
          <a:xfrm>
            <a:off x="918743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그 소의 체온 곡선과 알람의 해석 근거</a:t>
            </a:r>
          </a:p>
        </p:txBody>
      </p:sp>
      <p:sp>
        <p:nvSpPr>
          <p:cNvPr id="2374" name="k237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375" name="k2375"/>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전국 지도에서 소 한 마리의 체온 곡선까지 클릭 네 번. 시스템을 갈아타지 않습니다.</a:t>
            </a:r>
          </a:p>
        </p:txBody>
      </p:sp>
      <p:sp>
        <p:nvSpPr>
          <p:cNvPr id="2378" name="k2378"/>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379" name="k2379"/>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53</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402" name="k2402"/>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확산</a:t>
            </a:r>
          </a:p>
        </p:txBody>
      </p:sp>
      <p:sp>
        <p:nvSpPr>
          <p:cNvPr id="2403" name="k2403"/>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접촉망과 확산 모형 — 그림이 아닙니다</a:t>
            </a:r>
          </a:p>
        </p:txBody>
      </p:sp>
      <p:sp>
        <p:nvSpPr>
          <p:cNvPr id="2380" name="k2380"/>
          <p:cNvSpPr>
            <a:spLocks noGrp="1"/>
          </p:cNvSpPr>
          <p:nvPr/>
        </p:nvSpPr>
        <p:spPr>
          <a:xfrm>
            <a:off x="685800"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381" name="k2381"/>
          <p:cNvSpPr>
            <a:spLocks noGrp="1"/>
          </p:cNvSpPr>
          <p:nvPr/>
        </p:nvSpPr>
        <p:spPr>
          <a:xfrm>
            <a:off x="685800" y="1883664"/>
            <a:ext cx="5212080" cy="109728"/>
          </a:xfrm>
          <a:prstGeom prst="rect">
            <a:avLst/>
          </a:prstGeom>
          <a:solidFill>
            <a:srgbClr val="E96155"/>
          </a:solidFill>
          <a:ln w="0">
            <a:noFill/>
            <a:prstDash val="solid"/>
          </a:ln>
        </p:spPr>
        <p:txBody>
          <a:bodyPr wrap="square" lIns="0" tIns="0" rIns="0" bIns="0"/>
          <a:lstStyle/>
          <a:p>
            <a:endParaRPr lang="ko-KR" altLang="en-US"/>
          </a:p>
        </p:txBody>
      </p:sp>
      <p:sp>
        <p:nvSpPr>
          <p:cNvPr id="2382" name="k2382"/>
          <p:cNvSpPr>
            <a:spLocks noGrp="1"/>
          </p:cNvSpPr>
          <p:nvPr/>
        </p:nvSpPr>
        <p:spPr>
          <a:xfrm>
            <a:off x="960120"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접촉망</a:t>
            </a:r>
          </a:p>
        </p:txBody>
      </p:sp>
      <p:sp>
        <p:nvSpPr>
          <p:cNvPr id="2383" name="k2383"/>
          <p:cNvSpPr>
            <a:spLocks noGrp="1"/>
          </p:cNvSpPr>
          <p:nvPr/>
        </p:nvSpPr>
        <p:spPr>
          <a:xfrm>
            <a:off x="960120"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이동 기록에서 만든다</a:t>
            </a:r>
          </a:p>
        </p:txBody>
      </p:sp>
      <p:sp>
        <p:nvSpPr>
          <p:cNvPr id="2384" name="k2384"/>
          <p:cNvSpPr>
            <a:spLocks noGrp="1"/>
          </p:cNvSpPr>
          <p:nvPr/>
        </p:nvSpPr>
        <p:spPr>
          <a:xfrm>
            <a:off x="978408" y="3127248"/>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385" name="k2385"/>
          <p:cNvSpPr>
            <a:spLocks noGrp="1"/>
          </p:cNvSpPr>
          <p:nvPr/>
        </p:nvSpPr>
        <p:spPr>
          <a:xfrm>
            <a:off x="1216152" y="3072384"/>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기록된 이동 이력으로 접촉 개체를 추적한다</a:t>
            </a:r>
          </a:p>
        </p:txBody>
      </p:sp>
      <p:sp>
        <p:nvSpPr>
          <p:cNvPr id="2386" name="k2386"/>
          <p:cNvSpPr>
            <a:spLocks noGrp="1"/>
          </p:cNvSpPr>
          <p:nvPr/>
        </p:nvSpPr>
        <p:spPr>
          <a:xfrm>
            <a:off x="978408" y="3657600"/>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387" name="k2387"/>
          <p:cNvSpPr>
            <a:spLocks noGrp="1"/>
          </p:cNvSpPr>
          <p:nvPr/>
        </p:nvSpPr>
        <p:spPr>
          <a:xfrm>
            <a:off x="1216152" y="3602736"/>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이동 데이터가 없으면 지역 기반으로 대체하고 그렇다고 표시한다</a:t>
            </a:r>
          </a:p>
        </p:txBody>
      </p:sp>
      <p:sp>
        <p:nvSpPr>
          <p:cNvPr id="2388" name="k2388"/>
          <p:cNvSpPr>
            <a:spLocks noGrp="1"/>
          </p:cNvSpPr>
          <p:nvPr/>
        </p:nvSpPr>
        <p:spPr>
          <a:xfrm>
            <a:off x="978408" y="4187952"/>
            <a:ext cx="100584" cy="100584"/>
          </a:xfrm>
          <a:prstGeom prst="ellipse">
            <a:avLst/>
          </a:prstGeom>
          <a:solidFill>
            <a:srgbClr val="E96155"/>
          </a:solidFill>
          <a:ln w="0">
            <a:noFill/>
            <a:prstDash val="solid"/>
          </a:ln>
        </p:spPr>
        <p:txBody>
          <a:bodyPr wrap="square" lIns="0" tIns="0" rIns="0" bIns="0"/>
          <a:lstStyle/>
          <a:p>
            <a:endParaRPr lang="ko-KR" altLang="en-US"/>
          </a:p>
        </p:txBody>
      </p:sp>
      <p:sp>
        <p:nvSpPr>
          <p:cNvPr id="2389" name="k2389"/>
          <p:cNvSpPr>
            <a:spLocks noGrp="1"/>
          </p:cNvSpPr>
          <p:nvPr/>
        </p:nvSpPr>
        <p:spPr>
          <a:xfrm>
            <a:off x="1216152" y="4133088"/>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반경 분석으로 거리 안의 농장 수와 두수를 낸다</a:t>
            </a:r>
          </a:p>
        </p:txBody>
      </p:sp>
      <p:sp>
        <p:nvSpPr>
          <p:cNvPr id="2390" name="k2390"/>
          <p:cNvSpPr>
            <a:spLocks noGrp="1"/>
          </p:cNvSpPr>
          <p:nvPr/>
        </p:nvSpPr>
        <p:spPr>
          <a:xfrm>
            <a:off x="6291072" y="1883664"/>
            <a:ext cx="5212080" cy="2788920"/>
          </a:xfrm>
          <a:prstGeom prst="roundRect">
            <a:avLst/>
          </a:prstGeom>
          <a:solidFill>
            <a:srgbClr val="FFFFFF"/>
          </a:solidFill>
          <a:ln w="0">
            <a:noFill/>
            <a:prstDash val="solid"/>
          </a:ln>
        </p:spPr>
        <p:txBody>
          <a:bodyPr wrap="square" lIns="0" tIns="0" rIns="0" bIns="0"/>
          <a:lstStyle/>
          <a:p>
            <a:endParaRPr lang="ko-KR" altLang="en-US"/>
          </a:p>
        </p:txBody>
      </p:sp>
      <p:sp>
        <p:nvSpPr>
          <p:cNvPr id="2391" name="k2391"/>
          <p:cNvSpPr>
            <a:spLocks noGrp="1"/>
          </p:cNvSpPr>
          <p:nvPr/>
        </p:nvSpPr>
        <p:spPr>
          <a:xfrm>
            <a:off x="6291072" y="1883664"/>
            <a:ext cx="5212080" cy="109728"/>
          </a:xfrm>
          <a:prstGeom prst="rect">
            <a:avLst/>
          </a:prstGeom>
          <a:solidFill>
            <a:srgbClr val="4C8DD9"/>
          </a:solidFill>
          <a:ln w="0">
            <a:noFill/>
            <a:prstDash val="solid"/>
          </a:ln>
        </p:spPr>
        <p:txBody>
          <a:bodyPr wrap="square" lIns="0" tIns="0" rIns="0" bIns="0"/>
          <a:lstStyle/>
          <a:p>
            <a:endParaRPr lang="ko-KR" altLang="en-US"/>
          </a:p>
        </p:txBody>
      </p:sp>
      <p:sp>
        <p:nvSpPr>
          <p:cNvPr id="2392" name="k2392"/>
          <p:cNvSpPr>
            <a:spLocks noGrp="1"/>
          </p:cNvSpPr>
          <p:nvPr/>
        </p:nvSpPr>
        <p:spPr>
          <a:xfrm>
            <a:off x="6565392" y="2212848"/>
            <a:ext cx="4663440" cy="256032"/>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4C8DD9"/>
                </a:solidFill>
                <a:latin typeface="Calibri"/>
                <a:ea typeface="맑은 고딕"/>
                <a:cs typeface="맑은 고딕"/>
              </a:rPr>
              <a:t>확산 시뮬레이션</a:t>
            </a:r>
          </a:p>
        </p:txBody>
      </p:sp>
      <p:sp>
        <p:nvSpPr>
          <p:cNvPr id="2393" name="k2393"/>
          <p:cNvSpPr>
            <a:spLocks noGrp="1"/>
          </p:cNvSpPr>
          <p:nvPr/>
        </p:nvSpPr>
        <p:spPr>
          <a:xfrm>
            <a:off x="6565392" y="2578608"/>
            <a:ext cx="4663440" cy="402336"/>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b="1">
                <a:solidFill>
                  <a:srgbClr val="10251F"/>
                </a:solidFill>
                <a:latin typeface="Calibri"/>
                <a:ea typeface="맑은 고딕"/>
                <a:cs typeface="맑은 고딕"/>
              </a:rPr>
              <a:t>미분방정식 모형</a:t>
            </a:r>
          </a:p>
        </p:txBody>
      </p:sp>
      <p:sp>
        <p:nvSpPr>
          <p:cNvPr id="2394" name="k2394"/>
          <p:cNvSpPr>
            <a:spLocks noGrp="1"/>
          </p:cNvSpPr>
          <p:nvPr/>
        </p:nvSpPr>
        <p:spPr>
          <a:xfrm>
            <a:off x="6583680" y="3127248"/>
            <a:ext cx="100584" cy="100584"/>
          </a:xfrm>
          <a:prstGeom prst="ellipse">
            <a:avLst/>
          </a:prstGeom>
          <a:solidFill>
            <a:srgbClr val="4C8DD9"/>
          </a:solidFill>
          <a:ln w="0">
            <a:noFill/>
            <a:prstDash val="solid"/>
          </a:ln>
        </p:spPr>
        <p:txBody>
          <a:bodyPr wrap="square" lIns="0" tIns="0" rIns="0" bIns="0"/>
          <a:lstStyle/>
          <a:p>
            <a:endParaRPr lang="ko-KR" altLang="en-US"/>
          </a:p>
        </p:txBody>
      </p:sp>
      <p:sp>
        <p:nvSpPr>
          <p:cNvPr id="2395" name="k2395"/>
          <p:cNvSpPr>
            <a:spLocks noGrp="1"/>
          </p:cNvSpPr>
          <p:nvPr/>
        </p:nvSpPr>
        <p:spPr>
          <a:xfrm>
            <a:off x="6821424" y="3072384"/>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질병별 계수를 넣은 SEIR 모형</a:t>
            </a:r>
          </a:p>
        </p:txBody>
      </p:sp>
      <p:sp>
        <p:nvSpPr>
          <p:cNvPr id="2396" name="k2396"/>
          <p:cNvSpPr>
            <a:spLocks noGrp="1"/>
          </p:cNvSpPr>
          <p:nvPr/>
        </p:nvSpPr>
        <p:spPr>
          <a:xfrm>
            <a:off x="6583680" y="3657600"/>
            <a:ext cx="100584" cy="100584"/>
          </a:xfrm>
          <a:prstGeom prst="ellipse">
            <a:avLst/>
          </a:prstGeom>
          <a:solidFill>
            <a:srgbClr val="4C8DD9"/>
          </a:solidFill>
          <a:ln w="0">
            <a:noFill/>
            <a:prstDash val="solid"/>
          </a:ln>
        </p:spPr>
        <p:txBody>
          <a:bodyPr wrap="square" lIns="0" tIns="0" rIns="0" bIns="0"/>
          <a:lstStyle/>
          <a:p>
            <a:endParaRPr lang="ko-KR" altLang="en-US"/>
          </a:p>
        </p:txBody>
      </p:sp>
      <p:sp>
        <p:nvSpPr>
          <p:cNvPr id="2397" name="k2397"/>
          <p:cNvSpPr>
            <a:spLocks noGrp="1"/>
          </p:cNvSpPr>
          <p:nvPr/>
        </p:nvSpPr>
        <p:spPr>
          <a:xfrm>
            <a:off x="6821424" y="3602736"/>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이동제한 시나리오를 수치로 비교한다</a:t>
            </a:r>
          </a:p>
        </p:txBody>
      </p:sp>
      <p:sp>
        <p:nvSpPr>
          <p:cNvPr id="2398" name="k2398"/>
          <p:cNvSpPr>
            <a:spLocks noGrp="1"/>
          </p:cNvSpPr>
          <p:nvPr/>
        </p:nvSpPr>
        <p:spPr>
          <a:xfrm>
            <a:off x="6583680" y="4187952"/>
            <a:ext cx="100584" cy="100584"/>
          </a:xfrm>
          <a:prstGeom prst="ellipse">
            <a:avLst/>
          </a:prstGeom>
          <a:solidFill>
            <a:srgbClr val="4C8DD9"/>
          </a:solidFill>
          <a:ln w="0">
            <a:noFill/>
            <a:prstDash val="solid"/>
          </a:ln>
        </p:spPr>
        <p:txBody>
          <a:bodyPr wrap="square" lIns="0" tIns="0" rIns="0" bIns="0"/>
          <a:lstStyle/>
          <a:p>
            <a:endParaRPr lang="ko-KR" altLang="en-US"/>
          </a:p>
        </p:txBody>
      </p:sp>
      <p:sp>
        <p:nvSpPr>
          <p:cNvPr id="2399" name="k2399"/>
          <p:cNvSpPr>
            <a:spLocks noGrp="1"/>
          </p:cNvSpPr>
          <p:nvPr/>
        </p:nvSpPr>
        <p:spPr>
          <a:xfrm>
            <a:off x="6821424" y="4133088"/>
            <a:ext cx="4370832" cy="493776"/>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인상이 아니라 곡선과 농가 수를 출력한다</a:t>
            </a:r>
          </a:p>
        </p:txBody>
      </p:sp>
      <p:sp>
        <p:nvSpPr>
          <p:cNvPr id="2400" name="k2400"/>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401" name="k2401"/>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모형은 결정을 돕습니다. 결정을 대신하지 않고, 특정 발생을 예측하지도 않습니다.</a:t>
            </a:r>
          </a:p>
        </p:txBody>
      </p:sp>
      <p:sp>
        <p:nvSpPr>
          <p:cNvPr id="2404" name="k2404"/>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405" name="k2405"/>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54</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433" name="k2433"/>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보고 체계</a:t>
            </a:r>
          </a:p>
        </p:txBody>
      </p:sp>
      <p:sp>
        <p:nvSpPr>
          <p:cNvPr id="2434" name="k2434"/>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신고 이전 구간이 이 레이어의 자리입니다</a:t>
            </a:r>
          </a:p>
        </p:txBody>
      </p:sp>
      <p:sp>
        <p:nvSpPr>
          <p:cNvPr id="2406" name="k2406"/>
          <p:cNvSpPr>
            <a:spLocks noGrp="1"/>
          </p:cNvSpPr>
          <p:nvPr/>
        </p:nvSpPr>
        <p:spPr>
          <a:xfrm>
            <a:off x="685800" y="2011680"/>
            <a:ext cx="2002536" cy="2377440"/>
          </a:xfrm>
          <a:prstGeom prst="roundRect">
            <a:avLst/>
          </a:prstGeom>
          <a:solidFill>
            <a:srgbClr val="FFFFFF"/>
          </a:solidFill>
          <a:ln w="0">
            <a:noFill/>
            <a:prstDash val="solid"/>
          </a:ln>
        </p:spPr>
        <p:txBody>
          <a:bodyPr wrap="square" lIns="0" tIns="0" rIns="0" bIns="0"/>
          <a:lstStyle/>
          <a:p>
            <a:endParaRPr lang="ko-KR" altLang="en-US"/>
          </a:p>
        </p:txBody>
      </p:sp>
      <p:sp>
        <p:nvSpPr>
          <p:cNvPr id="2407" name="k2407"/>
          <p:cNvSpPr>
            <a:spLocks noGrp="1"/>
          </p:cNvSpPr>
          <p:nvPr/>
        </p:nvSpPr>
        <p:spPr>
          <a:xfrm>
            <a:off x="923544" y="2267712"/>
            <a:ext cx="384048" cy="384048"/>
          </a:xfrm>
          <a:prstGeom prst="ellipse">
            <a:avLst/>
          </a:prstGeom>
          <a:solidFill>
            <a:srgbClr val="66746F"/>
          </a:solidFill>
          <a:ln w="0">
            <a:noFill/>
            <a:prstDash val="solid"/>
          </a:ln>
        </p:spPr>
        <p:txBody>
          <a:bodyPr wrap="square" lIns="0" tIns="0" rIns="0" bIns="0"/>
          <a:lstStyle/>
          <a:p>
            <a:endParaRPr lang="ko-KR" altLang="en-US"/>
          </a:p>
        </p:txBody>
      </p:sp>
      <p:sp>
        <p:nvSpPr>
          <p:cNvPr id="2408" name="k2408"/>
          <p:cNvSpPr>
            <a:spLocks noGrp="1"/>
          </p:cNvSpPr>
          <p:nvPr/>
        </p:nvSpPr>
        <p:spPr>
          <a:xfrm>
            <a:off x="92354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a:t>
            </a:r>
          </a:p>
        </p:txBody>
      </p:sp>
      <p:sp>
        <p:nvSpPr>
          <p:cNvPr id="2409" name="k2409"/>
          <p:cNvSpPr>
            <a:spLocks noGrp="1"/>
          </p:cNvSpPr>
          <p:nvPr/>
        </p:nvSpPr>
        <p:spPr>
          <a:xfrm>
            <a:off x="923544" y="2852928"/>
            <a:ext cx="1527048"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생체 이상</a:t>
            </a:r>
          </a:p>
        </p:txBody>
      </p:sp>
      <p:sp>
        <p:nvSpPr>
          <p:cNvPr id="2410" name="k2410"/>
          <p:cNvSpPr>
            <a:spLocks noGrp="1"/>
          </p:cNvSpPr>
          <p:nvPr/>
        </p:nvSpPr>
        <p:spPr>
          <a:xfrm>
            <a:off x="923544" y="3529584"/>
            <a:ext cx="1527048" cy="621792"/>
          </a:xfrm>
          <a:prstGeom prst="rect">
            <a:avLst/>
          </a:prstGeom>
          <a:noFill/>
          <a:ln w="0">
            <a:noFill/>
            <a:prstDash val="solid"/>
          </a:ln>
        </p:spPr>
        <p:txBody>
          <a:bodyPr wrap="square" lIns="0" tIns="0" rIns="0" bIns="0"/>
          <a:lstStyle/>
          <a:p>
            <a:pPr algn="l">
              <a:buNone/>
              <a:defRPr sz="1250">
                <a:latin typeface="Calibri"/>
                <a:ea typeface="맑은 고딕"/>
                <a:cs typeface="맑은 고딕"/>
              </a:defRPr>
            </a:pPr>
            <a:r>
              <a:rPr lang="ko-KR" altLang="en-US" sz="1250">
                <a:solidFill>
                  <a:srgbClr val="66746F"/>
                </a:solidFill>
                <a:latin typeface="Calibri"/>
                <a:ea typeface="맑은 고딕"/>
                <a:cs typeface="맑은 고딕"/>
              </a:rPr>
              <a:t>몸속에서는 잡히지만 지금 시스템에는 비어 있다</a:t>
            </a:r>
          </a:p>
        </p:txBody>
      </p:sp>
      <p:sp>
        <p:nvSpPr>
          <p:cNvPr id="2411" name="k2411"/>
          <p:cNvSpPr>
            <a:spLocks noGrp="1"/>
          </p:cNvSpPr>
          <p:nvPr/>
        </p:nvSpPr>
        <p:spPr>
          <a:xfrm>
            <a:off x="2889504" y="2011680"/>
            <a:ext cx="2002536" cy="2377440"/>
          </a:xfrm>
          <a:prstGeom prst="roundRect">
            <a:avLst/>
          </a:prstGeom>
          <a:solidFill>
            <a:srgbClr val="FFFFFF"/>
          </a:solidFill>
          <a:ln w="0">
            <a:noFill/>
            <a:prstDash val="solid"/>
          </a:ln>
        </p:spPr>
        <p:txBody>
          <a:bodyPr wrap="square" lIns="0" tIns="0" rIns="0" bIns="0"/>
          <a:lstStyle/>
          <a:p>
            <a:endParaRPr lang="ko-KR" altLang="en-US"/>
          </a:p>
        </p:txBody>
      </p:sp>
      <p:sp>
        <p:nvSpPr>
          <p:cNvPr id="2412" name="k2412"/>
          <p:cNvSpPr>
            <a:spLocks noGrp="1"/>
          </p:cNvSpPr>
          <p:nvPr/>
        </p:nvSpPr>
        <p:spPr>
          <a:xfrm>
            <a:off x="3127248" y="2267712"/>
            <a:ext cx="384048" cy="384048"/>
          </a:xfrm>
          <a:prstGeom prst="ellipse">
            <a:avLst/>
          </a:prstGeom>
          <a:solidFill>
            <a:srgbClr val="66746F"/>
          </a:solidFill>
          <a:ln w="0">
            <a:noFill/>
            <a:prstDash val="solid"/>
          </a:ln>
        </p:spPr>
        <p:txBody>
          <a:bodyPr wrap="square" lIns="0" tIns="0" rIns="0" bIns="0"/>
          <a:lstStyle/>
          <a:p>
            <a:endParaRPr lang="ko-KR" altLang="en-US"/>
          </a:p>
        </p:txBody>
      </p:sp>
      <p:sp>
        <p:nvSpPr>
          <p:cNvPr id="2413" name="k2413"/>
          <p:cNvSpPr>
            <a:spLocks noGrp="1"/>
          </p:cNvSpPr>
          <p:nvPr/>
        </p:nvSpPr>
        <p:spPr>
          <a:xfrm>
            <a:off x="3127248"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a:t>
            </a:r>
          </a:p>
        </p:txBody>
      </p:sp>
      <p:sp>
        <p:nvSpPr>
          <p:cNvPr id="2414" name="k2414"/>
          <p:cNvSpPr>
            <a:spLocks noGrp="1"/>
          </p:cNvSpPr>
          <p:nvPr/>
        </p:nvSpPr>
        <p:spPr>
          <a:xfrm>
            <a:off x="3127248" y="2852928"/>
            <a:ext cx="1527048"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임상 증상</a:t>
            </a:r>
          </a:p>
        </p:txBody>
      </p:sp>
      <p:sp>
        <p:nvSpPr>
          <p:cNvPr id="2415" name="k2415"/>
          <p:cNvSpPr>
            <a:spLocks noGrp="1"/>
          </p:cNvSpPr>
          <p:nvPr/>
        </p:nvSpPr>
        <p:spPr>
          <a:xfrm>
            <a:off x="3127248" y="3529584"/>
            <a:ext cx="1527048" cy="621792"/>
          </a:xfrm>
          <a:prstGeom prst="rect">
            <a:avLst/>
          </a:prstGeom>
          <a:noFill/>
          <a:ln w="0">
            <a:noFill/>
            <a:prstDash val="solid"/>
          </a:ln>
        </p:spPr>
        <p:txBody>
          <a:bodyPr wrap="square" lIns="0" tIns="0" rIns="0" bIns="0"/>
          <a:lstStyle/>
          <a:p>
            <a:pPr algn="l">
              <a:buNone/>
              <a:defRPr sz="1250">
                <a:latin typeface="Calibri"/>
                <a:ea typeface="맑은 고딕"/>
                <a:cs typeface="맑은 고딕"/>
              </a:defRPr>
            </a:pPr>
            <a:r>
              <a:rPr lang="ko-KR" altLang="en-US" sz="1250">
                <a:solidFill>
                  <a:srgbClr val="66746F"/>
                </a:solidFill>
                <a:latin typeface="Calibri"/>
                <a:ea typeface="맑은 고딕"/>
                <a:cs typeface="맑은 고딕"/>
              </a:rPr>
              <a:t>농가 눈에 보이지만 여전히 기록에 없다</a:t>
            </a:r>
          </a:p>
        </p:txBody>
      </p:sp>
      <p:sp>
        <p:nvSpPr>
          <p:cNvPr id="2416" name="k2416"/>
          <p:cNvSpPr>
            <a:spLocks noGrp="1"/>
          </p:cNvSpPr>
          <p:nvPr/>
        </p:nvSpPr>
        <p:spPr>
          <a:xfrm>
            <a:off x="5093208" y="2011680"/>
            <a:ext cx="2002536" cy="2377440"/>
          </a:xfrm>
          <a:prstGeom prst="roundRect">
            <a:avLst/>
          </a:prstGeom>
          <a:solidFill>
            <a:srgbClr val="FFFFFF"/>
          </a:solidFill>
          <a:ln w="0">
            <a:noFill/>
            <a:prstDash val="solid"/>
          </a:ln>
        </p:spPr>
        <p:txBody>
          <a:bodyPr wrap="square" lIns="0" tIns="0" rIns="0" bIns="0"/>
          <a:lstStyle/>
          <a:p>
            <a:endParaRPr lang="ko-KR" altLang="en-US"/>
          </a:p>
        </p:txBody>
      </p:sp>
      <p:sp>
        <p:nvSpPr>
          <p:cNvPr id="2417" name="k2417"/>
          <p:cNvSpPr>
            <a:spLocks noGrp="1"/>
          </p:cNvSpPr>
          <p:nvPr/>
        </p:nvSpPr>
        <p:spPr>
          <a:xfrm>
            <a:off x="5330952"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418" name="k2418"/>
          <p:cNvSpPr>
            <a:spLocks noGrp="1"/>
          </p:cNvSpPr>
          <p:nvPr/>
        </p:nvSpPr>
        <p:spPr>
          <a:xfrm>
            <a:off x="5330952"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1</a:t>
            </a:r>
          </a:p>
        </p:txBody>
      </p:sp>
      <p:sp>
        <p:nvSpPr>
          <p:cNvPr id="2419" name="k2419"/>
          <p:cNvSpPr>
            <a:spLocks noGrp="1"/>
          </p:cNvSpPr>
          <p:nvPr/>
        </p:nvSpPr>
        <p:spPr>
          <a:xfrm>
            <a:off x="5330952" y="2852928"/>
            <a:ext cx="1527048"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신고</a:t>
            </a:r>
          </a:p>
        </p:txBody>
      </p:sp>
      <p:sp>
        <p:nvSpPr>
          <p:cNvPr id="2420" name="k2420"/>
          <p:cNvSpPr>
            <a:spLocks noGrp="1"/>
          </p:cNvSpPr>
          <p:nvPr/>
        </p:nvSpPr>
        <p:spPr>
          <a:xfrm>
            <a:off x="5330952" y="3529584"/>
            <a:ext cx="1527048" cy="621792"/>
          </a:xfrm>
          <a:prstGeom prst="rect">
            <a:avLst/>
          </a:prstGeom>
          <a:noFill/>
          <a:ln w="0">
            <a:noFill/>
            <a:prstDash val="solid"/>
          </a:ln>
        </p:spPr>
        <p:txBody>
          <a:bodyPr wrap="square" lIns="0" tIns="0" rIns="0" bIns="0"/>
          <a:lstStyle/>
          <a:p>
            <a:pPr algn="l">
              <a:buNone/>
              <a:defRPr sz="1250">
                <a:latin typeface="Calibri"/>
                <a:ea typeface="맑은 고딕"/>
                <a:cs typeface="맑은 고딕"/>
              </a:defRPr>
            </a:pPr>
            <a:r>
              <a:rPr lang="ko-KR" altLang="en-US" sz="1250">
                <a:solidFill>
                  <a:srgbClr val="66746F"/>
                </a:solidFill>
                <a:latin typeface="Calibri"/>
                <a:ea typeface="맑은 고딕"/>
                <a:cs typeface="맑은 고딕"/>
              </a:rPr>
              <a:t>국가 시스템이 시작되는 지점</a:t>
            </a:r>
          </a:p>
        </p:txBody>
      </p:sp>
      <p:sp>
        <p:nvSpPr>
          <p:cNvPr id="2421" name="k2421"/>
          <p:cNvSpPr>
            <a:spLocks noGrp="1"/>
          </p:cNvSpPr>
          <p:nvPr/>
        </p:nvSpPr>
        <p:spPr>
          <a:xfrm>
            <a:off x="7296912" y="2011680"/>
            <a:ext cx="2002536" cy="2377440"/>
          </a:xfrm>
          <a:prstGeom prst="roundRect">
            <a:avLst/>
          </a:prstGeom>
          <a:solidFill>
            <a:srgbClr val="FFFFFF"/>
          </a:solidFill>
          <a:ln w="0">
            <a:noFill/>
            <a:prstDash val="solid"/>
          </a:ln>
        </p:spPr>
        <p:txBody>
          <a:bodyPr wrap="square" lIns="0" tIns="0" rIns="0" bIns="0"/>
          <a:lstStyle/>
          <a:p>
            <a:endParaRPr lang="ko-KR" altLang="en-US"/>
          </a:p>
        </p:txBody>
      </p:sp>
      <p:sp>
        <p:nvSpPr>
          <p:cNvPr id="2422" name="k2422"/>
          <p:cNvSpPr>
            <a:spLocks noGrp="1"/>
          </p:cNvSpPr>
          <p:nvPr/>
        </p:nvSpPr>
        <p:spPr>
          <a:xfrm>
            <a:off x="7534656"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423" name="k2423"/>
          <p:cNvSpPr>
            <a:spLocks noGrp="1"/>
          </p:cNvSpPr>
          <p:nvPr/>
        </p:nvSpPr>
        <p:spPr>
          <a:xfrm>
            <a:off x="7534656"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2</a:t>
            </a:r>
          </a:p>
        </p:txBody>
      </p:sp>
      <p:sp>
        <p:nvSpPr>
          <p:cNvPr id="2424" name="k2424"/>
          <p:cNvSpPr>
            <a:spLocks noGrp="1"/>
          </p:cNvSpPr>
          <p:nvPr/>
        </p:nvSpPr>
        <p:spPr>
          <a:xfrm>
            <a:off x="7534656" y="2852928"/>
            <a:ext cx="1527048"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확인</a:t>
            </a:r>
          </a:p>
        </p:txBody>
      </p:sp>
      <p:sp>
        <p:nvSpPr>
          <p:cNvPr id="2425" name="k2425"/>
          <p:cNvSpPr>
            <a:spLocks noGrp="1"/>
          </p:cNvSpPr>
          <p:nvPr/>
        </p:nvSpPr>
        <p:spPr>
          <a:xfrm>
            <a:off x="7534656" y="3529584"/>
            <a:ext cx="1527048" cy="621792"/>
          </a:xfrm>
          <a:prstGeom prst="rect">
            <a:avLst/>
          </a:prstGeom>
          <a:noFill/>
          <a:ln w="0">
            <a:noFill/>
            <a:prstDash val="solid"/>
          </a:ln>
        </p:spPr>
        <p:txBody>
          <a:bodyPr wrap="square" lIns="0" tIns="0" rIns="0" bIns="0"/>
          <a:lstStyle/>
          <a:p>
            <a:pPr algn="l">
              <a:buNone/>
              <a:defRPr sz="1250">
                <a:latin typeface="Calibri"/>
                <a:ea typeface="맑은 고딕"/>
                <a:cs typeface="맑은 고딕"/>
              </a:defRPr>
            </a:pPr>
            <a:r>
              <a:rPr lang="ko-KR" altLang="en-US" sz="1250">
                <a:solidFill>
                  <a:srgbClr val="66746F"/>
                </a:solidFill>
                <a:latin typeface="Calibri"/>
                <a:ea typeface="맑은 고딕"/>
                <a:cs typeface="맑은 고딕"/>
              </a:rPr>
              <a:t>시료 채취와 정밀 검사</a:t>
            </a:r>
          </a:p>
        </p:txBody>
      </p:sp>
      <p:sp>
        <p:nvSpPr>
          <p:cNvPr id="2426" name="k2426"/>
          <p:cNvSpPr>
            <a:spLocks noGrp="1"/>
          </p:cNvSpPr>
          <p:nvPr/>
        </p:nvSpPr>
        <p:spPr>
          <a:xfrm>
            <a:off x="9500616" y="2011680"/>
            <a:ext cx="2002536" cy="2377440"/>
          </a:xfrm>
          <a:prstGeom prst="roundRect">
            <a:avLst/>
          </a:prstGeom>
          <a:solidFill>
            <a:srgbClr val="FFFFFF"/>
          </a:solidFill>
          <a:ln w="0">
            <a:noFill/>
            <a:prstDash val="solid"/>
          </a:ln>
        </p:spPr>
        <p:txBody>
          <a:bodyPr wrap="square" lIns="0" tIns="0" rIns="0" bIns="0"/>
          <a:lstStyle/>
          <a:p>
            <a:endParaRPr lang="ko-KR" altLang="en-US"/>
          </a:p>
        </p:txBody>
      </p:sp>
      <p:sp>
        <p:nvSpPr>
          <p:cNvPr id="2427" name="k2427"/>
          <p:cNvSpPr>
            <a:spLocks noGrp="1"/>
          </p:cNvSpPr>
          <p:nvPr/>
        </p:nvSpPr>
        <p:spPr>
          <a:xfrm>
            <a:off x="9738360"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428" name="k2428"/>
          <p:cNvSpPr>
            <a:spLocks noGrp="1"/>
          </p:cNvSpPr>
          <p:nvPr/>
        </p:nvSpPr>
        <p:spPr>
          <a:xfrm>
            <a:off x="9738360"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3</a:t>
            </a:r>
          </a:p>
        </p:txBody>
      </p:sp>
      <p:sp>
        <p:nvSpPr>
          <p:cNvPr id="2429" name="k2429"/>
          <p:cNvSpPr>
            <a:spLocks noGrp="1"/>
          </p:cNvSpPr>
          <p:nvPr/>
        </p:nvSpPr>
        <p:spPr>
          <a:xfrm>
            <a:off x="9738360" y="2852928"/>
            <a:ext cx="1527048"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대응</a:t>
            </a:r>
          </a:p>
        </p:txBody>
      </p:sp>
      <p:sp>
        <p:nvSpPr>
          <p:cNvPr id="2430" name="k2430"/>
          <p:cNvSpPr>
            <a:spLocks noGrp="1"/>
          </p:cNvSpPr>
          <p:nvPr/>
        </p:nvSpPr>
        <p:spPr>
          <a:xfrm>
            <a:off x="9738360" y="3529584"/>
            <a:ext cx="1527048" cy="621792"/>
          </a:xfrm>
          <a:prstGeom prst="rect">
            <a:avLst/>
          </a:prstGeom>
          <a:noFill/>
          <a:ln w="0">
            <a:noFill/>
            <a:prstDash val="solid"/>
          </a:ln>
        </p:spPr>
        <p:txBody>
          <a:bodyPr wrap="square" lIns="0" tIns="0" rIns="0" bIns="0"/>
          <a:lstStyle/>
          <a:p>
            <a:pPr algn="l">
              <a:buNone/>
              <a:defRPr sz="1250">
                <a:latin typeface="Calibri"/>
                <a:ea typeface="맑은 고딕"/>
                <a:cs typeface="맑은 고딕"/>
              </a:defRPr>
            </a:pPr>
            <a:r>
              <a:rPr lang="ko-KR" altLang="en-US" sz="1250">
                <a:solidFill>
                  <a:srgbClr val="66746F"/>
                </a:solidFill>
                <a:latin typeface="Calibri"/>
                <a:ea typeface="맑은 고딕"/>
                <a:cs typeface="맑은 고딕"/>
              </a:rPr>
              <a:t>이동제한과 방역 조치</a:t>
            </a:r>
          </a:p>
        </p:txBody>
      </p:sp>
      <p:sp>
        <p:nvSpPr>
          <p:cNvPr id="2431" name="k2431"/>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432" name="k2432"/>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국가 시스템을 대체하지 않습니다. 그 앞의 두 칸을 채워서 넘겨드립니다.</a:t>
            </a:r>
          </a:p>
        </p:txBody>
      </p:sp>
      <p:sp>
        <p:nvSpPr>
          <p:cNvPr id="2435" name="k2435"/>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436" name="k2436"/>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55</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437" name="k2437"/>
          <p:cNvSpPr>
            <a:spLocks noGrp="1"/>
          </p:cNvSpPr>
          <p:nvPr/>
        </p:nvSpPr>
        <p:spPr>
          <a:xfrm>
            <a:off x="685800" y="704088"/>
            <a:ext cx="2093976" cy="1234440"/>
          </a:xfrm>
          <a:prstGeom prst="rect">
            <a:avLst/>
          </a:prstGeom>
          <a:noFill/>
          <a:ln w="0">
            <a:noFill/>
            <a:prstDash val="solid"/>
          </a:ln>
        </p:spPr>
        <p:txBody>
          <a:bodyPr wrap="square" lIns="0" tIns="0" rIns="0" bIns="0"/>
          <a:lstStyle/>
          <a:p>
            <a:pPr algn="l">
              <a:buNone/>
              <a:defRPr sz="6900">
                <a:latin typeface="Calibri"/>
                <a:ea typeface="맑은 고딕"/>
                <a:cs typeface="맑은 고딕"/>
              </a:defRPr>
            </a:pPr>
            <a:r>
              <a:rPr lang="ko-KR" altLang="en-US" sz="6900" b="1">
                <a:solidFill>
                  <a:srgbClr val="65D44A"/>
                </a:solidFill>
                <a:latin typeface="Calibri"/>
                <a:ea typeface="맑은 고딕"/>
                <a:cs typeface="맑은 고딕"/>
              </a:rPr>
              <a:t>12</a:t>
            </a:r>
          </a:p>
        </p:txBody>
      </p:sp>
      <p:sp>
        <p:nvSpPr>
          <p:cNvPr id="2438" name="k2438"/>
          <p:cNvSpPr>
            <a:spLocks noGrp="1"/>
          </p:cNvSpPr>
          <p:nvPr/>
        </p:nvSpPr>
        <p:spPr>
          <a:xfrm>
            <a:off x="685800" y="2432304"/>
            <a:ext cx="8476488" cy="950976"/>
          </a:xfrm>
          <a:prstGeom prst="rect">
            <a:avLst/>
          </a:prstGeom>
          <a:noFill/>
          <a:ln w="0">
            <a:noFill/>
            <a:prstDash val="solid"/>
          </a:ln>
        </p:spPr>
        <p:txBody>
          <a:bodyPr wrap="square" lIns="0" tIns="0" rIns="0" bIns="0"/>
          <a:lstStyle/>
          <a:p>
            <a:pPr algn="l">
              <a:buNone/>
              <a:defRPr sz="4050">
                <a:latin typeface="Calibri"/>
                <a:ea typeface="맑은 고딕"/>
                <a:cs typeface="맑은 고딕"/>
              </a:defRPr>
            </a:pPr>
            <a:r>
              <a:rPr lang="ko-KR" altLang="en-US" sz="4050" b="1">
                <a:solidFill>
                  <a:srgbClr val="FFFFFF"/>
                </a:solidFill>
                <a:latin typeface="Calibri"/>
                <a:ea typeface="맑은 고딕"/>
                <a:cs typeface="맑은 고딕"/>
              </a:rPr>
              <a:t>배우되, 책임을 남긴다</a:t>
            </a:r>
          </a:p>
        </p:txBody>
      </p:sp>
      <p:sp>
        <p:nvSpPr>
          <p:cNvPr id="2439" name="k2439"/>
          <p:cNvSpPr>
            <a:spLocks noGrp="1"/>
          </p:cNvSpPr>
          <p:nvPr/>
        </p:nvSpPr>
        <p:spPr>
          <a:xfrm>
            <a:off x="685800" y="3621024"/>
            <a:ext cx="7424928" cy="1005840"/>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a:solidFill>
                  <a:srgbClr val="C9D8D2"/>
                </a:solidFill>
                <a:latin typeface="Calibri"/>
                <a:ea typeface="맑은 고딕"/>
                <a:cs typeface="맑은 고딕"/>
              </a:rPr>
              <a:t>네 개의 루프가 시스템을 개선합니다. 넷 다 감사 가능하고, 어느 것도 모델이 자기 규칙을 고쳐 쓰게 두지 않습니다.</a:t>
            </a:r>
          </a:p>
        </p:txBody>
      </p:sp>
      <p:sp>
        <p:nvSpPr>
          <p:cNvPr id="2440" name="k2440"/>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lstStyle/>
          <a:p>
            <a:endParaRPr lang="ko-KR" altLang="en-US"/>
          </a:p>
        </p:txBody>
      </p:sp>
      <p:sp>
        <p:nvSpPr>
          <p:cNvPr id="2441" name="k2441"/>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lstStyle/>
          <a:p>
            <a:endParaRPr lang="ko-KR" altLang="en-US"/>
          </a:p>
        </p:txBody>
      </p:sp>
      <p:sp>
        <p:nvSpPr>
          <p:cNvPr id="2442" name="k2442"/>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lstStyle/>
          <a:p>
            <a:endParaRPr lang="ko-KR" altLang="en-US"/>
          </a:p>
        </p:txBody>
      </p:sp>
      <p:sp>
        <p:nvSpPr>
          <p:cNvPr id="2443" name="k2443"/>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lstStyle/>
          <a:p>
            <a:endParaRPr lang="ko-KR" altLang="en-US"/>
          </a:p>
        </p:txBody>
      </p:sp>
      <p:sp>
        <p:nvSpPr>
          <p:cNvPr id="2444" name="k2444"/>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lstStyle/>
          <a:p>
            <a:endParaRPr lang="ko-KR" altLang="en-US"/>
          </a:p>
        </p:txBody>
      </p:sp>
      <p:sp>
        <p:nvSpPr>
          <p:cNvPr id="2445" name="k2445"/>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lstStyle/>
          <a:p>
            <a:endParaRPr lang="ko-KR" altLang="en-US"/>
          </a:p>
        </p:txBody>
      </p:sp>
      <p:sp>
        <p:nvSpPr>
          <p:cNvPr id="2446" name="k2446"/>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447" name="k2447"/>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56</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470" name="k2470"/>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학습 루프</a:t>
            </a:r>
          </a:p>
        </p:txBody>
      </p:sp>
      <p:sp>
        <p:nvSpPr>
          <p:cNvPr id="2471" name="k2471"/>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네 개의 루프, 넷 다 감사 가능합니다</a:t>
            </a:r>
          </a:p>
        </p:txBody>
      </p:sp>
      <p:sp>
        <p:nvSpPr>
          <p:cNvPr id="2448" name="k2448"/>
          <p:cNvSpPr>
            <a:spLocks noGrp="1"/>
          </p:cNvSpPr>
          <p:nvPr/>
        </p:nvSpPr>
        <p:spPr>
          <a:xfrm>
            <a:off x="685800"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449" name="k2449"/>
          <p:cNvSpPr>
            <a:spLocks noGrp="1"/>
          </p:cNvSpPr>
          <p:nvPr/>
        </p:nvSpPr>
        <p:spPr>
          <a:xfrm>
            <a:off x="685800" y="1901952"/>
            <a:ext cx="2471166" cy="109728"/>
          </a:xfrm>
          <a:prstGeom prst="rect">
            <a:avLst/>
          </a:prstGeom>
          <a:solidFill>
            <a:srgbClr val="E96155"/>
          </a:solidFill>
          <a:ln w="0">
            <a:noFill/>
            <a:prstDash val="solid"/>
          </a:ln>
        </p:spPr>
        <p:txBody>
          <a:bodyPr wrap="square" lIns="0" tIns="0" rIns="0" bIns="0"/>
          <a:lstStyle/>
          <a:p>
            <a:endParaRPr lang="ko-KR" altLang="en-US"/>
          </a:p>
        </p:txBody>
      </p:sp>
      <p:sp>
        <p:nvSpPr>
          <p:cNvPr id="2450" name="k2450"/>
          <p:cNvSpPr>
            <a:spLocks noGrp="1"/>
          </p:cNvSpPr>
          <p:nvPr/>
        </p:nvSpPr>
        <p:spPr>
          <a:xfrm>
            <a:off x="950976"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E96155"/>
                </a:solidFill>
                <a:latin typeface="Calibri"/>
                <a:ea typeface="맑은 고딕"/>
                <a:cs typeface="맑은 고딕"/>
              </a:rPr>
              <a:t>전문가 레이블</a:t>
            </a:r>
          </a:p>
        </p:txBody>
      </p:sp>
      <p:sp>
        <p:nvSpPr>
          <p:cNvPr id="2451" name="k2451"/>
          <p:cNvSpPr>
            <a:spLocks noGrp="1"/>
          </p:cNvSpPr>
          <p:nvPr/>
        </p:nvSpPr>
        <p:spPr>
          <a:xfrm>
            <a:off x="950976"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임상 정답</a:t>
            </a:r>
          </a:p>
        </p:txBody>
      </p:sp>
      <p:sp>
        <p:nvSpPr>
          <p:cNvPr id="2452" name="k2452"/>
          <p:cNvSpPr>
            <a:spLocks noGrp="1"/>
          </p:cNvSpPr>
          <p:nvPr/>
        </p:nvSpPr>
        <p:spPr>
          <a:xfrm>
            <a:off x="950976"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수의사의 판단이 레이블 사례가 된다. 비전문가 추측은 설계상 제외한다.</a:t>
            </a:r>
          </a:p>
        </p:txBody>
      </p:sp>
      <p:sp>
        <p:nvSpPr>
          <p:cNvPr id="2453" name="k2453"/>
          <p:cNvSpPr>
            <a:spLocks noGrp="1"/>
          </p:cNvSpPr>
          <p:nvPr/>
        </p:nvSpPr>
        <p:spPr>
          <a:xfrm>
            <a:off x="3467862"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454" name="k2454"/>
          <p:cNvSpPr>
            <a:spLocks noGrp="1"/>
          </p:cNvSpPr>
          <p:nvPr/>
        </p:nvSpPr>
        <p:spPr>
          <a:xfrm>
            <a:off x="3467862" y="1901952"/>
            <a:ext cx="2471166" cy="109728"/>
          </a:xfrm>
          <a:prstGeom prst="rect">
            <a:avLst/>
          </a:prstGeom>
          <a:solidFill>
            <a:srgbClr val="15A98C"/>
          </a:solidFill>
          <a:ln w="0">
            <a:noFill/>
            <a:prstDash val="solid"/>
          </a:ln>
        </p:spPr>
        <p:txBody>
          <a:bodyPr wrap="square" lIns="0" tIns="0" rIns="0" bIns="0"/>
          <a:lstStyle/>
          <a:p>
            <a:endParaRPr lang="ko-KR" altLang="en-US"/>
          </a:p>
        </p:txBody>
      </p:sp>
      <p:sp>
        <p:nvSpPr>
          <p:cNvPr id="2455" name="k2455"/>
          <p:cNvSpPr>
            <a:spLocks noGrp="1"/>
          </p:cNvSpPr>
          <p:nvPr/>
        </p:nvSpPr>
        <p:spPr>
          <a:xfrm>
            <a:off x="3733038"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15A98C"/>
                </a:solidFill>
                <a:latin typeface="Calibri"/>
                <a:ea typeface="맑은 고딕"/>
                <a:cs typeface="맑은 고딕"/>
              </a:rPr>
              <a:t>알람 통계</a:t>
            </a:r>
          </a:p>
        </p:txBody>
      </p:sp>
      <p:sp>
        <p:nvSpPr>
          <p:cNvPr id="2456" name="k2456"/>
          <p:cNvSpPr>
            <a:spLocks noGrp="1"/>
          </p:cNvSpPr>
          <p:nvPr/>
        </p:nvSpPr>
        <p:spPr>
          <a:xfrm>
            <a:off x="3733038"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자기 보정 가이던스</a:t>
            </a:r>
          </a:p>
        </p:txBody>
      </p:sp>
      <p:sp>
        <p:nvSpPr>
          <p:cNvPr id="2457" name="k2457"/>
          <p:cNvSpPr>
            <a:spLocks noGrp="1"/>
          </p:cNvSpPr>
          <p:nvPr/>
        </p:nvSpPr>
        <p:spPr>
          <a:xfrm>
            <a:off x="3733038"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확진률과 오탐률을 정해진 규칙으로 문장 가이던스로 바꾼다.</a:t>
            </a:r>
          </a:p>
        </p:txBody>
      </p:sp>
      <p:sp>
        <p:nvSpPr>
          <p:cNvPr id="2458" name="k2458"/>
          <p:cNvSpPr>
            <a:spLocks noGrp="1"/>
          </p:cNvSpPr>
          <p:nvPr/>
        </p:nvSpPr>
        <p:spPr>
          <a:xfrm>
            <a:off x="6249924"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459" name="k2459"/>
          <p:cNvSpPr>
            <a:spLocks noGrp="1"/>
          </p:cNvSpPr>
          <p:nvPr/>
        </p:nvSpPr>
        <p:spPr>
          <a:xfrm>
            <a:off x="6249924" y="1901952"/>
            <a:ext cx="2471166" cy="109728"/>
          </a:xfrm>
          <a:prstGeom prst="rect">
            <a:avLst/>
          </a:prstGeom>
          <a:solidFill>
            <a:srgbClr val="4C8DD9"/>
          </a:solidFill>
          <a:ln w="0">
            <a:noFill/>
            <a:prstDash val="solid"/>
          </a:ln>
        </p:spPr>
        <p:txBody>
          <a:bodyPr wrap="square" lIns="0" tIns="0" rIns="0" bIns="0"/>
          <a:lstStyle/>
          <a:p>
            <a:endParaRPr lang="ko-KR" altLang="en-US"/>
          </a:p>
        </p:txBody>
      </p:sp>
      <p:sp>
        <p:nvSpPr>
          <p:cNvPr id="2460" name="k2460"/>
          <p:cNvSpPr>
            <a:spLocks noGrp="1"/>
          </p:cNvSpPr>
          <p:nvPr/>
        </p:nvSpPr>
        <p:spPr>
          <a:xfrm>
            <a:off x="6515100"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4C8DD9"/>
                </a:solidFill>
                <a:latin typeface="Calibri"/>
                <a:ea typeface="맑은 고딕"/>
                <a:cs typeface="맑은 고딕"/>
              </a:rPr>
              <a:t>치료 결과</a:t>
            </a:r>
          </a:p>
        </p:txBody>
      </p:sp>
      <p:sp>
        <p:nvSpPr>
          <p:cNvPr id="2461" name="k2461"/>
          <p:cNvSpPr>
            <a:spLocks noGrp="1"/>
          </p:cNvSpPr>
          <p:nvPr/>
        </p:nvSpPr>
        <p:spPr>
          <a:xfrm>
            <a:off x="6515100"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실제로 나았는가</a:t>
            </a:r>
          </a:p>
        </p:txBody>
      </p:sp>
      <p:sp>
        <p:nvSpPr>
          <p:cNvPr id="2462" name="k2462"/>
          <p:cNvSpPr>
            <a:spLocks noGrp="1"/>
          </p:cNvSpPr>
          <p:nvPr/>
        </p:nvSpPr>
        <p:spPr>
          <a:xfrm>
            <a:off x="6515100"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치료 후 센서가 그 소를 다시 읽어 회복과 재발을 보고한다.</a:t>
            </a:r>
          </a:p>
        </p:txBody>
      </p:sp>
      <p:sp>
        <p:nvSpPr>
          <p:cNvPr id="2463" name="k2463"/>
          <p:cNvSpPr>
            <a:spLocks noGrp="1"/>
          </p:cNvSpPr>
          <p:nvPr/>
        </p:nvSpPr>
        <p:spPr>
          <a:xfrm>
            <a:off x="9031986" y="1901952"/>
            <a:ext cx="2471166" cy="2788920"/>
          </a:xfrm>
          <a:prstGeom prst="roundRect">
            <a:avLst/>
          </a:prstGeom>
          <a:solidFill>
            <a:srgbClr val="FFFFFF"/>
          </a:solidFill>
          <a:ln w="0">
            <a:noFill/>
            <a:prstDash val="solid"/>
          </a:ln>
        </p:spPr>
        <p:txBody>
          <a:bodyPr wrap="square" lIns="0" tIns="0" rIns="0" bIns="0"/>
          <a:lstStyle/>
          <a:p>
            <a:endParaRPr lang="ko-KR" altLang="en-US"/>
          </a:p>
        </p:txBody>
      </p:sp>
      <p:sp>
        <p:nvSpPr>
          <p:cNvPr id="2464" name="k2464"/>
          <p:cNvSpPr>
            <a:spLocks noGrp="1"/>
          </p:cNvSpPr>
          <p:nvPr/>
        </p:nvSpPr>
        <p:spPr>
          <a:xfrm>
            <a:off x="9031986" y="1901952"/>
            <a:ext cx="2471166" cy="109728"/>
          </a:xfrm>
          <a:prstGeom prst="rect">
            <a:avLst/>
          </a:prstGeom>
          <a:solidFill>
            <a:srgbClr val="F6B846"/>
          </a:solidFill>
          <a:ln w="0">
            <a:noFill/>
            <a:prstDash val="solid"/>
          </a:ln>
        </p:spPr>
        <p:txBody>
          <a:bodyPr wrap="square" lIns="0" tIns="0" rIns="0" bIns="0"/>
          <a:lstStyle/>
          <a:p>
            <a:endParaRPr lang="ko-KR" altLang="en-US"/>
          </a:p>
        </p:txBody>
      </p:sp>
      <p:sp>
        <p:nvSpPr>
          <p:cNvPr id="2465" name="k2465"/>
          <p:cNvSpPr>
            <a:spLocks noGrp="1"/>
          </p:cNvSpPr>
          <p:nvPr/>
        </p:nvSpPr>
        <p:spPr>
          <a:xfrm>
            <a:off x="9297162" y="2249424"/>
            <a:ext cx="1940814" cy="27432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b="1">
                <a:solidFill>
                  <a:srgbClr val="F6B846"/>
                </a:solidFill>
                <a:latin typeface="Calibri"/>
                <a:ea typeface="맑은 고딕"/>
                <a:cs typeface="맑은 고딕"/>
              </a:rPr>
              <a:t>대화 기억</a:t>
            </a:r>
          </a:p>
        </p:txBody>
      </p:sp>
      <p:sp>
        <p:nvSpPr>
          <p:cNvPr id="2466" name="k2466"/>
          <p:cNvSpPr>
            <a:spLocks noGrp="1"/>
          </p:cNvSpPr>
          <p:nvPr/>
        </p:nvSpPr>
        <p:spPr>
          <a:xfrm>
            <a:off x="9297162" y="2670048"/>
            <a:ext cx="1940814" cy="640080"/>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지속되는 목장 사실</a:t>
            </a:r>
          </a:p>
        </p:txBody>
      </p:sp>
      <p:sp>
        <p:nvSpPr>
          <p:cNvPr id="2467" name="k2467"/>
          <p:cNvSpPr>
            <a:spLocks noGrp="1"/>
          </p:cNvSpPr>
          <p:nvPr/>
        </p:nvSpPr>
        <p:spPr>
          <a:xfrm>
            <a:off x="9297162" y="3438144"/>
            <a:ext cx="1940814" cy="1005840"/>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사용자가 말한 장비·원칙·제약을 권한 경계 안에서 기억한다.</a:t>
            </a:r>
          </a:p>
        </p:txBody>
      </p:sp>
      <p:sp>
        <p:nvSpPr>
          <p:cNvPr id="2468" name="k246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469" name="k2469"/>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레이블 10건 미만의 통계는 절대 동작을 바꾸지 않습니다. 작은 표본은 근거가 아닙니다.</a:t>
            </a:r>
          </a:p>
        </p:txBody>
      </p:sp>
      <p:sp>
        <p:nvSpPr>
          <p:cNvPr id="2472" name="k2472"/>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473" name="k2473"/>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57</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486" name="k2486"/>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거버넌스</a:t>
            </a:r>
          </a:p>
        </p:txBody>
      </p:sp>
      <p:sp>
        <p:nvSpPr>
          <p:cNvPr id="2487" name="k2487"/>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데이터 주권은 약속이 아니라 구조로 증명합니다</a:t>
            </a:r>
          </a:p>
        </p:txBody>
      </p:sp>
      <p:sp>
        <p:nvSpPr>
          <p:cNvPr id="2474" name="k2474"/>
          <p:cNvSpPr>
            <a:spLocks noGrp="1"/>
          </p:cNvSpPr>
          <p:nvPr/>
        </p:nvSpPr>
        <p:spPr>
          <a:xfrm>
            <a:off x="722376" y="1956816"/>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475" name="k2475"/>
          <p:cNvSpPr>
            <a:spLocks noGrp="1"/>
          </p:cNvSpPr>
          <p:nvPr/>
        </p:nvSpPr>
        <p:spPr>
          <a:xfrm>
            <a:off x="987552" y="1883664"/>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모든 값은 DB를 거친다 — 모델이 파이프라인을 우회해 스스로 답할 수 없다</a:t>
            </a:r>
          </a:p>
        </p:txBody>
      </p:sp>
      <p:sp>
        <p:nvSpPr>
          <p:cNvPr id="2476" name="k2476"/>
          <p:cNvSpPr>
            <a:spLocks noGrp="1"/>
          </p:cNvSpPr>
          <p:nvPr/>
        </p:nvSpPr>
        <p:spPr>
          <a:xfrm>
            <a:off x="722376" y="2542032"/>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477" name="k2477"/>
          <p:cNvSpPr>
            <a:spLocks noGrp="1"/>
          </p:cNvSpPr>
          <p:nvPr/>
        </p:nvSpPr>
        <p:spPr>
          <a:xfrm>
            <a:off x="987552" y="2468880"/>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모든 도구 호출이 기록된다 — 누가, 언제, 어느 개체를, 무엇을 받았는지</a:t>
            </a:r>
          </a:p>
        </p:txBody>
      </p:sp>
      <p:sp>
        <p:nvSpPr>
          <p:cNvPr id="2478" name="k2478"/>
          <p:cNvSpPr>
            <a:spLocks noGrp="1"/>
          </p:cNvSpPr>
          <p:nvPr/>
        </p:nvSpPr>
        <p:spPr>
          <a:xfrm>
            <a:off x="722376" y="3127248"/>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479" name="k2479"/>
          <p:cNvSpPr>
            <a:spLocks noGrp="1"/>
          </p:cNvSpPr>
          <p:nvPr/>
        </p:nvSpPr>
        <p:spPr>
          <a:xfrm>
            <a:off x="987552" y="3054096"/>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권한 밖 요청은 화면에서 거르는 것이 아니라 게이트웨이에서 거부된다</a:t>
            </a:r>
          </a:p>
        </p:txBody>
      </p:sp>
      <p:sp>
        <p:nvSpPr>
          <p:cNvPr id="2480" name="k2480"/>
          <p:cNvSpPr>
            <a:spLocks noGrp="1"/>
          </p:cNvSpPr>
          <p:nvPr/>
        </p:nvSpPr>
        <p:spPr>
          <a:xfrm>
            <a:off x="722376" y="3712464"/>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481" name="k2481"/>
          <p:cNvSpPr>
            <a:spLocks noGrp="1"/>
          </p:cNvSpPr>
          <p:nvPr/>
        </p:nvSpPr>
        <p:spPr>
          <a:xfrm>
            <a:off x="987552" y="3639312"/>
            <a:ext cx="10515600" cy="630936"/>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어시스턴트의 장기기억조차 그 계정의 권한 경계 안에서만 회상된다</a:t>
            </a:r>
          </a:p>
        </p:txBody>
      </p:sp>
      <p:sp>
        <p:nvSpPr>
          <p:cNvPr id="2482" name="k2482"/>
          <p:cNvSpPr>
            <a:spLocks noGrp="1"/>
          </p:cNvSpPr>
          <p:nvPr/>
        </p:nvSpPr>
        <p:spPr>
          <a:xfrm>
            <a:off x="685800" y="4352544"/>
            <a:ext cx="10817352" cy="329184"/>
          </a:xfrm>
          <a:prstGeom prst="roundRect">
            <a:avLst/>
          </a:prstGeom>
          <a:solidFill>
            <a:srgbClr val="FFFFFF"/>
          </a:solidFill>
          <a:ln w="0">
            <a:noFill/>
            <a:prstDash val="solid"/>
          </a:ln>
        </p:spPr>
        <p:txBody>
          <a:bodyPr wrap="square" lIns="0" tIns="0" rIns="0" bIns="0"/>
          <a:lstStyle/>
          <a:p>
            <a:endParaRPr lang="ko-KR" altLang="en-US"/>
          </a:p>
        </p:txBody>
      </p:sp>
      <p:sp>
        <p:nvSpPr>
          <p:cNvPr id="2483" name="k2483"/>
          <p:cNvSpPr>
            <a:spLocks noGrp="1"/>
          </p:cNvSpPr>
          <p:nvPr/>
        </p:nvSpPr>
        <p:spPr>
          <a:xfrm>
            <a:off x="969264" y="4425696"/>
            <a:ext cx="10250424" cy="219456"/>
          </a:xfrm>
          <a:prstGeom prst="rect">
            <a:avLst/>
          </a:prstGeom>
          <a:noFill/>
          <a:ln w="0">
            <a:noFill/>
            <a:prstDash val="solid"/>
          </a:ln>
        </p:spPr>
        <p:txBody>
          <a:bodyPr wrap="square" lIns="0" tIns="0" rIns="0" bIns="0"/>
          <a:lstStyle/>
          <a:p>
            <a:pPr algn="l">
              <a:buNone/>
              <a:defRPr sz="1275">
                <a:latin typeface="Calibri"/>
                <a:ea typeface="맑은 고딕"/>
                <a:cs typeface="맑은 고딕"/>
              </a:defRPr>
            </a:pPr>
            <a:r>
              <a:rPr lang="ko-KR" altLang="en-US" sz="1275">
                <a:solidFill>
                  <a:srgbClr val="66746F"/>
                </a:solidFill>
                <a:latin typeface="Calibri"/>
                <a:ea typeface="맑은 고딕"/>
                <a:cs typeface="맑은 고딕"/>
              </a:rPr>
              <a:t>반출 경계 — 원시 센서 데이터, 개체 식별정보, 진료 기록은 국가 인스턴스를 벗어나지 않습니다.</a:t>
            </a:r>
          </a:p>
        </p:txBody>
      </p:sp>
      <p:sp>
        <p:nvSpPr>
          <p:cNvPr id="2484" name="k2484"/>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485" name="k2485"/>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코드는 국경을 넘고, 데이터는 넘지 않습니다.</a:t>
            </a:r>
          </a:p>
        </p:txBody>
      </p:sp>
      <p:sp>
        <p:nvSpPr>
          <p:cNvPr id="2488" name="k2488"/>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489" name="k2489"/>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58</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490" name="k2490"/>
          <p:cNvSpPr>
            <a:spLocks noGrp="1"/>
          </p:cNvSpPr>
          <p:nvPr/>
        </p:nvSpPr>
        <p:spPr>
          <a:xfrm>
            <a:off x="685800" y="704088"/>
            <a:ext cx="2093976" cy="1234440"/>
          </a:xfrm>
          <a:prstGeom prst="rect">
            <a:avLst/>
          </a:prstGeom>
          <a:noFill/>
          <a:ln w="0">
            <a:noFill/>
            <a:prstDash val="solid"/>
          </a:ln>
        </p:spPr>
        <p:txBody>
          <a:bodyPr wrap="square" lIns="0" tIns="0" rIns="0" bIns="0"/>
          <a:lstStyle/>
          <a:p>
            <a:pPr algn="l">
              <a:buNone/>
              <a:defRPr sz="6900">
                <a:latin typeface="Calibri"/>
                <a:ea typeface="맑은 고딕"/>
                <a:cs typeface="맑은 고딕"/>
              </a:defRPr>
            </a:pPr>
            <a:r>
              <a:rPr lang="ko-KR" altLang="en-US" sz="6900" b="1">
                <a:solidFill>
                  <a:srgbClr val="65D44A"/>
                </a:solidFill>
                <a:latin typeface="Calibri"/>
                <a:ea typeface="맑은 고딕"/>
                <a:cs typeface="맑은 고딕"/>
              </a:rPr>
              <a:t>13</a:t>
            </a:r>
          </a:p>
        </p:txBody>
      </p:sp>
      <p:sp>
        <p:nvSpPr>
          <p:cNvPr id="2491" name="k2491"/>
          <p:cNvSpPr>
            <a:spLocks noGrp="1"/>
          </p:cNvSpPr>
          <p:nvPr/>
        </p:nvSpPr>
        <p:spPr>
          <a:xfrm>
            <a:off x="685800" y="2432304"/>
            <a:ext cx="8476488" cy="950976"/>
          </a:xfrm>
          <a:prstGeom prst="rect">
            <a:avLst/>
          </a:prstGeom>
          <a:noFill/>
          <a:ln w="0">
            <a:noFill/>
            <a:prstDash val="solid"/>
          </a:ln>
        </p:spPr>
        <p:txBody>
          <a:bodyPr wrap="square" lIns="0" tIns="0" rIns="0" bIns="0"/>
          <a:lstStyle/>
          <a:p>
            <a:pPr algn="l">
              <a:buNone/>
              <a:defRPr sz="4050">
                <a:latin typeface="Calibri"/>
                <a:ea typeface="맑은 고딕"/>
                <a:cs typeface="맑은 고딕"/>
              </a:defRPr>
            </a:pPr>
            <a:r>
              <a:rPr lang="ko-KR" altLang="en-US" sz="4050" b="1">
                <a:solidFill>
                  <a:srgbClr val="FFFFFF"/>
                </a:solidFill>
                <a:latin typeface="Calibri"/>
                <a:ea typeface="맑은 고딕"/>
                <a:cs typeface="맑은 고딕"/>
              </a:rPr>
              <a:t>현장에 심는다</a:t>
            </a:r>
          </a:p>
        </p:txBody>
      </p:sp>
      <p:sp>
        <p:nvSpPr>
          <p:cNvPr id="2492" name="k2492"/>
          <p:cNvSpPr>
            <a:spLocks noGrp="1"/>
          </p:cNvSpPr>
          <p:nvPr/>
        </p:nvSpPr>
        <p:spPr>
          <a:xfrm>
            <a:off x="685800" y="3621024"/>
            <a:ext cx="7424928" cy="1005840"/>
          </a:xfrm>
          <a:prstGeom prst="rect">
            <a:avLst/>
          </a:prstGeom>
          <a:noFill/>
          <a:ln w="0">
            <a:noFill/>
            <a:prstDash val="solid"/>
          </a:ln>
        </p:spPr>
        <p:txBody>
          <a:bodyPr wrap="square" lIns="0" tIns="0" rIns="0" bIns="0"/>
          <a:lstStyle/>
          <a:p>
            <a:pPr algn="l">
              <a:buNone/>
              <a:defRPr sz="1725">
                <a:latin typeface="Calibri"/>
                <a:ea typeface="맑은 고딕"/>
                <a:cs typeface="맑은 고딕"/>
              </a:defRPr>
            </a:pPr>
            <a:r>
              <a:rPr lang="ko-KR" altLang="en-US" sz="1725">
                <a:solidFill>
                  <a:srgbClr val="C9D8D2"/>
                </a:solidFill>
                <a:latin typeface="Calibri"/>
                <a:ea typeface="맑은 고딕"/>
                <a:cs typeface="맑은 고딕"/>
              </a:rPr>
              <a:t>시스템은 아침 일곱 시 반에 실제로 일어나는 일을 바꿀 때에만 값을 합니다.</a:t>
            </a:r>
          </a:p>
        </p:txBody>
      </p:sp>
      <p:sp>
        <p:nvSpPr>
          <p:cNvPr id="2493" name="k2493"/>
          <p:cNvSpPr>
            <a:spLocks noGrp="1"/>
          </p:cNvSpPr>
          <p:nvPr/>
        </p:nvSpPr>
        <p:spPr>
          <a:xfrm>
            <a:off x="9902952" y="0"/>
            <a:ext cx="2286000" cy="6858000"/>
          </a:xfrm>
          <a:prstGeom prst="rect">
            <a:avLst/>
          </a:prstGeom>
          <a:solidFill>
            <a:srgbClr val="1BAF91"/>
          </a:solidFill>
          <a:ln w="0">
            <a:noFill/>
            <a:prstDash val="solid"/>
          </a:ln>
        </p:spPr>
        <p:txBody>
          <a:bodyPr wrap="square" lIns="0" tIns="0" rIns="0" bIns="0"/>
          <a:lstStyle/>
          <a:p>
            <a:endParaRPr lang="ko-KR" altLang="en-US"/>
          </a:p>
        </p:txBody>
      </p:sp>
      <p:sp>
        <p:nvSpPr>
          <p:cNvPr id="2494" name="k2494"/>
          <p:cNvSpPr>
            <a:spLocks noGrp="1"/>
          </p:cNvSpPr>
          <p:nvPr/>
        </p:nvSpPr>
        <p:spPr>
          <a:xfrm>
            <a:off x="10378440" y="5385816"/>
            <a:ext cx="173736" cy="173736"/>
          </a:xfrm>
          <a:prstGeom prst="ellipse">
            <a:avLst/>
          </a:prstGeom>
          <a:solidFill>
            <a:srgbClr val="FFFFFF"/>
          </a:solidFill>
          <a:ln w="0">
            <a:noFill/>
            <a:prstDash val="solid"/>
          </a:ln>
        </p:spPr>
        <p:txBody>
          <a:bodyPr wrap="square" lIns="0" tIns="0" rIns="0" bIns="0"/>
          <a:lstStyle/>
          <a:p>
            <a:endParaRPr lang="ko-KR" altLang="en-US"/>
          </a:p>
        </p:txBody>
      </p:sp>
      <p:sp>
        <p:nvSpPr>
          <p:cNvPr id="2495" name="k2495"/>
          <p:cNvSpPr>
            <a:spLocks noGrp="1"/>
          </p:cNvSpPr>
          <p:nvPr/>
        </p:nvSpPr>
        <p:spPr>
          <a:xfrm>
            <a:off x="10625328" y="5093208"/>
            <a:ext cx="246888" cy="246888"/>
          </a:xfrm>
          <a:prstGeom prst="ellipse">
            <a:avLst/>
          </a:prstGeom>
          <a:solidFill>
            <a:srgbClr val="65D44A"/>
          </a:solidFill>
          <a:ln w="0">
            <a:noFill/>
            <a:prstDash val="solid"/>
          </a:ln>
        </p:spPr>
        <p:txBody>
          <a:bodyPr wrap="square" lIns="0" tIns="0" rIns="0" bIns="0"/>
          <a:lstStyle/>
          <a:p>
            <a:endParaRPr lang="ko-KR" altLang="en-US"/>
          </a:p>
        </p:txBody>
      </p:sp>
      <p:sp>
        <p:nvSpPr>
          <p:cNvPr id="2496" name="k2496"/>
          <p:cNvSpPr>
            <a:spLocks noGrp="1"/>
          </p:cNvSpPr>
          <p:nvPr/>
        </p:nvSpPr>
        <p:spPr>
          <a:xfrm>
            <a:off x="10881360" y="4809744"/>
            <a:ext cx="320040" cy="320040"/>
          </a:xfrm>
          <a:prstGeom prst="ellipse">
            <a:avLst/>
          </a:prstGeom>
          <a:solidFill>
            <a:srgbClr val="FFFFFF"/>
          </a:solidFill>
          <a:ln w="0">
            <a:noFill/>
            <a:prstDash val="solid"/>
          </a:ln>
        </p:spPr>
        <p:txBody>
          <a:bodyPr wrap="square" lIns="0" tIns="0" rIns="0" bIns="0"/>
          <a:lstStyle/>
          <a:p>
            <a:endParaRPr lang="ko-KR" altLang="en-US"/>
          </a:p>
        </p:txBody>
      </p:sp>
      <p:sp>
        <p:nvSpPr>
          <p:cNvPr id="2497" name="k2497"/>
          <p:cNvSpPr>
            <a:spLocks noGrp="1"/>
          </p:cNvSpPr>
          <p:nvPr/>
        </p:nvSpPr>
        <p:spPr>
          <a:xfrm>
            <a:off x="11128248" y="4526280"/>
            <a:ext cx="402336" cy="402336"/>
          </a:xfrm>
          <a:prstGeom prst="ellipse">
            <a:avLst/>
          </a:prstGeom>
          <a:solidFill>
            <a:srgbClr val="65D44A"/>
          </a:solidFill>
          <a:ln w="0">
            <a:noFill/>
            <a:prstDash val="solid"/>
          </a:ln>
        </p:spPr>
        <p:txBody>
          <a:bodyPr wrap="square" lIns="0" tIns="0" rIns="0" bIns="0"/>
          <a:lstStyle/>
          <a:p>
            <a:endParaRPr lang="ko-KR" altLang="en-US"/>
          </a:p>
        </p:txBody>
      </p:sp>
      <p:sp>
        <p:nvSpPr>
          <p:cNvPr id="2498" name="k2498"/>
          <p:cNvSpPr>
            <a:spLocks noGrp="1"/>
          </p:cNvSpPr>
          <p:nvPr/>
        </p:nvSpPr>
        <p:spPr>
          <a:xfrm>
            <a:off x="11375136" y="4242816"/>
            <a:ext cx="475488" cy="475488"/>
          </a:xfrm>
          <a:prstGeom prst="ellipse">
            <a:avLst/>
          </a:prstGeom>
          <a:solidFill>
            <a:srgbClr val="FFFFFF"/>
          </a:solidFill>
          <a:ln w="0">
            <a:noFill/>
            <a:prstDash val="solid"/>
          </a:ln>
        </p:spPr>
        <p:txBody>
          <a:bodyPr wrap="square" lIns="0" tIns="0" rIns="0" bIns="0"/>
          <a:lstStyle/>
          <a:p>
            <a:endParaRPr lang="ko-KR" altLang="en-US"/>
          </a:p>
        </p:txBody>
      </p:sp>
      <p:sp>
        <p:nvSpPr>
          <p:cNvPr id="2499" name="k2499"/>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500" name="k2500"/>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59</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18" name="k2518"/>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일과</a:t>
            </a:r>
          </a:p>
        </p:txBody>
      </p:sp>
      <p:sp>
        <p:nvSpPr>
          <p:cNvPr id="2519" name="k2519"/>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아침마다 같은 세 가지</a:t>
            </a:r>
          </a:p>
        </p:txBody>
      </p:sp>
      <p:sp>
        <p:nvSpPr>
          <p:cNvPr id="2501" name="k2501"/>
          <p:cNvSpPr>
            <a:spLocks noGrp="1"/>
          </p:cNvSpPr>
          <p:nvPr/>
        </p:nvSpPr>
        <p:spPr>
          <a:xfrm>
            <a:off x="685800" y="2011680"/>
            <a:ext cx="3471672" cy="2377440"/>
          </a:xfrm>
          <a:prstGeom prst="roundRect">
            <a:avLst/>
          </a:prstGeom>
          <a:solidFill>
            <a:srgbClr val="FFFFFF"/>
          </a:solidFill>
          <a:ln w="0">
            <a:noFill/>
            <a:prstDash val="solid"/>
          </a:ln>
        </p:spPr>
        <p:txBody>
          <a:bodyPr wrap="square" lIns="0" tIns="0" rIns="0" bIns="0"/>
          <a:lstStyle/>
          <a:p>
            <a:endParaRPr lang="ko-KR" altLang="en-US"/>
          </a:p>
        </p:txBody>
      </p:sp>
      <p:sp>
        <p:nvSpPr>
          <p:cNvPr id="2502" name="k2502"/>
          <p:cNvSpPr>
            <a:spLocks noGrp="1"/>
          </p:cNvSpPr>
          <p:nvPr/>
        </p:nvSpPr>
        <p:spPr>
          <a:xfrm>
            <a:off x="92354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503" name="k2503"/>
          <p:cNvSpPr>
            <a:spLocks noGrp="1"/>
          </p:cNvSpPr>
          <p:nvPr/>
        </p:nvSpPr>
        <p:spPr>
          <a:xfrm>
            <a:off x="92354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1</a:t>
            </a:r>
          </a:p>
        </p:txBody>
      </p:sp>
      <p:sp>
        <p:nvSpPr>
          <p:cNvPr id="2504" name="k2504"/>
          <p:cNvSpPr>
            <a:spLocks noGrp="1"/>
          </p:cNvSpPr>
          <p:nvPr/>
        </p:nvSpPr>
        <p:spPr>
          <a:xfrm>
            <a:off x="923544" y="2852928"/>
            <a:ext cx="299618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밤사이 목록을 본다</a:t>
            </a:r>
          </a:p>
        </p:txBody>
      </p:sp>
      <p:sp>
        <p:nvSpPr>
          <p:cNvPr id="2505" name="k2505"/>
          <p:cNvSpPr>
            <a:spLocks noGrp="1"/>
          </p:cNvSpPr>
          <p:nvPr/>
        </p:nvSpPr>
        <p:spPr>
          <a:xfrm>
            <a:off x="923544" y="3529584"/>
            <a:ext cx="2996184" cy="621792"/>
          </a:xfrm>
          <a:prstGeom prst="rect">
            <a:avLst/>
          </a:prstGeom>
          <a:noFill/>
          <a:ln w="0">
            <a:noFill/>
            <a:prstDash val="solid"/>
          </a:ln>
        </p:spPr>
        <p:txBody>
          <a:bodyPr wrap="square" lIns="0" tIns="0" rIns="0" bIns="0"/>
          <a:lstStyle/>
          <a:p>
            <a:pPr algn="l">
              <a:buNone/>
              <a:defRPr sz="1400">
                <a:latin typeface="Calibri"/>
                <a:ea typeface="맑은 고딕"/>
                <a:cs typeface="맑은 고딕"/>
              </a:defRPr>
            </a:pPr>
            <a:r>
              <a:rPr lang="ko-KR" altLang="en-US" sz="1400">
                <a:solidFill>
                  <a:srgbClr val="66746F"/>
                </a:solidFill>
                <a:latin typeface="Calibri"/>
                <a:ea typeface="맑은 고딕"/>
                <a:cs typeface="맑은 고딕"/>
              </a:rPr>
              <a:t>아무도 안 보는 동안 무엇이 달라졌는가 — 시간순이 아니라 위험순으로</a:t>
            </a:r>
          </a:p>
        </p:txBody>
      </p:sp>
      <p:sp>
        <p:nvSpPr>
          <p:cNvPr id="2506" name="k2506"/>
          <p:cNvSpPr>
            <a:spLocks noGrp="1"/>
          </p:cNvSpPr>
          <p:nvPr/>
        </p:nvSpPr>
        <p:spPr>
          <a:xfrm>
            <a:off x="4358640" y="2011680"/>
            <a:ext cx="3471672" cy="2377440"/>
          </a:xfrm>
          <a:prstGeom prst="roundRect">
            <a:avLst/>
          </a:prstGeom>
          <a:solidFill>
            <a:srgbClr val="FFFFFF"/>
          </a:solidFill>
          <a:ln w="0">
            <a:noFill/>
            <a:prstDash val="solid"/>
          </a:ln>
        </p:spPr>
        <p:txBody>
          <a:bodyPr wrap="square" lIns="0" tIns="0" rIns="0" bIns="0"/>
          <a:lstStyle/>
          <a:p>
            <a:endParaRPr lang="ko-KR" altLang="en-US"/>
          </a:p>
        </p:txBody>
      </p:sp>
      <p:sp>
        <p:nvSpPr>
          <p:cNvPr id="2507" name="k2507"/>
          <p:cNvSpPr>
            <a:spLocks noGrp="1"/>
          </p:cNvSpPr>
          <p:nvPr/>
        </p:nvSpPr>
        <p:spPr>
          <a:xfrm>
            <a:off x="459638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508" name="k2508"/>
          <p:cNvSpPr>
            <a:spLocks noGrp="1"/>
          </p:cNvSpPr>
          <p:nvPr/>
        </p:nvSpPr>
        <p:spPr>
          <a:xfrm>
            <a:off x="459638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2</a:t>
            </a:r>
          </a:p>
        </p:txBody>
      </p:sp>
      <p:sp>
        <p:nvSpPr>
          <p:cNvPr id="2509" name="k2509"/>
          <p:cNvSpPr>
            <a:spLocks noGrp="1"/>
          </p:cNvSpPr>
          <p:nvPr/>
        </p:nvSpPr>
        <p:spPr>
          <a:xfrm>
            <a:off x="4596384" y="2852928"/>
            <a:ext cx="299618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결정 카드를 연다</a:t>
            </a:r>
          </a:p>
        </p:txBody>
      </p:sp>
      <p:sp>
        <p:nvSpPr>
          <p:cNvPr id="2510" name="k2510"/>
          <p:cNvSpPr>
            <a:spLocks noGrp="1"/>
          </p:cNvSpPr>
          <p:nvPr/>
        </p:nvSpPr>
        <p:spPr>
          <a:xfrm>
            <a:off x="4596384" y="3529584"/>
            <a:ext cx="2996184" cy="621792"/>
          </a:xfrm>
          <a:prstGeom prst="rect">
            <a:avLst/>
          </a:prstGeom>
          <a:noFill/>
          <a:ln w="0">
            <a:noFill/>
            <a:prstDash val="solid"/>
          </a:ln>
        </p:spPr>
        <p:txBody>
          <a:bodyPr wrap="square" lIns="0" tIns="0" rIns="0" bIns="0"/>
          <a:lstStyle/>
          <a:p>
            <a:pPr algn="l">
              <a:buNone/>
              <a:defRPr sz="1400">
                <a:latin typeface="Calibri"/>
                <a:ea typeface="맑은 고딕"/>
                <a:cs typeface="맑은 고딕"/>
              </a:defRPr>
            </a:pPr>
            <a:r>
              <a:rPr lang="ko-KR" altLang="en-US" sz="1400">
                <a:solidFill>
                  <a:srgbClr val="66746F"/>
                </a:solidFill>
                <a:latin typeface="Calibri"/>
                <a:ea typeface="맑은 고딕"/>
                <a:cs typeface="맑은 고딕"/>
              </a:rPr>
              <a:t>그 소에 대해 알아야 할 것이 한 화면에 — 이력, 맥락, 추천</a:t>
            </a:r>
          </a:p>
        </p:txBody>
      </p:sp>
      <p:sp>
        <p:nvSpPr>
          <p:cNvPr id="2511" name="k2511"/>
          <p:cNvSpPr>
            <a:spLocks noGrp="1"/>
          </p:cNvSpPr>
          <p:nvPr/>
        </p:nvSpPr>
        <p:spPr>
          <a:xfrm>
            <a:off x="8031480" y="2011680"/>
            <a:ext cx="3471672" cy="2377440"/>
          </a:xfrm>
          <a:prstGeom prst="roundRect">
            <a:avLst/>
          </a:prstGeom>
          <a:solidFill>
            <a:srgbClr val="FFFFFF"/>
          </a:solidFill>
          <a:ln w="0">
            <a:noFill/>
            <a:prstDash val="solid"/>
          </a:ln>
        </p:spPr>
        <p:txBody>
          <a:bodyPr wrap="square" lIns="0" tIns="0" rIns="0" bIns="0"/>
          <a:lstStyle/>
          <a:p>
            <a:endParaRPr lang="ko-KR" altLang="en-US"/>
          </a:p>
        </p:txBody>
      </p:sp>
      <p:sp>
        <p:nvSpPr>
          <p:cNvPr id="2512" name="k2512"/>
          <p:cNvSpPr>
            <a:spLocks noGrp="1"/>
          </p:cNvSpPr>
          <p:nvPr/>
        </p:nvSpPr>
        <p:spPr>
          <a:xfrm>
            <a:off x="826922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513" name="k2513"/>
          <p:cNvSpPr>
            <a:spLocks noGrp="1"/>
          </p:cNvSpPr>
          <p:nvPr/>
        </p:nvSpPr>
        <p:spPr>
          <a:xfrm>
            <a:off x="826922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3</a:t>
            </a:r>
          </a:p>
        </p:txBody>
      </p:sp>
      <p:sp>
        <p:nvSpPr>
          <p:cNvPr id="2514" name="k2514"/>
          <p:cNvSpPr>
            <a:spLocks noGrp="1"/>
          </p:cNvSpPr>
          <p:nvPr/>
        </p:nvSpPr>
        <p:spPr>
          <a:xfrm>
            <a:off x="8269224" y="2852928"/>
            <a:ext cx="299618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한 것을 기록한다</a:t>
            </a:r>
          </a:p>
        </p:txBody>
      </p:sp>
      <p:sp>
        <p:nvSpPr>
          <p:cNvPr id="2515" name="k2515"/>
          <p:cNvSpPr>
            <a:spLocks noGrp="1"/>
          </p:cNvSpPr>
          <p:nvPr/>
        </p:nvSpPr>
        <p:spPr>
          <a:xfrm>
            <a:off x="8269224" y="3529584"/>
            <a:ext cx="2996184" cy="621792"/>
          </a:xfrm>
          <a:prstGeom prst="rect">
            <a:avLst/>
          </a:prstGeom>
          <a:noFill/>
          <a:ln w="0">
            <a:noFill/>
            <a:prstDash val="solid"/>
          </a:ln>
        </p:spPr>
        <p:txBody>
          <a:bodyPr wrap="square" lIns="0" tIns="0" rIns="0" bIns="0"/>
          <a:lstStyle/>
          <a:p>
            <a:pPr algn="l">
              <a:buNone/>
              <a:defRPr sz="1400">
                <a:latin typeface="Calibri"/>
                <a:ea typeface="맑은 고딕"/>
                <a:cs typeface="맑은 고딕"/>
              </a:defRPr>
            </a:pPr>
            <a:r>
              <a:rPr lang="ko-KR" altLang="en-US" sz="1400">
                <a:solidFill>
                  <a:srgbClr val="66746F"/>
                </a:solidFill>
                <a:latin typeface="Calibri"/>
                <a:ea typeface="맑은 고딕"/>
                <a:cs typeface="맑은 고딕"/>
              </a:rPr>
              <a:t>했다, 또는 안 했다와 이유. 1초 걸리고, 루프를 닫는 유일한 단계다</a:t>
            </a:r>
          </a:p>
        </p:txBody>
      </p:sp>
      <p:sp>
        <p:nvSpPr>
          <p:cNvPr id="2516" name="k2516"/>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517" name="k2517"/>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조치가 기록되지 않으면 루프가 닫히지 않고, 시스템은 나아지지 않습니다.</a:t>
            </a:r>
          </a:p>
        </p:txBody>
      </p:sp>
      <p:sp>
        <p:nvSpPr>
          <p:cNvPr id="2520" name="k2520"/>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521" name="k2521"/>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60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34" name="k2534"/>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측정</a:t>
            </a:r>
          </a:p>
        </p:txBody>
      </p:sp>
      <p:sp>
        <p:nvSpPr>
          <p:cNvPr id="2535" name="k2535"/>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결과만이 아니라 과정을 측정합니다</a:t>
            </a:r>
          </a:p>
        </p:txBody>
      </p:sp>
      <p:sp>
        <p:nvSpPr>
          <p:cNvPr id="2522" name="k2522"/>
          <p:cNvSpPr>
            <a:spLocks noGrp="1"/>
          </p:cNvSpPr>
          <p:nvPr/>
        </p:nvSpPr>
        <p:spPr>
          <a:xfrm>
            <a:off x="722376" y="1956816"/>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523" name="k2523"/>
          <p:cNvSpPr>
            <a:spLocks noGrp="1"/>
          </p:cNvSpPr>
          <p:nvPr/>
        </p:nvSpPr>
        <p:spPr>
          <a:xfrm>
            <a:off x="987552" y="1883664"/>
            <a:ext cx="10515600" cy="5303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조치 기록률 — 알림 중 실제 결정으로 끝난 비율</a:t>
            </a:r>
          </a:p>
        </p:txBody>
      </p:sp>
      <p:sp>
        <p:nvSpPr>
          <p:cNvPr id="2524" name="k2524"/>
          <p:cNvSpPr>
            <a:spLocks noGrp="1"/>
          </p:cNvSpPr>
          <p:nvPr/>
        </p:nvSpPr>
        <p:spPr>
          <a:xfrm>
            <a:off x="722376" y="2523744"/>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525" name="k2525"/>
          <p:cNvSpPr>
            <a:spLocks noGrp="1"/>
          </p:cNvSpPr>
          <p:nvPr/>
        </p:nvSpPr>
        <p:spPr>
          <a:xfrm>
            <a:off x="987552" y="2450592"/>
            <a:ext cx="10515600" cy="5303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조기감지 리드타임 — 원래보다 며칠 일찍 확인했는가</a:t>
            </a:r>
          </a:p>
        </p:txBody>
      </p:sp>
      <p:sp>
        <p:nvSpPr>
          <p:cNvPr id="2526" name="k2526"/>
          <p:cNvSpPr>
            <a:spLocks noGrp="1"/>
          </p:cNvSpPr>
          <p:nvPr/>
        </p:nvSpPr>
        <p:spPr>
          <a:xfrm>
            <a:off x="722376" y="3090672"/>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527" name="k2527"/>
          <p:cNvSpPr>
            <a:spLocks noGrp="1"/>
          </p:cNvSpPr>
          <p:nvPr/>
        </p:nvSpPr>
        <p:spPr>
          <a:xfrm>
            <a:off x="987552" y="3017520"/>
            <a:ext cx="10515600" cy="5303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공태일과 수태율 — 목장이 체감하는 번식 성적</a:t>
            </a:r>
          </a:p>
        </p:txBody>
      </p:sp>
      <p:sp>
        <p:nvSpPr>
          <p:cNvPr id="2528" name="k2528"/>
          <p:cNvSpPr>
            <a:spLocks noGrp="1"/>
          </p:cNvSpPr>
          <p:nvPr/>
        </p:nvSpPr>
        <p:spPr>
          <a:xfrm>
            <a:off x="722376" y="3657600"/>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529" name="k2529"/>
          <p:cNvSpPr>
            <a:spLocks noGrp="1"/>
          </p:cNvSpPr>
          <p:nvPr/>
        </p:nvSpPr>
        <p:spPr>
          <a:xfrm>
            <a:off x="987552" y="3584448"/>
            <a:ext cx="10515600" cy="5303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치료 성공률과 재발 — 조치가 유지됐는지 센서로 확인</a:t>
            </a:r>
          </a:p>
        </p:txBody>
      </p:sp>
      <p:sp>
        <p:nvSpPr>
          <p:cNvPr id="2530" name="k2530"/>
          <p:cNvSpPr>
            <a:spLocks noGrp="1"/>
          </p:cNvSpPr>
          <p:nvPr/>
        </p:nvSpPr>
        <p:spPr>
          <a:xfrm>
            <a:off x="722376" y="4224528"/>
            <a:ext cx="114300" cy="114300"/>
          </a:xfrm>
          <a:prstGeom prst="ellipse">
            <a:avLst/>
          </a:prstGeom>
          <a:solidFill>
            <a:srgbClr val="65D44A"/>
          </a:solidFill>
          <a:ln w="0">
            <a:noFill/>
            <a:prstDash val="solid"/>
          </a:ln>
        </p:spPr>
        <p:txBody>
          <a:bodyPr wrap="square" lIns="0" tIns="0" rIns="0" bIns="0"/>
          <a:lstStyle/>
          <a:p>
            <a:endParaRPr lang="ko-KR" altLang="en-US"/>
          </a:p>
        </p:txBody>
      </p:sp>
      <p:sp>
        <p:nvSpPr>
          <p:cNvPr id="2531" name="k2531"/>
          <p:cNvSpPr>
            <a:spLocks noGrp="1"/>
          </p:cNvSpPr>
          <p:nvPr/>
        </p:nvSpPr>
        <p:spPr>
          <a:xfrm>
            <a:off x="987552" y="4151376"/>
            <a:ext cx="10515600" cy="5303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a:solidFill>
                  <a:srgbClr val="10251F"/>
                </a:solidFill>
                <a:latin typeface="Calibri"/>
                <a:ea typeface="맑은 고딕"/>
                <a:cs typeface="맑은 고딕"/>
              </a:rPr>
              <a:t>두당 일 마진 — 결국 이 모든 것이 도착하는 자리</a:t>
            </a:r>
          </a:p>
        </p:txBody>
      </p:sp>
      <p:sp>
        <p:nvSpPr>
          <p:cNvPr id="2532" name="k2532"/>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533" name="k2533"/>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조치 기록률은 나머지 지표가 움직일지를 미리 알려주는 단 하나의 지표입니다.</a:t>
            </a:r>
          </a:p>
        </p:txBody>
      </p:sp>
      <p:sp>
        <p:nvSpPr>
          <p:cNvPr id="2536" name="k2536"/>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537" name="k2537"/>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61</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5F3EA"/>
        </a:solidFill>
        <a:effectLst/>
      </p:bgPr>
    </p:bg>
    <p:spTree>
      <p:nvGrpSpPr>
        <p:cNvPr id="1" name=""/>
        <p:cNvGrpSpPr/>
        <p:nvPr/>
      </p:nvGrpSpPr>
      <p:grpSpPr>
        <a:xfrm>
          <a:off x="0" y="0"/>
          <a:ext cx="0" cy="0"/>
          <a:chOff x="0" y="0"/>
          <a:chExt cx="0" cy="0"/>
        </a:xfrm>
      </p:grpSpPr>
      <p:sp>
        <p:nvSpPr>
          <p:cNvPr id="2560" name="k2560"/>
          <p:cNvSpPr>
            <a:spLocks noGrp="1"/>
          </p:cNvSpPr>
          <p:nvPr/>
        </p:nvSpPr>
        <p:spPr>
          <a:xfrm>
            <a:off x="685800" y="402336"/>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15A98C"/>
                </a:solidFill>
                <a:latin typeface="Calibri"/>
                <a:ea typeface="맑은 고딕"/>
                <a:cs typeface="맑은 고딕"/>
              </a:rPr>
              <a:t>정착</a:t>
            </a:r>
          </a:p>
        </p:txBody>
      </p:sp>
      <p:sp>
        <p:nvSpPr>
          <p:cNvPr id="2561" name="k2561"/>
          <p:cNvSpPr>
            <a:spLocks noGrp="1"/>
          </p:cNvSpPr>
          <p:nvPr/>
        </p:nvSpPr>
        <p:spPr>
          <a:xfrm>
            <a:off x="685800" y="740664"/>
            <a:ext cx="10817352" cy="914400"/>
          </a:xfrm>
          <a:prstGeom prst="rect">
            <a:avLst/>
          </a:prstGeom>
          <a:noFill/>
          <a:ln w="0">
            <a:noFill/>
            <a:prstDash val="solid"/>
          </a:ln>
        </p:spPr>
        <p:txBody>
          <a:bodyPr wrap="square" lIns="0" tIns="0" rIns="0" bIns="0"/>
          <a:lstStyle/>
          <a:p>
            <a:pPr algn="l">
              <a:buNone/>
              <a:defRPr sz="3000">
                <a:latin typeface="Calibri"/>
                <a:ea typeface="맑은 고딕"/>
                <a:cs typeface="맑은 고딕"/>
              </a:defRPr>
            </a:pPr>
            <a:r>
              <a:rPr lang="ko-KR" altLang="en-US" sz="3000" b="1">
                <a:solidFill>
                  <a:srgbClr val="10251F"/>
                </a:solidFill>
                <a:latin typeface="Calibri"/>
                <a:ea typeface="맑은 고딕"/>
                <a:cs typeface="맑은 고딕"/>
              </a:rPr>
              <a:t>30일이면 시스템이 습관이 됩니다</a:t>
            </a:r>
          </a:p>
        </p:txBody>
      </p:sp>
      <p:sp>
        <p:nvSpPr>
          <p:cNvPr id="2538" name="k2538"/>
          <p:cNvSpPr>
            <a:spLocks noGrp="1"/>
          </p:cNvSpPr>
          <p:nvPr/>
        </p:nvSpPr>
        <p:spPr>
          <a:xfrm>
            <a:off x="68580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539" name="k2539"/>
          <p:cNvSpPr>
            <a:spLocks noGrp="1"/>
          </p:cNvSpPr>
          <p:nvPr/>
        </p:nvSpPr>
        <p:spPr>
          <a:xfrm>
            <a:off x="92354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540" name="k2540"/>
          <p:cNvSpPr>
            <a:spLocks noGrp="1"/>
          </p:cNvSpPr>
          <p:nvPr/>
        </p:nvSpPr>
        <p:spPr>
          <a:xfrm>
            <a:off x="92354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1주</a:t>
            </a:r>
          </a:p>
        </p:txBody>
      </p:sp>
      <p:sp>
        <p:nvSpPr>
          <p:cNvPr id="2541" name="k2541"/>
          <p:cNvSpPr>
            <a:spLocks noGrp="1"/>
          </p:cNvSpPr>
          <p:nvPr/>
        </p:nvSpPr>
        <p:spPr>
          <a:xfrm>
            <a:off x="92354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설치와 연결</a:t>
            </a:r>
          </a:p>
        </p:txBody>
      </p:sp>
      <p:sp>
        <p:nvSpPr>
          <p:cNvPr id="2542" name="k2542"/>
          <p:cNvSpPr>
            <a:spLocks noGrp="1"/>
          </p:cNvSpPr>
          <p:nvPr/>
        </p:nvSpPr>
        <p:spPr>
          <a:xfrm>
            <a:off x="92354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센서 삽입, 기지국 가동, 역할별 계정과 권한 설정</a:t>
            </a:r>
          </a:p>
        </p:txBody>
      </p:sp>
      <p:sp>
        <p:nvSpPr>
          <p:cNvPr id="2543" name="k2543"/>
          <p:cNvSpPr>
            <a:spLocks noGrp="1"/>
          </p:cNvSpPr>
          <p:nvPr/>
        </p:nvSpPr>
        <p:spPr>
          <a:xfrm>
            <a:off x="344043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544" name="k2544"/>
          <p:cNvSpPr>
            <a:spLocks noGrp="1"/>
          </p:cNvSpPr>
          <p:nvPr/>
        </p:nvSpPr>
        <p:spPr>
          <a:xfrm>
            <a:off x="367817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545" name="k2545"/>
          <p:cNvSpPr>
            <a:spLocks noGrp="1"/>
          </p:cNvSpPr>
          <p:nvPr/>
        </p:nvSpPr>
        <p:spPr>
          <a:xfrm>
            <a:off x="367817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2주</a:t>
            </a:r>
          </a:p>
        </p:txBody>
      </p:sp>
      <p:sp>
        <p:nvSpPr>
          <p:cNvPr id="2546" name="k2546"/>
          <p:cNvSpPr>
            <a:spLocks noGrp="1"/>
          </p:cNvSpPr>
          <p:nvPr/>
        </p:nvSpPr>
        <p:spPr>
          <a:xfrm>
            <a:off x="367817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기준선 측정</a:t>
            </a:r>
          </a:p>
        </p:txBody>
      </p:sp>
      <p:sp>
        <p:nvSpPr>
          <p:cNvPr id="2547" name="k2547"/>
          <p:cNvSpPr>
            <a:spLocks noGrp="1"/>
          </p:cNvSpPr>
          <p:nvPr/>
        </p:nvSpPr>
        <p:spPr>
          <a:xfrm>
            <a:off x="367817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지금 목장이 어디에 있는지를 기록한다 — 가장 많이 건너뛰는 단계</a:t>
            </a:r>
          </a:p>
        </p:txBody>
      </p:sp>
      <p:sp>
        <p:nvSpPr>
          <p:cNvPr id="2548" name="k2548"/>
          <p:cNvSpPr>
            <a:spLocks noGrp="1"/>
          </p:cNvSpPr>
          <p:nvPr/>
        </p:nvSpPr>
        <p:spPr>
          <a:xfrm>
            <a:off x="619506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549" name="k2549"/>
          <p:cNvSpPr>
            <a:spLocks noGrp="1"/>
          </p:cNvSpPr>
          <p:nvPr/>
        </p:nvSpPr>
        <p:spPr>
          <a:xfrm>
            <a:off x="643280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550" name="k2550"/>
          <p:cNvSpPr>
            <a:spLocks noGrp="1"/>
          </p:cNvSpPr>
          <p:nvPr/>
        </p:nvSpPr>
        <p:spPr>
          <a:xfrm>
            <a:off x="643280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3주</a:t>
            </a:r>
          </a:p>
        </p:txBody>
      </p:sp>
      <p:sp>
        <p:nvSpPr>
          <p:cNvPr id="2551" name="k2551"/>
          <p:cNvSpPr>
            <a:spLocks noGrp="1"/>
          </p:cNvSpPr>
          <p:nvPr/>
        </p:nvSpPr>
        <p:spPr>
          <a:xfrm>
            <a:off x="643280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3터치 운영</a:t>
            </a:r>
          </a:p>
        </p:txBody>
      </p:sp>
      <p:sp>
        <p:nvSpPr>
          <p:cNvPr id="2552" name="k2552"/>
          <p:cNvSpPr>
            <a:spLocks noGrp="1"/>
          </p:cNvSpPr>
          <p:nvPr/>
        </p:nvSpPr>
        <p:spPr>
          <a:xfrm>
            <a:off x="643280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지원을 붙인 채 일과 운영. 핵심 세 동작만</a:t>
            </a:r>
          </a:p>
        </p:txBody>
      </p:sp>
      <p:sp>
        <p:nvSpPr>
          <p:cNvPr id="2553" name="k2553"/>
          <p:cNvSpPr>
            <a:spLocks noGrp="1"/>
          </p:cNvSpPr>
          <p:nvPr/>
        </p:nvSpPr>
        <p:spPr>
          <a:xfrm>
            <a:off x="8949690" y="2011680"/>
            <a:ext cx="2553462" cy="2377440"/>
          </a:xfrm>
          <a:prstGeom prst="roundRect">
            <a:avLst/>
          </a:prstGeom>
          <a:solidFill>
            <a:srgbClr val="FFFFFF"/>
          </a:solidFill>
          <a:ln w="0">
            <a:noFill/>
            <a:prstDash val="solid"/>
          </a:ln>
        </p:spPr>
        <p:txBody>
          <a:bodyPr wrap="square" lIns="0" tIns="0" rIns="0" bIns="0"/>
          <a:lstStyle/>
          <a:p>
            <a:endParaRPr lang="ko-KR" altLang="en-US"/>
          </a:p>
        </p:txBody>
      </p:sp>
      <p:sp>
        <p:nvSpPr>
          <p:cNvPr id="2554" name="k2554"/>
          <p:cNvSpPr>
            <a:spLocks noGrp="1"/>
          </p:cNvSpPr>
          <p:nvPr/>
        </p:nvSpPr>
        <p:spPr>
          <a:xfrm>
            <a:off x="9187434" y="2267712"/>
            <a:ext cx="384048" cy="384048"/>
          </a:xfrm>
          <a:prstGeom prst="ellipse">
            <a:avLst/>
          </a:prstGeom>
          <a:solidFill>
            <a:srgbClr val="15A98C"/>
          </a:solidFill>
          <a:ln w="0">
            <a:noFill/>
            <a:prstDash val="solid"/>
          </a:ln>
        </p:spPr>
        <p:txBody>
          <a:bodyPr wrap="square" lIns="0" tIns="0" rIns="0" bIns="0"/>
          <a:lstStyle/>
          <a:p>
            <a:endParaRPr lang="ko-KR" altLang="en-US"/>
          </a:p>
        </p:txBody>
      </p:sp>
      <p:sp>
        <p:nvSpPr>
          <p:cNvPr id="2555" name="k2555"/>
          <p:cNvSpPr>
            <a:spLocks noGrp="1"/>
          </p:cNvSpPr>
          <p:nvPr/>
        </p:nvSpPr>
        <p:spPr>
          <a:xfrm>
            <a:off x="9187434" y="2322576"/>
            <a:ext cx="384048" cy="274320"/>
          </a:xfrm>
          <a:prstGeom prst="rect">
            <a:avLst/>
          </a:prstGeom>
          <a:noFill/>
          <a:ln w="0">
            <a:noFill/>
            <a:prstDash val="solid"/>
          </a:ln>
        </p:spPr>
        <p:txBody>
          <a:bodyPr wrap="square" lIns="0" tIns="0" rIns="0" bIns="0"/>
          <a:lstStyle/>
          <a:p>
            <a:pPr algn="ctr">
              <a:buNone/>
              <a:defRPr sz="1350">
                <a:latin typeface="Calibri"/>
                <a:ea typeface="맑은 고딕"/>
                <a:cs typeface="맑은 고딕"/>
              </a:defRPr>
            </a:pPr>
            <a:r>
              <a:rPr lang="ko-KR" altLang="en-US" sz="1350" b="1">
                <a:solidFill>
                  <a:srgbClr val="FFFFFF"/>
                </a:solidFill>
                <a:latin typeface="Calibri"/>
                <a:ea typeface="맑은 고딕"/>
                <a:cs typeface="맑은 고딕"/>
              </a:rPr>
              <a:t>4주</a:t>
            </a:r>
          </a:p>
        </p:txBody>
      </p:sp>
      <p:sp>
        <p:nvSpPr>
          <p:cNvPr id="2556" name="k2556"/>
          <p:cNvSpPr>
            <a:spLocks noGrp="1"/>
          </p:cNvSpPr>
          <p:nvPr/>
        </p:nvSpPr>
        <p:spPr>
          <a:xfrm>
            <a:off x="9187434" y="2852928"/>
            <a:ext cx="2077974" cy="566928"/>
          </a:xfrm>
          <a:prstGeom prst="rect">
            <a:avLst/>
          </a:prstGeom>
          <a:noFill/>
          <a:ln w="0">
            <a:noFill/>
            <a:prstDash val="solid"/>
          </a:ln>
        </p:spPr>
        <p:txBody>
          <a:bodyPr wrap="square" lIns="0" tIns="0" rIns="0" bIns="0"/>
          <a:lstStyle/>
          <a:p>
            <a:pPr algn="l">
              <a:buNone/>
              <a:defRPr sz="1500">
                <a:latin typeface="Calibri"/>
                <a:ea typeface="맑은 고딕"/>
                <a:cs typeface="맑은 고딕"/>
              </a:defRPr>
            </a:pPr>
            <a:r>
              <a:rPr lang="ko-KR" altLang="en-US" sz="1500" b="1">
                <a:solidFill>
                  <a:srgbClr val="10251F"/>
                </a:solidFill>
                <a:latin typeface="Calibri"/>
                <a:ea typeface="맑은 고딕"/>
                <a:cs typeface="맑은 고딕"/>
              </a:rPr>
              <a:t>점검과 조정</a:t>
            </a:r>
          </a:p>
        </p:txBody>
      </p:sp>
      <p:sp>
        <p:nvSpPr>
          <p:cNvPr id="2557" name="k2557"/>
          <p:cNvSpPr>
            <a:spLocks noGrp="1"/>
          </p:cNvSpPr>
          <p:nvPr/>
        </p:nvSpPr>
        <p:spPr>
          <a:xfrm>
            <a:off x="9187434" y="3529584"/>
            <a:ext cx="2077974" cy="621792"/>
          </a:xfrm>
          <a:prstGeom prst="rect">
            <a:avLst/>
          </a:prstGeom>
          <a:noFill/>
          <a:ln w="0">
            <a:noFill/>
            <a:prstDash val="solid"/>
          </a:ln>
        </p:spPr>
        <p:txBody>
          <a:bodyPr wrap="square" lIns="0" tIns="0" rIns="0" bIns="0"/>
          <a:lstStyle/>
          <a:p>
            <a:pPr algn="l">
              <a:buNone/>
              <a:defRPr sz="1350">
                <a:latin typeface="Calibri"/>
                <a:ea typeface="맑은 고딕"/>
                <a:cs typeface="맑은 고딕"/>
              </a:defRPr>
            </a:pPr>
            <a:r>
              <a:rPr lang="ko-KR" altLang="en-US" sz="1350">
                <a:solidFill>
                  <a:srgbClr val="66746F"/>
                </a:solidFill>
                <a:latin typeface="Calibri"/>
                <a:ea typeface="맑은 고딕"/>
                <a:cs typeface="맑은 고딕"/>
              </a:rPr>
              <a:t>지표를 함께 읽고 알람 설정을 조율하고 일과를 확정한다</a:t>
            </a:r>
          </a:p>
        </p:txBody>
      </p:sp>
      <p:sp>
        <p:nvSpPr>
          <p:cNvPr id="2558" name="k2558"/>
          <p:cNvSpPr>
            <a:spLocks noGrp="1"/>
          </p:cNvSpPr>
          <p:nvPr/>
        </p:nvSpPr>
        <p:spPr>
          <a:xfrm>
            <a:off x="685800" y="4855464"/>
            <a:ext cx="10817352" cy="704088"/>
          </a:xfrm>
          <a:prstGeom prst="roundRect">
            <a:avLst/>
          </a:prstGeom>
          <a:solidFill>
            <a:srgbClr val="DFF4E8"/>
          </a:solidFill>
          <a:ln w="0">
            <a:noFill/>
            <a:prstDash val="solid"/>
          </a:ln>
        </p:spPr>
        <p:txBody>
          <a:bodyPr wrap="square" lIns="0" tIns="0" rIns="0" bIns="0"/>
          <a:lstStyle/>
          <a:p>
            <a:endParaRPr lang="ko-KR" altLang="en-US"/>
          </a:p>
        </p:txBody>
      </p:sp>
      <p:sp>
        <p:nvSpPr>
          <p:cNvPr id="2559" name="k2559"/>
          <p:cNvSpPr>
            <a:spLocks noGrp="1"/>
          </p:cNvSpPr>
          <p:nvPr/>
        </p:nvSpPr>
        <p:spPr>
          <a:xfrm>
            <a:off x="969264" y="5065776"/>
            <a:ext cx="10250424" cy="301752"/>
          </a:xfrm>
          <a:prstGeom prst="rect">
            <a:avLst/>
          </a:prstGeom>
          <a:noFill/>
          <a:ln w="0">
            <a:noFill/>
            <a:prstDash val="solid"/>
          </a:ln>
        </p:spPr>
        <p:txBody>
          <a:bodyPr wrap="square" lIns="0" tIns="0" rIns="0" bIns="0"/>
          <a:lstStyle/>
          <a:p>
            <a:pPr algn="l">
              <a:buNone/>
              <a:defRPr sz="1650">
                <a:latin typeface="Calibri"/>
                <a:ea typeface="맑은 고딕"/>
                <a:cs typeface="맑은 고딕"/>
              </a:defRPr>
            </a:pPr>
            <a:r>
              <a:rPr lang="ko-KR" altLang="en-US" sz="1650" b="1">
                <a:solidFill>
                  <a:srgbClr val="10251F"/>
                </a:solidFill>
                <a:latin typeface="Calibri"/>
                <a:ea typeface="맑은 고딕"/>
                <a:cs typeface="맑은 고딕"/>
              </a:rPr>
              <a:t>2주차를 건너뛰기 쉽습니다. 기준선이 없으면 90일 뒤에 증명할 것이 없습니다.</a:t>
            </a:r>
          </a:p>
        </p:txBody>
      </p:sp>
      <p:sp>
        <p:nvSpPr>
          <p:cNvPr id="2562" name="k2562"/>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66746F"/>
                </a:solidFill>
                <a:latin typeface="Calibri"/>
                <a:ea typeface="맑은 고딕"/>
                <a:cs typeface="맑은 고딕"/>
              </a:rPr>
              <a:t>smaXtec × CowTalk | 통합 교육자료</a:t>
            </a:r>
          </a:p>
        </p:txBody>
      </p:sp>
      <p:sp>
        <p:nvSpPr>
          <p:cNvPr id="2563" name="k2563"/>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10251F"/>
                </a:solidFill>
                <a:latin typeface="Calibri"/>
                <a:ea typeface="맑은 고딕"/>
                <a:cs typeface="맑은 고딕"/>
              </a:rPr>
              <a:t>62</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0A1B17"/>
        </a:solidFill>
        <a:effectLst/>
      </p:bgPr>
    </p:bg>
    <p:spTree>
      <p:nvGrpSpPr>
        <p:cNvPr id="1" name=""/>
        <p:cNvGrpSpPr/>
        <p:nvPr/>
      </p:nvGrpSpPr>
      <p:grpSpPr>
        <a:xfrm>
          <a:off x="0" y="0"/>
          <a:ext cx="0" cy="0"/>
          <a:chOff x="0" y="0"/>
          <a:chExt cx="0" cy="0"/>
        </a:xfrm>
      </p:grpSpPr>
      <p:sp>
        <p:nvSpPr>
          <p:cNvPr id="2564" name="k2564"/>
          <p:cNvSpPr>
            <a:spLocks noGrp="1"/>
          </p:cNvSpPr>
          <p:nvPr/>
        </p:nvSpPr>
        <p:spPr>
          <a:xfrm>
            <a:off x="685800" y="548640"/>
            <a:ext cx="4956048" cy="228600"/>
          </a:xfrm>
          <a:prstGeom prst="rect">
            <a:avLst/>
          </a:prstGeom>
          <a:noFill/>
          <a:ln w="0">
            <a:noFill/>
            <a:prstDash val="solid"/>
          </a:ln>
        </p:spPr>
        <p:txBody>
          <a:bodyPr wrap="square" lIns="0" tIns="0" rIns="0" bIns="0"/>
          <a:lstStyle/>
          <a:p>
            <a:pPr algn="l">
              <a:buNone/>
              <a:defRPr sz="1050">
                <a:latin typeface="Calibri"/>
                <a:ea typeface="맑은 고딕"/>
                <a:cs typeface="맑은 고딕"/>
              </a:defRPr>
            </a:pPr>
            <a:r>
              <a:rPr lang="ko-KR" altLang="en-US" sz="1050" b="1">
                <a:solidFill>
                  <a:srgbClr val="65D44A"/>
                </a:solidFill>
                <a:latin typeface="Calibri"/>
                <a:ea typeface="맑은 고딕"/>
                <a:cs typeface="맑은 고딕"/>
              </a:rPr>
              <a:t>핵심 정리</a:t>
            </a:r>
          </a:p>
        </p:txBody>
      </p:sp>
      <p:sp>
        <p:nvSpPr>
          <p:cNvPr id="2565" name="k2565"/>
          <p:cNvSpPr>
            <a:spLocks noGrp="1"/>
          </p:cNvSpPr>
          <p:nvPr/>
        </p:nvSpPr>
        <p:spPr>
          <a:xfrm>
            <a:off x="685800" y="914400"/>
            <a:ext cx="10058400" cy="868680"/>
          </a:xfrm>
          <a:prstGeom prst="rect">
            <a:avLst/>
          </a:prstGeom>
          <a:noFill/>
          <a:ln w="0">
            <a:noFill/>
            <a:prstDash val="solid"/>
          </a:ln>
        </p:spPr>
        <p:txBody>
          <a:bodyPr wrap="square" lIns="0" tIns="0" rIns="0" bIns="0"/>
          <a:lstStyle/>
          <a:p>
            <a:pPr algn="l">
              <a:buNone/>
              <a:defRPr sz="3450">
                <a:latin typeface="Calibri"/>
                <a:ea typeface="맑은 고딕"/>
                <a:cs typeface="맑은 고딕"/>
              </a:defRPr>
            </a:pPr>
            <a:r>
              <a:rPr lang="ko-KR" altLang="en-US" sz="3450" b="1">
                <a:solidFill>
                  <a:srgbClr val="FFFFFF"/>
                </a:solidFill>
                <a:latin typeface="Calibri"/>
                <a:ea typeface="맑은 고딕"/>
                <a:cs typeface="맑은 고딕"/>
              </a:rPr>
              <a:t>이 자리에서 가져갈 세 문장</a:t>
            </a:r>
          </a:p>
        </p:txBody>
      </p:sp>
      <p:sp>
        <p:nvSpPr>
          <p:cNvPr id="2566" name="k2566"/>
          <p:cNvSpPr>
            <a:spLocks noGrp="1"/>
          </p:cNvSpPr>
          <p:nvPr/>
        </p:nvSpPr>
        <p:spPr>
          <a:xfrm>
            <a:off x="685800" y="2331720"/>
            <a:ext cx="566928" cy="566928"/>
          </a:xfrm>
          <a:prstGeom prst="ellipse">
            <a:avLst/>
          </a:prstGeom>
          <a:solidFill>
            <a:srgbClr val="65D44A"/>
          </a:solidFill>
          <a:ln w="0">
            <a:noFill/>
            <a:prstDash val="solid"/>
          </a:ln>
        </p:spPr>
        <p:txBody>
          <a:bodyPr wrap="square" lIns="0" tIns="0" rIns="0" bIns="0"/>
          <a:lstStyle/>
          <a:p>
            <a:endParaRPr lang="ko-KR" altLang="en-US"/>
          </a:p>
        </p:txBody>
      </p:sp>
      <p:sp>
        <p:nvSpPr>
          <p:cNvPr id="2567" name="k2567"/>
          <p:cNvSpPr>
            <a:spLocks noGrp="1"/>
          </p:cNvSpPr>
          <p:nvPr/>
        </p:nvSpPr>
        <p:spPr>
          <a:xfrm>
            <a:off x="685800" y="2459736"/>
            <a:ext cx="566928" cy="310896"/>
          </a:xfrm>
          <a:prstGeom prst="rect">
            <a:avLst/>
          </a:prstGeom>
          <a:noFill/>
          <a:ln w="0">
            <a:noFill/>
            <a:prstDash val="solid"/>
          </a:ln>
        </p:spPr>
        <p:txBody>
          <a:bodyPr wrap="square" lIns="0" tIns="0" rIns="0" bIns="0"/>
          <a:lstStyle/>
          <a:p>
            <a:pPr algn="ctr">
              <a:buNone/>
              <a:defRPr sz="1875">
                <a:latin typeface="Calibri"/>
                <a:ea typeface="맑은 고딕"/>
                <a:cs typeface="맑은 고딕"/>
              </a:defRPr>
            </a:pPr>
            <a:r>
              <a:rPr lang="ko-KR" altLang="en-US" sz="1875" b="1">
                <a:solidFill>
                  <a:srgbClr val="0A1B17"/>
                </a:solidFill>
                <a:latin typeface="Calibri"/>
                <a:ea typeface="맑은 고딕"/>
                <a:cs typeface="맑은 고딕"/>
              </a:rPr>
              <a:t>1</a:t>
            </a:r>
          </a:p>
        </p:txBody>
      </p:sp>
      <p:sp>
        <p:nvSpPr>
          <p:cNvPr id="2568" name="k2568"/>
          <p:cNvSpPr>
            <a:spLocks noGrp="1"/>
          </p:cNvSpPr>
          <p:nvPr/>
        </p:nvSpPr>
        <p:spPr>
          <a:xfrm>
            <a:off x="1481328" y="2386584"/>
            <a:ext cx="9326880" cy="822960"/>
          </a:xfrm>
          <a:prstGeom prst="rect">
            <a:avLst/>
          </a:prstGeom>
          <a:noFill/>
          <a:ln w="0">
            <a:noFill/>
            <a:prstDash val="solid"/>
          </a:ln>
        </p:spPr>
        <p:txBody>
          <a:bodyPr wrap="square" lIns="0" tIns="0" rIns="0" bIns="0"/>
          <a:lstStyle/>
          <a:p>
            <a:pPr algn="l">
              <a:buNone/>
              <a:defRPr sz="2025">
                <a:latin typeface="Calibri"/>
                <a:ea typeface="맑은 고딕"/>
                <a:cs typeface="맑은 고딕"/>
              </a:defRPr>
            </a:pPr>
            <a:r>
              <a:rPr lang="ko-KR" altLang="en-US" sz="2025">
                <a:solidFill>
                  <a:srgbClr val="FFFFFF"/>
                </a:solidFill>
                <a:latin typeface="Calibri"/>
                <a:ea typeface="맑은 고딕"/>
                <a:cs typeface="맑은 고딕"/>
              </a:rPr>
              <a:t>센서는 무언가 달라졌다고 알려주고, 이 레이어는 그래서 무엇을 할지 알려줍니다.</a:t>
            </a:r>
          </a:p>
        </p:txBody>
      </p:sp>
      <p:sp>
        <p:nvSpPr>
          <p:cNvPr id="2569" name="k2569"/>
          <p:cNvSpPr>
            <a:spLocks noGrp="1"/>
          </p:cNvSpPr>
          <p:nvPr/>
        </p:nvSpPr>
        <p:spPr>
          <a:xfrm>
            <a:off x="685800" y="3392424"/>
            <a:ext cx="566928" cy="566928"/>
          </a:xfrm>
          <a:prstGeom prst="ellipse">
            <a:avLst/>
          </a:prstGeom>
          <a:solidFill>
            <a:srgbClr val="65D44A"/>
          </a:solidFill>
          <a:ln w="0">
            <a:noFill/>
            <a:prstDash val="solid"/>
          </a:ln>
        </p:spPr>
        <p:txBody>
          <a:bodyPr wrap="square" lIns="0" tIns="0" rIns="0" bIns="0"/>
          <a:lstStyle/>
          <a:p>
            <a:endParaRPr lang="ko-KR" altLang="en-US"/>
          </a:p>
        </p:txBody>
      </p:sp>
      <p:sp>
        <p:nvSpPr>
          <p:cNvPr id="2570" name="k2570"/>
          <p:cNvSpPr>
            <a:spLocks noGrp="1"/>
          </p:cNvSpPr>
          <p:nvPr/>
        </p:nvSpPr>
        <p:spPr>
          <a:xfrm>
            <a:off x="685800" y="3520440"/>
            <a:ext cx="566928" cy="310896"/>
          </a:xfrm>
          <a:prstGeom prst="rect">
            <a:avLst/>
          </a:prstGeom>
          <a:noFill/>
          <a:ln w="0">
            <a:noFill/>
            <a:prstDash val="solid"/>
          </a:ln>
        </p:spPr>
        <p:txBody>
          <a:bodyPr wrap="square" lIns="0" tIns="0" rIns="0" bIns="0"/>
          <a:lstStyle/>
          <a:p>
            <a:pPr algn="ctr">
              <a:buNone/>
              <a:defRPr sz="1875">
                <a:latin typeface="Calibri"/>
                <a:ea typeface="맑은 고딕"/>
                <a:cs typeface="맑은 고딕"/>
              </a:defRPr>
            </a:pPr>
            <a:r>
              <a:rPr lang="ko-KR" altLang="en-US" sz="1875" b="1">
                <a:solidFill>
                  <a:srgbClr val="0A1B17"/>
                </a:solidFill>
                <a:latin typeface="Calibri"/>
                <a:ea typeface="맑은 고딕"/>
                <a:cs typeface="맑은 고딕"/>
              </a:rPr>
              <a:t>2</a:t>
            </a:r>
          </a:p>
        </p:txBody>
      </p:sp>
      <p:sp>
        <p:nvSpPr>
          <p:cNvPr id="2571" name="k2571"/>
          <p:cNvSpPr>
            <a:spLocks noGrp="1"/>
          </p:cNvSpPr>
          <p:nvPr/>
        </p:nvSpPr>
        <p:spPr>
          <a:xfrm>
            <a:off x="1481328" y="3447288"/>
            <a:ext cx="9326880" cy="822960"/>
          </a:xfrm>
          <a:prstGeom prst="rect">
            <a:avLst/>
          </a:prstGeom>
          <a:noFill/>
          <a:ln w="0">
            <a:noFill/>
            <a:prstDash val="solid"/>
          </a:ln>
        </p:spPr>
        <p:txBody>
          <a:bodyPr wrap="square" lIns="0" tIns="0" rIns="0" bIns="0"/>
          <a:lstStyle/>
          <a:p>
            <a:pPr algn="l">
              <a:buNone/>
              <a:defRPr sz="2025">
                <a:latin typeface="Calibri"/>
                <a:ea typeface="맑은 고딕"/>
                <a:cs typeface="맑은 고딕"/>
              </a:defRPr>
            </a:pPr>
            <a:r>
              <a:rPr lang="ko-KR" altLang="en-US" sz="2025">
                <a:solidFill>
                  <a:srgbClr val="FFFFFF"/>
                </a:solidFill>
                <a:latin typeface="Calibri"/>
                <a:ea typeface="맑은 고딕"/>
                <a:cs typeface="맑은 고딕"/>
              </a:rPr>
              <a:t>알람은 진단이 아니고, AI의 답변은 결정이 아닙니다. 둘 다 사람이 쓰는 재료입니다.</a:t>
            </a:r>
          </a:p>
        </p:txBody>
      </p:sp>
      <p:sp>
        <p:nvSpPr>
          <p:cNvPr id="2572" name="k2572"/>
          <p:cNvSpPr>
            <a:spLocks noGrp="1"/>
          </p:cNvSpPr>
          <p:nvPr/>
        </p:nvSpPr>
        <p:spPr>
          <a:xfrm>
            <a:off x="685800" y="4453128"/>
            <a:ext cx="566928" cy="566928"/>
          </a:xfrm>
          <a:prstGeom prst="ellipse">
            <a:avLst/>
          </a:prstGeom>
          <a:solidFill>
            <a:srgbClr val="65D44A"/>
          </a:solidFill>
          <a:ln w="0">
            <a:noFill/>
            <a:prstDash val="solid"/>
          </a:ln>
        </p:spPr>
        <p:txBody>
          <a:bodyPr wrap="square" lIns="0" tIns="0" rIns="0" bIns="0"/>
          <a:lstStyle/>
          <a:p>
            <a:endParaRPr lang="ko-KR" altLang="en-US"/>
          </a:p>
        </p:txBody>
      </p:sp>
      <p:sp>
        <p:nvSpPr>
          <p:cNvPr id="2573" name="k2573"/>
          <p:cNvSpPr>
            <a:spLocks noGrp="1"/>
          </p:cNvSpPr>
          <p:nvPr/>
        </p:nvSpPr>
        <p:spPr>
          <a:xfrm>
            <a:off x="685800" y="4581144"/>
            <a:ext cx="566928" cy="310896"/>
          </a:xfrm>
          <a:prstGeom prst="rect">
            <a:avLst/>
          </a:prstGeom>
          <a:noFill/>
          <a:ln w="0">
            <a:noFill/>
            <a:prstDash val="solid"/>
          </a:ln>
        </p:spPr>
        <p:txBody>
          <a:bodyPr wrap="square" lIns="0" tIns="0" rIns="0" bIns="0"/>
          <a:lstStyle/>
          <a:p>
            <a:pPr algn="ctr">
              <a:buNone/>
              <a:defRPr sz="1875">
                <a:latin typeface="Calibri"/>
                <a:ea typeface="맑은 고딕"/>
                <a:cs typeface="맑은 고딕"/>
              </a:defRPr>
            </a:pPr>
            <a:r>
              <a:rPr lang="ko-KR" altLang="en-US" sz="1875" b="1">
                <a:solidFill>
                  <a:srgbClr val="0A1B17"/>
                </a:solidFill>
                <a:latin typeface="Calibri"/>
                <a:ea typeface="맑은 고딕"/>
                <a:cs typeface="맑은 고딕"/>
              </a:rPr>
              <a:t>3</a:t>
            </a:r>
          </a:p>
        </p:txBody>
      </p:sp>
      <p:sp>
        <p:nvSpPr>
          <p:cNvPr id="2574" name="k2574"/>
          <p:cNvSpPr>
            <a:spLocks noGrp="1"/>
          </p:cNvSpPr>
          <p:nvPr/>
        </p:nvSpPr>
        <p:spPr>
          <a:xfrm>
            <a:off x="1481328" y="4507992"/>
            <a:ext cx="9326880" cy="822960"/>
          </a:xfrm>
          <a:prstGeom prst="rect">
            <a:avLst/>
          </a:prstGeom>
          <a:noFill/>
          <a:ln w="0">
            <a:noFill/>
            <a:prstDash val="solid"/>
          </a:ln>
        </p:spPr>
        <p:txBody>
          <a:bodyPr wrap="square" lIns="0" tIns="0" rIns="0" bIns="0"/>
          <a:lstStyle/>
          <a:p>
            <a:pPr algn="l">
              <a:buNone/>
              <a:defRPr sz="2025">
                <a:latin typeface="Calibri"/>
                <a:ea typeface="맑은 고딕"/>
                <a:cs typeface="맑은 고딕"/>
              </a:defRPr>
            </a:pPr>
            <a:r>
              <a:rPr lang="ko-KR" altLang="en-US" sz="2025">
                <a:solidFill>
                  <a:srgbClr val="FFFFFF"/>
                </a:solidFill>
                <a:latin typeface="Calibri"/>
                <a:ea typeface="맑은 고딕"/>
                <a:cs typeface="맑은 고딕"/>
              </a:rPr>
              <a:t>조치를 기록해야 루프가 닫히고, 닫히기 전까지는 아무것도 나아지지 않습니다.</a:t>
            </a:r>
          </a:p>
        </p:txBody>
      </p:sp>
      <p:sp>
        <p:nvSpPr>
          <p:cNvPr id="2575" name="k2575"/>
          <p:cNvSpPr>
            <a:spLocks noGrp="1"/>
          </p:cNvSpPr>
          <p:nvPr/>
        </p:nvSpPr>
        <p:spPr>
          <a:xfrm>
            <a:off x="685800" y="6483096"/>
            <a:ext cx="6665976" cy="173736"/>
          </a:xfrm>
          <a:prstGeom prst="rect">
            <a:avLst/>
          </a:prstGeom>
          <a:noFill/>
          <a:ln w="0">
            <a:noFill/>
            <a:prstDash val="solid"/>
          </a:ln>
        </p:spPr>
        <p:txBody>
          <a:bodyPr wrap="square" lIns="0" tIns="0" rIns="0" bIns="0"/>
          <a:lstStyle/>
          <a:p>
            <a:pPr algn="l">
              <a:buNone/>
              <a:defRPr sz="825">
                <a:latin typeface="Calibri"/>
                <a:ea typeface="맑은 고딕"/>
                <a:cs typeface="맑은 고딕"/>
              </a:defRPr>
            </a:pPr>
            <a:r>
              <a:rPr lang="ko-KR" altLang="en-US" sz="825">
                <a:solidFill>
                  <a:srgbClr val="BFD1CA"/>
                </a:solidFill>
                <a:latin typeface="Calibri"/>
                <a:ea typeface="맑은 고딕"/>
                <a:cs typeface="맑은 고딕"/>
              </a:rPr>
              <a:t>smaXtec × CowTalk | 통합 교육자료</a:t>
            </a:r>
          </a:p>
        </p:txBody>
      </p:sp>
      <p:sp>
        <p:nvSpPr>
          <p:cNvPr id="2576" name="k2576"/>
          <p:cNvSpPr>
            <a:spLocks noGrp="1"/>
          </p:cNvSpPr>
          <p:nvPr/>
        </p:nvSpPr>
        <p:spPr>
          <a:xfrm>
            <a:off x="11237976" y="6483096"/>
            <a:ext cx="265176" cy="173736"/>
          </a:xfrm>
          <a:prstGeom prst="rect">
            <a:avLst/>
          </a:prstGeom>
          <a:noFill/>
          <a:ln w="0">
            <a:noFill/>
            <a:prstDash val="solid"/>
          </a:ln>
        </p:spPr>
        <p:txBody>
          <a:bodyPr wrap="square" lIns="0" tIns="0" rIns="0" bIns="0"/>
          <a:lstStyle/>
          <a:p>
            <a:pPr algn="r">
              <a:buNone/>
              <a:defRPr sz="825">
                <a:latin typeface="Calibri"/>
                <a:ea typeface="맑은 고딕"/>
                <a:cs typeface="맑은 고딕"/>
              </a:defRPr>
            </a:pPr>
            <a:r>
              <a:rPr lang="ko-KR" altLang="en-US" sz="825" b="1">
                <a:solidFill>
                  <a:srgbClr val="FFFFFF"/>
                </a:solidFill>
                <a:latin typeface="Calibri"/>
                <a:ea typeface="맑은 고딕"/>
                <a:cs typeface="맑은 고딕"/>
              </a:rPr>
              <a:t>63</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3701</Words>
  <Application>Microsoft Macintosh PowerPoint</Application>
  <DocSecurity>0</DocSecurity>
  <PresentationFormat>와이드스크린</PresentationFormat>
  <Paragraphs>555</Paragraphs>
  <Slides>35</Slides>
  <Notes>35</Notes>
  <HiddenSlides>0</HiddenSlides>
  <MMClips>0</MMClips>
  <ScaleCrop>false</ScaleCrop>
  <HeadingPairs>
    <vt:vector size="6" baseType="variant">
      <vt:variant>
        <vt:lpstr>사용한 글꼴</vt:lpstr>
      </vt:variant>
      <vt:variant>
        <vt:i4>1</vt:i4>
      </vt:variant>
      <vt:variant>
        <vt:lpstr>테마</vt:lpstr>
      </vt:variant>
      <vt:variant>
        <vt:i4>1</vt:i4>
      </vt:variant>
      <vt:variant>
        <vt:lpstr>슬라이드 제목</vt:lpstr>
      </vt:variant>
      <vt:variant>
        <vt:i4>35</vt:i4>
      </vt:variant>
    </vt:vector>
  </HeadingPairs>
  <TitlesOfParts>
    <vt:vector size="37" baseType="lpstr">
      <vt:lpstr>Calibri</vt:lpstr>
      <vt:lpstr>ChatGPT</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현제 하</cp:lastModifiedBy>
  <cp:revision>1</cp:revision>
  <dcterms:created xsi:type="dcterms:W3CDTF">2026-08-20T00:07:23Z</dcterms:created>
  <dcterms:modified xsi:type="dcterms:W3CDTF">2026-08-20T01:30:15Z</dcterms:modified>
</cp:coreProperties>
</file>