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인사. ‘오늘 15분 안에 — 무엇을 만들었고, 어떻게 작동하며, 그래서 경기도에 어떤 결과가 오는지 — 숫자로 말씀드리겠습니다.’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답부터. ‘결론은 하나입니다 — 경기도가 선도해야 합니다.’ 방역·농가·사회환경 3축. 연 180억 투자 → 편익 896억(BCR≈5.0). 이 한 장이 전체 요약입니다.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현황. 세계는 축산을 데이터로 운영하는데 우리 방역·행정은 아직 전화와 엑셀. 데이터는 쌓이는데 판단·행동으로 안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핵심 공백. smaXtec 센서·알람은 세계 최고지만 ‘알람→행동’의 다리가 없다. 농가·방역관이 ‘그래서 뭘?’을 혼자 판단. CowTalk이 이 간극을 메운다.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무엇을. CowTalk=축산 운영체제. smaXtec 복제가 아니라 그 위에 공공데이터·AI·역할별 행동 3개 층을 얹는다. 4층 구조를 짧게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시연이 아니다. 지금 199농장·10,886두가 실시간으로 돈다. 경기 52곳=수도권 최대·전국 2위(전국 1위는 충북 77 — 사실대로). 데이터 가장 많은 곳이 표준을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어떻게. 알람→판단→추천→행동→기록을 한 화면에서 완결. 팅커벨에 ‘경기도 발열 현황 보여줘’ → 3초. (가능하면 실제 시연 1회)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그래서 결과①. 역학조사 며칠→30초, 증상 전 선제 감지. 전염병 1회 차단=수십~수백억 회피. ‘한 번만 막아도 시스템값 회수.’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그래서 결과②. 번식·질병을 데이터로 잡아 두당 24만원/년. 경기 10만두면 240억/년 농가 직접 편익.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그래서 결과③. 핵심 메시지 ‘적게 키우고 더 잘 짠다.’ 육성우 36,000두 감축 → 사료 432억+분뇨 86억+탄소 108억 = 626억/년. 탄소중립·민원까지.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핵심 슬라이드. 천천히. 연 180억은 비용이 아니라 보험료. 편익 896억(농가240+방역30+사회환경626)=BCR≈5.0, 회수 ~2.8년. 한 줄로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어떻게 확산. 199농장(경기52)에서 검증 → 경기 시범 → 경기 전역 1,500 → 전국 → 수출. 경기도 요청 3가지(시범사업·데이터 연계·로드맵 공동수립).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클로징. ‘경기도가 대한민국 축산 디지털 행정의 첫 모델이 됩니다.’ 데이터가 가장 많은 곳이 표준을 만든다.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082735" y="914400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1225296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2735" y="1536192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경기도 인수위원회 정책 브리핑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축산 디지털 행정 대전환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0" i="0">
                <a:solidFill>
                  <a:srgbClr val="C7D6DE"/>
                </a:solidFill>
                <a:latin typeface="맑은 고딕"/>
                <a:ea typeface="맑은 고딕"/>
              </a:rPr>
              <a:t>센서 · 공공데이터 · AI로 완성하는 경기도 축산 운영체제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52628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7091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맑은 고딕"/>
                <a:ea typeface="맑은 고딕"/>
              </a:rPr>
              <a:t>“경기도가 대한민국 축산 디지털 행정을 선도한다.”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CowTalk v5.0</a:t>
            </a:r>
            <a:r>
              <a:rPr sz="1200" b="0" i="0">
                <a:solidFill>
                  <a:srgbClr val="909EAA"/>
                </a:solidFill>
                <a:latin typeface="맑은 고딕"/>
                <a:ea typeface="맑은 고딕"/>
              </a:rPr>
              <a:t>   ·   D2O Corp × smaXtec Korea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제언  · 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0B2239"/>
                </a:solidFill>
                <a:latin typeface="맑은 고딕"/>
                <a:ea typeface="맑은 고딕"/>
              </a:rPr>
              <a:t>경기도가 대한민국 축산 디지털 행정 전환을 선도해야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993392"/>
            <a:ext cx="338114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93392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DD7D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239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29239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전염병 1회 차단 = 수십~수백억.
역학조사 며칠 → 30초.
전국 통합 실시간 감시.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15384"/>
            <a:ext cx="2869082" cy="365760"/>
          </a:xfrm>
          <a:prstGeom prst="roundRect">
            <a:avLst>
              <a:gd name="adj" fmla="val 40000"/>
            </a:avLst>
          </a:prstGeom>
          <a:solidFill>
            <a:srgbClr val="E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4"/>
            <a:ext cx="286908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옵션가치 회수형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5274" y="1993392"/>
            <a:ext cx="338114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5274" y="1993392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226771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DD7D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306" y="283464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239"/>
                </a:solidFill>
                <a:latin typeface="맑은 고딕"/>
                <a:ea typeface="맑은 고딕"/>
              </a:rPr>
              <a:t>농가 소득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1306" y="3319272"/>
            <a:ext cx="29239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번식·질병을 데이터로 관리.
젖소 두당 생산성 +24만원/년.
경기 농가 편익 240억/년.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1306" y="4215384"/>
            <a:ext cx="2869082" cy="365760"/>
          </a:xfrm>
          <a:prstGeom prst="roundRect">
            <a:avLst>
              <a:gd name="adj" fmla="val 40000"/>
            </a:avLst>
          </a:prstGeom>
          <a:solidFill>
            <a:srgbClr val="E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1306" y="4215384"/>
            <a:ext cx="286908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+240억 / 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2180" y="1993392"/>
            <a:ext cx="338114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2180" y="1993392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8212" y="226771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DD7D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8212" y="283464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239"/>
                </a:solidFill>
                <a:latin typeface="맑은 고딕"/>
                <a:ea typeface="맑은 고딕"/>
              </a:rPr>
              <a:t>사회·환경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8212" y="3319272"/>
            <a:ext cx="29239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육성우 감축 — 적게 키우고
더 잘 짠다. 사료·분뇨·탄소
동시 절감 626억/년.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08212" y="4215384"/>
            <a:ext cx="2869082" cy="365760"/>
          </a:xfrm>
          <a:prstGeom prst="roundRect">
            <a:avLst>
              <a:gd name="adj" fmla="val 40000"/>
            </a:avLst>
          </a:prstGeom>
          <a:solidFill>
            <a:srgbClr val="E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8212" y="4215384"/>
            <a:ext cx="286908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+626억 / 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74920"/>
            <a:ext cx="10874959" cy="8412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074920"/>
            <a:ext cx="7406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투자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180억/년</a:t>
            </a: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  →  편익 </a:t>
            </a:r>
            <a:r>
              <a:rPr sz="1900" b="1" i="0">
                <a:solidFill>
                  <a:srgbClr val="16B0A6"/>
                </a:solidFill>
                <a:latin typeface="맑은 고딕"/>
                <a:ea typeface="맑은 고딕"/>
              </a:rPr>
              <a:t>896억/년</a:t>
            </a: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   ·   BCR ≈ 5.0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05088" y="5257800"/>
            <a:ext cx="18288" cy="475488"/>
          </a:xfrm>
          <a:prstGeom prst="rect">
            <a:avLst/>
          </a:prstGeom>
          <a:solidFill>
            <a:srgbClr val="2A4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5074920"/>
            <a:ext cx="232531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6B0A6"/>
                </a:solidFill>
                <a:latin typeface="맑은 고딕"/>
                <a:ea typeface="맑은 고딕"/>
              </a:rPr>
              <a:t>경기가 첫 표준을 선점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지금 어디에 서 있나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세계는 축산을 데이터로 운영하지만, 방역·행정은 아직 전화와 엑셀입니다.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057400"/>
            <a:ext cx="3381146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맑은 고딕"/>
                <a:ea typeface="맑은 고딕"/>
              </a:rPr>
              <a:t>농가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734056"/>
            <a:ext cx="457200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898648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0B2239"/>
                </a:solidFill>
                <a:latin typeface="맑은 고딕"/>
                <a:ea typeface="맑은 고딕"/>
              </a:rPr>
              <a:t>센서는 도입했지만
“알람이 와도 무엇을 할지”는
각자 경험으로 판단.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057400"/>
            <a:ext cx="3381146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1306" y="22951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맑은 고딕"/>
                <a:ea typeface="맑은 고딕"/>
              </a:rPr>
              <a:t>방역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1306" y="2734056"/>
            <a:ext cx="457200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1306" y="2898648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0B2239"/>
                </a:solidFill>
                <a:latin typeface="맑은 고딕"/>
                <a:ea typeface="맑은 고딕"/>
              </a:rPr>
              <a:t>역학조사는 전화·수기 엑셀.
접촉 농장 파악에 며칠.
확산은 늘 사후 대응.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057400"/>
            <a:ext cx="3381146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8212" y="22951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맑은 고딕"/>
                <a:ea typeface="맑은 고딕"/>
              </a:rPr>
              <a:t>행정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08212" y="2734056"/>
            <a:ext cx="457200" cy="0"/>
          </a:xfrm>
          <a:prstGeom prst="bentConnector3">
            <a:avLst/>
          </a:prstGeom>
          <a:ln w="2540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08212" y="2898648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0B2239"/>
                </a:solidFill>
                <a:latin typeface="맑은 고딕"/>
                <a:ea typeface="맑은 고딕"/>
              </a:rPr>
              <a:t>통계는 아날로그·취합형.
수급·방역 의사결정이
데이터보다 늦게 도착.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846320"/>
            <a:ext cx="10874959" cy="731520"/>
          </a:xfrm>
          <a:prstGeom prst="rect">
            <a:avLst/>
          </a:prstGeom>
          <a:solidFill>
            <a:srgbClr val="E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46320"/>
            <a:ext cx="102348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B2239"/>
                </a:solidFill>
                <a:latin typeface="맑은 고딕"/>
                <a:ea typeface="맑은 고딕"/>
              </a:rPr>
              <a:t>→  데이터는 쌓이는데, </a:t>
            </a:r>
            <a:r>
              <a:rPr sz="1500" b="1" i="0">
                <a:solidFill>
                  <a:srgbClr val="095352"/>
                </a:solidFill>
                <a:latin typeface="맑은 고딕"/>
                <a:ea typeface="맑은 고딕"/>
              </a:rPr>
              <a:t>판단과 행동으로 이어지지 않는다.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핵심 공백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세계 최고 센서(smaXtec)도 ‘알람 → 행동’의 다리가 없습니다.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331720"/>
            <a:ext cx="3200400" cy="10515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3200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smaXtec 위내센서
발정·발열 알람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331720"/>
            <a:ext cx="410839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97A1E"/>
                </a:solidFill>
                <a:latin typeface="맑은 고딕"/>
                <a:ea typeface="맑은 고딕"/>
              </a:rPr>
              <a:t>─ ─ ─ ✕ ─ ─ 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3364991"/>
            <a:ext cx="4108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97A1E"/>
                </a:solidFill>
                <a:latin typeface="맑은 고딕"/>
                <a:ea typeface="맑은 고딕"/>
              </a:rPr>
              <a:t>연결 끊김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7167" y="2331720"/>
            <a:ext cx="35661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7167" y="233172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C97A1E"/>
                </a:solidFill>
                <a:latin typeface="맑은 고딕"/>
                <a:ea typeface="맑은 고딕"/>
              </a:rPr>
              <a:t>농가·방역관:
“그래서 뭘 해야 하지?”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77639"/>
            <a:ext cx="3381146" cy="105156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301538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알람은 정확해도 다음 행동은
사람이 혼자 판단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5274" y="3977639"/>
            <a:ext cx="3381146" cy="105156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6442" y="3977639"/>
            <a:ext cx="301538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추천·기록·역학으로
이어지는 워크플로 부재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2180" y="3977639"/>
            <a:ext cx="3381146" cy="105156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348" y="3977639"/>
            <a:ext cx="301538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한국 공공데이터(이력·방역)와
연결 안 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349240"/>
            <a:ext cx="10874959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108749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CowTalk은 바로 이 간극 — 알람과 행동 사이 — 를 메웁니다.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해법  ·  CowTalk이란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센서 위에 공공데이터·AI·역할별 행동을 얹는 ‘축산 운영체제’입니다.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011680"/>
            <a:ext cx="10874959" cy="768096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96012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960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95352"/>
                </a:solidFill>
                <a:latin typeface="맑은 고딕"/>
                <a:ea typeface="맑은 고딕"/>
              </a:rPr>
              <a:t>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011680"/>
            <a:ext cx="29260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011680"/>
            <a:ext cx="6577279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DDE7EA"/>
                </a:solidFill>
                <a:latin typeface="맑은 고딕"/>
                <a:ea typeface="맑은 고딕"/>
              </a:rPr>
              <a:t>피드백 → 정확도 추적 → 프롬프트 개선 (데이터가 쌓일수록 똑똑해진다)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9504"/>
            <a:ext cx="10874959" cy="768096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96012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89504"/>
            <a:ext cx="960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243B53"/>
                </a:solidFill>
                <a:latin typeface="맑은 고딕"/>
                <a:ea typeface="맑은 고딕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889504"/>
            <a:ext cx="29260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역할별 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889504"/>
            <a:ext cx="6577279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DDE7EA"/>
                </a:solidFill>
                <a:latin typeface="맑은 고딕"/>
                <a:ea typeface="맑은 고딕"/>
              </a:rPr>
              <a:t>농가 · 수의사 · 방역관 · 행정관 — 같은 데이터를 각자 관점·액션플랜으로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67328"/>
            <a:ext cx="10874959" cy="7680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67328"/>
            <a:ext cx="96012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67328"/>
            <a:ext cx="960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E7C7B"/>
                </a:solidFill>
                <a:latin typeface="맑은 고딕"/>
                <a:ea typeface="맑은 고딕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767328"/>
            <a:ext cx="29260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CowTalk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767328"/>
            <a:ext cx="6577279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DDE7EA"/>
                </a:solidFill>
                <a:latin typeface="맑은 고딕"/>
                <a:ea typeface="맑은 고딕"/>
              </a:rPr>
              <a:t>Claude 해석 엔진이 맥락을 읽고 역할별 ‘할 일’ 생성 (룰엔진 fallback)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45152"/>
            <a:ext cx="10874959" cy="768096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645152"/>
            <a:ext cx="960120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45152"/>
            <a:ext cx="960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645152"/>
            <a:ext cx="29260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데이터 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645152"/>
            <a:ext cx="6577279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DDE7EA"/>
                </a:solidFill>
                <a:latin typeface="맑은 고딕"/>
                <a:ea typeface="맑은 고딕"/>
              </a:rPr>
              <a:t>smaXtec 센서 + 이력제 · 혈통 · 등급 · DHI · KAHIS · 기상 공공데이터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650992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56676"/>
                </a:solidFill>
                <a:latin typeface="맑은 고딕"/>
                <a:ea typeface="맑은 고딕"/>
              </a:rPr>
              <a:t>smaXtec을 복제하지 않습니다 — </a:t>
            </a:r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그 위에 3개 레이어(공공데이터·AI·다중역할)를 더합니다.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지금 작동 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시연이 아닙니다 — 지금 199개 농장·10,886두가 실시간으로 돌아갑니다.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011680"/>
            <a:ext cx="2512999" cy="13716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2512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7C7B"/>
                </a:solidFill>
                <a:latin typeface="맑은 고딕"/>
                <a:ea typeface="맑은 고딕"/>
              </a:rPr>
              <a:t>199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개 농장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09EAA"/>
                </a:solidFill>
                <a:latin typeface="맑은 고딕"/>
                <a:ea typeface="맑은 고딕"/>
              </a:rPr>
              <a:t>실운영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5687" y="2011680"/>
            <a:ext cx="2512999" cy="13716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5687" y="2212848"/>
            <a:ext cx="2512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7C7B"/>
                </a:solidFill>
                <a:latin typeface="맑은 고딕"/>
                <a:ea typeface="맑은 고딕"/>
              </a:rPr>
              <a:t>10,886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5687" y="2852928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5687" y="3090672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09EAA"/>
                </a:solidFill>
                <a:latin typeface="맑은 고딕"/>
                <a:ea typeface="맑은 고딕"/>
              </a:rPr>
              <a:t>위내센서 모니터링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011680"/>
            <a:ext cx="2512999" cy="13716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212848"/>
            <a:ext cx="2512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7C7B"/>
                </a:solidFill>
                <a:latin typeface="맑은 고딕"/>
                <a:ea typeface="맑은 고딕"/>
              </a:rPr>
              <a:t>730,491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852928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3090672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09EAA"/>
                </a:solidFill>
                <a:latin typeface="맑은 고딕"/>
                <a:ea typeface="맑은 고딕"/>
              </a:rPr>
              <a:t>누적 분석 이벤트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0327" y="2011680"/>
            <a:ext cx="2512999" cy="13716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0327" y="2212848"/>
            <a:ext cx="2512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7C7B"/>
                </a:solidFill>
                <a:latin typeface="맑은 고딕"/>
                <a:ea typeface="맑은 고딕"/>
              </a:rPr>
              <a:t>99.4%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0327" y="2852928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센서 가동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0327" y="3090672"/>
            <a:ext cx="2512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09EAA"/>
                </a:solidFill>
                <a:latin typeface="맑은 고딕"/>
                <a:ea typeface="맑은 고딕"/>
              </a:rPr>
              <a:t>실시간 수집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03320"/>
            <a:ext cx="1087495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703320"/>
            <a:ext cx="73152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" y="3922776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B2239"/>
                </a:solidFill>
                <a:latin typeface="맑은 고딕"/>
                <a:ea typeface="맑은 고딕"/>
              </a:rPr>
              <a:t>경기 52곳 = 수도권 최대 · 전국 2위 거점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단일 광역으로 데이터·노하우가 가장 집약될 수 있는 곳.
데이터가 가장 많은 곳이 </a:t>
            </a:r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표준</a:t>
            </a: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을 만든다.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3977639"/>
            <a:ext cx="13716" cy="128016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904487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09EAA"/>
                </a:solidFill>
                <a:latin typeface="맑은 고딕"/>
                <a:ea typeface="맑은 고딕"/>
              </a:rPr>
              <a:t>시도별 농장 수 (전국 199)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06240"/>
            <a:ext cx="6583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239"/>
                </a:solidFill>
                <a:latin typeface="맑은 고딕"/>
                <a:ea typeface="맑은 고딕"/>
              </a:rPr>
              <a:t>충북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4888" y="4206240"/>
            <a:ext cx="2743200" cy="274320"/>
          </a:xfrm>
          <a:prstGeom prst="rect">
            <a:avLst/>
          </a:prstGeom>
          <a:solidFill>
            <a:srgbClr val="55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9528" y="4206240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77곳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700016"/>
            <a:ext cx="6583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239"/>
                </a:solidFill>
                <a:latin typeface="맑은 고딕"/>
                <a:ea typeface="맑은 고딕"/>
              </a:rPr>
              <a:t>경기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4888" y="4700016"/>
            <a:ext cx="1852550" cy="274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48878" y="4700016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95352"/>
                </a:solidFill>
                <a:latin typeface="맑은 고딕"/>
                <a:ea typeface="맑은 고딕"/>
              </a:rPr>
              <a:t>52곳 · 수도권 최대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193792"/>
            <a:ext cx="6583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2239"/>
                </a:solidFill>
                <a:latin typeface="맑은 고딕"/>
                <a:ea typeface="맑은 고딕"/>
              </a:rPr>
              <a:t>충남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04888" y="5193792"/>
            <a:ext cx="961901" cy="274320"/>
          </a:xfrm>
          <a:prstGeom prst="rect">
            <a:avLst/>
          </a:prstGeom>
          <a:solidFill>
            <a:srgbClr val="55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8229" y="5193792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27곳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작동 방식  ·  알람을 행동으로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알람 → 판단 → 추천 → 행동 → 기록을 한 화면에서 끝냅니다.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94560"/>
            <a:ext cx="1970166" cy="141732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19701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0571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95728"/>
            <a:ext cx="1970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07791"/>
            <a:ext cx="1970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알람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18688"/>
            <a:ext cx="1750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위내센서 발열·발정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246" y="2194560"/>
            <a:ext cx="2743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09EA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4566" y="2194560"/>
            <a:ext cx="1970166" cy="141732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4566" y="2377440"/>
            <a:ext cx="19701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6769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4566" y="2395728"/>
            <a:ext cx="1970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4566" y="2907791"/>
            <a:ext cx="1970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4294" y="3218688"/>
            <a:ext cx="1750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AI가 맥락 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6444" y="2194560"/>
            <a:ext cx="2743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09EA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0764" y="2194560"/>
            <a:ext cx="1970166" cy="141732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0764" y="2377440"/>
            <a:ext cx="19701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2967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0764" y="2395728"/>
            <a:ext cx="1970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0764" y="2907791"/>
            <a:ext cx="1970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492" y="3218688"/>
            <a:ext cx="1750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수정적기·정액·치료 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2642" y="2194560"/>
            <a:ext cx="2743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09EA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6962" y="2194560"/>
            <a:ext cx="1970166" cy="141732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6962" y="2377440"/>
            <a:ext cx="19701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9165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6962" y="2395728"/>
            <a:ext cx="1970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6962" y="2907791"/>
            <a:ext cx="1970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행동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6690" y="3218688"/>
            <a:ext cx="1750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담당자에 즉시 배정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8840" y="2194560"/>
            <a:ext cx="2743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909EAA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63160" y="2194560"/>
            <a:ext cx="1970166" cy="141732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60" y="2377440"/>
            <a:ext cx="19701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5364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63160" y="2395728"/>
            <a:ext cx="19701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3160" y="2907791"/>
            <a:ext cx="19701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2888" y="3218688"/>
            <a:ext cx="1750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결과 피드백 → 학습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114800"/>
            <a:ext cx="10874959" cy="14173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" y="429768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B0A6"/>
                </a:solidFill>
                <a:latin typeface="맑은 고딕"/>
                <a:ea typeface="맑은 고딕"/>
              </a:rPr>
              <a:t>팅커벨 AI — 말 한마디로 끝낸다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736592"/>
            <a:ext cx="101434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“경기도 발열 현황 보여줘”  →  </a:t>
            </a:r>
            <a:r>
              <a:rPr sz="1600" b="1" i="0">
                <a:solidFill>
                  <a:srgbClr val="16B0A6"/>
                </a:solidFill>
                <a:latin typeface="맑은 고딕"/>
                <a:ea typeface="맑은 고딕"/>
              </a:rPr>
              <a:t>3초</a:t>
            </a: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에 경기 농장 발열 현황이 한 화면에.  엑셀·전화가 대화 한 줄로.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방역 주권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역학조사가 며칠에서 30초로 — 1회 차단이 시스템값을 회수합니다.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057400"/>
            <a:ext cx="5254599" cy="210312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AS-IS  기존 방역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4705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B2239"/>
                </a:solidFill>
                <a:latin typeface="맑은 고딕"/>
                <a:ea typeface="맑은 고딕"/>
              </a:rPr>
              <a:t>· 전화·수기 엑셀 역학조사
· 접촉 농장 파악에 며칠
· 확산은 늘 사후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057400"/>
            <a:ext cx="5254599" cy="2103120"/>
          </a:xfrm>
          <a:prstGeom prst="rect">
            <a:avLst/>
          </a:prstGeom>
          <a:solidFill>
            <a:srgbClr val="EAF1F1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240280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95352"/>
                </a:solidFill>
                <a:latin typeface="맑은 고딕"/>
                <a:ea typeface="맑은 고딕"/>
              </a:rPr>
              <a:t>TO-BE  CowTalk 방역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697480"/>
            <a:ext cx="4705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B2239"/>
                </a:solidFill>
                <a:latin typeface="맑은 고딕"/>
                <a:ea typeface="맑은 고딕"/>
              </a:rPr>
              <a:t>· 접촉망 자동 추적 </a:t>
            </a:r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30초</a:t>
            </a:r>
            <a:r>
              <a:rPr sz="1400" b="0" i="0">
                <a:solidFill>
                  <a:srgbClr val="0B2239"/>
                </a:solidFill>
                <a:latin typeface="맑은 고딕"/>
                <a:ea typeface="맑은 고딕"/>
              </a:rPr>
              <a:t>
· 증상 전 위내센서 선제 감지
· 199농장 전국 통합 실시간 감시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434840"/>
            <a:ext cx="10874959" cy="1143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434840"/>
            <a:ext cx="53949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맑은 고딕"/>
                <a:ea typeface="맑은 고딕"/>
              </a:rPr>
              <a:t>전염병 1회 차단 = </a:t>
            </a:r>
            <a:r>
              <a:rPr sz="2400" b="1" i="0">
                <a:solidFill>
                  <a:srgbClr val="16B0A6"/>
                </a:solidFill>
                <a:latin typeface="맑은 고딕"/>
                <a:ea typeface="맑은 고딕"/>
              </a:rPr>
              <a:t>수십~수백억</a:t>
            </a:r>
            <a:r>
              <a:rPr sz="1300" b="0" i="0">
                <a:solidFill>
                  <a:srgbClr val="C7D6DE"/>
                </a:solidFill>
                <a:latin typeface="맑은 고딕"/>
                <a:ea typeface="맑은 고딕"/>
              </a:rPr>
              <a:t>
보상·살처분 비용 회피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7087" y="4434840"/>
            <a:ext cx="38404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1">
                <a:solidFill>
                  <a:srgbClr val="FFFFFF"/>
                </a:solidFill>
                <a:latin typeface="맑은 고딕"/>
                <a:ea typeface="맑은 고딕"/>
              </a:rPr>
              <a:t>“한 번만 막아도
시스템값을 회수한다.”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농가 소득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번식·질병을 데이터로 잡아 젖소 두당 연 24만원의 생산성을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240280"/>
            <a:ext cx="4531233" cy="868680"/>
          </a:xfrm>
          <a:prstGeom prst="rect">
            <a:avLst/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453123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10만
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번식효율 향상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9600" y="2240280"/>
            <a:ext cx="2718739" cy="868680"/>
          </a:xfrm>
          <a:prstGeom prst="rect">
            <a:avLst/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9600" y="2240280"/>
            <a:ext cx="27187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6만
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질병 조기대응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8340" y="2240280"/>
            <a:ext cx="2265616" cy="868680"/>
          </a:xfrm>
          <a:prstGeom prst="rect">
            <a:avLst/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8340" y="2240280"/>
            <a:ext cx="226561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5만
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산유량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73957" y="2240280"/>
            <a:ext cx="1359369" cy="868680"/>
          </a:xfrm>
          <a:prstGeom prst="rect">
            <a:avLst/>
          </a:prstGeom>
          <a:solidFill>
            <a:srgbClr val="55667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73957" y="2240280"/>
            <a:ext cx="135936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3만
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노동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9184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56676"/>
                </a:solidFill>
                <a:latin typeface="맑은 고딕"/>
                <a:ea typeface="맑은 고딕"/>
              </a:rPr>
              <a:t>젖소 </a:t>
            </a:r>
            <a:r>
              <a:rPr sz="1600" b="1" i="0">
                <a:solidFill>
                  <a:srgbClr val="0B2239"/>
                </a:solidFill>
                <a:latin typeface="맑은 고딕"/>
                <a:ea typeface="맑은 고딕"/>
              </a:rPr>
              <a:t>두당 24만원 / 년</a:t>
            </a: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  생산성 편익 (4개 항목 합산)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23360"/>
            <a:ext cx="10874959" cy="1463040"/>
          </a:xfrm>
          <a:prstGeom prst="rect">
            <a:avLst/>
          </a:prstGeom>
          <a:solidFill>
            <a:srgbClr val="E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23360"/>
            <a:ext cx="77724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B2239"/>
                </a:solidFill>
                <a:latin typeface="맑은 고딕"/>
                <a:ea typeface="맑은 고딕"/>
              </a:rPr>
              <a:t>경기 젖소 </a:t>
            </a:r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100,000두</a:t>
            </a:r>
            <a:r>
              <a:rPr sz="1600" b="0" i="0">
                <a:solidFill>
                  <a:srgbClr val="0B2239"/>
                </a:solidFill>
                <a:latin typeface="맑은 고딕"/>
                <a:ea typeface="맑은 고딕"/>
              </a:rPr>
              <a:t> 적용 시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6676"/>
                </a:solidFill>
                <a:latin typeface="맑은 고딕"/>
                <a:ea typeface="맑은 고딕"/>
              </a:rPr>
              <a:t>농가 직접 편익  </a:t>
            </a:r>
            <a:r>
              <a:rPr sz="3000" b="1" i="0">
                <a:solidFill>
                  <a:srgbClr val="095352"/>
                </a:solidFill>
                <a:latin typeface="맑은 고딕"/>
                <a:ea typeface="맑은 고딕"/>
              </a:rPr>
              <a:t>240억 / 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487" y="402336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알람이 행동으로
완결될 때
생기는 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사회·환경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적게 키우고 더 잘 짠다 — 육성우 감축으로 사료·분뇨·탄소를 동시에 줄입니다.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011680"/>
            <a:ext cx="10874959" cy="713232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011680"/>
            <a:ext cx="10234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핵심: 사육두수 ↓ 이지만 우유 총생산량은 유지.   </a:t>
            </a:r>
            <a:r>
              <a:rPr sz="1300" b="0" i="0">
                <a:solidFill>
                  <a:srgbClr val="C7D6DE"/>
                </a:solidFill>
                <a:latin typeface="맑은 고딕"/>
                <a:ea typeface="맑은 고딕"/>
              </a:rPr>
              <a:t>경기 육성우 ~80,000두 중 36,000두(45%) 감축 가능.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7180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97180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사료비 절감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8456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E7C7B"/>
                </a:solidFill>
                <a:latin typeface="맑은 고딕"/>
                <a:ea typeface="맑은 고딕"/>
              </a:rPr>
              <a:t>432억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4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/ 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농가 직접 비용↓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5274" y="297180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5274" y="297180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1306" y="322783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분뇨 배출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1306" y="3648456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43B53"/>
                </a:solidFill>
                <a:latin typeface="맑은 고딕"/>
                <a:ea typeface="맑은 고딕"/>
              </a:rPr>
              <a:t>28.8만톤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1306" y="4215384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처리비 86억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1306" y="4471416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악취·민원 완화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2180" y="297180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2180" y="297180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8212" y="322783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탄소 저감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8212" y="3648456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5352"/>
                </a:solidFill>
                <a:latin typeface="맑은 고딕"/>
                <a:ea typeface="맑은 고딕"/>
              </a:rPr>
              <a:t>10.8만톤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8212" y="4215384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CO₂eq · 108억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8212" y="4471416"/>
            <a:ext cx="29239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탄소중립 기여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029200"/>
            <a:ext cx="10874959" cy="56692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02920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사회·환경 편익 소계  ≈  626억 / 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예산·ROI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연 180억은 비용이 아니라 보험료 — 통합 편익 896억, BCR ≈ 5.0.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10512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09EAA"/>
                </a:solidFill>
                <a:latin typeface="맑은 고딕"/>
                <a:ea typeface="맑은 고딕"/>
              </a:rPr>
              <a:t>전제  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경기 젖소 100,000두 · 1,500농장 · 중계기 500만/농가 · 두당 월 15,000원(센서+CowTalk)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4151376"/>
            <a:ext cx="1554480" cy="466343"/>
          </a:xfrm>
          <a:prstGeom prst="rect">
            <a:avLst/>
          </a:prstGeom>
          <a:solidFill>
            <a:srgbClr val="55667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151376"/>
            <a:ext cx="1554480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비용 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6908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2239"/>
                </a:solidFill>
                <a:latin typeface="맑은 고딕"/>
                <a:ea typeface="맑은 고딕"/>
              </a:rPr>
              <a:t>연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94690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B2239"/>
                </a:solidFill>
                <a:latin typeface="맑은 고딕"/>
                <a:ea typeface="맑은 고딕"/>
              </a:rPr>
              <a:t>180억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3995928"/>
            <a:ext cx="1554480" cy="621792"/>
          </a:xfrm>
          <a:prstGeom prst="rect">
            <a:avLst/>
          </a:prstGeom>
          <a:solidFill>
            <a:srgbClr val="0E7C7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995928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농가 240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3918204"/>
            <a:ext cx="1554480" cy="77724"/>
          </a:xfrm>
          <a:prstGeom prst="rect">
            <a:avLst/>
          </a:prstGeom>
          <a:solidFill>
            <a:srgbClr val="243B5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84448" y="2296363"/>
            <a:ext cx="1554480" cy="1621840"/>
          </a:xfrm>
          <a:prstGeom prst="rect">
            <a:avLst/>
          </a:prstGeom>
          <a:solidFill>
            <a:srgbClr val="09535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296363"/>
            <a:ext cx="1554480" cy="162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사회·환경 626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6908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2239"/>
                </a:solidFill>
                <a:latin typeface="맑은 고딕"/>
                <a:ea typeface="맑은 고딕"/>
              </a:rPr>
              <a:t>연 편익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494690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B2239"/>
                </a:solidFill>
                <a:latin typeface="맑은 고딕"/>
                <a:ea typeface="맑은 고딕"/>
              </a:rPr>
              <a:t>896억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017520"/>
            <a:ext cx="1280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97A1E"/>
                </a:solidFill>
                <a:latin typeface="맑은 고딕"/>
                <a:ea typeface="맑은 고딕"/>
              </a:rPr>
              <a:t>× 5.0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2286000"/>
            <a:ext cx="4748479" cy="141732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4505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맑은 고딕"/>
                <a:ea typeface="맑은 고딕"/>
              </a:rPr>
              <a:t>도입 비용 (행정 예산 관점)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8346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1년차 (구축 포함)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834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255억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108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2년차~ 매년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3108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180억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383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5년 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3832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975억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886200"/>
            <a:ext cx="1460906" cy="10515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069080"/>
            <a:ext cx="1460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B0A6"/>
                </a:solidFill>
                <a:latin typeface="맑은 고딕"/>
                <a:ea typeface="맑은 고딕"/>
              </a:rPr>
              <a:t>≈ 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572000"/>
            <a:ext cx="1460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7D6DE"/>
                </a:solidFill>
                <a:latin typeface="맑은 고딕"/>
                <a:ea typeface="맑은 고딕"/>
              </a:rPr>
              <a:t>통합 BCR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28634" y="3886200"/>
            <a:ext cx="1460906" cy="10515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8634" y="4069080"/>
            <a:ext cx="1460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B0A6"/>
                </a:solidFill>
                <a:latin typeface="맑은 고딕"/>
                <a:ea typeface="맑은 고딕"/>
              </a:rPr>
              <a:t>~2.8년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634" y="4572000"/>
            <a:ext cx="1460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7D6DE"/>
                </a:solidFill>
                <a:latin typeface="맑은 고딕"/>
                <a:ea typeface="맑은 고딕"/>
              </a:rPr>
              <a:t>회수기간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72420" y="3886200"/>
            <a:ext cx="1460906" cy="10515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2420" y="4069080"/>
            <a:ext cx="1460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B0A6"/>
                </a:solidFill>
                <a:latin typeface="맑은 고딕"/>
                <a:ea typeface="맑은 고딕"/>
              </a:rPr>
              <a:t>+195억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2420" y="4572000"/>
            <a:ext cx="1460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7D6DE"/>
                </a:solidFill>
                <a:latin typeface="맑은 고딕"/>
                <a:ea typeface="맑은 고딕"/>
              </a:rPr>
              <a:t>5년 순편익(농가)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B2239"/>
                </a:solidFill>
                <a:latin typeface="맑은 고딕"/>
                <a:ea typeface="맑은 고딕"/>
              </a:rPr>
              <a:t>“농가 생산성으로 3년 안에 회수, 사료·분뇨·탄소 동시 절감, 전염병 한 번만 막으면 그 자체로 끝.”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497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어떻게 확산하나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1개 농장에서 전국·수출까지 — 검증된 구조를 단계로 확장합니다.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700784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46888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368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1576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862072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199 농장 · 경기 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30168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9EAA"/>
                </a:solidFill>
                <a:latin typeface="맑은 고딕"/>
                <a:ea typeface="맑은 고딕"/>
              </a:rPr>
              <a:t>실운영 검증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368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71576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862072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1729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경기 시범 (시군+공수의사)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30168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9EAA"/>
                </a:solidFill>
                <a:latin typeface="맑은 고딕"/>
                <a:ea typeface="맑은 고딕"/>
              </a:rPr>
              <a:t>실증·효과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368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71576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862072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1729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경기 전역 1,500 농장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30168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9EAA"/>
                </a:solidFill>
                <a:latin typeface="맑은 고딕"/>
                <a:ea typeface="맑은 고딕"/>
              </a:rPr>
              <a:t>도 단위 표준화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368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71576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862072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1729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전국 표준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30168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9EAA"/>
                </a:solidFill>
                <a:latin typeface="맑은 고딕"/>
                <a:ea typeface="맑은 고딕"/>
              </a:rPr>
              <a:t>국가 방역 고도화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368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71576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862072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17296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해외 수출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30168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9EAA"/>
                </a:solidFill>
                <a:latin typeface="맑은 고딕"/>
                <a:ea typeface="맑은 고딕"/>
              </a:rPr>
              <a:t>i18n·국가별 어댑터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6052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경기도에 드리는 요청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526280"/>
            <a:ext cx="338114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690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1. 시범사업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0383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경기 일부 시군 + 공수의사 대상 실증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5274" y="4526280"/>
            <a:ext cx="338114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3874" y="4690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2. 데이터 연계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3874" y="50383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KAHIS · 이력제 · 도 방역 데이터 연동 협조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2180" y="4526280"/>
            <a:ext cx="338114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0780" y="4690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3. 확산 로드맵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0780" y="5038344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경기 전역 → 전국 표준화 공동 수립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CowTalk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×  경기도 · 축산 디지털 행정 대전환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경기도가 대한민국 축산
디지털 행정의 첫 모델이 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84048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069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많은 곳이 표준을 만든다.  경기 52곳, 수도권 최대 거점에서
검증된 구조를 전국·세계로 확장합니다.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12064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25780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7784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전염병 1회 = 수백억 회피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512064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640" y="525780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농가·사회편익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40" y="557784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896억 / 년 (BCR ≈ 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512064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280" y="525780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557784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</a:rPr>
              <a:t>경기 → 전국 → 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093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CowTalk v5.0  ·  D2O Corp  ·  함께 만드는 축산 디지털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