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네 가지를 순서대로 말씀드립니다. 전남 한우의 현황, 그 뒤에 있는 문제, 카우톡이 제시하는 해결책, 그리고 전남이 얻게 될 기대효과입니다.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좋은 소식부터. 전남 한우는 작은 산업이 아닙니다. 23년간 3배 성장했고 전국 2위 산지입니다. 다만 그 성장이 어디서 나왔는지가 중요합니다 — 두수와 규모였습니다. 그 방식이 지금 한계에 닿았습니다.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번식우 86만원, 비육우 100만원 손실입니다. 여기서 핵심은 번식입니다. 두수는 되돌릴 수 있지만 가임암소와 번식농가가 사라지면 되돌릴 수 없습니다. 그리고 그 청구서는 전남 비육농가가 먼저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오늘 발표의 논리적 뿌리입니다. 한우는 낙농과 달리 매일 접점이 없습니다. 그래서 문제가 보일 때는 이미 늦습니다. 그리고 이건 농가가 더 노력해서 풀 수 있는 문제가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해결책으로 넘어가는 다리를 놓습니다. 장비를 더 깔자는 이야기가 아닙니다. 이미 깔린 장비의 데이터를 하나의 판단 체계로 묶자는 것입니다. 그것이 카우톡입니다.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카우톡은 센서 회사가 아닙니다. 센서는 이미 있는 것을 씁니다. 카우톡이 만드는 것은 그 위의 판단 계층입니다. 4층 중 가장 중요한 것은 4층 학습 루프입니다 — 쓸수록 정확해지는 구조라서, 데이터가 쌓일수록 전남의 자산이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카우톡의 정체성입니다. 센서 알람은 이미 세상에 많습니다. 카우톡이 메우는 것은 알람과 행동 사이입니다. 특히 번식은 한우 손실의 최대 항목이라 공태일수 하루를 줄이는 것이 곧 사료비이자 사육일수입니다.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역할이 같은 데이터를 각자 관점으로 봅니다. 중요한 건 아래 신뢰 설계입니다. 농가가 '내 데이터가 감시에 쓰인다'고 느끼는 순간 이 사업은 실패합니다. 그래서 소유권은 농가, 판단 책임은 수의사, 연동은 개방형 — 이 셋을 원칙으로 못 박았습니다.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사업의 신뢰는 여기서 나옵니다. 첫째, 이미 201개 농가에서 돌아가고 있어 개발 위험이 낮습니다. 둘째, 기초선을 먼저 잡고 대조군과 비교합니다. 효과가 안 나오면 2단계로 안 갑니다 — 그렇게 설계하는 것이 정상입니다.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네 가지 효과 중 어느 하나만으로도 명분은 되지만, 이 넷이 같은 데이터에서 동시에 나온다는 것이 핵심입니다. 다만 금액은 실증 전에 단정하지 않겠습니다. 그것이 이 사업의 산출물입니다.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153619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지속가능한 한우 산업을 위한 미래 청사진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960120" y="20116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 디지털 플랫폼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60120" y="2798064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A9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구축사업 제안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3639312"/>
            <a:ext cx="6309360" cy="566928"/>
          </a:xfrm>
          <a:prstGeom prst="roundRect">
            <a:avLst>
              <a:gd name="adj" fmla="val 9677"/>
            </a:avLst>
          </a:prstGeom>
          <a:solidFill>
            <a:srgbClr val="16354D"/>
          </a:solidFill>
          <a:ln w="12700">
            <a:solidFill>
              <a:srgbClr val="2750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63931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 — 위내센서 · 공공데이터 · AI 해석 · 역할별 액션플랜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482803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고려동물병원 대표 · 수의사  하현제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E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hhj3150@hanmail.net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0" y="482803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E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8.   ·   전라남도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현황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한우는 대한민국 한우의 중심입니다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641016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09344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15.4%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2249424"/>
            <a:ext cx="245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한우 출하 비중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2위 산지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2536" y="1481328"/>
            <a:ext cx="2641016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72536" y="1609344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24.2조원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63976" y="2249424"/>
            <a:ext cx="245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축산업 생산액 (2023)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 생산액의 40.9%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8144" y="1481328"/>
            <a:ext cx="2641016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8144" y="1609344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363만두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69584" y="2249424"/>
            <a:ext cx="245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한우 사육두수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(2026. 4) 전년 대비 −3.2%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83751" y="1481328"/>
            <a:ext cx="2641016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83751" y="1609344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42.4두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9075191" y="2249424"/>
            <a:ext cx="2458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농장당 평균 사육두수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(2000년 5.5두 → 규모화)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054096"/>
            <a:ext cx="539176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182112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23년 동안 이룬 것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48796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축산업 생산액이 2000년 8.1조원에서 24.2조원으로 약 3배가 되었습니다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농장당 사육두수 5.5두 → 42.4두. 부업에서 전업 산업으로 전환됐습니다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 이력제가 전국 시행되어 개체를 특정할 수 있는 기반은 이미 갖췄습니다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전남은 그 성장의 한 축을 담당해 왔습니다 — 출하 기준 전국 2위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3054096"/>
            <a:ext cx="5391760" cy="2212848"/>
          </a:xfrm>
          <a:prstGeom prst="roundRect">
            <a:avLst>
              <a:gd name="adj" fmla="val 2479"/>
            </a:avLst>
          </a:prstGeom>
          <a:solidFill>
            <a:srgbClr val="F2F6F8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89040" y="3182112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이룬 것의 성격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89040" y="3529584"/>
            <a:ext cx="48796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성장은 '두수와 규모'에서 나왔습니다 — 더 많이, 더 크게 기르는 방식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 자체를 끌어올리는 방식은 아직 본격화되지 않았습니다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규모는 커졌지만 관리 방식은 사람의 눈과 경험에 그대로 머물러 있습니다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다음 장의 숫자가 나옵니다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541264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541264"/>
            <a:ext cx="10692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규모는 다 키웠습니다. 이제 남은 것은 '같은 소에서 더 얻는 것' — 생산성입니다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3642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통계청 농림어업조사 · 축산물이력제 데이터(2026. 4) · 국가데이터처 가축동향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현황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지금, 기를수록 손해인 구조에 들어섰습니다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641016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09344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−86.1만원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2249424"/>
            <a:ext cx="245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번식우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마리당 순손실 (2025)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2536" y="1481328"/>
            <a:ext cx="2641016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72536" y="1609344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−99.9만원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463976" y="2249424"/>
            <a:ext cx="245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비육우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마리당 순손실 (2025)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8144" y="1481328"/>
            <a:ext cx="2641016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8144" y="1609344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−10만두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269584" y="2249424"/>
            <a:ext cx="245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새 감소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83751" y="1481328"/>
            <a:ext cx="2641016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83751" y="1609344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−3,689호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075191" y="2249424"/>
            <a:ext cx="2458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사육 농장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새 감소 (−4.8%)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999232"/>
            <a:ext cx="5391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127248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말하는 것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3474720"/>
            <a:ext cx="487969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생산액은 사상 최대인데 농가 손익은 마이너스입니다 — 사료비·인건비가 증가분을 모두 흡수했습니다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구조에서는 재투자가 멈춥니다. 시설도, 후계 인력도 함께 멈춥니다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송아지 가격 강세는 호황 신호가 아니라 생산기반이 줄고 있다는 경고입니다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2999232"/>
            <a:ext cx="5391760" cy="2377440"/>
          </a:xfrm>
          <a:prstGeom prst="roundRect">
            <a:avLst>
              <a:gd name="adj" fmla="val 2308"/>
            </a:avLst>
          </a:prstGeom>
          <a:solidFill>
            <a:srgbClr val="FAEDEB"/>
          </a:solidFill>
          <a:ln w="9525">
            <a:solidFill>
              <a:srgbClr val="E4B4AC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89040" y="3127248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위험한 신호 — 번식 기반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89040" y="3474720"/>
            <a:ext cx="487969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사육두수 감소는 수급 조절로 회복됩니다. 그러나 가임암소와 번식농가의 소멸은 회복되지 않습니다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손실이 더 크기 때문에 번식농가가 먼저 그만둡니다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 감소는 3~4년 뒤 송아지 공급 부족으로 돌아옵니다 — 전남 비육농가가 먼저 타격을 받습니다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541264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BE3A2B"/>
          </a:solidFill>
          <a:ln w="12700">
            <a:solidFill>
              <a:srgbClr val="BE3A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541264"/>
            <a:ext cx="10692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필요한 것은 보조금이 아니라 두당 원가와 손실 요인을 줄이는 구조입니다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36422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통계청 2025년 축산물생산비조사 · 국가데이터처 가축동향(2026. 6. 1 기준)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문제점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— 한우는 ‘보이지 않는 산업’입니다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9176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91056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농가는 30개월을 계기판 없이 운행합니다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75104"/>
          <a:ext cx="4879696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148840"/>
                <a:gridCol w="1956816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낙농 (젖소)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4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일일 접점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착유 2회 — 유량 자동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E3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(급이 외 부재)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감지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유량 저하로 즉시 포착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E3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 발현까지 미포착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교정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E3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도체성적 — 30개월 뒤 1회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3291840"/>
            <a:ext cx="487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낙농은 매일 데이터가 쌓이지만, 한우는 30개월 뒤 도체성적 한 번이 유일한 성적표입니다.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교정할 기회 없이 결과만 확인하는 구조입니다.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33008" y="1463040"/>
            <a:ext cx="5391760" cy="2487168"/>
          </a:xfrm>
          <a:prstGeom prst="roundRect">
            <a:avLst>
              <a:gd name="adj" fmla="val 2206"/>
            </a:avLst>
          </a:prstGeom>
          <a:solidFill>
            <a:srgbClr val="F2F6F8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89040" y="1591056"/>
            <a:ext cx="487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보이지 않아서 생기는 손실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89040" y="1975104"/>
            <a:ext cx="48796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1회 미발견 = 공태 21일 연장 — 한우는 발현이 미약하고 야간 발정이 많습니다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 감시 실패 — 밤샘 대기와 난산 대응 시점 판단이 사람에게 달려 있습니다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질병은 외관 증상이 보이는 시점엔 이미 늦습니다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번식장애 조기 발견 실패 → 도태 지연 → 사료비만 누적됩니다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4114800"/>
            <a:ext cx="11057839" cy="1298448"/>
          </a:xfrm>
          <a:prstGeom prst="roundRect">
            <a:avLst>
              <a:gd name="adj" fmla="val 4225"/>
            </a:avLst>
          </a:prstGeom>
          <a:solidFill>
            <a:srgbClr val="FAEDEB"/>
          </a:solidFill>
          <a:ln w="9525">
            <a:solidFill>
              <a:srgbClr val="E4B4AC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4224528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3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이 네 가지는 모두 ‘24시간 관찰’의 문제입니다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45720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축산농가 고령화가 진행되는 상황에서, 밤샘 관찰을 사람의 노력으로 더 늘리는 방식은 불가능합니다.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보조금으로도 풀리지 않습니다 — 관찰 자체를 기계가 대신해야 풀리는 문제입니다.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5614416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5614416"/>
            <a:ext cx="10692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산업의 문제는 ‘노력 부족’이 아니라 ‘데이터 부재’입니다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문제점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그동안의 대책이 멈춰 선 지점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57839" cy="512064"/>
          </a:xfrm>
          <a:prstGeom prst="roundRect">
            <a:avLst>
              <a:gd name="adj" fmla="val 10714"/>
            </a:avLst>
          </a:prstGeom>
          <a:solidFill>
            <a:srgbClr val="F2F6F8"/>
          </a:solidFill>
          <a:ln w="9525">
            <a:solidFill>
              <a:srgbClr val="D3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44752"/>
            <a:ext cx="106189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자동급이기 · 환기장치 · 발정탐지기 · 위내센서 · CCTV — 장비는 계속 보급됐습니다. 그런데 농가의 문제는 줄지 않았습니다. 왜일까요.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157984"/>
            <a:ext cx="3576218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322576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BE3A2B"/>
          </a:solidFill>
          <a:ln w="12700">
            <a:solidFill>
              <a:srgbClr val="BE3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32257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89888" y="2322576"/>
            <a:ext cx="25155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장비의 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816352"/>
            <a:ext cx="30641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장비마다 별도 프로그램과 데이터 형식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농가는 여러 앱을 따로 확인해야 합니다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장비를 바꾸면 과거 데이터를 쓸 수 없습니다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7738" y="2157984"/>
            <a:ext cx="3576218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5482" y="2322576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BE3A2B"/>
          </a:solidFill>
          <a:ln w="12700">
            <a:solidFill>
              <a:srgbClr val="BE3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5482" y="232257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30698" y="2322576"/>
            <a:ext cx="25155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알람과 행동의 단절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63770" y="2816352"/>
            <a:ext cx="30641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알람은 오는데 무엇을 먼저 할지 알려주지 않습니다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‘발정입니다’ 다음에 판단은 농가 몫입니다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이상과 실제 질병을 구분하기 어렵습니다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8549" y="2157984"/>
            <a:ext cx="3576218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86293" y="2322576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BE3A2B"/>
          </a:solidFill>
          <a:ln w="12700">
            <a:solidFill>
              <a:srgbClr val="BE3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6293" y="232257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71509" y="2322576"/>
            <a:ext cx="25155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닫힌 데이터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04581" y="2816352"/>
            <a:ext cx="306415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수의사에게 데이터가 자동 전달되지 않습니다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지자체는 농장별 위험을 실시간으로 못 봅니다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정책사업의 실제 효과를 측정할 수 없습니다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407408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FFF6E8"/>
          </a:solidFill>
          <a:ln w="9525">
            <a:solidFill>
              <a:srgbClr val="E8C98C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51713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정리하면 — 문제는 ‘장비가 부족한 것’이 아닙니다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828032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센서는 이미 세계 최고 수준입니다. 비어 있는 것은 ‘감지’와 ‘행동’ 사이의 다리입니다.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관찰할지는 기계가 풀었지만, 그래서 무엇을 해야 하는지는 여전히 사람이 혼자 판단합니다.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779008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D9932F"/>
          </a:solidFill>
          <a:ln w="12700">
            <a:solidFill>
              <a:srgbClr val="D993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779008"/>
            <a:ext cx="10692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필요한 것은 장비가 아니라, 감지 → 판단 → 행동 → 기록을 잇는 운영체제입니다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해결책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카우톡 — 축산 디지털 운영체제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26464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위내센서</a:t>
            </a:r>
            <a:pPr algn="ctr" indent="0" marL="0">
              <a:buNone/>
            </a:pPr>
            <a:r>
              <a:rPr lang="en-US" sz="1500" dirty="0">
                <a:solidFill>
                  <a:srgbClr val="7E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공공데이터</a:t>
            </a:r>
            <a:pPr algn="ctr" indent="0" marL="0">
              <a:buNone/>
            </a:pPr>
            <a:r>
              <a:rPr lang="en-US" sz="1500" dirty="0">
                <a:solidFill>
                  <a:srgbClr val="7E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해석</a:t>
            </a:r>
            <a:pPr algn="ctr" indent="0" marL="0">
              <a:buNone/>
            </a:pPr>
            <a:r>
              <a:rPr lang="en-US" sz="1500" dirty="0">
                <a:solidFill>
                  <a:srgbClr val="7E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액션플랜</a:t>
            </a:r>
            <a:pPr algn="ctr" indent="0" marL="0">
              <a:buNone/>
            </a:pPr>
            <a:r>
              <a:rPr lang="en-US" sz="1500" dirty="0">
                <a:solidFill>
                  <a:srgbClr val="7E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=   </a:t>
            </a:r>
            <a:pPr algn="ctr" indent="0" marL="0">
              <a:buNone/>
            </a:pPr>
            <a:r>
              <a:rPr lang="en-US" sz="1500" b="1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디지털 운영체제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4계층 구조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7360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7432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259689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통합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0048" y="2615184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위내센서(체온·활동·반추) + 이력제 · 혈통 · 등급판정 · 경락가 · 기상 · 방역 공공데이터 + 농장 기록 → 통합 개체 프로필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7360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3438144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해석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0048" y="345643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이벤트는 재판단하지 않고 신뢰. 맥락을 붙여 해석하고 개체별 조치를 생성 — 근거·기여요인·한계를 함께 표시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7360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42569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427939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전달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70048" y="42976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· 수의사 · 방역관 · 행정이 같은 데이터를 각자의 화면과 액션으로 받습니다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5065776"/>
            <a:ext cx="7360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26694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526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61872" y="512064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루프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70048" y="513892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결과와 전문가 판단이 다시 입력됩니다. 오탐률·확진율을 집계해 판단 기준을 스스로 보정합니다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83880" y="2212848"/>
            <a:ext cx="3440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중인 AI 엔진 6종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83880" y="2542032"/>
            <a:ext cx="3440887" cy="3200400"/>
          </a:xfrm>
          <a:prstGeom prst="roundRect">
            <a:avLst>
              <a:gd name="adj" fmla="val 1714"/>
            </a:avLst>
          </a:prstGeom>
          <a:solidFill>
            <a:srgbClr val="F2F6F8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21624" y="2706624"/>
            <a:ext cx="2965399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LLM 해석 엔진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v4 룰 엔진 (fallback)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AI (수정적기·정액추천)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감별진단 엔진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 인텔리전스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신뢰도 학습 루프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21624" y="4828032"/>
            <a:ext cx="296539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단독 판단하지 않습니다.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해석이 불가할 때는 룰 엔진이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분석을 수행합니다 — 24/7 무중단.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5870448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870448"/>
            <a:ext cx="10692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센서는 보고, AI는 판단하고, 사람은 행동합니다 — 셋이 한 화면에서 끝납니다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해결책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알람에서 끝나지 않고 ‘행동’까지 갑니다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081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AI 루프 — 한우 손실의 최대 항목인 공태일수를 직접 겨냥합니다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1766773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8291" y="18836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8291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322576"/>
            <a:ext cx="16570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감지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" y="2596896"/>
            <a:ext cx="160218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위내센서가 야간·미약 발정까지 24시간 포착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5141" y="1755648"/>
            <a:ext cx="1766773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16504" y="18836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16504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80005" y="2322576"/>
            <a:ext cx="16570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적기 계산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07437" y="2596896"/>
            <a:ext cx="160218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목장별 번식설정을 반영해 수정 적기 산출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83354" y="1755648"/>
            <a:ext cx="1766773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717" y="18836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717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38218" y="2322576"/>
            <a:ext cx="16570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정액 추천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65650" y="2596896"/>
            <a:ext cx="160218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혈통·근교계수·씨수소 공공데이터 기반 추천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41568" y="1755648"/>
            <a:ext cx="1766773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32930" y="18836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293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96432" y="2322576"/>
            <a:ext cx="16570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점검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23864" y="2596896"/>
            <a:ext cx="160218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이력·휴약기간·수정 실패 횟수 사전 확인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999781" y="1755648"/>
            <a:ext cx="1766773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91143" y="18836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91143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54645" y="2322576"/>
            <a:ext cx="16570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실행·기록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82077" y="2596896"/>
            <a:ext cx="160218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수정사 알림 → 실제 사용 정액까지 기록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857994" y="1755648"/>
            <a:ext cx="1766773" cy="1481328"/>
          </a:xfrm>
          <a:prstGeom prst="roundRect">
            <a:avLst>
              <a:gd name="adj" fmla="val 3704"/>
            </a:avLst>
          </a:prstGeom>
          <a:solidFill>
            <a:srgbClr val="FFF6E8"/>
          </a:solidFill>
          <a:ln w="9525">
            <a:solidFill>
              <a:srgbClr val="E8C98C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49357" y="188366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D9932F"/>
          </a:solidFill>
          <a:ln w="12700">
            <a:solidFill>
              <a:srgbClr val="D993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49357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912858" y="2322576"/>
            <a:ext cx="16570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40290" y="2596896"/>
            <a:ext cx="160218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임신감정 결과가 다시 AI 정확도로 환류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329184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6번이 다시 1번으로 돌아갑니다 — 쓸수록 정확해지는 순환 구조입니다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3657600"/>
            <a:ext cx="539176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2960" y="3785616"/>
            <a:ext cx="487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원리로 이미 작동하는 것들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22960" y="4114800"/>
            <a:ext cx="4879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감별진단 — 이상 개체의 질병 후보를 확률 순위로 제시하고 확인검사 순서까지 안내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 결과 추적 — 치료 후 센서 변화를 비교해 회복·악화 자동 판정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룰 — 알람이 뜨면 지정한 조치가 자동 실행(승인 게이트 경유)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AI — 농가가 말로 묻고 답을 받습니다(앱 조작 불필요)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33008" y="3657600"/>
            <a:ext cx="5391760" cy="1883664"/>
          </a:xfrm>
          <a:prstGeom prst="roundRect">
            <a:avLst>
              <a:gd name="adj" fmla="val 2913"/>
            </a:avLst>
          </a:prstGeom>
          <a:solidFill>
            <a:srgbClr val="F2F6F8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89040" y="3785616"/>
            <a:ext cx="487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기존 센서 서비스와 다른 지점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489040" y="4114800"/>
            <a:ext cx="48796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기존: “발정입니다” → 그 다음 판단은 농가 몫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카우톡: “423번, 내일 06시 수정 적기. 추천 정액 KPN○○○○. 최근 유방염 치료 이력 있음 — 휴약 종료 확인 필요”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근거와 정확도, 한계를 함께 보여주므로 농가가 납득하고 실행할 수 있습니다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" y="5742432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742432"/>
            <a:ext cx="10692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알람이 아니라 ‘결정’을 드립니다 — 무엇을, 언제, 어떤 순서로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해결책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데이터, 네 개의 눈 — 농가에서 도정까지 한 체계로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641016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91056"/>
            <a:ext cx="2348408" cy="347472"/>
          </a:xfrm>
          <a:prstGeom prst="roundRect">
            <a:avLst>
              <a:gd name="adj" fmla="val 13158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91056"/>
            <a:ext cx="234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029968"/>
            <a:ext cx="22752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작업목록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개체 우선순위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발정·분만 알림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치료·투약 기록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두당 경제효과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2536" y="1463040"/>
            <a:ext cx="2641016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18840" y="1591056"/>
            <a:ext cx="2348408" cy="347472"/>
          </a:xfrm>
          <a:prstGeom prst="roundRect">
            <a:avLst>
              <a:gd name="adj" fmla="val 13158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8840" y="1591056"/>
            <a:ext cx="234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55416" y="2029968"/>
            <a:ext cx="22752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개체 사전 선별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전 데이터 확인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감별진단 근거 제시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 전후 생체 비교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항생제 사용 관리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8144" y="1463040"/>
            <a:ext cx="2641016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4448" y="1591056"/>
            <a:ext cx="2348408" cy="347472"/>
          </a:xfrm>
          <a:prstGeom prst="roundRect">
            <a:avLst>
              <a:gd name="adj" fmla="val 13158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4448" y="1591056"/>
            <a:ext cx="234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1024" y="2029968"/>
            <a:ext cx="22752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시군별 이상징후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 간 이동 추적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위험 시뮬레이션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방역조치 이력관리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현황 드릴다운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83751" y="1463040"/>
            <a:ext cx="2641016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30055" y="1591056"/>
            <a:ext cx="2348408" cy="347472"/>
          </a:xfrm>
          <a:prstGeom prst="roundRect">
            <a:avLst>
              <a:gd name="adj" fmla="val 13158"/>
            </a:avLst>
          </a:prstGeom>
          <a:solidFill>
            <a:srgbClr val="14344F"/>
          </a:solidFill>
          <a:ln w="12700">
            <a:solidFill>
              <a:srgbClr val="1434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0055" y="1591056"/>
            <a:ext cx="234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66631" y="2029968"/>
            <a:ext cx="227525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생산량·수급 전망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 취약농가 지도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정책사업 효과분석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보조사업 성과측정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축산행정 디지털화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369417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농가가 남긴 조치 기록이 수의사의 진단 근거가 되고, 그것이 방역 판단과 도정 통계가 됩니다 — 데이터가 한 번만 입력되고 네 곳에서 쓰입니다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40782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설계 — 이 세 가지가 없으면 아무도 쓰지 않습니다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407408"/>
            <a:ext cx="3576218" cy="1298448"/>
          </a:xfrm>
          <a:prstGeom prst="roundRect">
            <a:avLst>
              <a:gd name="adj" fmla="val 4225"/>
            </a:avLst>
          </a:prstGeom>
          <a:solidFill>
            <a:srgbClr val="F2F6F8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6384" y="4517136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소유권은 농가에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86384" y="4809744"/>
            <a:ext cx="31373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행정에는 농가 동의 아래 익명화된 위험등급과 정책지표만 제공합니다. 원시데이터·연구·상업 활용 권한을 분리합니다.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07738" y="4407408"/>
            <a:ext cx="3576218" cy="1298448"/>
          </a:xfrm>
          <a:prstGeom prst="roundRect">
            <a:avLst>
              <a:gd name="adj" fmla="val 4225"/>
            </a:avLst>
          </a:prstGeom>
          <a:solidFill>
            <a:srgbClr val="F2F6F8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27194" y="4517136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승인 게이트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27194" y="4809744"/>
            <a:ext cx="31373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진단하지 않습니다. 볼 것을 골라줄 뿐이며 최종 진단과 처방은 수의사가 합니다. 판단근거·정확도·한계를 항상 함께 표시합니다.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8549" y="4407408"/>
            <a:ext cx="3576218" cy="1298448"/>
          </a:xfrm>
          <a:prstGeom prst="roundRect">
            <a:avLst>
              <a:gd name="adj" fmla="val 4225"/>
            </a:avLst>
          </a:prstGeom>
          <a:solidFill>
            <a:srgbClr val="F2F6F8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68005" y="4517136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연동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68005" y="4809744"/>
            <a:ext cx="31373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장비·업체 종속을 배제하고 표준 API로 연동합니다. 이미 설치된 장비도 그대로 붙고, 업체를 바꿔도 데이터는 남습니다.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870448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870448"/>
            <a:ext cx="10692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농가가 쓰면 도정 통계가 되고, 도정이 쓰면 농가에 돌아갑니다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구축 방안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맨바닥에서 시작하지 않습니다 — 3단계 확산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264101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572768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245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농가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2536" y="1444752"/>
            <a:ext cx="264101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72536" y="1572768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11,170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63976" y="2212848"/>
            <a:ext cx="245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두수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8144" y="1444752"/>
            <a:ext cx="264101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8144" y="1572768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11,127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69584" y="2212848"/>
            <a:ext cx="245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센서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83751" y="1444752"/>
            <a:ext cx="264101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83751" y="1572768"/>
            <a:ext cx="264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757,062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075191" y="2212848"/>
            <a:ext cx="245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AI 판단 이벤트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596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운영 대시보드 실측치 · AI 엔진 6종 24/7 가동 · 2013년 국내 최초 반추위 센서 도입 이후 13년간 축적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926080"/>
            <a:ext cx="3576218" cy="2286000"/>
          </a:xfrm>
          <a:prstGeom prst="roundRect">
            <a:avLst>
              <a:gd name="adj" fmla="val 2400"/>
            </a:avLst>
          </a:prstGeom>
          <a:solidFill>
            <a:srgbClr val="FFF6E8"/>
          </a:solidFill>
          <a:ln w="9525">
            <a:solidFill>
              <a:srgbClr val="E8C98C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" y="3054096"/>
            <a:ext cx="3100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  1년차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" y="3310128"/>
            <a:ext cx="31007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기반 구축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" y="3694176"/>
            <a:ext cx="310073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3~5개 · 농가 30~50호 선정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전 1년 기초선 데이터 확보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번식·질병·열스트레스 중점 실증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비참여 농가와 대조 측정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07738" y="2926080"/>
            <a:ext cx="357621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45482" y="3054096"/>
            <a:ext cx="3100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  2~3년차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45482" y="3310128"/>
            <a:ext cx="31007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확산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45482" y="3694176"/>
            <a:ext cx="310073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전 시군으로 확대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축산 관제 화면 운영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수의사·축협·생산자단체 연계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설치·AS 인력 지역 육성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8549" y="2926080"/>
            <a:ext cx="357621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3DCE3"/>
            </a:solidFill>
            <a:prstDash val="solid"/>
          </a:ln>
          <a:effectLst>
            <a:outerShdw sx="100000" sy="100000" kx="0" ky="0" algn="bl" rotWithShape="0" blurRad="114300" dist="12700" dir="5400000">
              <a:srgbClr val="0E223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86293" y="3054096"/>
            <a:ext cx="3100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  4~5년차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86293" y="3310128"/>
            <a:ext cx="31007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표준 · 국가 확산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86293" y="3694176"/>
            <a:ext cx="310073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전남형 한우 데이터 표준 확정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저탄소·동물복지 인증 연계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시도 공급 · 국가 모델 제안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K-축산 플랫폼 수출 기반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431536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F2F6F8"/>
          </a:solidFill>
          <a:ln w="9525">
            <a:solidFill>
              <a:srgbClr val="D3DC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431536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원칙 — ① 사업 전 기초선을 먼저 확보   ② 참여·비참여 농가를 함께 측정   ③ 실패 항목까지 포함해 공개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6181344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6181344"/>
            <a:ext cx="106920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1단계가 2·3단계의 판단 근거를 만듭니다 — 검증되지 않은 확산은 하지 않습니다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기대효과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얻게 될 네 가지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641016" cy="2487168"/>
          </a:xfrm>
          <a:prstGeom prst="roundRect">
            <a:avLst>
              <a:gd name="adj" fmla="val 2206"/>
            </a:avLst>
          </a:prstGeom>
          <a:solidFill>
            <a:srgbClr val="16354D"/>
          </a:solidFill>
          <a:ln w="12700">
            <a:solidFill>
              <a:srgbClr val="27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09344"/>
            <a:ext cx="2348408" cy="365760"/>
          </a:xfrm>
          <a:prstGeom prst="roundRect">
            <a:avLst>
              <a:gd name="adj" fmla="val 12500"/>
            </a:avLst>
          </a:prstGeom>
          <a:solidFill>
            <a:srgbClr val="D9932F"/>
          </a:solidFill>
          <a:ln w="12700">
            <a:solidFill>
              <a:srgbClr val="D993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09344"/>
            <a:ext cx="234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경제성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066544"/>
            <a:ext cx="22386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공태일수 단축 → 분만간격 축소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조기발견 → 폐사·치료비 감소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횟수 감소 → 직접비 절감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관찰 노동의 대체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두당 수익 개선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2536" y="1463040"/>
            <a:ext cx="2641016" cy="2487168"/>
          </a:xfrm>
          <a:prstGeom prst="roundRect">
            <a:avLst>
              <a:gd name="adj" fmla="val 2206"/>
            </a:avLst>
          </a:prstGeom>
          <a:solidFill>
            <a:srgbClr val="16354D"/>
          </a:solidFill>
          <a:ln w="12700">
            <a:solidFill>
              <a:srgbClr val="27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8840" y="1609344"/>
            <a:ext cx="2348408" cy="365760"/>
          </a:xfrm>
          <a:prstGeom prst="roundRect">
            <a:avLst>
              <a:gd name="adj" fmla="val 12500"/>
            </a:avLst>
          </a:prstGeom>
          <a:solidFill>
            <a:srgbClr val="D9932F"/>
          </a:solidFill>
          <a:ln w="12700">
            <a:solidFill>
              <a:srgbClr val="D993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8840" y="1609344"/>
            <a:ext cx="234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가축질병 대응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73704" y="2066544"/>
            <a:ext cx="22386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단위 이상징후 조기경보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 간 이동 기반 접촉 추적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시군·도 단위 확산 예측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방역자원 배치 우선순위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방역비용·피해 축소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8144" y="1463040"/>
            <a:ext cx="2641016" cy="2487168"/>
          </a:xfrm>
          <a:prstGeom prst="roundRect">
            <a:avLst>
              <a:gd name="adj" fmla="val 2206"/>
            </a:avLst>
          </a:prstGeom>
          <a:solidFill>
            <a:srgbClr val="16354D"/>
          </a:solidFill>
          <a:ln w="12700">
            <a:solidFill>
              <a:srgbClr val="27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4448" y="1609344"/>
            <a:ext cx="2348408" cy="365760"/>
          </a:xfrm>
          <a:prstGeom prst="roundRect">
            <a:avLst>
              <a:gd name="adj" fmla="val 12500"/>
            </a:avLst>
          </a:prstGeom>
          <a:solidFill>
            <a:srgbClr val="D9932F"/>
          </a:solidFill>
          <a:ln w="12700">
            <a:solidFill>
              <a:srgbClr val="D99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4448" y="1609344"/>
            <a:ext cx="234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환경·지속가능성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9312" y="2066544"/>
            <a:ext cx="22386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사육기간 단축 → 두당 배출 감소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사료효율 개선 → 자원 절감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분뇨·악취 이력관리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 인증 데이터 확보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경축순환 모델 연계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83751" y="1463040"/>
            <a:ext cx="2641016" cy="2487168"/>
          </a:xfrm>
          <a:prstGeom prst="roundRect">
            <a:avLst>
              <a:gd name="adj" fmla="val 2206"/>
            </a:avLst>
          </a:prstGeom>
          <a:solidFill>
            <a:srgbClr val="16354D"/>
          </a:solidFill>
          <a:ln w="12700">
            <a:solidFill>
              <a:srgbClr val="27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30055" y="1609344"/>
            <a:ext cx="2348408" cy="365760"/>
          </a:xfrm>
          <a:prstGeom prst="roundRect">
            <a:avLst>
              <a:gd name="adj" fmla="val 12500"/>
            </a:avLst>
          </a:prstGeom>
          <a:solidFill>
            <a:srgbClr val="D9932F"/>
          </a:solidFill>
          <a:ln w="12700">
            <a:solidFill>
              <a:srgbClr val="D993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0055" y="1609344"/>
            <a:ext cx="234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데이터 주권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84919" y="2066544"/>
            <a:ext cx="22386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데이터는 한국에서만 생성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한우 데이터셋 구축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정책이 근거 위에서 결정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AI 인력·기업 유치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9E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표준·수출 기반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40416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위 항목은 실증에서 두당 금액으로 환산해 확정할 지표입니다. 검증 전 수치를 단정하지 않는 것이 이 사업의 원칙입니다.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4443984"/>
            <a:ext cx="11057839" cy="1243584"/>
          </a:xfrm>
          <a:prstGeom prst="roundRect">
            <a:avLst>
              <a:gd name="adj" fmla="val 4412"/>
            </a:avLst>
          </a:prstGeom>
          <a:solidFill>
            <a:srgbClr val="16354D"/>
          </a:solidFill>
          <a:ln w="15875">
            <a:solidFill>
              <a:srgbClr val="D993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553712"/>
            <a:ext cx="104360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지속가능한 한우 산업이란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" y="4864608"/>
            <a:ext cx="104360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농가가 밤을 새우지 않아도 소를 놓치지 않고, 수의사가 도착하기 전에 무엇을 볼지 알고,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행정이 추측이 아니라 데이터로 판단하는 축산입니다. 그 기반은 개체 데이터 한 줄에서 시작합니다.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58521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9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올해 놓친 개체 데이터는 내년에 만들 수 없습니다 — 시작하는 시점이 곧 격차입니다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62727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9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  질의응답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전남 한우 미래 청사진 — 카우톡 AI 축산 디지털 플랫폼</dc:title>
  <dc:subject>PptxGenJS Presentation</dc:subject>
  <dc:creator>하현제</dc:creator>
  <cp:lastModifiedBy>하현제</cp:lastModifiedBy>
  <cp:revision>1</cp:revision>
  <dcterms:created xsi:type="dcterms:W3CDTF">2026-08-02T21:50:03Z</dcterms:created>
  <dcterms:modified xsi:type="dcterms:W3CDTF">2026-08-02T21:50:03Z</dcterms:modified>
</cp:coreProperties>
</file>