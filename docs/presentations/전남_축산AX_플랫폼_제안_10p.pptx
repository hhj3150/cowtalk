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인사. 오늘 25분 안에 세 가지만 말씀드리겠습니다. 왜 지금이어야 하는가, 무엇을 만들 것인가, 전남이 무엇을 얻는가. 요청드리는 것은 사업 착수가 아니라 검토 착수입니다.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장이 오늘 발표 전부입니다. 기회는 이미 전남에 왔고, 그 안에 축산이 빠져 있고, 지금이 넣을 수 있는 마지막 시점이며, 필요한 결정은 세 가지입니다.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장의 메시지는 하나입니다 — 시점. 지금 넣지 않으면 사업 구조가 굳은 뒤에는 바꾸기 어렵습니다. 축산은 전남 농업의 핵심인데, 우리가 유치한 플랫폼에서 빠지는 결과가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번식우 86만원, 비육우 100만원 손실입니다. 이 구조에서는 아무도 재투자하지 않습니다. 그리고 전남은 출하 2위 산지라, 번식 기반 붕괴의 청구서를 가장 먼저 받는 지역입니다.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여기가 이 사업의 논리적 핵심입니다. 문제는 장비 부족이 아니라 연결 부재입니다. 2026년 축산 ICT 보급은 전국 81개 농가 수준 — 이 속도로 장비를 깔아서 데이터를 모으려면 수십 년이 걸립니다.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'중복 아니냐'는 질문이 반드시 나옵니다. 답은 역할 분담입니다. 국가 플랫폼은 범농업 공통 기반, 카우톡은 축산 생체·수의·방역을 처리하는 실행계층입니다.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실무자가 가장 걱정하는 두 가지를 여기서 먼저 답합니다 — 농가 데이터가 행정에 노출되지 않는가, AI 오진 책임은 누가 지는가. 소유권은 농가, 판단 책임은 수의사입니다.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신뢰를 얻습니다. 잘하는 것만 말하지 않습니다. 1만 두 데이터의 한계를 먼저 말하고, 그래서 광역 실증이 필요하다는 논리로 연결합니다. 수치는 발표 당일 /api/public/stats로 최신값 확인 후 갱신할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경제성은 플랫폼 매출이 아니라 회피되는 손실의 총합으로 평가해야 합니다. 두당 회수액을 지금 단정하지 않는 것은 정직함 때문입니다 — 그 확정이 실증사업의 산출물입니다.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오늘 결정하실 것은 사업 추진이 아니라 검토를 시작해도 좋다는 판단입니다. 1~3번만 결정되면 나머지는 순차로 진행됩니다. 질의응답.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1572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전라남도 축산업 인공지능 대전환 (AX) 정책 제안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60120" y="2066544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축산 AX 플랫폼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60120" y="288950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CowTalk Jeonnam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60120" y="3675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3D2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농업 AX 플랫폼(2,546억원) 위에 축산 전문영역을 탑재하는 방안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960120" y="4626864"/>
            <a:ext cx="4663440" cy="969264"/>
          </a:xfrm>
          <a:prstGeom prst="roundRect">
            <a:avLst>
              <a:gd name="adj" fmla="val 5660"/>
            </a:avLst>
          </a:prstGeom>
          <a:solidFill>
            <a:srgbClr val="1E3A2E"/>
          </a:solidFill>
          <a:ln w="12700">
            <a:solidFill>
              <a:srgbClr val="2E5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4718304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고려동물병원 대표 · 수의사  하현제</a:t>
            </a: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9CB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hhj3150@hanmail.net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4626864"/>
            <a:ext cx="5212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B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8. 3. (월)   ·   전라남도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요약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제안을 한 장으로 말씀드리면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57839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83664"/>
            <a:ext cx="877824" cy="438912"/>
          </a:xfrm>
          <a:prstGeom prst="roundRect">
            <a:avLst>
              <a:gd name="adj" fmla="val 125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83664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65376" y="1746504"/>
            <a:ext cx="94850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전남이 국가 농업 AX 플랫폼 사업지역으로 최종 선정됐습니다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65376" y="2139696"/>
            <a:ext cx="94850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2026~2030년 총사업비 2,546억원 · 무안군 해제면 · 연내 SPC 설립 예정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734056"/>
            <a:ext cx="11057839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3044952"/>
            <a:ext cx="877824" cy="438912"/>
          </a:xfrm>
          <a:prstGeom prst="roundRect">
            <a:avLst>
              <a:gd name="adj" fmla="val 12500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044952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65376" y="2907792"/>
            <a:ext cx="94850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그 사업의 골자에 축산이 명시되어 있지 않습니다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65376" y="3300984"/>
            <a:ext cx="94850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기상·토양·생육 데이터와 파종·방제·수확 — 재배업 기반으로 설계가 시작됐습니다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895344"/>
            <a:ext cx="11057839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4206240"/>
            <a:ext cx="877824" cy="438912"/>
          </a:xfrm>
          <a:prstGeom prst="roundRect">
            <a:avLst>
              <a:gd name="adj" fmla="val 12500"/>
            </a:avLst>
          </a:prstGeom>
          <a:solidFill>
            <a:srgbClr val="12261F"/>
          </a:solidFill>
          <a:ln w="12700">
            <a:solidFill>
              <a:srgbClr val="1226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4206240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65376" y="4069080"/>
            <a:ext cx="94850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플랫폼 위에 「전남 축산 AX 플랫폼」을 축산 전문영역으로 탑재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65376" y="4462272"/>
            <a:ext cx="94850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플랫폼이 아니라, 국가 플랫폼의 축산 기능을 완성하는 실행계층입니다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5056632"/>
            <a:ext cx="11057839" cy="1060704"/>
          </a:xfrm>
          <a:prstGeom prst="roundRect">
            <a:avLst>
              <a:gd name="adj" fmla="val 5172"/>
            </a:avLst>
          </a:prstGeom>
          <a:solidFill>
            <a:srgbClr val="FBF6E6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5367528"/>
            <a:ext cx="877824" cy="438912"/>
          </a:xfrm>
          <a:prstGeom prst="roundRect">
            <a:avLst>
              <a:gd name="adj" fmla="val 125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5367528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65376" y="5230368"/>
            <a:ext cx="94850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필요한 결정은 세 가지입니다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65376" y="5623560"/>
            <a:ext cx="94850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축산 전문영역 공식 반영   ② 실무협의체 구성   ③ 타당성 조사 용역 추진(6개월·3~5억원 규모 안)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199632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결정하실 것은 사업 추진이 아니라, 검토를 시작해도 좋다는 판단입니다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왜 지금인가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기회는 이미 왔습니다 — 다만 축산이 빠져 있습니다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57621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27632"/>
            <a:ext cx="35762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2,546억원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2286000"/>
            <a:ext cx="339333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농업 AX 플랫폼 총사업비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~ 2030년 · 정부지원 최대 1,400억원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07738" y="1481328"/>
            <a:ext cx="357621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07738" y="1627632"/>
            <a:ext cx="35762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2026. 7. 27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99178" y="2286000"/>
            <a:ext cx="339333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민간참여자 최종 선정 · 실시협약 체결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무안군 해제면 일원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8549" y="1481328"/>
            <a:ext cx="357621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8549" y="1627632"/>
            <a:ext cx="35762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연내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39989" y="2286000"/>
            <a:ext cx="339333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특수목적법인(SPC) 설립 예정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세부 사업계획을 조율하는 단계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072384"/>
            <a:ext cx="11057839" cy="969264"/>
          </a:xfrm>
          <a:prstGeom prst="roundRect">
            <a:avLst>
              <a:gd name="adj" fmla="val 5660"/>
            </a:avLst>
          </a:prstGeom>
          <a:solidFill>
            <a:srgbClr val="F6F7F5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163824"/>
            <a:ext cx="1050919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발표된 사업 내용  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“농업 현장에서 생산되는 기상·토양·생육 데이터를 AI가 분석해 최적의 재배 방법을 제시하고,</a:t>
            </a:r>
            <a:endParaRPr lang="en-US" sz="11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농기계와 로봇으로 파종·방제·수확 등을 지원하는 플랫폼을 구축”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206240"/>
            <a:ext cx="357621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" y="4315968"/>
            <a:ext cx="33201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  기상 · 토양 · 생육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94944" y="4645152"/>
            <a:ext cx="332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재배 환경 데이터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07738" y="4206240"/>
            <a:ext cx="357621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35754" y="4315968"/>
            <a:ext cx="33201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  파종 · 방제 · 수확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35754" y="4645152"/>
            <a:ext cx="332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농작업 자동화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8549" y="4206240"/>
            <a:ext cx="3576218" cy="914400"/>
          </a:xfrm>
          <a:prstGeom prst="roundRect">
            <a:avLst>
              <a:gd name="adj" fmla="val 6000"/>
            </a:avLst>
          </a:prstGeom>
          <a:solidFill>
            <a:srgbClr val="FBEDEC"/>
          </a:solidFill>
          <a:ln w="9525">
            <a:solidFill>
              <a:srgbClr val="E8B9B5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76565" y="4315968"/>
            <a:ext cx="33201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  가축 생체 · 번식 · 방역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176565" y="4645152"/>
            <a:ext cx="332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명시되어 있지 않습니다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528523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누구의 잘못도 아니라 순서의 문제입니다. 국가 플랫폼은 재배업 기반으로 설계가 시작됐고, 지금 SPC 사업계획을 조율하는 단계입니다.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5632704"/>
            <a:ext cx="11057839" cy="512064"/>
          </a:xfrm>
          <a:prstGeom prst="roundRect">
            <a:avLst>
              <a:gd name="adj" fmla="val 10714"/>
            </a:avLst>
          </a:prstGeom>
          <a:solidFill>
            <a:srgbClr val="12261F"/>
          </a:solidFill>
          <a:ln w="9525">
            <a:solidFill>
              <a:srgbClr val="1226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5632704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SPC 사업계획이 확정되기 전이 축산을 넣을 수 있는 유일한 시점입니다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" y="627278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7A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농림축산식품부 보도자료(2026. 7. 27) · 국가 농업AX플랫폼 SPC 설립 공모지침서(2026. 2)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왜 해야 하는가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한우는 기를수록 손해이고, 무너지는 건 번식 기반입니다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641016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27632"/>
            <a:ext cx="264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−86.1만원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2286000"/>
            <a:ext cx="2458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번식우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마리당 순손실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72536" y="1481328"/>
            <a:ext cx="2641016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72536" y="1627632"/>
            <a:ext cx="264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−99.9만원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63976" y="2286000"/>
            <a:ext cx="2458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비육우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마리당 순손실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8144" y="1481328"/>
            <a:ext cx="2641016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8144" y="1627632"/>
            <a:ext cx="264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−10만두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69584" y="2286000"/>
            <a:ext cx="2458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가임암소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 새 감소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83751" y="1481328"/>
            <a:ext cx="2641016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83751" y="1627632"/>
            <a:ext cx="264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−3,689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75191" y="2286000"/>
            <a:ext cx="2458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사육 농장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새 감소 (−4.8%)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962656"/>
            <a:ext cx="5391760" cy="2688336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108960"/>
            <a:ext cx="487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숫자가 뜻하는 것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3474720"/>
            <a:ext cx="487969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생산액은 늘었지만(24.2조원, 농업의 40.9%) 농가에 남는 돈은 없습니다 — 사료비·인건비가 증가분을 흡수했습니다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 구조에서는 재투자가 일어나지 않습니다. 시설도 후계도 멈춥니다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사육두수 감소는 수급 조절로 회복되지만, 가임암소와 번식농가의 소멸은 회복되지 않습니다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보조금으로 손실을 메우는 방식은 지속되지 않습니다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3008" y="2962656"/>
            <a:ext cx="5391760" cy="2688336"/>
          </a:xfrm>
          <a:prstGeom prst="roundRect">
            <a:avLst>
              <a:gd name="adj" fmla="val 2041"/>
            </a:avLst>
          </a:prstGeom>
          <a:solidFill>
            <a:srgbClr val="F3F6F3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89040" y="3108960"/>
            <a:ext cx="487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전남에게 이것은 무슨 뜻인가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89040" y="3456432"/>
            <a:ext cx="487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15.4%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489040" y="3986784"/>
            <a:ext cx="487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전남은 전국 한우 출하의 15.4%를 담당하는 2위 산지입니다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89040" y="4334256"/>
            <a:ext cx="487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 기반이 무너지면 전남 비육농가가 먼저 타격을 받습니다 — 도내에서 입식할 송아지를 구하지 못합니다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가임암소 감소는 3~4년 뒤 송아지 공급 부족으로 나타납니다. 지금 대응해야 그때가 달라집니다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58704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이것은 보조금으로 풀리는 문제가 아닙니다 — 두당 원가와 손실 요인을 데이터로 줄여야 풀립니다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634593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7A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통계청 2025년 축산물생산비조사 · 국가데이터처 가축동향(2026. 6. 1 기준)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왜 AI인가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노력으로도, 장비 보급으로도 풀리지 않는 문제입니다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91760" cy="2432304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27632"/>
            <a:ext cx="487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한우는 30개월을 계기판 없이 운행합니다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93392"/>
          <a:ext cx="4879696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148840"/>
                <a:gridCol w="1956816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낙농 (젖소)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330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일일 접점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0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착유 2회 — 유량 자동 기록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(급이 외 부재)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330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 감지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0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유량 저하로 즉시 포착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 발현까지 미포착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330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330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도체성적 — 30개월 뒤 1회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3310128"/>
            <a:ext cx="4879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낙농에서 10을 얻는 기술이 한우에서는 30을 얻습니다 — 비교 대상이 ‘아무것도 없음’이기 때문입니다.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33008" y="1481328"/>
            <a:ext cx="5391760" cy="2432304"/>
          </a:xfrm>
          <a:prstGeom prst="roundRect">
            <a:avLst>
              <a:gd name="adj" fmla="val 2256"/>
            </a:avLst>
          </a:prstGeom>
          <a:solidFill>
            <a:srgbClr val="F3F6F3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89040" y="1627632"/>
            <a:ext cx="487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지금의 스마트축산은 ‘장비의 섬’입니다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89040" y="2011680"/>
            <a:ext cx="487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장비마다 별도 프로그램 — 농가는 여러 앱을 따로 확인해야 합니다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알람은 많은데 무엇을 먼저 해야 하는지 알려주지 않습니다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수의사에게 데이터가 자동으로 전달되지 않습니다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지자체는 농장별 위험을 실시간으로 파악할 수 없습니다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정책사업의 실제 효과를 객관적으로 측정할 수 없습니다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059936"/>
            <a:ext cx="11057839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" y="4187952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번식농가가 그만두는 이유는 돈이 아니라 ‘24시간 관찰’입니다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22960" y="4572000"/>
            <a:ext cx="2554148" cy="749808"/>
          </a:xfrm>
          <a:prstGeom prst="roundRect">
            <a:avLst>
              <a:gd name="adj" fmla="val 7317"/>
            </a:avLst>
          </a:prstGeom>
          <a:solidFill>
            <a:srgbClr val="FBEDEC"/>
          </a:solidFill>
          <a:ln w="9525">
            <a:solidFill>
              <a:srgbClr val="E8B9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4645152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발정 1회 미발견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96112" y="4919472"/>
            <a:ext cx="24078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공태 21일 연장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486836" y="4572000"/>
            <a:ext cx="2554148" cy="749808"/>
          </a:xfrm>
          <a:prstGeom prst="roundRect">
            <a:avLst>
              <a:gd name="adj" fmla="val 7317"/>
            </a:avLst>
          </a:prstGeom>
          <a:solidFill>
            <a:srgbClr val="FBEDEC"/>
          </a:solidFill>
          <a:ln w="9525">
            <a:solidFill>
              <a:srgbClr val="E8B9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59988" y="4645152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분만 감시 실패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559988" y="4919472"/>
            <a:ext cx="24078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난산 대응 시점 놓침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50712" y="4572000"/>
            <a:ext cx="2554148" cy="749808"/>
          </a:xfrm>
          <a:prstGeom prst="roundRect">
            <a:avLst>
              <a:gd name="adj" fmla="val 7317"/>
            </a:avLst>
          </a:prstGeom>
          <a:solidFill>
            <a:srgbClr val="FBEDEC"/>
          </a:solidFill>
          <a:ln w="9525">
            <a:solidFill>
              <a:srgbClr val="E8B9B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23864" y="4645152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횟수 증가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23864" y="4919472"/>
            <a:ext cx="24078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정액·수정료 누적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814587" y="4572000"/>
            <a:ext cx="2554148" cy="749808"/>
          </a:xfrm>
          <a:prstGeom prst="roundRect">
            <a:avLst>
              <a:gd name="adj" fmla="val 7317"/>
            </a:avLst>
          </a:prstGeom>
          <a:solidFill>
            <a:srgbClr val="FBEDEC"/>
          </a:solidFill>
          <a:ln w="9525">
            <a:solidFill>
              <a:srgbClr val="E8B9B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87739" y="4645152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조기발견 실패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887739" y="4919472"/>
            <a:ext cx="24078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증상이 보이면 이미 늦습니다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22960" y="539496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 농가가 더 노력해서 풀 수 없고, 보조금으로도 풀리지 않습니다. 관찰 자체를 기계가 대신해야 풀립니다.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66928" y="5925312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12261F"/>
          </a:solidFill>
          <a:ln w="9525">
            <a:solidFill>
              <a:srgbClr val="12261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" y="592531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답은 장비를 더 설치하는 것이 아니라, 이미 있는 장비와 데이터를 하나의 의사결정 체계로 묶는 것입니다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무엇을 만들 것인가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플랫폼과 경쟁하지 않습니다 — 축산 기능을 완성합니다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36896" cy="2048256"/>
          </a:xfrm>
          <a:prstGeom prst="roundRect">
            <a:avLst>
              <a:gd name="adj" fmla="val 2679"/>
            </a:avLst>
          </a:prstGeom>
          <a:solidFill>
            <a:srgbClr val="F3F6F3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91056"/>
            <a:ext cx="482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농업 AX 플랫폼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75104"/>
            <a:ext cx="48248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 전반의 공통 데이터 인프라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 AI 서비스 유통체계 · 농업인 인증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클라우드 · 보안 · 데이터 거버넌스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농기계 · 시설원예 · 유통 등 범농업 서비스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87872" y="1463040"/>
            <a:ext cx="5336896" cy="2048256"/>
          </a:xfrm>
          <a:prstGeom prst="roundRect">
            <a:avLst>
              <a:gd name="adj" fmla="val 2679"/>
            </a:avLst>
          </a:prstGeom>
          <a:solidFill>
            <a:srgbClr val="FBF6E6"/>
          </a:solidFill>
          <a:ln w="9525">
            <a:solidFill>
              <a:srgbClr val="E4D08F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43904" y="1591056"/>
            <a:ext cx="482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축산 AX 플랫폼 (CowTalk Jeonnam)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43904" y="1975104"/>
            <a:ext cx="48248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생체 · 수의 · 방역 전문 데이터 처리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축종별 AI 알고리즘 · 농가 작업과 수의진료 지원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축산재난 · 분뇨 · 탄소 · 동물복지 · 시군 관제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플랫폼에 축산 데이터를 공급하는 실행계층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36758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4계층 구조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968496"/>
            <a:ext cx="11057839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968496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33856" y="3968496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70048" y="3968496"/>
            <a:ext cx="87718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위내센서 · 귀표 · 카메라 · 착유로봇 · 자동급이기 · 축사 환경 · 이력제 · 혈통 · 기상/방역 공공데이터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517136"/>
            <a:ext cx="11057839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517136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33856" y="4517136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플랫폼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70048" y="4517136"/>
            <a:ext cx="87718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 ID 통합 · 표준화 · 실시간 수집 · 품질관리 · 농가별 접근권한 · 익명화 · AI 학습데이터 구축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5065776"/>
            <a:ext cx="11057839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5065776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33856" y="5065776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70048" y="5065776"/>
            <a:ext cx="87718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조기위험 · 발정/수정 적기 · 분만시점 · 열 스트레스 · 사료효율 · 출하 예측 · 지역 질병위험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614416"/>
            <a:ext cx="11057839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5614416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33856" y="5614416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행동과 실행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70048" y="5614416"/>
            <a:ext cx="87718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오늘의 작업목록 · 수의사 진료 우선순위 · 시군 축산 상황판 · 도 정책 대시보드 · 장비 자동연계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카우톡은 국가 플랫폼 위에 탑재되는 축산 전문 버티컬 AX 플랫폼입니다 — 중복이 아니라 보완입니다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무엇을 만들 것인가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농가에게는 그래프가 아니라 ‘오늘 할 일’을 드립니다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12261F"/>
          </a:solidFill>
          <a:ln w="9525">
            <a:solidFill>
              <a:srgbClr val="12261F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6093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작업목록 — 실제 알림 예시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0116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B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127번 소 — 체온 상승과 반추 감소가 동시 발생. 오전 중 임상검진 필요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B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84번 소 — 발정 가능성 높음. 금일 오후 수정 권고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B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35번 소 — 12시간 이내 분만 가능성. 분만사 이동 필요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B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2번 우군 — 열 스트레스 위험 상승. 환기·급수 점검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B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7일 사료효율 하락 — TMR 수분과 조사료 품질 점검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" y="393192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B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알림에서 끝나지 않고, 무엇을·언제·어떤 순서로 할지 제시합니다.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B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앱을 전제하지 않습니다 — 문자·음성 안내와 수의사 연결도 함께 설계합니다.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7648" y="1463040"/>
            <a:ext cx="5297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데이터, 네 개의 다른 화면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27648" y="1810512"/>
            <a:ext cx="5297119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5664" y="1810512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 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24928" y="1865376"/>
            <a:ext cx="4053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작업목록 · 위험 개체 우선순위 · 경제효과 표시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27648" y="2542032"/>
            <a:ext cx="5297119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2542032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24928" y="2596896"/>
            <a:ext cx="4053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이상개체 선별 · 방문 전 데이터 확인 · 치료 전후 생체변화 · 항생제 관리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27648" y="3273552"/>
            <a:ext cx="5297119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3273552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 · 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24928" y="3328416"/>
            <a:ext cx="4053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이상징후 · 폭염/한파 취약농가 지도 · 스마트축산 사업 성과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27648" y="4005072"/>
            <a:ext cx="5297119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4005072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24928" y="4059936"/>
            <a:ext cx="4053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생산량 전망 · 질병 조기경보 · 저탄소 MRV · 정책사업 효과분석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846320"/>
            <a:ext cx="5391760" cy="1042416"/>
          </a:xfrm>
          <a:prstGeom prst="roundRect">
            <a:avLst>
              <a:gd name="adj" fmla="val 5263"/>
            </a:avLst>
          </a:prstGeom>
          <a:solidFill>
            <a:srgbClr val="F3F6F3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4672" y="4956048"/>
            <a:ext cx="491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권한 — 신뢰의 전제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4672" y="5230368"/>
            <a:ext cx="491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소유권은 원칙적으로 농가에 둡니다. 행정에는 농가 동의 아래 익명화된 위험등급과 정책지표만 제공합니다.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33008" y="4846320"/>
            <a:ext cx="5391760" cy="1042416"/>
          </a:xfrm>
          <a:prstGeom prst="roundRect">
            <a:avLst>
              <a:gd name="adj" fmla="val 5263"/>
            </a:avLst>
          </a:prstGeom>
          <a:solidFill>
            <a:srgbClr val="F3F6F3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70752" y="4956048"/>
            <a:ext cx="491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 승인 게이트 (HITL)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70752" y="5230368"/>
            <a:ext cx="491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진단하지 않습니다. AI는 볼 것을 골라주고, 최종 진단과 처방은 수의사가 합니다 — 판단근거·정확도·한계를 함께 표시합니다.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6199632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기술이 아니라 농가의 실제 업무 흐름을 중심으로 설계합니다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 검증과 자기평가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구상이 아닙니다 — 이미 작동하고 있고, 한계도 분명합니다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641016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09344"/>
            <a:ext cx="264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2267712"/>
            <a:ext cx="245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농가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72536" y="1463040"/>
            <a:ext cx="2641016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72536" y="1609344"/>
            <a:ext cx="264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11,170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63976" y="2267712"/>
            <a:ext cx="245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두수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8144" y="1463040"/>
            <a:ext cx="2641016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8144" y="1609344"/>
            <a:ext cx="264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11,127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69584" y="2267712"/>
            <a:ext cx="245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 센서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83751" y="1463040"/>
            <a:ext cx="2641016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83751" y="1609344"/>
            <a:ext cx="264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757,062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75191" y="2267712"/>
            <a:ext cx="245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AI 판단 이벤트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2651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7A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7월 운영 대시보드 실측치 · 6개 AI 엔진 24/7 실시간 가동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2962656"/>
            <a:ext cx="357621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054096"/>
            <a:ext cx="3210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29184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최초 반추위 센서 도입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9808" y="3566160"/>
            <a:ext cx="3210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13년간의 현장 데이터 축적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07738" y="2962656"/>
            <a:ext cx="357621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0618" y="3054096"/>
            <a:ext cx="3210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90618" y="329184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한–우즈베키스탄 양자 합의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90618" y="3566160"/>
            <a:ext cx="3210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실증 시연 · 해외 현장 검증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8549" y="2962656"/>
            <a:ext cx="357621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31429" y="3054096"/>
            <a:ext cx="3210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31429" y="329184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한국소임상수의사회(KABP) 발표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31429" y="3566160"/>
            <a:ext cx="3210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임상 학술 검증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4096512"/>
            <a:ext cx="5391760" cy="1700784"/>
          </a:xfrm>
          <a:prstGeom prst="roundRect">
            <a:avLst>
              <a:gd name="adj" fmla="val 3226"/>
            </a:avLst>
          </a:prstGeom>
          <a:solidFill>
            <a:srgbClr val="F3F6F3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4672" y="4206240"/>
            <a:ext cx="491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앞선 것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" y="4498848"/>
            <a:ext cx="491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특화 — 글로벌 사업자는 대부분 낙농 중심입니다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반추위(체내) 센서 — 목걸이형과 달리 체내 지표를 직접 측정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 임상 결합 — 센서 회사가 아니라 수의사가 운영하는 구조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33008" y="4096512"/>
            <a:ext cx="5391760" cy="1700784"/>
          </a:xfrm>
          <a:prstGeom prst="roundRect">
            <a:avLst>
              <a:gd name="adj" fmla="val 3226"/>
            </a:avLst>
          </a:prstGeom>
          <a:solidFill>
            <a:srgbClr val="FBEDEC"/>
          </a:solidFill>
          <a:ln w="9525">
            <a:solidFill>
              <a:srgbClr val="E8B9B5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70752" y="4206240"/>
            <a:ext cx="491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뒤진 것 — 숨기지 않겠습니다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70752" y="4498848"/>
            <a:ext cx="491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규모 — 아일랜드 ICBF는 700만 두, 우리는 1만 두 수준입니다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자본 규모 — Halter(뉴질랜드)는 단일 라운드 1억 달러를 조달했습니다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 표준 — 상호운용 표준 참여 실적이 아직 없습니다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943600"/>
            <a:ext cx="11057839" cy="566928"/>
          </a:xfrm>
          <a:prstGeom prst="roundRect">
            <a:avLst>
              <a:gd name="adj" fmla="val 9677"/>
            </a:avLst>
          </a:prstGeom>
          <a:solidFill>
            <a:srgbClr val="12261F"/>
          </a:solidFill>
          <a:ln w="9525">
            <a:solidFill>
              <a:srgbClr val="1226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594360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1만 두로는 정확도에 한계가 있습니다 — 광역 실증으로 데이터를 늘리는 것 외에 방법이 없습니다. 그것이 이 제안의 실질적 이유입니다.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 무엇을 얻는가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전남이 얻는 것 — 네 개 군으로 측정하고 공개합니다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641016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91056"/>
            <a:ext cx="2348408" cy="329184"/>
          </a:xfrm>
          <a:prstGeom prst="roundRect">
            <a:avLst>
              <a:gd name="adj" fmla="val 13889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91056"/>
            <a:ext cx="2348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성과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011680"/>
            <a:ext cx="22752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조기발견 시간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폐사율 · 치료비 감소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공태일수 · 수정횟수 감소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사료효율 · 두당 생산성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노동시간 · 농가소득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72536" y="1463040"/>
            <a:ext cx="2641016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18840" y="1591056"/>
            <a:ext cx="2348408" cy="329184"/>
          </a:xfrm>
          <a:prstGeom prst="roundRect">
            <a:avLst>
              <a:gd name="adj" fmla="val 13889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8840" y="1591056"/>
            <a:ext cx="2348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 성과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55416" y="2011680"/>
            <a:ext cx="22752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재난 취약농가 사전발굴률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이상징후 대응시간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정책사업 중복 감소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보조사업 성과측정률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정책 비율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8144" y="1463040"/>
            <a:ext cx="2641016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4448" y="1591056"/>
            <a:ext cx="2348408" cy="329184"/>
          </a:xfrm>
          <a:prstGeom prst="roundRect">
            <a:avLst>
              <a:gd name="adj" fmla="val 13889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4448" y="1591056"/>
            <a:ext cx="2348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성과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61024" y="2011680"/>
            <a:ext cx="22752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축산물 단위당 온실가스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분뇨처리 이력관리율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악취 민원 감소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사료효율 자원절감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저탄소 인증농가 증가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83751" y="1463040"/>
            <a:ext cx="2641016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9525">
            <a:solidFill>
              <a:srgbClr val="D8DFDA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30055" y="1591056"/>
            <a:ext cx="2348408" cy="329184"/>
          </a:xfrm>
          <a:prstGeom prst="roundRect">
            <a:avLst>
              <a:gd name="adj" fmla="val 13889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30055" y="1591056"/>
            <a:ext cx="2348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성과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66631" y="2011680"/>
            <a:ext cx="22752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AI 기업 수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고용 · 청년 창업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축산 데이터셋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 · 특허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시도 공급 · 수출액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36210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D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원칙 — ① 사업 전 기초선을 먼저 확보  ② 참여·비참여 농가를 함께 측정  ③ 실패 항목까지 포함해 공개  ④ 산출물은 보고서가 아니라 다음 사업의 설계 근거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023360"/>
            <a:ext cx="5391760" cy="1828800"/>
          </a:xfrm>
          <a:prstGeom prst="roundRect">
            <a:avLst>
              <a:gd name="adj" fmla="val 3000"/>
            </a:avLst>
          </a:prstGeom>
          <a:solidFill>
            <a:srgbClr val="FBF6E6"/>
          </a:solidFill>
          <a:ln w="9525">
            <a:solidFill>
              <a:srgbClr val="E4D08F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4672" y="4133088"/>
            <a:ext cx="491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전남이 갖게 되는 지위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4672" y="4443984"/>
            <a:ext cx="49162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축산 AX 표준모델 선도지역 — 낙농 표준은 이미 경기도가 만들고 있고, 축산 AX 표준은 비어 있습니다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축산 AI 학습데이터 실증지역 — 축종과 농가 기반이 가장 적합합니다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K-축산 AX 해외수출 거점 — 국가 레퍼런스를 가진 지역이 수출 모델의 원본이 됩니다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33008" y="4023360"/>
            <a:ext cx="5391760" cy="1828800"/>
          </a:xfrm>
          <a:prstGeom prst="roundRect">
            <a:avLst>
              <a:gd name="adj" fmla="val 3000"/>
            </a:avLst>
          </a:prstGeom>
          <a:solidFill>
            <a:srgbClr val="FBEDEC"/>
          </a:solidFill>
          <a:ln w="9525">
            <a:solidFill>
              <a:srgbClr val="E8B9B5"/>
            </a:solidFill>
            <a:prstDash val="solid"/>
          </a:ln>
          <a:effectLst>
            <a:outerShdw sx="100000" sy="100000" kx="0" ky="0" algn="bl" rotWithShape="0" blurRad="101600" dist="12700" dir="5400000">
              <a:srgbClr val="12261F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70752" y="4133088"/>
            <a:ext cx="491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않았을 때의 비용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70752" y="4443984"/>
            <a:ext cx="49162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공백은 소급되지 않습니다 — 올해 놓친 개체 데이터는 내년에 만들 수 없습니다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기초선이 없으면 어떤 정책 효과도 증명할 수 없습니다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3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저탄소 인증도 수출 이력 증명도 개체 단위 데이터가 전제입니다 — 없으면 자격 자체가 없습니다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605332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타당성 조사 비용은 3~5억원이지만, 하지 않는 비용은 청구되지 않을 뿐 더 큽니다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Ⅶ 요청사항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결정을 요청드리는 것은 세 가지입니다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6522"/>
            </a:avLst>
          </a:prstGeom>
          <a:solidFill>
            <a:srgbClr val="1B3529"/>
          </a:solidFill>
          <a:ln w="12700">
            <a:solidFill>
              <a:srgbClr val="2E53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0992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98874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농업 AX 플랫폼 SPC 사업계획에 ‘축산 AX 전문영역’을 공식 반영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63040" y="1993392"/>
            <a:ext cx="98874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B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SPC 사업계획 확정 전이 유일한 반영 시점입니다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450592"/>
            <a:ext cx="11057839" cy="841248"/>
          </a:xfrm>
          <a:prstGeom prst="roundRect">
            <a:avLst>
              <a:gd name="adj" fmla="val 6522"/>
            </a:avLst>
          </a:prstGeom>
          <a:solidFill>
            <a:srgbClr val="1B3529"/>
          </a:solidFill>
          <a:ln w="12700">
            <a:solidFill>
              <a:srgbClr val="2E53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64261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578608"/>
            <a:ext cx="98874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축산정책과 · 농업정책과 · SPC 준비조직 · 카우톡이 참여하는 실무협의회 구성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63040" y="2926080"/>
            <a:ext cx="98874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B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조직을 만들지 않습니다 — 기존 부서의 협의 테이블입니다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383280"/>
            <a:ext cx="11057839" cy="841248"/>
          </a:xfrm>
          <a:prstGeom prst="roundRect">
            <a:avLst>
              <a:gd name="adj" fmla="val 6522"/>
            </a:avLst>
          </a:prstGeom>
          <a:solidFill>
            <a:srgbClr val="1B3529"/>
          </a:solidFill>
          <a:ln w="12700">
            <a:solidFill>
              <a:srgbClr val="2E53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57530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511296"/>
            <a:ext cx="98874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「전남 축산 AX 플랫폼 기본계획 및 타당성 조사」 용역 추진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63040" y="3858768"/>
            <a:ext cx="98874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B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 · 3~5억원 규모(안) — 나머지 단계의 판단 근거를 만듭니다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44439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추진 경로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754880"/>
            <a:ext cx="2682164" cy="877824"/>
          </a:xfrm>
          <a:prstGeom prst="roundRect">
            <a:avLst>
              <a:gd name="adj" fmla="val 5208"/>
            </a:avLst>
          </a:prstGeom>
          <a:solidFill>
            <a:srgbClr val="2E534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4828032"/>
            <a:ext cx="24627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" y="5047488"/>
            <a:ext cx="2462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정책설계 · 타당성 조사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6656" y="5303520"/>
            <a:ext cx="2462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B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58820" y="4754880"/>
            <a:ext cx="2682164" cy="877824"/>
          </a:xfrm>
          <a:prstGeom prst="roundRect">
            <a:avLst>
              <a:gd name="adj" fmla="val 5208"/>
            </a:avLst>
          </a:prstGeom>
          <a:solidFill>
            <a:srgbClr val="17301F"/>
          </a:solidFill>
          <a:ln w="12700">
            <a:solidFill>
              <a:srgbClr val="2A48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8548" y="4828032"/>
            <a:ext cx="24627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68548" y="5047488"/>
            <a:ext cx="2462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축우 중심 실증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468548" y="5303520"/>
            <a:ext cx="2462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B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 · 3~5개 시군 · 30~50농가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50712" y="4754880"/>
            <a:ext cx="2682164" cy="877824"/>
          </a:xfrm>
          <a:prstGeom prst="roundRect">
            <a:avLst>
              <a:gd name="adj" fmla="val 5208"/>
            </a:avLst>
          </a:prstGeom>
          <a:solidFill>
            <a:srgbClr val="17301F"/>
          </a:solidFill>
          <a:ln w="12700">
            <a:solidFill>
              <a:srgbClr val="2A48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0440" y="4828032"/>
            <a:ext cx="24627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0440" y="5047488"/>
            <a:ext cx="2462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다축종 · 시군 확산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60440" y="5303520"/>
            <a:ext cx="2462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B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한우·젖소·돼지·가금·염소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942603" y="4754880"/>
            <a:ext cx="2682164" cy="877824"/>
          </a:xfrm>
          <a:prstGeom prst="roundRect">
            <a:avLst>
              <a:gd name="adj" fmla="val 5208"/>
            </a:avLst>
          </a:prstGeom>
          <a:solidFill>
            <a:srgbClr val="17301F"/>
          </a:solidFill>
          <a:ln w="12700">
            <a:solidFill>
              <a:srgbClr val="2A48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331" y="4828032"/>
            <a:ext cx="24627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052331" y="5047488"/>
            <a:ext cx="2462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· 해외 확산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052331" y="5303520"/>
            <a:ext cx="2462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B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표준모델 · 수출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" y="5687568"/>
            <a:ext cx="26821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결정이 필요한 것은 1단계뿐입니다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6928" y="60350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전남이 지금 축산 AX를 선점하면 대한민국의 표준이 되고, 그 다음은 K-축산 플랫폼 수출입니다.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  질의응답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전남 축산 AX 플랫폼 구축 제안</dc:title>
  <dc:subject>PptxGenJS Presentation</dc:subject>
  <dc:creator>하현제</dc:creator>
  <cp:lastModifiedBy>하현제</cp:lastModifiedBy>
  <cp:revision>1</cp:revision>
  <dcterms:created xsi:type="dcterms:W3CDTF">2026-08-02T21:33:42Z</dcterms:created>
  <dcterms:modified xsi:type="dcterms:W3CDTF">2026-08-02T21:33:42Z</dcterms:modified>
</cp:coreProperties>
</file>