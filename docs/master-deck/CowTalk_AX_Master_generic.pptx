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 ‘오늘 18분 안에 — 무엇을 만들었고, 어떻게 작동하며, 그래서 ○○도에 어떤 결과가 오는지 숫자로 말씀드립니다.’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[제언·답부터] ‘결론은 하나입니다 — 지금, 우리 지역이 먼저.’ 새 SW 판매가 아니라 검증된 기반 위 사업. 3축(농가·방역·AI산업). 나머지 19장은 근거.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[Q1] 축산은 농업의 43%(25.5조) 기간산업인데 4대 위기(규모·두수감소·구제역·고령화)가 겹친다. 지킬 가치 큰데 수단이 아날로그.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[Q2] 부족한 건 센서가 아니라 루프. 지금은 알람에서 멈춘다. 필요한 건 데이터→AI→의사결정→실행→학습 순환. smaXtec도 알람→행동 다리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[Q3] 왜 지금. 정부 AI예산 9.9조(3배)·국가 농업 AX 705억·지역 AI 대전환. Smart Farm(설비)→AX(운영지능) 단계. 정책 창은 오래 안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[Q4] 왜 지역. 국가 일괄 불가. 집행주체=광역지자체, 데이터 밀도가 표준, 검증→확산이 실패비용 최저.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○○] 치환 슬라이드. ○○도의 축우 포지션·현 네트워크 N곳(실측)·시작 축종. ‘데이터 많은 곳이 표준을 만든다.’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[Q5] 제안은 앱이 아니라 사업. CowTalk=Foundation, 주인공=지역 미래. 4요소(기반·거버넌스·실증·확산).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[Q6] 제로 아님. ✅현재 6가지 실동작(코드 감사). 정직하게 🟡젖소 정액 정밀추천·🔵KAHIS 외부제출은 로드맵. ‘숫자에 출처가 붙는다.’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[Q7-a] 4층 구조. 데이터통합→AI해석→역할별 서빙→학습 루프. smaXtec 복제 아님, 그 위에 공공데이터·AI·행정.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[Q7-b] 알람→판단→추천→행동→기록 완결. ✅자동화룰·승인게이트·결정큐·학습루프. (가능하면 실제 시연 1회)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[축종 확장] 축우→양돈→양계→기타→통합. 축우 먼저인 이유(개체가치·센서성숙·데이터밀도). 구조는 축종 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[Q8-①농가] 보수 13만원/두·년(번식6+질병4+산유2+노동1), 적극 24만. 근거 De Vries 공태일. 지역 실두수로 재산출 명시. ‘부풀리지 않았다.’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[Q8-②지역] 데이터행정·방역고도화·탄소·AI산업·일자리·정책효율. ‘농가 지원 아니라 행정 역량 자체를 올리는 사업.’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[Q9 대한민국] 국가 플랫폼·표준데이터·AI산업·K-축산 수출·식량안보·방역주권. ‘지역 표준=국가 표준, 지역이 원점.’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[경제 종합] 천천히. 전제 투명공개→편익구성→판정. 정직 배너 반드시 입으로: ‘절대금액·BCR은 지역 실측 확정 후 산출.’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[방역 옵션가치] 구제역 348만두·6,241농장·재정 3.18조. 1회 차단이 사업비 압도. ‘운영비는 보험료.’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[로드맵] 지금(199·○○ N) → ○○ 시범 → ○○도 전역 → 전국 → 수출. 각 단계는 앞 성과로 정당화.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[요청] 3가지 — 시범사업·데이터 연계·확산 로드맵. ‘돈보다 먼저 데이터 연계 결단.’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[Q10 국가경로] ○○도 표준 → 국가 AX 연계 → 확산 → 통합. ‘국가 플랫폼은 어느 지역 데이터로 시작된다 — 그 지역이 될 것인가.’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[클로징] ‘○○도가 대한민국 축산 AX의 첫 표준을 만듭니다. 그 시작을 지금 하십시오.’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082735" y="914400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082735" y="1225296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2735" y="1536192"/>
            <a:ext cx="2468880" cy="0"/>
          </a:xfrm>
          <a:prstGeom prst="bentConnector3">
            <a:avLst/>
          </a:prstGeom>
          <a:ln w="17780">
            <a:solidFill>
              <a:srgbClr val="1E3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○○도 정책 제안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607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지역 축산 AX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4400" b="1" i="0">
                <a:solidFill>
                  <a:srgbClr val="FFFFFF"/>
                </a:solidFill>
                <a:latin typeface="맑은 고딕"/>
                <a:ea typeface="맑은 고딕"/>
              </a:rPr>
              <a:t>디지털 플랫폼 구축사업</a:t>
            </a:r>
          </a:p>
          <a:p>
            <a:pPr algn="l">
              <a:lnSpc>
                <a:spcPct val="110000"/>
              </a:lnSpc>
              <a:spcBef>
                <a:spcPts val="1200"/>
              </a:spcBef>
            </a:pPr>
            <a:r>
              <a:rPr sz="1700" b="0" i="0">
                <a:solidFill>
                  <a:srgbClr val="C7D6DE"/>
                </a:solidFill>
                <a:latin typeface="맑은 고딕"/>
                <a:ea typeface="맑은 고딕"/>
              </a:rPr>
              <a:t>센서 · 공공데이터 · AI로 완성하는 「○○도 축산 운영체제」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7091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8920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FFFFFF"/>
                </a:solidFill>
                <a:latin typeface="맑은 고딕"/>
                <a:ea typeface="맑은 고딕"/>
              </a:rPr>
              <a:t>“○○도가 대한민국 축산 AX의 첫 표준을 만듭니다.”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CowTalk v5.0</a:t>
            </a:r>
            <a:r>
              <a:rPr sz="1200" b="0" i="0">
                <a:solidFill>
                  <a:srgbClr val="909EAA"/>
                </a:solidFill>
                <a:latin typeface="맑은 고딕"/>
                <a:ea typeface="맑은 고딕"/>
              </a:rPr>
              <a:t>   ·   Foundation Platform for Livestock 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제언  ·  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300" b="1" i="0">
                <a:solidFill>
                  <a:srgbClr val="0B2239"/>
                </a:solidFill>
                <a:latin typeface="맑은 고딕"/>
                <a:ea typeface="맑은 고딕"/>
              </a:rPr>
              <a:t>○○도가 대한민국 축산 디지털 대전환을 선도해야 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4708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새 소프트웨어를 사는 사업이 아닙니다. </a:t>
            </a:r>
            <a:r>
              <a:rPr sz="1350" b="0" i="0">
                <a:solidFill>
                  <a:srgbClr val="556676"/>
                </a:solidFill>
                <a:latin typeface="맑은 고딕"/>
                <a:ea typeface="맑은 고딕"/>
              </a:rPr>
              <a:t>이미 199개 농장에서 실제로 돌아가는 검증된 기반 위에, 지역을 국가 표준의 원점으로 만드는 사업입니다.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65176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농가 소득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번식·질병·노동을 데이터로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7C7B"/>
                </a:solidFill>
                <a:latin typeface="맑은 고딕"/>
                <a:ea typeface="맑은 고딕"/>
              </a:rPr>
              <a:t>두당 연 13~24만원 생산성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5274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5274" y="265176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방역 주권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1306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43B53"/>
                </a:solidFill>
                <a:latin typeface="맑은 고딕"/>
                <a:ea typeface="맑은 고딕"/>
              </a:rPr>
              <a:t>전염병 1회 차단 = 사업비 회수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2180" y="2651760"/>
            <a:ext cx="338114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180" y="265176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8212" y="2926079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01568"/>
            <a:ext cx="29239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데이터·인재·일자리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8212" y="393192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지역이 표준을 소유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754880"/>
            <a:ext cx="10874959" cy="8686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1014343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7D6DE"/>
                </a:solidFill>
                <a:latin typeface="맑은 고딕"/>
                <a:ea typeface="맑은 고딕"/>
              </a:rPr>
              <a:t>결론은 하나입니다 — </a:t>
            </a: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지금, 우리 지역이 먼저. </a:t>
            </a:r>
            <a:r>
              <a:rPr sz="135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만들고, 표준을 만든 지역이 국가 플랫폼의 원점이 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Q1 대한민국 축산의 현주소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축산은 농업 생산액의 43%를 책임지지만, 지금 네 가지 위기가 동시에 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2499283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기간산업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E7C7B"/>
                </a:solidFill>
                <a:latin typeface="맑은 고딕"/>
                <a:ea typeface="맑은 고딕"/>
              </a:rPr>
              <a:t>25.5조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축산 생산액 (농업의 42.9%)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0259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0259" y="2148840"/>
            <a:ext cx="2499283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1427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사육두수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427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243B53"/>
                </a:solidFill>
                <a:latin typeface="맑은 고딕"/>
                <a:ea typeface="맑은 고딕"/>
              </a:rPr>
              <a:t>321만·37.5만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1427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한우·젖소 (2025, 감소세)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2151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151" y="2148840"/>
            <a:ext cx="2499283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구제역 상시위협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C97A1E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2010–11 재정 소요 (348만두 살처분)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34043" y="2148840"/>
            <a:ext cx="2499283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34043" y="2148840"/>
            <a:ext cx="2499283" cy="73152"/>
          </a:xfrm>
          <a:prstGeom prst="rect">
            <a:avLst/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211" y="2386584"/>
            <a:ext cx="213352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현장 고령화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2862072"/>
            <a:ext cx="21335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6B7A88"/>
                </a:solidFill>
                <a:latin typeface="맑은 고딕"/>
                <a:ea typeface="맑은 고딕"/>
              </a:rPr>
              <a:t>데이터 단절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211" y="3566160"/>
            <a:ext cx="21335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56676"/>
                </a:solidFill>
                <a:latin typeface="맑은 고딕"/>
                <a:ea typeface="맑은 고딕"/>
              </a:rPr>
              <a:t>경험 은퇴 → 판단 공백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7" y="4892040"/>
            <a:ext cx="1023487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축산은 지킬 가치가 큰 산업인데, 지킬 수단이 아직 아날로그에 머물러 있습니다.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통계청 · 식품저널 농업전망 · 위키백과(2010–11 구제역)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Q2 무엇이 부족한가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부족한 것은 센서가 아니라 '루프'입니다 — 데이터가 판단·행동·학습으로 돌지 않습니다.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5212080" cy="2468880"/>
          </a:xfrm>
          <a:prstGeom prst="rect">
            <a:avLst/>
          </a:prstGeom>
          <a:solidFill>
            <a:srgbClr val="F4F7F8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지금 (스마트팜 단계)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4663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센서 → 데이터 → 모니터링 → 알람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…그리고 멈춘다.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556676"/>
                </a:solidFill>
                <a:latin typeface="맑은 고딕"/>
                <a:ea typeface="맑은 고딕"/>
              </a:rPr>
              <a:t>‘그래서 뭘 해야 하지?’를 사람이 혼자 판단.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7" y="2103120"/>
            <a:ext cx="5297119" cy="246888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2286000"/>
            <a:ext cx="47484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필요 (AX 단계)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834640"/>
            <a:ext cx="474847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데이터 → AI → 의사결정 → 실행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→ Outcome → AI Learning ↺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결과가 데이터로 되돌아와 AI를 강화하는 순환.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세계 최고 센서(smaXtec)도 ‘알람 → 행동’의 다리가 없습니다. 방역·행정은 여전히 전화와 엑셀.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56676"/>
                </a:solidFill>
                <a:latin typeface="맑은 고딕"/>
                <a:ea typeface="맑은 고딕"/>
              </a:rPr>
              <a:t>스마트팜은 ‘설비’를 깔았고, AX는 그 설비가 만든 데이터를 ‘판단과 행동’으로 바꾸는 다음 단계입니다.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현황  ·  Q3 왜 지금 AX 플랫폼인가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6B7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정부가 소버린 AI·AI 대전환을 국가전략으로 미는 지금이 유일한 정책 창입니다.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국가전략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E7C7B"/>
                </a:solidFill>
                <a:latin typeface="맑은 고딕"/>
                <a:ea typeface="맑은 고딕"/>
              </a:rPr>
              <a:t>9.9조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2026 AI예산 (2025의 약 3배)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274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농업 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43B53"/>
                </a:solidFill>
                <a:latin typeface="맑은 고딕"/>
                <a:ea typeface="맑은 고딕"/>
              </a:rPr>
              <a:t>705억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민관합동 농업 AX 플랫폼 조성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2180" y="2103120"/>
            <a:ext cx="338114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8212" y="235915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대전환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8212" y="2816352"/>
            <a:ext cx="29239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95352"/>
                </a:solidFill>
                <a:latin typeface="맑은 고딕"/>
                <a:ea typeface="맑은 고딕"/>
              </a:rPr>
              <a:t>5대 분야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3429000"/>
            <a:ext cx="29239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AI 대전환에 '지역' 명시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0624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420624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Smart Farm(설비 보급)  →  AX(운영지능·데이터 주권).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우리는 다음 단계로 갑니다. 예산과 정책 방향이 정렬된 창은 오래 열려 있지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663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korea.kr 정책브리핑 · 농식품부 2026 예산안 · INSS 「한국형 소버린 AI 국가전략」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Q4 왜 지역부터인가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플랫폼은 지역에서 시작할 수밖에 없습니다 — 데이터 밀도가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24942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집행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65176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방역·축산 행정을 실제로 집행하는 것은 광역지자체입니다.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3300984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데이터 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703320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데이터는 밀도가 높은 곳에서 먼저 표준이 됩니다. 표준을 가진 곳이 원점이 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97679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4352543"/>
            <a:ext cx="97776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실패비용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4754879"/>
            <a:ext cx="97776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전국 일괄 전환은 실패합니다. 한 지역 검증 → 확산이 실패비용이 가장 낮은 정석입니다.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48640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작은 검증 → 전국 확산. 이것이 국가 플랫폼으로 가는 유일하게 안전한 경로입니다.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왜 ○○도인가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○○도는 이미 대한민국 축우의 중심입니다 — 여기서 시작하는 것이 가장 빠릅니다.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축우 산업 포지션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축우(한우·젖소) 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5274" y="214884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현재 CowTalk 네트워크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N개 농장 · 지역 축산 거점 (실운영)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2180" y="2148840"/>
            <a:ext cx="338114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9924" y="2404872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6676"/>
                </a:solidFill>
                <a:latin typeface="맑은 고딕"/>
                <a:ea typeface="맑은 고딕"/>
              </a:rPr>
              <a:t>시작 축종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9924" y="2880360"/>
            <a:ext cx="29056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B2239"/>
                </a:solidFill>
                <a:latin typeface="맑은 고딕"/>
                <a:ea typeface="맑은 고딕"/>
              </a:rPr>
              <a:t>축우(한우·젖소)부터 → 전 축종 확산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709160"/>
            <a:ext cx="10874959" cy="82296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7" y="470916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데이터가 가장 많은 곳이 표준을 만든다.  </a:t>
            </a: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가장 데이터가 많고 산업 비중이 큰 곳에서 시작해야 표준의 힘이 생깁니다.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네트워크 농장 수는 현재 CowTalk 실운영 분포(정직 수치) · 축우 비중 출처 축산물이력제 데이터랩·한우자조금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Q5 무엇을 제안하는가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제안은 새 소프트웨어가 아니라 '지역 축산 AX 디지털 플랫폼 구축사업'입니다.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1965960"/>
            <a:ext cx="10874959" cy="86868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65960"/>
            <a:ext cx="10234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CowTalk = Foundation Platform (기반·무대).   </a:t>
            </a:r>
            <a:r>
              <a:rPr sz="1300" b="0" i="0">
                <a:solidFill>
                  <a:srgbClr val="556676"/>
                </a:solidFill>
                <a:latin typeface="맑은 고딕"/>
                <a:ea typeface="맑은 고딕"/>
              </a:rPr>
              <a:t>주인공은 ○○도 축산의 미래 운영체제입니다. 플랫폼은 무대일 뿐, 주역은 지역의 미래입니다.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108960"/>
            <a:ext cx="73152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① 기반 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검증된 CowTalk (실운영 199농장)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568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5687" y="3108960"/>
            <a:ext cx="73152" cy="182880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171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② 데이터 거버넌스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71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공공·방역 데이터 연계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3108960"/>
            <a:ext cx="73152" cy="182880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903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95352"/>
                </a:solidFill>
                <a:latin typeface="맑은 고딕"/>
                <a:ea typeface="맑은 고딕"/>
              </a:rPr>
              <a:t>③ 현장 실증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3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시군 + 공수의사 시범사업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3108960"/>
            <a:ext cx="251299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7" y="3108960"/>
            <a:ext cx="73152" cy="182880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359" y="3383279"/>
            <a:ext cx="2101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④ 확산·표준화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59" y="3977639"/>
            <a:ext cx="20557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B2239"/>
                </a:solidFill>
                <a:latin typeface="맑은 고딕"/>
                <a:ea typeface="맑은 고딕"/>
              </a:rPr>
              <a:t>지역 전역 → 전국 표준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0B2239"/>
                </a:solidFill>
                <a:latin typeface="맑은 고딕"/>
                <a:ea typeface="맑은 고딕"/>
              </a:rPr>
              <a:t>우리는 제품을 파는 게 아니라, 지역이 소유하는 축산 운영체제를 함께 구축하자는 제안입니다.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무엇을  ·  Q6 왜 CowTalk가 현실적 기반인가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무엇을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제로에서 시작하지 않습니다 — 이미 199개 농장에서 실제로 돌아가는 기반입니다.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828800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맑은 고딕"/>
                <a:ea typeface="맑은 고딕"/>
              </a:rPr>
              <a:t>✅ 지금 실제로 동작 (코드 감사로 검증)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199농장 실시간 동기화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3394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4역할 AI 어시스턴트 (도구 25종·감사로그)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1220" y="2212848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1220" y="2212848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9820" y="2212848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SEIR 확산 시뮬레이션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위내센서 조기 질병감지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4794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4794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3394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공공데이터 실연동 (이력제·등급·경락)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1220" y="3072384"/>
            <a:ext cx="3442106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1220" y="3072384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19820" y="3072384"/>
            <a:ext cx="307634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자가학습 루프 (레이블→정확도→보정)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434840"/>
            <a:ext cx="1032631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7A1E"/>
                </a:solidFill>
                <a:latin typeface="맑은 고딕"/>
                <a:ea typeface="맑은 고딕"/>
              </a:rPr>
              <a:t>정직하게 — 이건 로드맵입니다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800600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🟡 젖소 정액 정밀추천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(내부데이터로 동작 중, 혈통·DHI 연계 시 정밀화)     </a:t>
            </a:r>
            <a:r>
              <a:rPr sz="1200" b="1" i="0">
                <a:solidFill>
                  <a:srgbClr val="6B7A88"/>
                </a:solidFill>
                <a:latin typeface="맑은 고딕"/>
                <a:ea typeface="맑은 고딕"/>
              </a:rPr>
              <a:t>🔵 KAHIS 외부 자동제출 · 일부 공공API 활용신청</a:t>
            </a: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 (행정 협조 전제)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화면의 모든 숫자는 DB에서 나오고 출처가 붙습니다 — 국가 시스템으로 가는 최소 조건입니다.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Q7 어떻게 구축하는가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센서 위에 공공데이터·AI·역할별 행동을 얹는 4층 구조입니다.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10874959" cy="89611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0312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4층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7" y="224942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210312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학습 루프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210312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피드백 → 정확도 → 프롬프트·임계값 자기보정 (순환 강화)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10874959" cy="8961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310896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3층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7" y="325526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310896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역할별 서빙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310896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농가 · 수의사 · 방역관 · 행정관 — 같은 데이터를 각 관점으로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14800"/>
            <a:ext cx="10874959" cy="89611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11480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2층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7" y="426110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288" y="411480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AI 해석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411480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Claude 중심 해석 + v4 룰엔진 폴백 (설명가능·출처기록)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120640"/>
            <a:ext cx="10874959" cy="896112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7" y="5120640"/>
            <a:ext cx="1188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맑은 고딕"/>
                <a:ea typeface="맑은 고딕"/>
              </a:rPr>
              <a:t>1층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9967" y="5266944"/>
            <a:ext cx="18288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5120640"/>
            <a:ext cx="292608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데이터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5120640"/>
            <a:ext cx="6302959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6DE"/>
                </a:solidFill>
                <a:latin typeface="맑은 고딕"/>
                <a:ea typeface="맑은 고딕"/>
              </a:rPr>
              <a:t>smaXtec 위내센서 + 공공데이터 + 농장기록 → 통합 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0B2239"/>
                </a:solidFill>
                <a:latin typeface="맑은 고딕"/>
                <a:ea typeface="맑은 고딕"/>
              </a:rPr>
              <a:t>smaXtec을 복제하지 않습니다 — 그 위에 대한민국 공공데이터와 AI, 그리고 행정을 얹습니다.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알람을 행동으로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알람 → 판단 → 추천 → 행동 → 기록을 한 화면에서 끝냅니다.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알람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소버린 AI 25룰 + smaXtec 이벤트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1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7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97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7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판단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7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감별진단 · 수정적기 (설명가능)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0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6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36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6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6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조치 제안 + 근거·출처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9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5367" y="2331720"/>
            <a:ext cx="1918959" cy="1371600"/>
          </a:xfrm>
          <a:prstGeom prst="rect">
            <a:avLst/>
          </a:prstGeom>
          <a:solidFill>
            <a:srgbClr val="F4F7F8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5367" y="2331720"/>
            <a:ext cx="1918959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5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행동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5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승인 게이트 → 조치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607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14367" y="2331720"/>
            <a:ext cx="1918959" cy="1371600"/>
          </a:xfrm>
          <a:prstGeom prst="rect">
            <a:avLst/>
          </a:prstGeom>
          <a:solidFill>
            <a:srgbClr val="EAF1F1"/>
          </a:solidFill>
          <a:ln w="1143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14367" y="2331720"/>
            <a:ext cx="1918959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4367" y="2587752"/>
            <a:ext cx="191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97A1E"/>
                </a:solidFill>
                <a:latin typeface="맑은 고딕"/>
                <a:ea typeface="맑은 고딕"/>
              </a:rPr>
              <a:t>기록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4095" y="3044952"/>
            <a:ext cx="16995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56676"/>
                </a:solidFill>
                <a:latin typeface="맑은 고딕"/>
                <a:ea typeface="맑은 고딕"/>
              </a:rPr>
              <a:t>결과 학습 → AI 강화 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114800"/>
            <a:ext cx="1143000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114800"/>
            <a:ext cx="1143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자동화 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7" y="4114800"/>
            <a:ext cx="1261872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7" y="4114800"/>
            <a:ext cx="12618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승인 게이트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39" y="4114800"/>
            <a:ext cx="102412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39" y="4114800"/>
            <a:ext cx="10241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결정 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3168" y="4114800"/>
            <a:ext cx="1618488" cy="274320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4114800"/>
            <a:ext cx="1618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7C7B"/>
                </a:solidFill>
                <a:latin typeface="맑은 고딕"/>
                <a:ea typeface="맑은 고딕"/>
              </a:rPr>
              <a:t>✅ 전문가 학습 루프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800600"/>
            <a:ext cx="1087495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맑은 고딕"/>
                <a:ea typeface="맑은 고딕"/>
              </a:rPr>
              <a:t>smaXtec의 한계는 ‘그래서 뭘 해야 하지?’입니다. 우리는 그 다음 한 걸음을 화면에서 끝냅니다.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어떻게  ·  축종 확장 전략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57739" y="402336"/>
            <a:ext cx="1275588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7739" y="402336"/>
            <a:ext cx="12755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어떻게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축우에서 시작해 양돈·양계로, 최종적으로 대한민국 통합 축산 AI 플랫폼으로.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60604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축우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한우·젖소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지금 시작 — 검증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돼지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방역 핵심 축종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양계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닭·오리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대량·밀집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85292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염소·오리 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커넥터 재사용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85292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99232"/>
            <a:ext cx="199211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95352"/>
                </a:solidFill>
                <a:latin typeface="맑은 고딕"/>
                <a:ea typeface="맑은 고딕"/>
              </a:rPr>
              <a:t>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364991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B2239"/>
                </a:solidFill>
                <a:latin typeface="맑은 고딕"/>
                <a:ea typeface="맑은 고딕"/>
              </a:rPr>
              <a:t>대한민국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57600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축산 AI 플랫폼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97680"/>
            <a:ext cx="10874959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4297680"/>
            <a:ext cx="73152" cy="12344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480560"/>
            <a:ext cx="10234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95352"/>
                </a:solidFill>
                <a:latin typeface="맑은 고딕"/>
                <a:ea typeface="맑은 고딕"/>
              </a:rPr>
              <a:t>왜 축우가 먼저인가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7" y="4846320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0B2239"/>
                </a:solidFill>
                <a:latin typeface="맑은 고딕"/>
                <a:ea typeface="맑은 고딕"/>
              </a:rPr>
              <a:t>개체가치 최고 · 위내센서 성숙 · 질병/번식 데이터 밀도 최고 → 검증에 최적.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구조는 축종 무관(커넥터·온톨로지 재사용)이라 확장이 빠릅니다.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0B2239"/>
                </a:solidFill>
                <a:latin typeface="맑은 고딕"/>
                <a:ea typeface="맑은 고딕"/>
              </a:rPr>
              <a:t>한우 플랫폼도, 낙농 플랫폼도 아닙니다 — 축우 중심으로 검증한 구조를 전 축종으로 확장합니다.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① 농가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농가는 번식·질병·노동을 데이터로 잡아 두당 연 13~24만원의 생산성을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73152" cy="6583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번식 효율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103120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공태일 단축 (발정탐지·수정적기·동기화)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7167" y="2103120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E7C7B"/>
                </a:solidFill>
                <a:latin typeface="맑은 고딕"/>
                <a:ea typeface="맑은 고딕"/>
              </a:rPr>
              <a:t>6만원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89503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89503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889503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질병 조기대응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889503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증상 전 감지 → 치료비·폐사·유량손실↓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7167" y="2889503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4만원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675887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675887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산유·증체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675887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건강·번식 개선의 이차효과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67167" y="3675887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2만원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62272"/>
            <a:ext cx="8497519" cy="658368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462272"/>
            <a:ext cx="73152" cy="658368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맑은 고딕"/>
                <a:ea typeface="맑은 고딕"/>
              </a:rPr>
              <a:t>노동 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462272"/>
            <a:ext cx="502279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알람→행동 자동화로 관찰·기록 노동↓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167" y="4462272"/>
            <a:ext cx="1097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243B53"/>
                </a:solidFill>
                <a:latin typeface="맑은 고딕"/>
                <a:ea typeface="맑은 고딕"/>
              </a:rPr>
              <a:t>1만원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38767" y="2103120"/>
            <a:ext cx="2194560" cy="3017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8767" y="25146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C7D6DE"/>
                </a:solidFill>
                <a:latin typeface="맑은 고딕"/>
                <a:ea typeface="맑은 고딕"/>
              </a:rPr>
              <a:t>보수 합계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8767" y="29718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6B0A6"/>
                </a:solidFill>
                <a:latin typeface="맑은 고딕"/>
                <a:ea typeface="맑은 고딕"/>
              </a:rPr>
              <a:t>13만원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8767" y="3703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7D6DE"/>
                </a:solidFill>
                <a:latin typeface="맑은 고딕"/>
                <a:ea typeface="맑은 고딕"/>
              </a:rPr>
              <a:t>/ 두 · 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8767" y="41605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7D6DE"/>
                </a:solidFill>
                <a:latin typeface="맑은 고딕"/>
                <a:ea typeface="맑은 고딕"/>
              </a:rPr>
              <a:t>적극 시나리오 24만원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57800"/>
            <a:ext cx="10874959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3036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09EAA"/>
                </a:solidFill>
                <a:latin typeface="맑은 고딕"/>
                <a:ea typeface="맑은 고딕"/>
              </a:rPr>
              <a:t>전제·출처  </a:t>
            </a:r>
            <a:r>
              <a:rPr sz="1000" b="0" i="0">
                <a:solidFill>
                  <a:srgbClr val="556676"/>
                </a:solidFill>
                <a:latin typeface="맑은 고딕"/>
                <a:ea typeface="맑은 고딕"/>
              </a:rPr>
              <a:t>공태일 1일 = $3.0~5.1 (De Vries 2006, J.Dairy Sci) · 보수 15일 단축 × $3 ≈ 6만원. 지역 실두수로 재산출·실측 보정 전제.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Q8 기대효과 ② 지역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지역은 데이터 행정·방역 고도화·탄소 관리·AI 산업·일자리를 동시에 얻습니다.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데이터 행정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전화·엑셀 → 실시간 대시보드. 예산 집행이 근거 기반으로.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2538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방역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538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역학조사 며칠 → 30초. 확산 사전 시뮬레이션(SEIR).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3442106" cy="73152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8964" y="2386584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탄소·분뇨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8964" y="280720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번식효율↑ → 육성우 감축 → 사료·분뇨·탄소 동시 절감.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지역 AI 산업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지역 축산 데이터가 지역 AI 기업·연구의 자산으로.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931920"/>
            <a:ext cx="344210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2538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청년 일자리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2538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데이터·수의·기술 인력 수요 창출.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931920"/>
            <a:ext cx="344210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931920"/>
            <a:ext cx="344210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8964" y="4169663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정책 효율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8964" y="4590288"/>
            <a:ext cx="29849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수급·방역·복지 예산의 효과를 측정 가능하게.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532120"/>
            <a:ext cx="10326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맑은 고딕"/>
                <a:ea typeface="맑은 고딕"/>
              </a:rPr>
              <a:t>농가 지원사업이 아니라, 지역 ‘행정 역량’ 자체를 디지털로 끌어올리는 사업입니다.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Q9 대한민국이 얻는 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지역의 성공은 곧 국가 축산 AI 플랫폼·표준 데이터·K-축산 수출로 이어집니다.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축산 AI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원점 = 선도 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4794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4794" y="214884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0826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표준 데이터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0826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축산 전주기 데이터 표준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1220" y="214884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1220" y="2148840"/>
            <a:ext cx="73152" cy="141732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7252" y="240487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AI 산업 성장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7252" y="289864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데이터·모델·인재 생태계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94760"/>
            <a:ext cx="73152" cy="141732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K-축산 수출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i18n·국가 어댑터 구조 내장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4794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4794" y="3794760"/>
            <a:ext cx="73152" cy="14173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0826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식량안보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0826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생산성·자급 기반 강화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1220" y="3794760"/>
            <a:ext cx="344210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1220" y="3794760"/>
            <a:ext cx="73152" cy="141732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7252" y="4050792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맑은 고딕"/>
                <a:ea typeface="맑은 고딕"/>
              </a:rPr>
              <a:t>국가 방역 주권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54456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556676"/>
                </a:solidFill>
                <a:latin typeface="맑은 고딕"/>
                <a:ea typeface="맑은 고딕"/>
              </a:rPr>
              <a:t>데이터 자립·확산 차단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486400"/>
            <a:ext cx="108749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지역에서 만든 표준이 국가 표준이 됩니다. 표준을 만든 지역이 원점의 지위를 갖습니다.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경제효과 종합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보수적으로 잡아도 편익이 비용을 크게 웃돕니다 — 모든 수치에 근거를 붙였습니다.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3381146" cy="73152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43B53"/>
                </a:solidFill>
                <a:latin typeface="맑은 고딕"/>
                <a:ea typeface="맑은 고딕"/>
              </a:rPr>
              <a:t>전제 (투명 공개)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지역 축우 실두수 × 두당 보수 13만원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센서+플랫폼 구독 · 중계기 구축비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사회·환경은 지역 원단위로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5274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5274" y="2103120"/>
            <a:ext cx="3381146" cy="731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3018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맑은 고딕"/>
                <a:ea typeface="맑은 고딕"/>
              </a:rPr>
              <a:t>편익 구성 (연간)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3018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0762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농가 직접 = 두수 × 13만원 (보수)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3018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0762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사회·환경 = 육성우 감축(방향성)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0762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= 옵션가치(1회 차단)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2180" y="2103120"/>
            <a:ext cx="3381146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52180" y="2103120"/>
            <a:ext cx="3381146" cy="73152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9924" y="2340863"/>
            <a:ext cx="292394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7A1E"/>
                </a:solidFill>
                <a:latin typeface="맑은 고딕"/>
                <a:ea typeface="맑은 고딕"/>
              </a:rPr>
              <a:t>판정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9924" y="288036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7668" y="2880360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보수 시나리오에서도 편익 &gt;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9924" y="3447288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7668" y="3447288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방역 1회 차단 = 사업비 회수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9924" y="4014215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97A1E"/>
                </a:solidFill>
                <a:latin typeface="맑은 고딕"/>
                <a:ea typeface="맑은 고딕"/>
              </a:rPr>
              <a:t>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7668" y="4014215"/>
            <a:ext cx="269534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중장기: 데이터·AI 산업 자산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92040"/>
            <a:ext cx="10874959" cy="658368"/>
          </a:xfrm>
          <a:prstGeom prst="rect">
            <a:avLst/>
          </a:prstGeom>
          <a:solidFill>
            <a:srgbClr val="FBF3E6"/>
          </a:solidFill>
          <a:ln w="12700">
            <a:solidFill>
              <a:srgbClr val="C9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892040"/>
            <a:ext cx="1032631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7A1E"/>
                </a:solidFill>
                <a:latin typeface="맑은 고딕"/>
                <a:ea typeface="맑은 고딕"/>
              </a:rPr>
              <a:t>정직 배너  </a:t>
            </a:r>
            <a:r>
              <a:rPr sz="1150" b="0" i="0">
                <a:solidFill>
                  <a:srgbClr val="0B2239"/>
                </a:solidFill>
                <a:latin typeface="맑은 고딕"/>
                <a:ea typeface="맑은 고딕"/>
              </a:rPr>
              <a:t>모든 값은 추정이며 전제에 민감합니다. 절대금액·BCR은 지역 실두수·원단위 확정 후 산출합니다. 부풀리지 않았습니다.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6692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De Vries 2006(공태일) · 통계청 사육두수 · 농식품부/식품저널(산업규모)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그래서 결과는  ·  방역 옵션가치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37115" y="402336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7115" y="402336"/>
            <a:ext cx="169621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그래서 결과는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전염병 1회 차단은 그 자체로 사업비를 회수합니다 — 구제역 한 번이 재정 수조 원입니다.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살처분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348만두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2010–11 구제역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5274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9594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피해 농장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594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6,241곳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9594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전국 11개 시도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180" y="2148840"/>
            <a:ext cx="3381146" cy="18288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6500" y="246888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D6DE"/>
                </a:solidFill>
                <a:latin typeface="맑은 고딕"/>
                <a:ea typeface="맑은 고딕"/>
              </a:rPr>
              <a:t>재정 소요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500" y="2926080"/>
            <a:ext cx="28325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6B0A6"/>
                </a:solidFill>
                <a:latin typeface="맑은 고딕"/>
                <a:ea typeface="맑은 고딕"/>
              </a:rPr>
              <a:t>3.18조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500" y="3566160"/>
            <a:ext cx="28325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7D6DE"/>
                </a:solidFill>
                <a:latin typeface="맑은 고딕"/>
                <a:ea typeface="맑은 고딕"/>
              </a:rPr>
              <a:t>매몰보상 1.82조 포함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solidFill>
            <a:srgbClr val="C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1087495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조기감지 + 확산 시뮬레이션으로 1회만 차단해도 회피액이 사업 비용을 압도합니다.
</a:t>
            </a: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</a:rPr>
              <a:t>연간 운영비는 비용이 아니라 보험료입니다.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3492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출처  위키백과·경향신문·농민신문 (2010–11 대한민국 구제역)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어떻게 확산하나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검증된 구조를 지금 → 시범 → 지역 전역 → 전국 → 수출로 단계 확장합니다.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54423" y="2514600"/>
            <a:ext cx="8882848" cy="0"/>
          </a:xfrm>
          <a:prstGeom prst="bentConnector3">
            <a:avLst/>
          </a:prstGeom>
          <a:ln w="19050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553839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761488"/>
            <a:ext cx="1992111" cy="987552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C7B"/>
                </a:solidFill>
                <a:latin typeface="맑은 고딕"/>
                <a:ea typeface="맑은 고딕"/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199 농장 · ○○ N곳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실운영 검증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4551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79079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9079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1단계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0519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○○ 시범 (시군+공수의사)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0519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실증·효과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5263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9791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9791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2단계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1231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○○도 전역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91231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도 단위 표준화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5975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43B5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20503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20503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43B53"/>
                </a:solidFill>
                <a:latin typeface="맑은 고딕"/>
                <a:ea typeface="맑은 고딕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1943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전국 표준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1943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국가 방역 고도화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36687" y="2414015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9535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41215" y="2761488"/>
            <a:ext cx="1992111" cy="987552"/>
          </a:xfrm>
          <a:prstGeom prst="rect">
            <a:avLst/>
          </a:prstGeom>
          <a:solidFill>
            <a:srgbClr val="F4F7F8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1215" y="2907791"/>
            <a:ext cx="1992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95352"/>
                </a:solidFill>
                <a:latin typeface="맑은 고딕"/>
                <a:ea typeface="맑은 고딕"/>
              </a:rPr>
              <a:t>4단계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2655" y="3218688"/>
            <a:ext cx="1809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0B2239"/>
                </a:solidFill>
                <a:latin typeface="맑은 고딕"/>
                <a:ea typeface="맑은 고딕"/>
              </a:rPr>
              <a:t>해외 수출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2655" y="3675887"/>
            <a:ext cx="1809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09EAA"/>
                </a:solidFill>
                <a:latin typeface="맑은 고딕"/>
                <a:ea typeface="맑은 고딕"/>
              </a:rPr>
              <a:t>i18n·국가별 어댑터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297680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2239"/>
                </a:solidFill>
                <a:latin typeface="맑은 고딕"/>
                <a:ea typeface="맑은 고딕"/>
              </a:rPr>
              <a:t>각 단계는 앞 단계 성과로 다음을 정당화합니다 — 무리한 점프가 없습니다.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754880"/>
            <a:ext cx="10874959" cy="822960"/>
          </a:xfrm>
          <a:prstGeom prst="rect">
            <a:avLst/>
          </a:prstGeom>
          <a:solidFill>
            <a:srgbClr val="EAF1F1"/>
          </a:solidFill>
          <a:ln w="9525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7" y="4754880"/>
            <a:ext cx="1023487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095352"/>
                </a:solidFill>
                <a:latin typeface="맑은 고딕"/>
                <a:ea typeface="맑은 고딕"/>
              </a:rPr>
              <a:t>Q10 국가 경로  </a:t>
            </a: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○○도 데이터·표준 → 국가 농업 AX 플랫폼 연계 → 타 지역 확산 → 국가 통합. 먼저 한 지역이 표준을 소유합니다.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세 가지를 요청드립니다 — 시범사업, 데이터 연계, 확산 로드맵 공동 수립.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14884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1. 시범사업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5234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○○도 일부 시군 + 공수의사 대상 실증. 효과를 데이터로 측정합니다.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38328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8328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6616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2. 데이터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98678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KAHIS · 이력제 · 도 방역 데이터 연동에 대한 행정적 협조.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617720"/>
            <a:ext cx="1087495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4617720"/>
            <a:ext cx="91440" cy="10515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800600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95352"/>
                </a:solidFill>
                <a:latin typeface="맑은 고딕"/>
                <a:ea typeface="맑은 고딕"/>
              </a:rPr>
              <a:t>3. 확산 로드맵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5221224"/>
            <a:ext cx="10143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56676"/>
                </a:solidFill>
                <a:latin typeface="맑은 고딕"/>
                <a:ea typeface="맑은 고딕"/>
              </a:rPr>
              <a:t>○○도 전역 → 전국 표준화를 함께 수립합니다.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89788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0B2239"/>
                </a:solidFill>
                <a:latin typeface="맑은 고딕"/>
                <a:ea typeface="맑은 고딕"/>
              </a:rPr>
              <a:t>돈보다 먼저 필요한 것은 데이터 연계에 대한 행정적 결단입니다.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8223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E7C7B"/>
                </a:solidFill>
                <a:latin typeface="맑은 고딕"/>
                <a:ea typeface="맑은 고딕"/>
              </a:rPr>
              <a:t>실행  ·  Q10 국가 플랫폼 발전 경로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62895" y="40233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62895" y="402336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3152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200" b="1" i="0">
                <a:solidFill>
                  <a:srgbClr val="0B2239"/>
                </a:solidFill>
                <a:latin typeface="맑은 고딕"/>
                <a:ea typeface="맑은 고딕"/>
              </a:rPr>
              <a:t>○○도의 검증이 국가 축산 AI 플랫폼의 표준·원점이 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664208"/>
            <a:ext cx="566927" cy="0"/>
          </a:xfrm>
          <a:prstGeom prst="bentConnector3">
            <a:avLst/>
          </a:prstGeom>
          <a:ln w="3302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58368" y="2468880"/>
            <a:ext cx="2307259" cy="15544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○○도
데이터·표준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0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42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14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국가 농업 AX
플랫폼 연계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29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0167" y="2468880"/>
            <a:ext cx="2307259" cy="1554480"/>
          </a:xfrm>
          <a:prstGeom prst="rect">
            <a:avLst/>
          </a:prstGeom>
          <a:solidFill>
            <a:srgbClr val="243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타 지역
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8867" y="2971800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09EAA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26067" y="2468880"/>
            <a:ext cx="2307259" cy="1554480"/>
          </a:xfrm>
          <a:prstGeom prst="rect">
            <a:avLst/>
          </a:prstGeom>
          <a:solidFill>
            <a:srgbClr val="095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3227" y="2468880"/>
            <a:ext cx="2032939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대한민국
통합 플랫폼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10874959" cy="9601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72000"/>
            <a:ext cx="101434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국가 플랫폼은 결국 어느 지역의 데이터로 시작됩니다.
</a:t>
            </a:r>
            <a:r>
              <a:rPr sz="1350" b="1" i="0">
                <a:solidFill>
                  <a:srgbClr val="16B0A6"/>
                </a:solidFill>
                <a:latin typeface="맑은 고딕"/>
                <a:ea typeface="맑은 고딕"/>
              </a:rPr>
              <a:t>그 지역이 ○○도가 될 것인가 — 그것이 오늘의 결정입니다.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37376"/>
            <a:ext cx="10874959" cy="0"/>
          </a:xfrm>
          <a:prstGeom prst="bentConnector3">
            <a:avLst/>
          </a:prstGeom>
          <a:ln w="9525">
            <a:solidFill>
              <a:srgbClr val="D8E0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9224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E7C7B"/>
                </a:solidFill>
                <a:latin typeface="맑은 고딕"/>
                <a:ea typeface="맑은 고딕"/>
              </a:rPr>
              <a:t>지역 축산 AX 플랫폼</a:t>
            </a:r>
            <a:r>
              <a:rPr sz="900" b="0" i="0">
                <a:solidFill>
                  <a:srgbClr val="909EAA"/>
                </a:solidFill>
                <a:latin typeface="맑은 고딕"/>
                <a:ea typeface="맑은 고딕"/>
              </a:rPr>
              <a:t>   ·   ○○도 축산 디지털 대전환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452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09EAA"/>
                </a:solidFill>
                <a:latin typeface="맑은 고딕"/>
                <a:ea typeface="맑은 고딕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B0A6"/>
                </a:solidFill>
                <a:latin typeface="맑은 고딕"/>
                <a:ea typeface="맑은 고딕"/>
              </a:rPr>
              <a:t>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○○도가 대한민국 축산
AX의 첫 표준을 만듭니다.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794760"/>
            <a:ext cx="3840480" cy="0"/>
          </a:xfrm>
          <a:prstGeom prst="bentConnector3">
            <a:avLst/>
          </a:prstGeom>
          <a:ln w="27940">
            <a:solidFill>
              <a:srgbClr val="0E7C7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402336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데이터가 가장 먼저 쌓이는 곳이 표준을 만듭니다.
</a:t>
            </a:r>
            <a:r>
              <a:rPr sz="1500" b="0" i="0">
                <a:solidFill>
                  <a:srgbClr val="C7D6DE"/>
                </a:solidFill>
                <a:latin typeface="맑은 고딕"/>
                <a:ea typeface="맑은 고딕"/>
              </a:rPr>
              <a:t>검증된 구조는 이미 여기 있습니다. 그 시작을 ○○도가 하십시오.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농가·사회 편익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두당 보수 13만원 · 지역 파급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104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64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방역 옵션가치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964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전염병 1회 = 재정 수조 회피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5029200"/>
            <a:ext cx="3230880" cy="868680"/>
          </a:xfrm>
          <a:prstGeom prst="rect">
            <a:avLst/>
          </a:prstGeom>
          <a:solidFill>
            <a:srgbClr val="122E47"/>
          </a:solidFill>
          <a:ln w="9525">
            <a:solidFill>
              <a:srgbClr val="2444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6280" y="5166360"/>
            <a:ext cx="277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6B0A6"/>
                </a:solidFill>
                <a:latin typeface="맑은 고딕"/>
                <a:ea typeface="맑은 고딕"/>
              </a:rPr>
              <a:t>확장 경로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5486400"/>
            <a:ext cx="277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맑은 고딕"/>
                <a:ea typeface="맑은 고딕"/>
              </a:rPr>
              <a:t>○○ → 전국 → 수출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63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09EAA"/>
                </a:solidFill>
                <a:latin typeface="맑은 고딕"/>
                <a:ea typeface="맑은 고딕"/>
              </a:rPr>
              <a:t>CowTalk v5.0  ·  Foundation Platform for Livestock AX  ·  함께 만드는 축산 디지털 주권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